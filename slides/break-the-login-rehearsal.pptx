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394" autoAdjust="0"/>
  </p:normalViewPr>
  <p:slideViewPr>
    <p:cSldViewPr snapToGrid="0" snapToObjects="1">
      <p:cViewPr varScale="1">
        <p:scale>
          <a:sx n="89" d="100"/>
          <a:sy n="89" d="100"/>
        </p:scale>
        <p:origin x="13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Quân" userId="80cb65cef7b80e39" providerId="LiveId" clId="{679C7A7B-7BDD-473E-B7DB-615B39A8C14F}"/>
    <pc:docChg chg="delSld">
      <pc:chgData name=". Quân" userId="80cb65cef7b80e39" providerId="LiveId" clId="{679C7A7B-7BDD-473E-B7DB-615B39A8C14F}" dt="2026-10-27T16:16:03.365" v="0" actId="2696"/>
      <pc:docMkLst>
        <pc:docMk/>
      </pc:docMkLst>
      <pc:sldChg chg="del">
        <pc:chgData name=". Quân" userId="80cb65cef7b80e39" providerId="LiveId" clId="{679C7A7B-7BDD-473E-B7DB-615B39A8C14F}" dt="2026-10-27T16:16:03.365" v="0" actId="2696"/>
        <pc:sldMkLst>
          <pc:docMk/>
          <pc:sldMk cId="0"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08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[00:00–01:00 · 1 phút]
Lời dẫn: "Đây là buổi 1 trong series Auth của DevHub — Authentication, mình là Đào Vĩnh Sơn. Buổi 2 về Authorization sẽ do Nguyễn Ngọc Nhiên trình bày."
Câu chính: "Hôm nay không chỉ xem login thành công — ta theo dõi credential từ lúc tạo, lưu, gửi, xác minh đến khi hết hạn hoặc bị thu hồi."
Demo: chưa mở. Trước giờ đã mở http://localhost:5173/demo và bấm Reset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[01:00–03:00 · 2 phút]
Lời dẫn: "Buổi này đi theo vòng đời credential, không phải liệt kê mọi giao thức. Sáu phần chính trên slide — mỗi phần có ít nhất một điểm cần nhớ và hầu hết có demo chạy thật trên lab."
Đi nhanh từng ô (khoảng 15–20 giây/ô):
1. AuthN / AuthZ — phân biệt "bạn là ai" và "bạn được làm gì", đọc đúng 401 với 403.
2. Password — hash chuyên dụng, salt, và vì sao hashing không thay rate limit.
3. Session — cookie là credential; logout phải huỷ phía server.
4. JWT — decode ≠ verify; access ngắn hạn, refresh phải rotate.
5. OAuth / OIDC / SAML — ủy quyền ≠ login; Code Flow + PKCE; SAML cùng SSO khác giao thức.
6. Lựa chọn — chọn theo threat model, rồi checklist khi review PR.
Nhắc: có 7 demo gắn nút trên slide. Mỗi phần mở đầu bằng một slide giới thiệu ngắn. Không cần nhớ hết chi tiết; cần biết lớp nào hỏng khi gặp một bug login.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[03:00–03:30 · 0.5 phút]
Chuyển phần: "Phần 1 — trước khi nói tới password hay token, cần tách rõ hai câu hỏi server phải trả lời ở mỗi request: bạn là ai, và bạn được làm gì."
Không giải thích chi tiết ở đây; đọc câu hỏi rồi sang slide tiếp theo. Demo 1 ở cuối phần này.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[03:30–06:30 · 3 phút]
Lời dẫn: "Authentication xác định danh tính. Authorization quyết định danh tính đó có được thực hiện hành động đang yêu cầu hay không. Hai bước này cần được kiểm soát độc lập."
Đi theo sơ đồ: AuthN đọc credential (session cookie, Bearer token) và tạo ra principal { id, role } → AuthZ so principal với policy của endpoint → qua cả hai thì handler mới chạy.
Chỉ khối ví dụ: member gọi GET /api/admin — AuthN pass (biết là user 42, role member), AuthZ fail (endpoint cần admin). Đây là lỗi AuthZ, không phải "login sai". Status code cụ thể để slide sau.
Nhấn mạnh: AuthZ phải chạy ở mọi request, ở backend, dựa trên dữ liệu server tin được (bản ghi user/role phía server), không phải dữ liệu client gửi lên.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[06:30–10:30 · 4 phút]
Demo 1 — API Authorization (khoảng 3 phút). Mở nút "Mở API Demo ↗".
Kịch bản (trang có sẵn 6 bước, cho khán giả đoán status code trước khi bấm Gửi):
1. Gọi GET /api/me khi chưa login → kỳ vọng 401 (response có header WWW-Authenticate).
2. Login member@devhub.local → 201.
3. GET /api/me → 200.
4. GET /api/admin bằng member → 403.
5. Login admin@devhub.local → 201.
6. GET /api/admin bằng admin → 200.
Phía dưới có thêm lưới 4 người gọi bằng Bearer token (không token / hết hạn / member / admin) → 401, 401, 403, 200.
Status code do backend thật trả về (ApiController + PrincipalService), không giả lập ở frontend.
Lời kết: "Ẩn nút ở frontend không phải authorization. API phải tự kiểm tra quyền."
Nếu demo lỗi: dùng sơ đồ quyết định trên slide và nói rõ là đang giải thích bằng sơ đồ.
Link demo: http://localhost:5173/demo/authz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[10:30–11:00 · 0.5 phút]
Chuyển phần: "Phần 2 — credential đầu tiên ta phải giữ là password. Câu hỏi: nếu DB bị dump, attacker lấy được gì?"
Gợi ý trước: hash tốt chỉ chặn crack offline, không chặn được thử login bằng password lộ từ site khác. Demo 2 ở cuối phần.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[11:00–12:30 · 1.5 phút]
Lời dẫn: "Ứng dụng không cần lấy lại password gốc từ database. Nó chỉ cần xác minh password người dùng nhập có đúng hay không."
Đọc bảng theo từng hàng: hashing một chiều, không có key; encryption hai chiều, server phải giữ key. Nếu server giải mã được password thì attacker lấy được DB + key cũng giải mã được toàn bộ. Với hash, attacker phải crack từng cái một.
Hàng "Dùng cho": hash khi chỉ cần so khớp (password, checksum file, kiểm tra toàn vẹn); encrypt khi phải đọc lại giá trị gốc (PII, API key của dịch vụ bên thứ 3 mà app phải gửi đi, dữ liệu trên đường truyền với TLS).
PII (Personally Identifiable Information) = thông tin định danh cá nhân: số CCCD/hộ chiếu, số điện thoại, địa chỉ, email, ngày sinh, số tài khoản/số thẻ. PII nằm ở cột Encryption vì app thường phải đọc lại giá trị gốc (hiển thị SĐT cho CSKH, gửi email cho user); hash thì không lấy lại được.
Hỏi nhanh khán giả: "Có ai từng thấy hệ thống lưu password bằng AES không?" — đây là lỗi hay gặp khi nhầm hashing với encryption.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[12:30–14:30 · 2 phút]
Chỉ chuỗi hash trên sơ đồ: $2a$ là thuật toán bcrypt, 10 là cost, 22 ký tự kế tiếp là salt, phần còn lại là hash. Chuỗi tự chứa đủ thông tin để verify, không cần lưu salt ở cột riêng.
Luồng verify: thư viện đọc salt + cost từ chuỗi đã lưu, hash lại password vừa nhập và so sánh constant-time. Không có bước giải mã nào.
Khuyến nghị: Argon2id là lựa chọn mặc định; bcrypt vẫn ổn với cost ≥ 10. Bẫy của bcrypt: chỉ dùng 72 byte đầu, phần sau bị bỏ qua — cần chặn độ dài hoặc pre-hash có chủ đích.
Không dùng MD5/SHA-1/SHA-256 "trần" cho password: chúng được thiết kế để nhanh, mà nhanh là điều attacker muốn.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[14:30–18:30 · 4 phút]
Demo 2 — Password Hashing (khoảng 3 phút). Mở nút "Mở Password Demo ↗".
Kịch bản:
1. Bước 01: bấm "Hash password" rồi "Hash lại lần nữa" → cùng password, hai chuỗi $2a$10$… khác nhau. Phần salt (tô xanh) khác nên phần hash cũng khác.
2. Ô "Password để thử" mặc định là correct-horse-battery! → Verify → match: false. Xoá dấu "!" → Verify → match: true.
3. Kéo xuống "Cùng năm user, hai cách lưu trữ" → "Mở bản dump bị lộ". Chỉ cột SHA-256: binh và chi có cùng hash vì cùng password, không có salt.
4. "Crack offline với wordlist 25 từ" → SHA-256: 4/5 tài khoản bị crack trong chưa tới 1 ms. bcrypt cost 12: dừng ở giới hạn 3 giây, mới crack được 1/5.
5. Dòng "Phóng to": với wordlist thật 14 triệu từ, SHA-256 mất khoảng nửa phút cho mọi tài khoản; bcrypt mất cỡ vài chục ngày cho mỗi tài khoản.
6. Tài khoản em sống sót ở cả hai cột vì password không có trong wordlist → nối sang thẻ Online: nếu password đó đã lộ ở site khác, hash không cứu được.
Số trên demo khác số trên slide là bình thường: demo chạy trên CPU, một luồng Node, bcrypt cost 12; slide là GPU với cost 10. Điểm cần nhớ là khoảng cách hàng trăm nghìn đến hàng triệu lần, không phải con số chính xác.
Lời kết demo: "Salt không phải secret. Mục tiêu là tránh việc password giống nhau luôn cho cùng một hash, và làm bảng tra sẵn (rainbow table) vô dụng."
Quay lại slide, cột trái: trên một GPU RTX 4090, hashcat thử khoảng 22 tỷ SHA-256 mỗi giây, nhưng chỉ khoảng 5 nghìn bcrypt cost 10 mỗi giây — chậm hơn khoảng 4 triệu lần. Số bcrypt quy đổi từ benchmark cost 5 (mỗi bậc cost chậm gấp đôi), nên nói là "khoảng". Câu chốt: "Chậm là tính năng, không phải bug."
Hai thẻ bên phải:
- Offline: attacker có bản dump DB, đoán thoải mái trên máy riêng → salt + hash chậm có giúp.
- Online / credential stuffing: attacker có danh sách email/password lộ từ site khác, thử login thẳng vào DevHub. Hash không liên quan vì password đúng là password thật → cần rate limit, MFA, chặn password đã lộ (ví dụ kiểm tra qua Have I Been Pwned).
Lưu ý: lab chưa có rate limiting — nói rõ đây là giới hạn của demo.
Link demo: http://localhost:5173/demo/password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[18:30–19:00 · 0.5 phút]
Chuyển phần: "Phần 3 — sau khi login bằng password, server cấp cho browser một session ID. Từ đây credential không còn là password nữa mà là cookie."
Phần này có hai demo: session/cookie và logout.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[19:00–22:00 · 3 phút]
Lời dẫn: "Cookie không nhất thiết chứa thông tin người dùng. Với session-based authentication, cookie thường mang một session identifier để server tra cứu trạng thái phiên."
Đi theo sequence:
1. POST /session/login với email + password.
2. Server verify password, tạo (regenerate) session trong store.
3. Response: Set-Cookie: devhub.sid=&lt;id&gt;; HttpOnly; SameSite=Lax; Path=/.
4. Request sau: browser tự gắn Cookie: devhub.sid=&lt;id&gt;.
5. Server tra cứu id trong store → biết là ai → 200.
Ưu điểm: server kiểm soát hoàn toàn (logout, force logout, đổi quyền có hiệu lực ngay), cookie nhỏ. Trade-off: cần session store dùng chung khi scale ngang; cookie gắn với domain; vì browser tự gửi cookie nên phải tính đến CSRF.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[22:00–26:00 · 4 phút]
Demo 3 — Session và Cookie (khoảng 3 phút). Mở nút "Mở Session Demo ↗".
Kịch bản:
1. Login member@devhub.local.
2. Inspector của lab: response login có Set-Cookie: devhub.sid=…; HttpOnly; SameSite=Lax; Path=/; Max-Age=900. Không có Secure.
3. "Kiểm tra có cookie" → GET /api/me → 200.
4. Kéo xuống "Giải phẫu devhub.sid". Chỉ Secure = false (cam): lab chạy HTTP localhost, flag này cố ý tắt. Các flag còn lại xanh.
5. "Đọc bằng document.cookie" → chuỗi rỗng; pill "devhub.sid được HttpOnly che".
(Tuỳ chọn: "Truy cập ẩn danh trước" rồi login → bước 04, ID bị rotate. Replay / ghost để slide 13.)
Lời dẫn: "Không có một bộ cookie flags đúng cho mọi môi trường. Cấu hình phải khớp HTTPS, domain, và cách frontend/backend được deploy."
Lab không hiển thị đầy đủ session ID. Bật Secure bằng SESSION_COOKIE_SECURE=true hoặc NODE_ENV=production.
Link demo: http://localhost:5173/demo/session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[26:00–30:00 · 4 phút]
Bug kinh điển: "đã logout mà request vẫn chạy" — demo trả lời trực tiếp.
Demo 4 — Logout và Revocation (khoảng 3 phút). Mở nút "Mở Logout Demo ↗".
Hai cột dùng chung một cookie trình duyệt. Chạy hết cột A (kể cả replay) rồi mới sang cột B. Nếu login cả hai cột trước khi xong cột A, regenerate() huỷ ID cột A — Reset rồi chạy lại.
Cột A — Chỉ xoá cookie (POST /lab/session/forget-cookie):
1. Login → 201. ID bị copy (rút gọn).
2. GET /api/me → 200.
3. Logout chỉ hết hạn cookie → 200.
4. GET /api/me từ browser này → 401.
5. Replay ID đã copy → vẫn member@devhub.local. Browser quên cookie; store còn session.
Cột B — Huỷ session (POST /session/logout):
Lặp bước 1–4. Logout trả 204. Replay → bị từ chối.
Câu chốt: cookie là thứ ở browser; session là thứ ở server. Logout thật phải destroy store, rồi mới hết hạn cookie.
Fixation (timeline trên slide): attacker cài sẵn một session ID, chờ nạn nhân login. Lab regenerate ID ở /session/login — đã xem ở Demo 3 bước 04.
Link demo: http://localhost:5173/demo/session/logout-lab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[30:00–34:00 · 4 phút]
Lời dẫn: "CSRF và XSS có thể cùng ảnh hưởng đến một ứng dụng dùng cookie, nhưng nguyên nhân và cách phòng vệ khác nhau. Không nên coi một cookie flag là giải pháp bảo mật toàn diện."
CSRF (trái): user đang login DevHub, mở trang evil.example. Trang đó gửi form POST tới DevHub; browser tự gắn cookie → request chạy dưới danh nghĩa user. Attacker không đọc được cookie hay response. Phòng vệ: SameSite=Lax/Strict, CSRF token, kiểm tra Origin/Referer, không dùng GET cho thao tác thay đổi dữ liệu.
XSS (phải): script của attacker chạy trong chính origin DevHub. HttpOnly chỉ chặn việc đọc cookie; script vẫn gọi API như user (cookie vẫn được gửi kèm). Phòng vệ: output encoding, không dùng innerHTML với dữ liệu người dùng, Content-Security-Policy, sanitize.
Không demo khai thác — dùng sơ đồ để giữ nhịp.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[34:00–34:30 · 0.5 phút]
Chuyển phần: "Phần 4 — thay vì giữ state ở server, nhiều hệ thống gửi cho client một token tự chứa claims. Câu hỏi: server dựa vào đâu để tin token đó?"
Hai demo: JWT tampering và vòng đời access/refresh. Phần này kết thúc bằng bảng so sánh session và JWT.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[34:30–37:30 · 3 phút]
Bug hay gặp: "mở JWT thấy role admin, vậy là admin" — đọc được payload chưa chứng minh token hợp lệ.
Lời dẫn: "JWT không tự động bí mật chỉ vì có chữ ký. Nếu chỉ là signed JWT, payload vẫn có thể đọc được."
Header: thuật toán (alg) và loại token. Payload: claims (sub, role, exp...). Signature: HMAC hoặc chữ ký số trên "header.payload" bằng key của issuer.
Hệ quả: không đặt dữ liệu nhạy cảm vào payload. Đọc được payload (decode) chỉ là bước parse; tin được payload thì phải verify chữ ký + claims bằng key và cấu hình phía server.
Liên hệ token-based flow: login → server ký token → client tự lưu và gửi qua header Authorization: Bearer &lt;token&gt; → server verify ở mỗi request mà không cần tra cứu session.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[37:30–40:30 · 3 phút]
Lời dẫn: "Chữ ký hợp lệ chưa chắc đã đủ. Token có thể được phát hành hợp lệ nhưng dành cho một API khác, vì vậy audience cũng phải được kiểm tra."
Trong lab: iss = devhub-auth-lab, aud = devhub-api, thuật toán chỉ cho phép HS256, exp bắt buộc. Có fixture cho từng lỗi: hết hạn, sai issuer, sai audience, chưa có hiệu lực (nbf), HS384 (ngoài allowlist), alg: none.
jti dùng khi cần nhận diện/thu hồi từng token. iat cho biết thời điểm phát hành (ví dụ để từ chối token phát hành trước lần đổi password).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[40:30–44:30 · 4 phút]
Demo 5 — JWT Tampering (khoảng 4 phút). Mở nút "Mở JWT Demo ↗".
Nhắc: alg = algorithm, nằm header, không phải claim.
Dùng chip "Token lab chuẩn bị sẵn" cho nhanh. Đổi chip rồi phải bấm Verify lại. Verifier ngây thơ chỉ có khi lab bật chế độ vulnerable.
Kịch bản:
1. "Cấp token member" (hoặc chip Hợp lệ) → header alg: HS256; payload role: member, iss, aud, exp.
2. Chip "Sửa role" (hoặc "Sửa payload") → decode ra role: admin, chữ ký cũ giữ nguyên.
3. Gửi tới /api/me và /api/admin → 401 cả hai, WWW-Authenticate: invalid_token.
4. Chip Hợp lệ → /api/admin → 403 (AuthN pass, AuthZ fail). Role lấy từ bản ghi user phía server, không lấy từ payload.
5. Chip "alg: none": Verifier chặt → 401. Verifier ngây thơ → 200 và cấp admin. Chuyển lại Chặt để chỉ bước nào bắt được.
Các chip còn lại (Hết hạn, Sai issuer, Sai audience, HS384, Chưa có hiệu lực) map từng dòng slide 17.
Lời kết: "Backend không được lấy role từ payload chưa verify."
Ô editor chỉ chứa token demo do lab ký. Không dán token thật. Signing secret không rời backend.
Link demo: http://localhost:5173/demo/jwt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[44:30–48:30 · 4 phút]
Demo 6 — Token Lifecycle (khoảng 4 phút). Mở nút "Mở Token Lifecycle Demo ↗". Trang ghi rõ: LUỒNG THẬT — rotation và phát hiện reuse chạy ở server, store in-memory, không dành cho production.
Kịch bản (các nút ① → ⑥):
1. Login: nhận access token (JWT, mặc định 120 giây) và refresh token (opaque).
2. ① Gọi /api/me bằng access token → 200.
   ② Dùng refresh token như access token → 401 (sai loại token).
3. ③ Refresh → access + refresh mới; refresh cũ bị đánh dấu "rotated".
4. ④ Dùng lại refresh token cũ → 401 và server thu hồi cả family (reuse-detected).
5. ⑤ Logout/thu hồi → 204; ⑥ refresh bằng token hiện tại → 401.
Bật "Access token ngắn hạn (20 giây)" nếu muốn xem access token hết hạn trong lúc nói.
Điểm cần nhấn: access token đã phát hành vẫn hợp lệ đến exp kể cả sau logout — đó là lý do access token phải ngắn hạn. Refresh token lưu dạng hash (SHA-256) phía server, không lưu plaintext.
Opaque = chuỗi ngẫu nhiên, client không decode được. Khác JWT: JWT đọc được header/payload dù chưa verify chữ ký.
Link demo: http://localhost:5173/demo/tokens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[48:30–51:30 · 3 phút]
Câu hỏi tương tác: "Nếu DevHub là web app nội bộ với yêu cầu logout có hiệu lực rõ ràng, bạn sẽ chọn session hay JWT? Vì sao?"
Đọc bảng theo hàng:
- State: session giữ trạng thái ở server; JWT tự chứa claims.
- Revoke: session xoá là xong; JWT cần thời hạn ngắn + denylist/rotation.
- Scale: session cần store dùng chung (Redis...); JWT verify được ở bất kỳ đâu có key.
Cột "JWT (stateless)" là access token: verify được mà không lookup session. Refresh opaque + rotation trong Demo 6 vẫn stateful — server lưu hash và phát hiện reuse. Hệ thống JWT thực tế thường lai: access ngắn hạn stateless, refresh có store.
Không đưa đáp án tuyệt đối. Web nội bộ, logout tức thì → session. Nhiều API / mobile / phân tán → access JWT + refresh opaque.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[51:30–52:00 · 0.5 phút]
Chuyển phần: "Phần 5 — đến giờ DevHub tự giữ password. Khi doanh nghiệp đã có Identity Provider, DevHub giao việc xác thực cho IdP. Câu hỏi: flow đó chạy như thế nào và DevHub phải kiểm tra gì?"
Demo 7 chạy live nếu đã cấu hình IdP, nếu không là walkthrough có nhãn.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[52:00–55:00 · 3 phút]
Lời dẫn: "OAuth 2.0 là ủy quyền truy cập, không phải màn hình login. Người mới hay lẫn hai việc này."
Định nghĩa ngay khi nói:
- OAuth 2.0: framework cho phép client nhận quyền gọi resource trong phạm vi (scope) được cấp — ví dụ cho app lịch đọc Google Calendar mà không đưa mật khẩu Google cho app đó.
- Authorization Server trên sơ đồ thường cũng là IdP (Identity Provider): nơi xác thực user và phát hành token.
Bốn vai trò trên sơ đồ:
- Resource Owner: người dùng sở hữu dữ liệu.
- Client: ứng dụng muốn truy cập thay mặt người dùng (DevHub).
- Authorization Server / IdP: xác thực user, hỏi consent, phát hành token.
- Resource Server: API giữ dữ liệu, chấp nhận access token.
Luồng rút gọn: Client xin ủy quyền → user đồng ý → Client đổi grant lấy access token → gọi API bằng access token.
Chốt: access token của OAuth không nói cho client biết "ai vừa login" theo chuẩn. Việc đó thuộc OIDC.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[55:00–58:00 · 3 phút]
Định nghĩa khi mở slide: OIDC (OpenID Connect) xây trên OAuth 2.0 và thêm ID token để client biết user là ai — đây mới là “login qua IdP” theo chuẩn.
ID token: JWT có aud = client_id, chứa sub, nonce, auth_time... Client dùng để biết ai đã đăng nhập. Không gửi ID token tới API như access token.
Access token: aud là API (resource server), chứa scope. API validate chữ ký, iss, aud, exp và scope trước khi phục vụ.
Lỗi thường gặp: API chấp nhận ID token làm bearer token; client đọc access token để lấy thông tin user (access token có thể là opaque).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[58:00–61:00 · 3 phút]
Lời dẫn: giải thích từng param khi xuất hiện trên sơ đồ — đừng đọc như danh sách thuật ngữ.
state: chuỗi ngẫu nhiên DevHub lưu trước khi redirect. Callback phải mang đúng state → chống kẻ khác “ghim” một login CSRF vào session của bạn.
nonce: chuỗi ngẫu nhiên gửi lên /authorize và phải có trong ID token. Không khớp → ID token không thuộc lần login này (chống replay).
PKCE:
- code_verifier: bí mật ngẫu nhiên, chỉ DevHub giữ, không đưa lên URL.
- code_challenge = BASE64URL(SHA256(verifier)), gửi lên /authorize.
- Khi đổi code lấy token, gửi lại verifier; IdP kiểm tra hash khớp challenge. Ai chỉ cầm code (không có verifier) thì vô dụng.
redirect_uri: phải khớp chính xác URL đã đăng ký ở IdP — tránh code bị đẩy sang domain lạ.
client_id / scope=openid: IdP biết app nào đang xin login; openid báo đây là OIDC (cần ID token).
Các bước (đi sơ đồ):
1. Sinh verifier, challenge, state, nonce — lưu phía server.
2. Redirect /authorize kèm challenge, state, nonce (không gửi verifier).
3. User xác thực tại IdP.
4. Callback: code + state → so state.
5. POST /token: code + verifier → IdP kiểm PKCE → ID token + access token.
6. Validate ID token: chữ ký, iss, aud, exp, nonce → tạo session DevHub.</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[61:00–65:00 · 4 phút]
Demo 7 — OIDC (khoảng 3–4 phút). Nhắc nhanh: đây là login qua IdP — user xác thực ở IdP, DevHub tin kết quả sau khi verify.
Mở nút "Mở OIDC Demo ↗". Nhìn banner trước khi nói: chế độ do .env của API quyết định.
Nếu banner là "LIVE OIDC — REAL IDENTITY PROVIDER" (đã cấu hình IdP test):
1. Chỉ cấu hình: issuer, client_id, redirect_uri. Client secret không bao giờ hiện trên trang.
2. Bấm "Đăng nhập bằng Identity Provider". Chỉ URL: state, nonce, code_challenge, code_challenge_method=S256.
3. Đăng nhập bằng tài khoản test, quay về DevHub.
4. Đọc danh sách "DevHub đã kiểm tra": state, PKCE, chữ ký qua JWKS, iss, aud, exp, nonce.
5. "Gọi /api/me" → 200, user oidc:&lt;sub&gt;. Logout khỏi DevHub → /api/me 401; IdP vẫn còn session, nên có link logout cả ở IdP.
Nếu banner là "FLOW WALKTHROUGH — NO REAL LOGIN" (chưa cấu hình, hoặc IdP không truy cập được): nói rõ không ai thực sự đăng nhập ở đây.
1. Đi qua 9 bước trên sequence diagram (Tiếp →). Bước 1: code_verifier, code_challenge (SHA-256 thật bằng crypto.subtle), state, nonce.
2. Bước 5: bật "Giả lập callback có state không khớp" → callback bị từ chối.
3. Kết thúc ở phần "ID token ≠ Access token": so sánh aud của hai payload mẫu.
Ở walkthrough, không để người xem hiểu nhầm là đã login thật: request/response IdP trên trang là mẫu.
Link demo: http://localhost:5173/demo/oidc</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[65:00–68:00 · 3 phút]
Lời dẫn — bắt đầu bằng Assertion, đừng nhảy thẳng vào acronym:
Assertion là gì?
- Một tài liệu XML do IdP ký số, nội dung cốt lõi: “User X đã xác thực lúc T, dành cho ứng dụng Y, còn hạn đến …”
- Ví dụ gần đời thường: giấy xác nhận từ công ty HR gửi sang hệ thống khác — không phải mật khẩu, mà là chứng từ đã ký.
Assertion ≈ ID token của OIDC (cùng vai trò: chứng minh danh tính sau login):
| | SAML Assertion | OIDC ID token |
|---|---|---|
| Định dạng | XML + XML Signature | JWT (JSON Base64 + chữ ký) |
| Ai đọc | Service Provider (SP / DevHub) | OIDC client (DevHub) |
| Mang gì | Subject, Audience, điều kiện thời hạn | sub, aud, exp, nonce… |
| Đường về app | Browser POST SAML Response tới ACS URL | Redirect?code → client đổi lấy token ở /token |
| Sau khi tin | Tạo session cục bộ của app | Tạo session cục bộ của app |
SSO = mục tiêu (login một lần, nhiều app). SAML và OIDC = hai cách làm. Không phải “XML cũ / JWT mới nên JWT đúng hơn”.
Luồng SAML SP-initiated (đi sơ đồ):
1. User mở SP → SP redirect kèm AuthnRequest tới IdP.
2. User xác thực tại IdP.
3. IdP đưa Assertion (trong SAML Response) về ACS của SP qua browser.
4. SP verify chữ ký / Audience / Destination / NotOnOrAfter / InResponseTo → tạo session riêng.
Rủi ro: verify sai phần tử XML (signature wrapping), sai Audience, hết hạn. Dùng thư viện SAML được maintain.
Câu hỏi (30 giây): khách bắt buộc SAML vì IdP chỉ có SAML — có nên ép OIDC? Thường không: compatibility quan trọng hơn preference.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[68:00–68:30 · 0.5 phút]
Chuyển phần: "Phần 6 — đã có đủ các mảnh: password, session, JWT, OIDC. Giờ ghép lại: với yêu cầu cụ thể của DevHub, chọn phương án nào và review code auth theo checklist nào?"
Phần này không có demo. Slide threat model là chỗ chọn phương án cho DevHub, rồi sang checklist review.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[68:30–71:30 · 3 phút]
Tương tác: yêu cầu người nghe chọn session hoặc JWT cho DevHub và đưa ra ít nhất hai lý do (1 phút thảo luận theo cặp).
Gợi ý hướng phân tích:
- Browser-only, cùng site → session cookie thường đơn giản và revoke tốt.
- Mobile / nhiều API / service-to-service → access token ngắn hạn + refresh rotation, hoặc OIDC.
- Có IdP doanh nghiệp → OIDC/SAML cho login, sau đó vẫn cần session hoặc token cho app.
- Ai xoay key? Ai giám sát reuse? Log thế nào mà không lộ credential?
Chốt DevHub nếu khán giả hỏi: web nội bộ + logout tức thì → session; có IdP công ty → OIDC rồi session DevHub; JWT + refresh khi nhiều API / mobile.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[71:30–73:30 · 2 phút]
Lời dẫn: "Đây là checklist có thể áp dụng ngay khi review một PR authentication."
Câu hỏi khi review:
- Password: thuật toán chuyên dụng? cost hợp lý? có rate limit/lockout mềm?
- Session: regenerate khi login? destroy khi logout? cookie flags theo môi trường?
- JWT: verify với allowlist thuật toán? kiểm tra iss/aud/exp? không lấy quyền từ payload chưa verify?
- Refresh: rotation? phát hiện reuse? lưu dạng hash? thu hồi khi logout?
- OIDC: state, nonce, PKCE, redirect URI chính xác?
- Authorization ở backend cho mọi endpoint? Có test 401/403?
- Log có che password, cookie, Authorization header, token không?
Bản đầy đủ: docs/01-authentication-core.md, mục Security Checklist.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[73:30–74:30 · 1 phút]
Lời kết: "Authentication không kết thúc ở thời điểm login thành công. Chúng ta phải kiểm soát toàn bộ vòng đời của credential."
Đi năm box, mỗi cái một câu:
- Verify: password so hash, không đọc lại plaintext; JWT/OIDC phải verify chữ ký, không tin decode.
- Store: bcrypt + salt; session ở store; refresh opaque lưu hash. Không encrypt password, không log credential.
- Send: cookie HttpOnly / SameSite; access gửi Bearer, không nhét URL. Browser tự gửi cookie → CSRF; XSS vẫn gọi API dù HttpOnly.
- Validate: iss, aud, exp, alg allowlist; AuthZ ở server (401 vs 403). ID token không dùng làm Bearer cho API.
- Revoke: destroy session, không chỉ hết hạn cookie; rotate refresh, reuse → huỷ family; access ngắn hạn vì vẫn sống đến exp; logout DevHub ≠ logout IdP.
Một "bug login" có thể nằm ở bất kỳ bước nào trên — phân lớp rồi mới vá.
Tài liệu và lab: docs/ và devhub-auth-lab/. Lab chỉ chạy local, tài khoản giả lập.</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[74:30–75:00 · 0.5 phút]
Đi nhanh 6 phần — mỗi ô một câu đã nói trong buổi. Không giảng lại.
Rồi sang cảm ơn, rồi To be continued AuthZ.</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[75:30–76:00 · 0.5 phút]
Buổi 2 Authorization — Nguyễn Ngọc Nhiên. AuthN: bạn là ai. AuthZ: bạn được làm gì. 401 vs 403 đã gặp ở đầu buổi; buổi sau đi sâu policy, role, resource.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localhost:5173/demo/authz"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localhost:5173/demo/password"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localhost:5173/demo/session"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localhost:5173/demo/session/logout-lab"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localhost:5173/demo/jwt"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localhost:5173/demo/tokens"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5173/demo/oidc"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B63DC"/>
          </a:solidFill>
          <a:ln w="12700">
            <a:solidFill>
              <a:srgbClr val="6B63DC"/>
            </a:solidFill>
            <a:prstDash val="solid"/>
          </a:ln>
        </p:spPr>
      </p:sp>
      <p:sp>
        <p:nvSpPr>
          <p:cNvPr id="3" name="Text 1"/>
          <p:cNvSpPr/>
          <p:nvPr/>
        </p:nvSpPr>
        <p:spPr>
          <a:xfrm>
            <a:off x="822960" y="1417320"/>
            <a:ext cx="10515600" cy="320040"/>
          </a:xfrm>
          <a:prstGeom prst="rect">
            <a:avLst/>
          </a:prstGeom>
          <a:noFill/>
          <a:ln/>
        </p:spPr>
        <p:txBody>
          <a:bodyPr wrap="square" lIns="25400" tIns="25400" rIns="25400" bIns="25400" rtlCol="0" anchor="ctr"/>
          <a:lstStyle/>
          <a:p>
            <a:pPr marL="0" indent="0" algn="l">
              <a:buNone/>
            </a:pPr>
            <a:r>
              <a:rPr lang="en-US" sz="1200" dirty="0">
                <a:solidFill>
                  <a:srgbClr val="8F9BB3"/>
                </a:solidFill>
                <a:latin typeface="Consolas" pitchFamily="34" charset="0"/>
                <a:ea typeface="Consolas" pitchFamily="34" charset="-122"/>
                <a:cs typeface="Consolas" pitchFamily="34" charset="-120"/>
              </a:rPr>
              <a:t>DEVHUB · FULLSTACK TECHNICAL SHARING</a:t>
            </a:r>
            <a:endParaRPr lang="en-US" sz="1200" dirty="0"/>
          </a:p>
        </p:txBody>
      </p:sp>
      <p:sp>
        <p:nvSpPr>
          <p:cNvPr id="4" name="Text 2"/>
          <p:cNvSpPr/>
          <p:nvPr/>
        </p:nvSpPr>
        <p:spPr>
          <a:xfrm>
            <a:off x="822960" y="1874520"/>
            <a:ext cx="10515600" cy="1005840"/>
          </a:xfrm>
          <a:prstGeom prst="rect">
            <a:avLst/>
          </a:prstGeom>
          <a:noFill/>
          <a:ln/>
        </p:spPr>
        <p:txBody>
          <a:bodyPr wrap="square" lIns="25400" tIns="25400" rIns="25400" bIns="25400" rtlCol="0" anchor="ctr"/>
          <a:lstStyle/>
          <a:p>
            <a:pPr marL="0" indent="0" algn="l">
              <a:buNone/>
            </a:pPr>
            <a:r>
              <a:rPr lang="en-US" sz="5200" b="1" dirty="0">
                <a:solidFill>
                  <a:srgbClr val="E8ECF5"/>
                </a:solidFill>
                <a:latin typeface="Segoe UI" pitchFamily="34" charset="0"/>
                <a:ea typeface="Segoe UI" pitchFamily="34" charset="-122"/>
                <a:cs typeface="Segoe UI" pitchFamily="34" charset="-120"/>
              </a:rPr>
              <a:t>Break the </a:t>
            </a:r>
            <a:r>
              <a:rPr lang="en-US" sz="5200" b="1" dirty="0">
                <a:solidFill>
                  <a:srgbClr val="B5A5FF"/>
                </a:solidFill>
                <a:latin typeface="Segoe UI" pitchFamily="34" charset="0"/>
                <a:ea typeface="Segoe UI" pitchFamily="34" charset="-122"/>
                <a:cs typeface="Segoe UI" pitchFamily="34" charset="-120"/>
              </a:rPr>
              <a:t>Login.</a:t>
            </a:r>
            <a:endParaRPr lang="en-US" sz="5200" dirty="0"/>
          </a:p>
        </p:txBody>
      </p:sp>
      <p:sp>
        <p:nvSpPr>
          <p:cNvPr id="5" name="Text 3"/>
          <p:cNvSpPr/>
          <p:nvPr/>
        </p:nvSpPr>
        <p:spPr>
          <a:xfrm>
            <a:off x="822960" y="2971800"/>
            <a:ext cx="10515600" cy="411480"/>
          </a:xfrm>
          <a:prstGeom prst="rect">
            <a:avLst/>
          </a:prstGeom>
          <a:noFill/>
          <a:ln/>
        </p:spPr>
        <p:txBody>
          <a:bodyPr wrap="square" lIns="25400" tIns="25400" rIns="25400" bIns="25400" rtlCol="0" anchor="ctr"/>
          <a:lstStyle/>
          <a:p>
            <a:pPr marL="0" indent="0" algn="l">
              <a:buNone/>
            </a:pPr>
            <a:r>
              <a:rPr lang="en-US" sz="2000" dirty="0">
                <a:solidFill>
                  <a:srgbClr val="E8ECF5"/>
                </a:solidFill>
                <a:latin typeface="Segoe UI" pitchFamily="34" charset="0"/>
                <a:ea typeface="Segoe UI" pitchFamily="34" charset="-122"/>
                <a:cs typeface="Segoe UI" pitchFamily="34" charset="-120"/>
              </a:rPr>
              <a:t>Authentication Core — credential lifecycle</a:t>
            </a:r>
            <a:endParaRPr lang="en-US" sz="2000" dirty="0"/>
          </a:p>
        </p:txBody>
      </p:sp>
      <p:sp>
        <p:nvSpPr>
          <p:cNvPr id="6" name="Shape 4"/>
          <p:cNvSpPr/>
          <p:nvPr/>
        </p:nvSpPr>
        <p:spPr>
          <a:xfrm>
            <a:off x="822960" y="3794760"/>
            <a:ext cx="5212080" cy="1417320"/>
          </a:xfrm>
          <a:prstGeom prst="roundRect">
            <a:avLst>
              <a:gd name="adj" fmla="val 6452"/>
            </a:avLst>
          </a:prstGeom>
          <a:solidFill>
            <a:srgbClr val="131B2E"/>
          </a:solidFill>
          <a:ln w="19050">
            <a:solidFill>
              <a:srgbClr val="B5A5FF"/>
            </a:solidFill>
            <a:prstDash val="solid"/>
          </a:ln>
        </p:spPr>
      </p:sp>
      <p:sp>
        <p:nvSpPr>
          <p:cNvPr id="7" name="Text 5"/>
          <p:cNvSpPr/>
          <p:nvPr/>
        </p:nvSpPr>
        <p:spPr>
          <a:xfrm>
            <a:off x="1051560" y="3977640"/>
            <a:ext cx="4754880" cy="365760"/>
          </a:xfrm>
          <a:prstGeom prst="rect">
            <a:avLst/>
          </a:prstGeom>
          <a:noFill/>
          <a:ln/>
        </p:spPr>
        <p:txBody>
          <a:bodyPr wrap="square" lIns="25400" tIns="25400" rIns="25400" bIns="25400" rtlCol="0" anchor="ctr"/>
          <a:lstStyle/>
          <a:p>
            <a:pPr marL="0" indent="0" algn="l">
              <a:buNone/>
            </a:pPr>
            <a:r>
              <a:rPr lang="en-US" sz="1600" b="1" dirty="0">
                <a:solidFill>
                  <a:srgbClr val="B5A5FF"/>
                </a:solidFill>
                <a:latin typeface="Segoe UI" pitchFamily="34" charset="0"/>
                <a:ea typeface="Segoe UI" pitchFamily="34" charset="-122"/>
                <a:cs typeface="Segoe UI" pitchFamily="34" charset="-120"/>
              </a:rPr>
              <a:t>Buổi 1 · Authentication</a:t>
            </a:r>
            <a:endParaRPr lang="en-US" sz="1600" dirty="0"/>
          </a:p>
        </p:txBody>
      </p:sp>
      <p:sp>
        <p:nvSpPr>
          <p:cNvPr id="8" name="Text 6"/>
          <p:cNvSpPr/>
          <p:nvPr/>
        </p:nvSpPr>
        <p:spPr>
          <a:xfrm>
            <a:off x="1051560" y="4434840"/>
            <a:ext cx="4754880" cy="502920"/>
          </a:xfrm>
          <a:prstGeom prst="rect">
            <a:avLst/>
          </a:prstGeom>
          <a:noFill/>
          <a:ln/>
        </p:spPr>
        <p:txBody>
          <a:bodyPr wrap="square" lIns="25400" tIns="25400" rIns="25400" bIns="25400" rtlCol="0" anchor="ctr"/>
          <a:lstStyle/>
          <a:p>
            <a:pPr marL="0" indent="0" algn="l">
              <a:buNone/>
            </a:pPr>
            <a:r>
              <a:rPr lang="en-US" sz="2200" b="1" dirty="0">
                <a:solidFill>
                  <a:srgbClr val="E8ECF5"/>
                </a:solidFill>
                <a:latin typeface="Segoe UI" pitchFamily="34" charset="0"/>
                <a:ea typeface="Segoe UI" pitchFamily="34" charset="-122"/>
                <a:cs typeface="Segoe UI" pitchFamily="34" charset="-120"/>
              </a:rPr>
              <a:t>Đào Vĩnh Sơn</a:t>
            </a:r>
            <a:endParaRPr lang="en-US" sz="2200" dirty="0"/>
          </a:p>
        </p:txBody>
      </p:sp>
      <p:sp>
        <p:nvSpPr>
          <p:cNvPr id="9" name="Shape 7"/>
          <p:cNvSpPr/>
          <p:nvPr/>
        </p:nvSpPr>
        <p:spPr>
          <a:xfrm>
            <a:off x="6263640" y="3794760"/>
            <a:ext cx="5029200" cy="1417320"/>
          </a:xfrm>
          <a:prstGeom prst="roundRect">
            <a:avLst>
              <a:gd name="adj" fmla="val 6452"/>
            </a:avLst>
          </a:prstGeom>
          <a:solidFill>
            <a:srgbClr val="131B2E"/>
          </a:solidFill>
          <a:ln w="12700">
            <a:solidFill>
              <a:srgbClr val="2A3651"/>
            </a:solidFill>
            <a:prstDash val="solid"/>
          </a:ln>
        </p:spPr>
      </p:sp>
      <p:sp>
        <p:nvSpPr>
          <p:cNvPr id="10" name="Text 8"/>
          <p:cNvSpPr/>
          <p:nvPr/>
        </p:nvSpPr>
        <p:spPr>
          <a:xfrm>
            <a:off x="6492240" y="3977640"/>
            <a:ext cx="4572000" cy="365760"/>
          </a:xfrm>
          <a:prstGeom prst="rect">
            <a:avLst/>
          </a:prstGeom>
          <a:noFill/>
          <a:ln/>
        </p:spPr>
        <p:txBody>
          <a:bodyPr wrap="square" lIns="25400" tIns="25400" rIns="25400" bIns="25400" rtlCol="0" anchor="ctr"/>
          <a:lstStyle/>
          <a:p>
            <a:pPr marL="0" indent="0" algn="l">
              <a:buNone/>
            </a:pPr>
            <a:r>
              <a:rPr lang="en-US" sz="1600" b="1" dirty="0">
                <a:solidFill>
                  <a:srgbClr val="8F9BB3"/>
                </a:solidFill>
                <a:latin typeface="Segoe UI" pitchFamily="34" charset="0"/>
                <a:ea typeface="Segoe UI" pitchFamily="34" charset="-122"/>
                <a:cs typeface="Segoe UI" pitchFamily="34" charset="-120"/>
              </a:rPr>
              <a:t>Buổi 2 · Authorization</a:t>
            </a:r>
            <a:endParaRPr lang="en-US" sz="1600" dirty="0"/>
          </a:p>
        </p:txBody>
      </p:sp>
      <p:sp>
        <p:nvSpPr>
          <p:cNvPr id="11" name="Text 9"/>
          <p:cNvSpPr/>
          <p:nvPr/>
        </p:nvSpPr>
        <p:spPr>
          <a:xfrm>
            <a:off x="6492240" y="4434840"/>
            <a:ext cx="4572000" cy="502920"/>
          </a:xfrm>
          <a:prstGeom prst="rect">
            <a:avLst/>
          </a:prstGeom>
          <a:noFill/>
          <a:ln/>
        </p:spPr>
        <p:txBody>
          <a:bodyPr wrap="square" lIns="25400" tIns="25400" rIns="25400" bIns="25400" rtlCol="0" anchor="ctr"/>
          <a:lstStyle/>
          <a:p>
            <a:pPr marL="0" indent="0" algn="l">
              <a:buNone/>
            </a:pPr>
            <a:r>
              <a:rPr lang="en-US" sz="2000" b="1" dirty="0">
                <a:solidFill>
                  <a:srgbClr val="8F9BB3"/>
                </a:solidFill>
                <a:latin typeface="Segoe UI" pitchFamily="34" charset="0"/>
                <a:ea typeface="Segoe UI" pitchFamily="34" charset="-122"/>
                <a:cs typeface="Segoe UI" pitchFamily="34" charset="-120"/>
              </a:rPr>
              <a:t>Nguyễn Ngọc Nhiên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MỞ ĐẦU  ·  SLIDE 2/33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Nội dung chính</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Shape 4"/>
          <p:cNvSpPr/>
          <p:nvPr/>
        </p:nvSpPr>
        <p:spPr>
          <a:xfrm>
            <a:off x="548640" y="1554480"/>
            <a:ext cx="3566160" cy="1920240"/>
          </a:xfrm>
          <a:prstGeom prst="roundRect">
            <a:avLst>
              <a:gd name="adj" fmla="val 4762"/>
            </a:avLst>
          </a:prstGeom>
          <a:solidFill>
            <a:srgbClr val="131B2E"/>
          </a:solidFill>
          <a:ln w="12700">
            <a:solidFill>
              <a:srgbClr val="2A3651"/>
            </a:solidFill>
            <a:prstDash val="solid"/>
          </a:ln>
        </p:spPr>
      </p:sp>
      <p:sp>
        <p:nvSpPr>
          <p:cNvPr id="7" name="Shape 5"/>
          <p:cNvSpPr/>
          <p:nvPr/>
        </p:nvSpPr>
        <p:spPr>
          <a:xfrm>
            <a:off x="548640" y="1554480"/>
            <a:ext cx="3566160" cy="73152"/>
          </a:xfrm>
          <a:prstGeom prst="rect">
            <a:avLst/>
          </a:prstGeom>
          <a:solidFill>
            <a:srgbClr val="B5A5FF"/>
          </a:solidFill>
          <a:ln w="12700">
            <a:solidFill>
              <a:srgbClr val="B5A5FF"/>
            </a:solidFill>
            <a:prstDash val="solid"/>
          </a:ln>
        </p:spPr>
      </p:sp>
      <p:sp>
        <p:nvSpPr>
          <p:cNvPr id="8" name="Text 6"/>
          <p:cNvSpPr/>
          <p:nvPr/>
        </p:nvSpPr>
        <p:spPr>
          <a:xfrm>
            <a:off x="777240" y="1783080"/>
            <a:ext cx="3108960" cy="320040"/>
          </a:xfrm>
          <a:prstGeom prst="rect">
            <a:avLst/>
          </a:prstGeom>
          <a:noFill/>
          <a:ln/>
        </p:spPr>
        <p:txBody>
          <a:bodyPr wrap="square" lIns="25400" tIns="25400" rIns="25400" bIns="25400" rtlCol="0" anchor="ctr"/>
          <a:lstStyle/>
          <a:p>
            <a:pPr marL="0" indent="0" algn="l">
              <a:buNone/>
            </a:pPr>
            <a:r>
              <a:rPr lang="en-US" sz="1200" b="1" dirty="0">
                <a:solidFill>
                  <a:srgbClr val="B5A5FF"/>
                </a:solidFill>
                <a:latin typeface="Consolas" pitchFamily="34" charset="0"/>
                <a:ea typeface="Consolas" pitchFamily="34" charset="-122"/>
                <a:cs typeface="Consolas" pitchFamily="34" charset="-120"/>
              </a:rPr>
              <a:t>01</a:t>
            </a:r>
            <a:endParaRPr lang="en-US" sz="1200" dirty="0"/>
          </a:p>
        </p:txBody>
      </p:sp>
      <p:sp>
        <p:nvSpPr>
          <p:cNvPr id="9" name="Text 7"/>
          <p:cNvSpPr/>
          <p:nvPr/>
        </p:nvSpPr>
        <p:spPr>
          <a:xfrm>
            <a:off x="777240" y="2194560"/>
            <a:ext cx="3108960" cy="457200"/>
          </a:xfrm>
          <a:prstGeom prst="rect">
            <a:avLst/>
          </a:prstGeom>
          <a:noFill/>
          <a:ln/>
        </p:spPr>
        <p:txBody>
          <a:bodyPr wrap="square" lIns="25400" tIns="25400" rIns="25400" bIns="25400" rtlCol="0" anchor="ctr"/>
          <a:lstStyle/>
          <a:p>
            <a:pPr marL="0" indent="0" algn="l">
              <a:buNone/>
            </a:pPr>
            <a:r>
              <a:rPr lang="en-US" sz="2000" b="1" dirty="0">
                <a:solidFill>
                  <a:srgbClr val="E8ECF5"/>
                </a:solidFill>
                <a:latin typeface="Segoe UI" pitchFamily="34" charset="0"/>
                <a:ea typeface="Segoe UI" pitchFamily="34" charset="-122"/>
                <a:cs typeface="Segoe UI" pitchFamily="34" charset="-120"/>
              </a:rPr>
              <a:t>AuthN ≠ AuthZ</a:t>
            </a:r>
            <a:endParaRPr lang="en-US" sz="2000" dirty="0"/>
          </a:p>
        </p:txBody>
      </p:sp>
      <p:sp>
        <p:nvSpPr>
          <p:cNvPr id="10" name="Text 8"/>
          <p:cNvSpPr/>
          <p:nvPr/>
        </p:nvSpPr>
        <p:spPr>
          <a:xfrm>
            <a:off x="777240" y="2743200"/>
            <a:ext cx="3108960" cy="457200"/>
          </a:xfrm>
          <a:prstGeom prst="rect">
            <a:avLst/>
          </a:prstGeom>
          <a:noFill/>
          <a:ln/>
        </p:spPr>
        <p:txBody>
          <a:bodyPr wrap="square" lIns="25400" tIns="25400" rIns="25400" bIns="25400" rtlCol="0" anchor="ctr"/>
          <a:lstStyle/>
          <a:p>
            <a:pPr marL="0" indent="0" algn="l">
              <a:buNone/>
            </a:pPr>
            <a:r>
              <a:rPr lang="en-US" sz="1300" dirty="0">
                <a:solidFill>
                  <a:srgbClr val="8F9BB3"/>
                </a:solidFill>
                <a:latin typeface="Segoe UI" pitchFamily="34" charset="0"/>
                <a:ea typeface="Segoe UI" pitchFamily="34" charset="-122"/>
                <a:cs typeface="Segoe UI" pitchFamily="34" charset="-120"/>
              </a:rPr>
              <a:t>401 / 403 · quyền phía server</a:t>
            </a:r>
            <a:endParaRPr lang="en-US" sz="1300" dirty="0"/>
          </a:p>
        </p:txBody>
      </p:sp>
      <p:sp>
        <p:nvSpPr>
          <p:cNvPr id="11" name="Shape 9"/>
          <p:cNvSpPr/>
          <p:nvPr/>
        </p:nvSpPr>
        <p:spPr>
          <a:xfrm>
            <a:off x="4297680" y="1554480"/>
            <a:ext cx="3566160" cy="1920240"/>
          </a:xfrm>
          <a:prstGeom prst="roundRect">
            <a:avLst>
              <a:gd name="adj" fmla="val 4762"/>
            </a:avLst>
          </a:prstGeom>
          <a:solidFill>
            <a:srgbClr val="131B2E"/>
          </a:solidFill>
          <a:ln w="12700">
            <a:solidFill>
              <a:srgbClr val="2A3651"/>
            </a:solidFill>
            <a:prstDash val="solid"/>
          </a:ln>
        </p:spPr>
      </p:sp>
      <p:sp>
        <p:nvSpPr>
          <p:cNvPr id="12" name="Shape 10"/>
          <p:cNvSpPr/>
          <p:nvPr/>
        </p:nvSpPr>
        <p:spPr>
          <a:xfrm>
            <a:off x="4297680" y="1554480"/>
            <a:ext cx="3566160" cy="73152"/>
          </a:xfrm>
          <a:prstGeom prst="rect">
            <a:avLst/>
          </a:prstGeom>
          <a:solidFill>
            <a:srgbClr val="F5A65B"/>
          </a:solidFill>
          <a:ln w="12700">
            <a:solidFill>
              <a:srgbClr val="F5A65B"/>
            </a:solidFill>
            <a:prstDash val="solid"/>
          </a:ln>
        </p:spPr>
      </p:sp>
      <p:sp>
        <p:nvSpPr>
          <p:cNvPr id="13" name="Text 11"/>
          <p:cNvSpPr/>
          <p:nvPr/>
        </p:nvSpPr>
        <p:spPr>
          <a:xfrm>
            <a:off x="4526280" y="1783080"/>
            <a:ext cx="3108960" cy="320040"/>
          </a:xfrm>
          <a:prstGeom prst="rect">
            <a:avLst/>
          </a:prstGeom>
          <a:noFill/>
          <a:ln/>
        </p:spPr>
        <p:txBody>
          <a:bodyPr wrap="square" lIns="25400" tIns="25400" rIns="25400" bIns="25400" rtlCol="0" anchor="ctr"/>
          <a:lstStyle/>
          <a:p>
            <a:pPr marL="0" indent="0" algn="l">
              <a:buNone/>
            </a:pPr>
            <a:r>
              <a:rPr lang="en-US" sz="1200" b="1" dirty="0">
                <a:solidFill>
                  <a:srgbClr val="F5A65B"/>
                </a:solidFill>
                <a:latin typeface="Consolas" pitchFamily="34" charset="0"/>
                <a:ea typeface="Consolas" pitchFamily="34" charset="-122"/>
                <a:cs typeface="Consolas" pitchFamily="34" charset="-120"/>
              </a:rPr>
              <a:t>02</a:t>
            </a:r>
            <a:endParaRPr lang="en-US" sz="1200" dirty="0"/>
          </a:p>
        </p:txBody>
      </p:sp>
      <p:sp>
        <p:nvSpPr>
          <p:cNvPr id="14" name="Text 12"/>
          <p:cNvSpPr/>
          <p:nvPr/>
        </p:nvSpPr>
        <p:spPr>
          <a:xfrm>
            <a:off x="4526280" y="2194560"/>
            <a:ext cx="3108960" cy="457200"/>
          </a:xfrm>
          <a:prstGeom prst="rect">
            <a:avLst/>
          </a:prstGeom>
          <a:noFill/>
          <a:ln/>
        </p:spPr>
        <p:txBody>
          <a:bodyPr wrap="square" lIns="25400" tIns="25400" rIns="25400" bIns="25400" rtlCol="0" anchor="ctr"/>
          <a:lstStyle/>
          <a:p>
            <a:pPr marL="0" indent="0" algn="l">
              <a:buNone/>
            </a:pPr>
            <a:r>
              <a:rPr lang="en-US" sz="2000" b="1" dirty="0">
                <a:solidFill>
                  <a:srgbClr val="E8ECF5"/>
                </a:solidFill>
                <a:latin typeface="Segoe UI" pitchFamily="34" charset="0"/>
                <a:ea typeface="Segoe UI" pitchFamily="34" charset="-122"/>
                <a:cs typeface="Segoe UI" pitchFamily="34" charset="-120"/>
              </a:rPr>
              <a:t>Password</a:t>
            </a:r>
            <a:endParaRPr lang="en-US" sz="2000" dirty="0"/>
          </a:p>
        </p:txBody>
      </p:sp>
      <p:sp>
        <p:nvSpPr>
          <p:cNvPr id="15" name="Text 13"/>
          <p:cNvSpPr/>
          <p:nvPr/>
        </p:nvSpPr>
        <p:spPr>
          <a:xfrm>
            <a:off x="4526280" y="2743200"/>
            <a:ext cx="3108960" cy="457200"/>
          </a:xfrm>
          <a:prstGeom prst="rect">
            <a:avLst/>
          </a:prstGeom>
          <a:noFill/>
          <a:ln/>
        </p:spPr>
        <p:txBody>
          <a:bodyPr wrap="square" lIns="25400" tIns="25400" rIns="25400" bIns="25400" rtlCol="0" anchor="ctr"/>
          <a:lstStyle/>
          <a:p>
            <a:pPr marL="0" indent="0" algn="l">
              <a:buNone/>
            </a:pPr>
            <a:r>
              <a:rPr lang="en-US" sz="1300" dirty="0">
                <a:solidFill>
                  <a:srgbClr val="8F9BB3"/>
                </a:solidFill>
                <a:latin typeface="Segoe UI" pitchFamily="34" charset="0"/>
                <a:ea typeface="Segoe UI" pitchFamily="34" charset="-122"/>
                <a:cs typeface="Segoe UI" pitchFamily="34" charset="-120"/>
              </a:rPr>
              <a:t>Hash · salt · stuffing</a:t>
            </a:r>
            <a:endParaRPr lang="en-US" sz="1300" dirty="0"/>
          </a:p>
        </p:txBody>
      </p:sp>
      <p:sp>
        <p:nvSpPr>
          <p:cNvPr id="16" name="Shape 14"/>
          <p:cNvSpPr/>
          <p:nvPr/>
        </p:nvSpPr>
        <p:spPr>
          <a:xfrm>
            <a:off x="8046720" y="1554480"/>
            <a:ext cx="3566160" cy="1920240"/>
          </a:xfrm>
          <a:prstGeom prst="roundRect">
            <a:avLst>
              <a:gd name="adj" fmla="val 4762"/>
            </a:avLst>
          </a:prstGeom>
          <a:solidFill>
            <a:srgbClr val="131B2E"/>
          </a:solidFill>
          <a:ln w="12700">
            <a:solidFill>
              <a:srgbClr val="2A3651"/>
            </a:solidFill>
            <a:prstDash val="solid"/>
          </a:ln>
        </p:spPr>
      </p:sp>
      <p:sp>
        <p:nvSpPr>
          <p:cNvPr id="17" name="Shape 15"/>
          <p:cNvSpPr/>
          <p:nvPr/>
        </p:nvSpPr>
        <p:spPr>
          <a:xfrm>
            <a:off x="8046720" y="1554480"/>
            <a:ext cx="3566160" cy="73152"/>
          </a:xfrm>
          <a:prstGeom prst="rect">
            <a:avLst/>
          </a:prstGeom>
          <a:solidFill>
            <a:srgbClr val="6EE7B7"/>
          </a:solidFill>
          <a:ln w="12700">
            <a:solidFill>
              <a:srgbClr val="6EE7B7"/>
            </a:solidFill>
            <a:prstDash val="solid"/>
          </a:ln>
        </p:spPr>
      </p:sp>
      <p:sp>
        <p:nvSpPr>
          <p:cNvPr id="18" name="Text 16"/>
          <p:cNvSpPr/>
          <p:nvPr/>
        </p:nvSpPr>
        <p:spPr>
          <a:xfrm>
            <a:off x="8275320" y="1783080"/>
            <a:ext cx="3108960" cy="320040"/>
          </a:xfrm>
          <a:prstGeom prst="rect">
            <a:avLst/>
          </a:prstGeom>
          <a:noFill/>
          <a:ln/>
        </p:spPr>
        <p:txBody>
          <a:bodyPr wrap="square" lIns="25400" tIns="25400" rIns="25400" bIns="25400" rtlCol="0" anchor="ctr"/>
          <a:lstStyle/>
          <a:p>
            <a:pPr marL="0" indent="0" algn="l">
              <a:buNone/>
            </a:pPr>
            <a:r>
              <a:rPr lang="en-US" sz="1200" b="1" dirty="0">
                <a:solidFill>
                  <a:srgbClr val="6EE7B7"/>
                </a:solidFill>
                <a:latin typeface="Consolas" pitchFamily="34" charset="0"/>
                <a:ea typeface="Consolas" pitchFamily="34" charset="-122"/>
                <a:cs typeface="Consolas" pitchFamily="34" charset="-120"/>
              </a:rPr>
              <a:t>03</a:t>
            </a:r>
            <a:endParaRPr lang="en-US" sz="1200" dirty="0"/>
          </a:p>
        </p:txBody>
      </p:sp>
      <p:sp>
        <p:nvSpPr>
          <p:cNvPr id="19" name="Text 17"/>
          <p:cNvSpPr/>
          <p:nvPr/>
        </p:nvSpPr>
        <p:spPr>
          <a:xfrm>
            <a:off x="8275320" y="2194560"/>
            <a:ext cx="3108960" cy="457200"/>
          </a:xfrm>
          <a:prstGeom prst="rect">
            <a:avLst/>
          </a:prstGeom>
          <a:noFill/>
          <a:ln/>
        </p:spPr>
        <p:txBody>
          <a:bodyPr wrap="square" lIns="25400" tIns="25400" rIns="25400" bIns="25400" rtlCol="0" anchor="ctr"/>
          <a:lstStyle/>
          <a:p>
            <a:pPr marL="0" indent="0" algn="l">
              <a:buNone/>
            </a:pPr>
            <a:r>
              <a:rPr lang="en-US" sz="2000" b="1" dirty="0">
                <a:solidFill>
                  <a:srgbClr val="E8ECF5"/>
                </a:solidFill>
                <a:latin typeface="Segoe UI" pitchFamily="34" charset="0"/>
                <a:ea typeface="Segoe UI" pitchFamily="34" charset="-122"/>
                <a:cs typeface="Segoe UI" pitchFamily="34" charset="-120"/>
              </a:rPr>
              <a:t>Session &amp; cookie</a:t>
            </a:r>
            <a:endParaRPr lang="en-US" sz="2000" dirty="0"/>
          </a:p>
        </p:txBody>
      </p:sp>
      <p:sp>
        <p:nvSpPr>
          <p:cNvPr id="20" name="Text 18"/>
          <p:cNvSpPr/>
          <p:nvPr/>
        </p:nvSpPr>
        <p:spPr>
          <a:xfrm>
            <a:off x="8275320" y="2743200"/>
            <a:ext cx="3108960" cy="457200"/>
          </a:xfrm>
          <a:prstGeom prst="rect">
            <a:avLst/>
          </a:prstGeom>
          <a:noFill/>
          <a:ln/>
        </p:spPr>
        <p:txBody>
          <a:bodyPr wrap="square" lIns="25400" tIns="25400" rIns="25400" bIns="25400" rtlCol="0" anchor="ctr"/>
          <a:lstStyle/>
          <a:p>
            <a:pPr marL="0" indent="0" algn="l">
              <a:buNone/>
            </a:pPr>
            <a:r>
              <a:rPr lang="en-US" sz="1300" dirty="0">
                <a:solidFill>
                  <a:srgbClr val="8F9BB3"/>
                </a:solidFill>
                <a:latin typeface="Segoe UI" pitchFamily="34" charset="0"/>
                <a:ea typeface="Segoe UI" pitchFamily="34" charset="-122"/>
                <a:cs typeface="Segoe UI" pitchFamily="34" charset="-120"/>
              </a:rPr>
              <a:t>Lifecycle · logout · CSRF/XSS</a:t>
            </a:r>
            <a:endParaRPr lang="en-US" sz="1300" dirty="0"/>
          </a:p>
        </p:txBody>
      </p:sp>
      <p:sp>
        <p:nvSpPr>
          <p:cNvPr id="21" name="Shape 19"/>
          <p:cNvSpPr/>
          <p:nvPr/>
        </p:nvSpPr>
        <p:spPr>
          <a:xfrm>
            <a:off x="548640" y="3703320"/>
            <a:ext cx="3566160" cy="1920240"/>
          </a:xfrm>
          <a:prstGeom prst="roundRect">
            <a:avLst>
              <a:gd name="adj" fmla="val 4762"/>
            </a:avLst>
          </a:prstGeom>
          <a:solidFill>
            <a:srgbClr val="131B2E"/>
          </a:solidFill>
          <a:ln w="12700">
            <a:solidFill>
              <a:srgbClr val="2A3651"/>
            </a:solidFill>
            <a:prstDash val="solid"/>
          </a:ln>
        </p:spPr>
      </p:sp>
      <p:sp>
        <p:nvSpPr>
          <p:cNvPr id="22" name="Shape 20"/>
          <p:cNvSpPr/>
          <p:nvPr/>
        </p:nvSpPr>
        <p:spPr>
          <a:xfrm>
            <a:off x="548640" y="3703320"/>
            <a:ext cx="3566160" cy="73152"/>
          </a:xfrm>
          <a:prstGeom prst="rect">
            <a:avLst/>
          </a:prstGeom>
          <a:solidFill>
            <a:srgbClr val="7DB3FF"/>
          </a:solidFill>
          <a:ln w="12700">
            <a:solidFill>
              <a:srgbClr val="7DB3FF"/>
            </a:solidFill>
            <a:prstDash val="solid"/>
          </a:ln>
        </p:spPr>
      </p:sp>
      <p:sp>
        <p:nvSpPr>
          <p:cNvPr id="23" name="Text 21"/>
          <p:cNvSpPr/>
          <p:nvPr/>
        </p:nvSpPr>
        <p:spPr>
          <a:xfrm>
            <a:off x="777240" y="3931920"/>
            <a:ext cx="3108960" cy="320040"/>
          </a:xfrm>
          <a:prstGeom prst="rect">
            <a:avLst/>
          </a:prstGeom>
          <a:noFill/>
          <a:ln/>
        </p:spPr>
        <p:txBody>
          <a:bodyPr wrap="square" lIns="25400" tIns="25400" rIns="25400" bIns="25400" rtlCol="0" anchor="ctr"/>
          <a:lstStyle/>
          <a:p>
            <a:pPr marL="0" indent="0" algn="l">
              <a:buNone/>
            </a:pPr>
            <a:r>
              <a:rPr lang="en-US" sz="1200" b="1" dirty="0">
                <a:solidFill>
                  <a:srgbClr val="7DB3FF"/>
                </a:solidFill>
                <a:latin typeface="Consolas" pitchFamily="34" charset="0"/>
                <a:ea typeface="Consolas" pitchFamily="34" charset="-122"/>
                <a:cs typeface="Consolas" pitchFamily="34" charset="-120"/>
              </a:rPr>
              <a:t>04</a:t>
            </a:r>
            <a:endParaRPr lang="en-US" sz="1200" dirty="0"/>
          </a:p>
        </p:txBody>
      </p:sp>
      <p:sp>
        <p:nvSpPr>
          <p:cNvPr id="24" name="Text 22"/>
          <p:cNvSpPr/>
          <p:nvPr/>
        </p:nvSpPr>
        <p:spPr>
          <a:xfrm>
            <a:off x="777240" y="4343400"/>
            <a:ext cx="3108960" cy="457200"/>
          </a:xfrm>
          <a:prstGeom prst="rect">
            <a:avLst/>
          </a:prstGeom>
          <a:noFill/>
          <a:ln/>
        </p:spPr>
        <p:txBody>
          <a:bodyPr wrap="square" lIns="25400" tIns="25400" rIns="25400" bIns="25400" rtlCol="0" anchor="ctr"/>
          <a:lstStyle/>
          <a:p>
            <a:pPr marL="0" indent="0" algn="l">
              <a:buNone/>
            </a:pPr>
            <a:r>
              <a:rPr lang="en-US" sz="2000" b="1" dirty="0">
                <a:solidFill>
                  <a:srgbClr val="E8ECF5"/>
                </a:solidFill>
                <a:latin typeface="Segoe UI" pitchFamily="34" charset="0"/>
                <a:ea typeface="Segoe UI" pitchFamily="34" charset="-122"/>
                <a:cs typeface="Segoe UI" pitchFamily="34" charset="-120"/>
              </a:rPr>
              <a:t>JWT &amp; tokens</a:t>
            </a:r>
            <a:endParaRPr lang="en-US" sz="2000" dirty="0"/>
          </a:p>
        </p:txBody>
      </p:sp>
      <p:sp>
        <p:nvSpPr>
          <p:cNvPr id="25" name="Text 23"/>
          <p:cNvSpPr/>
          <p:nvPr/>
        </p:nvSpPr>
        <p:spPr>
          <a:xfrm>
            <a:off x="777240" y="4892040"/>
            <a:ext cx="3108960" cy="457200"/>
          </a:xfrm>
          <a:prstGeom prst="rect">
            <a:avLst/>
          </a:prstGeom>
          <a:noFill/>
          <a:ln/>
        </p:spPr>
        <p:txBody>
          <a:bodyPr wrap="square" lIns="25400" tIns="25400" rIns="25400" bIns="25400" rtlCol="0" anchor="ctr"/>
          <a:lstStyle/>
          <a:p>
            <a:pPr marL="0" indent="0" algn="l">
              <a:buNone/>
            </a:pPr>
            <a:r>
              <a:rPr lang="en-US" sz="1300" dirty="0">
                <a:solidFill>
                  <a:srgbClr val="8F9BB3"/>
                </a:solidFill>
                <a:latin typeface="Segoe UI" pitchFamily="34" charset="0"/>
                <a:ea typeface="Segoe UI" pitchFamily="34" charset="-122"/>
                <a:cs typeface="Segoe UI" pitchFamily="34" charset="-120"/>
              </a:rPr>
              <a:t>Decode ≠ verify · refresh</a:t>
            </a:r>
            <a:endParaRPr lang="en-US" sz="1300" dirty="0"/>
          </a:p>
        </p:txBody>
      </p:sp>
      <p:sp>
        <p:nvSpPr>
          <p:cNvPr id="26" name="Shape 24"/>
          <p:cNvSpPr/>
          <p:nvPr/>
        </p:nvSpPr>
        <p:spPr>
          <a:xfrm>
            <a:off x="4297680" y="3703320"/>
            <a:ext cx="3566160" cy="1920240"/>
          </a:xfrm>
          <a:prstGeom prst="roundRect">
            <a:avLst>
              <a:gd name="adj" fmla="val 4762"/>
            </a:avLst>
          </a:prstGeom>
          <a:solidFill>
            <a:srgbClr val="131B2E"/>
          </a:solidFill>
          <a:ln w="12700">
            <a:solidFill>
              <a:srgbClr val="2A3651"/>
            </a:solidFill>
            <a:prstDash val="solid"/>
          </a:ln>
        </p:spPr>
      </p:sp>
      <p:sp>
        <p:nvSpPr>
          <p:cNvPr id="27" name="Shape 25"/>
          <p:cNvSpPr/>
          <p:nvPr/>
        </p:nvSpPr>
        <p:spPr>
          <a:xfrm>
            <a:off x="4297680" y="3703320"/>
            <a:ext cx="3566160" cy="73152"/>
          </a:xfrm>
          <a:prstGeom prst="rect">
            <a:avLst/>
          </a:prstGeom>
          <a:solidFill>
            <a:srgbClr val="B5A5FF"/>
          </a:solidFill>
          <a:ln w="12700">
            <a:solidFill>
              <a:srgbClr val="B5A5FF"/>
            </a:solidFill>
            <a:prstDash val="solid"/>
          </a:ln>
        </p:spPr>
      </p:sp>
      <p:sp>
        <p:nvSpPr>
          <p:cNvPr id="28" name="Text 26"/>
          <p:cNvSpPr/>
          <p:nvPr/>
        </p:nvSpPr>
        <p:spPr>
          <a:xfrm>
            <a:off x="4526280" y="3931920"/>
            <a:ext cx="3108960" cy="320040"/>
          </a:xfrm>
          <a:prstGeom prst="rect">
            <a:avLst/>
          </a:prstGeom>
          <a:noFill/>
          <a:ln/>
        </p:spPr>
        <p:txBody>
          <a:bodyPr wrap="square" lIns="25400" tIns="25400" rIns="25400" bIns="25400" rtlCol="0" anchor="ctr"/>
          <a:lstStyle/>
          <a:p>
            <a:pPr marL="0" indent="0" algn="l">
              <a:buNone/>
            </a:pPr>
            <a:r>
              <a:rPr lang="en-US" sz="1200" b="1" dirty="0">
                <a:solidFill>
                  <a:srgbClr val="B5A5FF"/>
                </a:solidFill>
                <a:latin typeface="Consolas" pitchFamily="34" charset="0"/>
                <a:ea typeface="Consolas" pitchFamily="34" charset="-122"/>
                <a:cs typeface="Consolas" pitchFamily="34" charset="-120"/>
              </a:rPr>
              <a:t>05</a:t>
            </a:r>
            <a:endParaRPr lang="en-US" sz="1200" dirty="0"/>
          </a:p>
        </p:txBody>
      </p:sp>
      <p:sp>
        <p:nvSpPr>
          <p:cNvPr id="29" name="Text 27"/>
          <p:cNvSpPr/>
          <p:nvPr/>
        </p:nvSpPr>
        <p:spPr>
          <a:xfrm>
            <a:off x="4526280" y="4343400"/>
            <a:ext cx="3108960" cy="457200"/>
          </a:xfrm>
          <a:prstGeom prst="rect">
            <a:avLst/>
          </a:prstGeom>
          <a:noFill/>
          <a:ln/>
        </p:spPr>
        <p:txBody>
          <a:bodyPr wrap="square" lIns="25400" tIns="25400" rIns="25400" bIns="25400" rtlCol="0" anchor="ctr"/>
          <a:lstStyle/>
          <a:p>
            <a:pPr marL="0" indent="0" algn="l">
              <a:buNone/>
            </a:pPr>
            <a:r>
              <a:rPr lang="en-US" sz="2000" b="1" dirty="0">
                <a:solidFill>
                  <a:srgbClr val="E8ECF5"/>
                </a:solidFill>
                <a:latin typeface="Segoe UI" pitchFamily="34" charset="0"/>
                <a:ea typeface="Segoe UI" pitchFamily="34" charset="-122"/>
                <a:cs typeface="Segoe UI" pitchFamily="34" charset="-120"/>
              </a:rPr>
              <a:t>OAuth / OIDC</a:t>
            </a:r>
            <a:endParaRPr lang="en-US" sz="2000" dirty="0"/>
          </a:p>
        </p:txBody>
      </p:sp>
      <p:sp>
        <p:nvSpPr>
          <p:cNvPr id="30" name="Text 28"/>
          <p:cNvSpPr/>
          <p:nvPr/>
        </p:nvSpPr>
        <p:spPr>
          <a:xfrm>
            <a:off x="4526280" y="4892040"/>
            <a:ext cx="3108960" cy="457200"/>
          </a:xfrm>
          <a:prstGeom prst="rect">
            <a:avLst/>
          </a:prstGeom>
          <a:noFill/>
          <a:ln/>
        </p:spPr>
        <p:txBody>
          <a:bodyPr wrap="square" lIns="25400" tIns="25400" rIns="25400" bIns="25400" rtlCol="0" anchor="ctr"/>
          <a:lstStyle/>
          <a:p>
            <a:pPr marL="0" indent="0" algn="l">
              <a:buNone/>
            </a:pPr>
            <a:r>
              <a:rPr lang="en-US" sz="1300" dirty="0">
                <a:solidFill>
                  <a:srgbClr val="8F9BB3"/>
                </a:solidFill>
                <a:latin typeface="Segoe UI" pitchFamily="34" charset="0"/>
                <a:ea typeface="Segoe UI" pitchFamily="34" charset="-122"/>
                <a:cs typeface="Segoe UI" pitchFamily="34" charset="-120"/>
              </a:rPr>
              <a:t>Code Flow + PKCE · SAML</a:t>
            </a:r>
            <a:endParaRPr lang="en-US" sz="1300" dirty="0"/>
          </a:p>
        </p:txBody>
      </p:sp>
      <p:sp>
        <p:nvSpPr>
          <p:cNvPr id="31" name="Shape 29"/>
          <p:cNvSpPr/>
          <p:nvPr/>
        </p:nvSpPr>
        <p:spPr>
          <a:xfrm>
            <a:off x="8046720" y="3703320"/>
            <a:ext cx="3566160" cy="1920240"/>
          </a:xfrm>
          <a:prstGeom prst="roundRect">
            <a:avLst>
              <a:gd name="adj" fmla="val 4762"/>
            </a:avLst>
          </a:prstGeom>
          <a:solidFill>
            <a:srgbClr val="131B2E"/>
          </a:solidFill>
          <a:ln w="12700">
            <a:solidFill>
              <a:srgbClr val="2A3651"/>
            </a:solidFill>
            <a:prstDash val="solid"/>
          </a:ln>
        </p:spPr>
      </p:sp>
      <p:sp>
        <p:nvSpPr>
          <p:cNvPr id="32" name="Shape 30"/>
          <p:cNvSpPr/>
          <p:nvPr/>
        </p:nvSpPr>
        <p:spPr>
          <a:xfrm>
            <a:off x="8046720" y="3703320"/>
            <a:ext cx="3566160" cy="73152"/>
          </a:xfrm>
          <a:prstGeom prst="rect">
            <a:avLst/>
          </a:prstGeom>
          <a:solidFill>
            <a:srgbClr val="F5A65B"/>
          </a:solidFill>
          <a:ln w="12700">
            <a:solidFill>
              <a:srgbClr val="F5A65B"/>
            </a:solidFill>
            <a:prstDash val="solid"/>
          </a:ln>
        </p:spPr>
      </p:sp>
      <p:sp>
        <p:nvSpPr>
          <p:cNvPr id="33" name="Text 31"/>
          <p:cNvSpPr/>
          <p:nvPr/>
        </p:nvSpPr>
        <p:spPr>
          <a:xfrm>
            <a:off x="8275320" y="3931920"/>
            <a:ext cx="3108960" cy="320040"/>
          </a:xfrm>
          <a:prstGeom prst="rect">
            <a:avLst/>
          </a:prstGeom>
          <a:noFill/>
          <a:ln/>
        </p:spPr>
        <p:txBody>
          <a:bodyPr wrap="square" lIns="25400" tIns="25400" rIns="25400" bIns="25400" rtlCol="0" anchor="ctr"/>
          <a:lstStyle/>
          <a:p>
            <a:pPr marL="0" indent="0" algn="l">
              <a:buNone/>
            </a:pPr>
            <a:r>
              <a:rPr lang="en-US" sz="1200" b="1" dirty="0">
                <a:solidFill>
                  <a:srgbClr val="F5A65B"/>
                </a:solidFill>
                <a:latin typeface="Consolas" pitchFamily="34" charset="0"/>
                <a:ea typeface="Consolas" pitchFamily="34" charset="-122"/>
                <a:cs typeface="Consolas" pitchFamily="34" charset="-120"/>
              </a:rPr>
              <a:t>06</a:t>
            </a:r>
            <a:endParaRPr lang="en-US" sz="1200" dirty="0"/>
          </a:p>
        </p:txBody>
      </p:sp>
      <p:sp>
        <p:nvSpPr>
          <p:cNvPr id="34" name="Text 32"/>
          <p:cNvSpPr/>
          <p:nvPr/>
        </p:nvSpPr>
        <p:spPr>
          <a:xfrm>
            <a:off x="8275320" y="4343400"/>
            <a:ext cx="3108960" cy="457200"/>
          </a:xfrm>
          <a:prstGeom prst="rect">
            <a:avLst/>
          </a:prstGeom>
          <a:noFill/>
          <a:ln/>
        </p:spPr>
        <p:txBody>
          <a:bodyPr wrap="square" lIns="25400" tIns="25400" rIns="25400" bIns="25400" rtlCol="0" anchor="ctr"/>
          <a:lstStyle/>
          <a:p>
            <a:pPr marL="0" indent="0" algn="l">
              <a:buNone/>
            </a:pPr>
            <a:r>
              <a:rPr lang="en-US" sz="2000" b="1" dirty="0">
                <a:solidFill>
                  <a:srgbClr val="E8ECF5"/>
                </a:solidFill>
                <a:latin typeface="Segoe UI" pitchFamily="34" charset="0"/>
                <a:ea typeface="Segoe UI" pitchFamily="34" charset="-122"/>
                <a:cs typeface="Segoe UI" pitchFamily="34" charset="-120"/>
              </a:rPr>
              <a:t>Lựa chọn</a:t>
            </a:r>
            <a:endParaRPr lang="en-US" sz="2000" dirty="0"/>
          </a:p>
        </p:txBody>
      </p:sp>
      <p:sp>
        <p:nvSpPr>
          <p:cNvPr id="35" name="Text 33"/>
          <p:cNvSpPr/>
          <p:nvPr/>
        </p:nvSpPr>
        <p:spPr>
          <a:xfrm>
            <a:off x="8275320" y="4892040"/>
            <a:ext cx="3108960" cy="457200"/>
          </a:xfrm>
          <a:prstGeom prst="rect">
            <a:avLst/>
          </a:prstGeom>
          <a:noFill/>
          <a:ln/>
        </p:spPr>
        <p:txBody>
          <a:bodyPr wrap="square" lIns="25400" tIns="25400" rIns="25400" bIns="25400" rtlCol="0" anchor="ctr"/>
          <a:lstStyle/>
          <a:p>
            <a:pPr marL="0" indent="0" algn="l">
              <a:buNone/>
            </a:pPr>
            <a:r>
              <a:rPr lang="en-US" sz="1300" dirty="0">
                <a:solidFill>
                  <a:srgbClr val="8F9BB3"/>
                </a:solidFill>
                <a:latin typeface="Segoe UI" pitchFamily="34" charset="0"/>
                <a:ea typeface="Segoe UI" pitchFamily="34" charset="-122"/>
                <a:cs typeface="Segoe UI" pitchFamily="34" charset="-120"/>
              </a:rPr>
              <a:t>Threat model · checklist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5A5FF"/>
          </a:solidFill>
          <a:ln w="12700">
            <a:solidFill>
              <a:srgbClr val="B5A5FF"/>
            </a:solidFill>
            <a:prstDash val="solid"/>
          </a:ln>
        </p:spPr>
      </p:sp>
      <p:sp>
        <p:nvSpPr>
          <p:cNvPr id="3" name="Text 1"/>
          <p:cNvSpPr/>
          <p:nvPr/>
        </p:nvSpPr>
        <p:spPr>
          <a:xfrm>
            <a:off x="822960" y="1828800"/>
            <a:ext cx="5486400" cy="320040"/>
          </a:xfrm>
          <a:prstGeom prst="rect">
            <a:avLst/>
          </a:prstGeom>
          <a:noFill/>
          <a:ln/>
        </p:spPr>
        <p:txBody>
          <a:bodyPr wrap="square" lIns="25400" tIns="25400" rIns="25400" bIns="25400" rtlCol="0" anchor="ctr"/>
          <a:lstStyle/>
          <a:p>
            <a:pPr marL="0" indent="0" algn="l">
              <a:buNone/>
            </a:pPr>
            <a:r>
              <a:rPr lang="en-US" sz="1400" b="1" dirty="0">
                <a:solidFill>
                  <a:srgbClr val="B5A5FF"/>
                </a:solidFill>
                <a:latin typeface="Consolas" pitchFamily="34" charset="0"/>
                <a:ea typeface="Consolas" pitchFamily="34" charset="-122"/>
                <a:cs typeface="Consolas" pitchFamily="34" charset="-120"/>
              </a:rPr>
              <a:t>PHẦN 01 / 06</a:t>
            </a:r>
            <a:endParaRPr lang="en-US" sz="1400" dirty="0"/>
          </a:p>
        </p:txBody>
      </p:sp>
      <p:sp>
        <p:nvSpPr>
          <p:cNvPr id="4" name="Text 2"/>
          <p:cNvSpPr/>
          <p:nvPr/>
        </p:nvSpPr>
        <p:spPr>
          <a:xfrm>
            <a:off x="822960" y="2286000"/>
            <a:ext cx="10515600" cy="1005840"/>
          </a:xfrm>
          <a:prstGeom prst="rect">
            <a:avLst/>
          </a:prstGeom>
          <a:noFill/>
          <a:ln/>
        </p:spPr>
        <p:txBody>
          <a:bodyPr wrap="square" lIns="25400" tIns="25400" rIns="25400" bIns="25400" rtlCol="0" anchor="ctr"/>
          <a:lstStyle/>
          <a:p>
            <a:pPr marL="0" indent="0" algn="l">
              <a:buNone/>
            </a:pPr>
            <a:r>
              <a:rPr lang="en-US" sz="5400" b="1" dirty="0">
                <a:solidFill>
                  <a:srgbClr val="E8ECF5"/>
                </a:solidFill>
                <a:latin typeface="Segoe UI" pitchFamily="34" charset="0"/>
                <a:ea typeface="Segoe UI" pitchFamily="34" charset="-122"/>
                <a:cs typeface="Segoe UI" pitchFamily="34" charset="-120"/>
              </a:rPr>
              <a:t>AuthN ≠ AuthZ</a:t>
            </a:r>
            <a:endParaRPr lang="en-US" sz="5400" dirty="0"/>
          </a:p>
        </p:txBody>
      </p:sp>
      <p:sp>
        <p:nvSpPr>
          <p:cNvPr id="5" name="Text 3"/>
          <p:cNvSpPr/>
          <p:nvPr/>
        </p:nvSpPr>
        <p:spPr>
          <a:xfrm>
            <a:off x="822960" y="3383280"/>
            <a:ext cx="10515600" cy="548640"/>
          </a:xfrm>
          <a:prstGeom prst="rect">
            <a:avLst/>
          </a:prstGeom>
          <a:noFill/>
          <a:ln/>
        </p:spPr>
        <p:txBody>
          <a:bodyPr wrap="square" lIns="25400" tIns="25400" rIns="25400" bIns="25400" rtlCol="0" anchor="ctr"/>
          <a:lstStyle/>
          <a:p>
            <a:pPr marL="0" indent="0" algn="l">
              <a:buNone/>
            </a:pPr>
            <a:r>
              <a:rPr lang="en-US" sz="2200" i="1" dirty="0">
                <a:solidFill>
                  <a:srgbClr val="8F9BB3"/>
                </a:solidFill>
                <a:latin typeface="Segoe UI" pitchFamily="34" charset="0"/>
                <a:ea typeface="Segoe UI" pitchFamily="34" charset="-122"/>
                <a:cs typeface="Segoe UI" pitchFamily="34" charset="-120"/>
              </a:rPr>
              <a:t>Server đã biết bạn là ai chưa — và bạn được làm gì?</a:t>
            </a:r>
            <a:endParaRPr lang="en-US" sz="2200" dirty="0"/>
          </a:p>
        </p:txBody>
      </p:sp>
      <p:sp>
        <p:nvSpPr>
          <p:cNvPr id="6" name="Shape 4"/>
          <p:cNvSpPr/>
          <p:nvPr/>
        </p:nvSpPr>
        <p:spPr>
          <a:xfrm>
            <a:off x="822960" y="5989320"/>
            <a:ext cx="1643329" cy="64008"/>
          </a:xfrm>
          <a:prstGeom prst="rect">
            <a:avLst/>
          </a:prstGeom>
          <a:solidFill>
            <a:srgbClr val="B5A5FF"/>
          </a:solidFill>
          <a:ln w="12700">
            <a:solidFill>
              <a:srgbClr val="B5A5FF"/>
            </a:solidFill>
            <a:prstDash val="solid"/>
          </a:ln>
        </p:spPr>
      </p:sp>
      <p:sp>
        <p:nvSpPr>
          <p:cNvPr id="7" name="Text 5"/>
          <p:cNvSpPr/>
          <p:nvPr/>
        </p:nvSpPr>
        <p:spPr>
          <a:xfrm>
            <a:off x="822960" y="6108192"/>
            <a:ext cx="1643329" cy="274320"/>
          </a:xfrm>
          <a:prstGeom prst="rect">
            <a:avLst/>
          </a:prstGeom>
          <a:noFill/>
          <a:ln/>
        </p:spPr>
        <p:txBody>
          <a:bodyPr wrap="square" lIns="25400" tIns="25400" rIns="25400" bIns="25400" rtlCol="0" anchor="ctr"/>
          <a:lstStyle/>
          <a:p>
            <a:pPr marL="0" indent="0" algn="l">
              <a:buNone/>
            </a:pPr>
            <a:r>
              <a:rPr lang="en-US" sz="950" b="1" dirty="0">
                <a:solidFill>
                  <a:srgbClr val="B5A5FF"/>
                </a:solidFill>
                <a:latin typeface="Segoe UI" pitchFamily="34" charset="0"/>
                <a:ea typeface="Segoe UI" pitchFamily="34" charset="-122"/>
                <a:cs typeface="Segoe UI" pitchFamily="34" charset="-120"/>
              </a:rPr>
              <a:t>01 AuthN ≠ AuthZ</a:t>
            </a:r>
            <a:endParaRPr lang="en-US" sz="950" dirty="0"/>
          </a:p>
        </p:txBody>
      </p:sp>
      <p:sp>
        <p:nvSpPr>
          <p:cNvPr id="8" name="Shape 6"/>
          <p:cNvSpPr/>
          <p:nvPr/>
        </p:nvSpPr>
        <p:spPr>
          <a:xfrm>
            <a:off x="2603449" y="5989320"/>
            <a:ext cx="1643329" cy="64008"/>
          </a:xfrm>
          <a:prstGeom prst="rect">
            <a:avLst/>
          </a:prstGeom>
          <a:solidFill>
            <a:srgbClr val="2A3651"/>
          </a:solidFill>
          <a:ln w="12700">
            <a:solidFill>
              <a:srgbClr val="2A3651"/>
            </a:solidFill>
            <a:prstDash val="solid"/>
          </a:ln>
        </p:spPr>
      </p:sp>
      <p:sp>
        <p:nvSpPr>
          <p:cNvPr id="9" name="Text 7"/>
          <p:cNvSpPr/>
          <p:nvPr/>
        </p:nvSpPr>
        <p:spPr>
          <a:xfrm>
            <a:off x="2603449"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02 Password</a:t>
            </a:r>
            <a:endParaRPr lang="en-US" sz="950" dirty="0"/>
          </a:p>
        </p:txBody>
      </p:sp>
      <p:sp>
        <p:nvSpPr>
          <p:cNvPr id="10" name="Shape 8"/>
          <p:cNvSpPr/>
          <p:nvPr/>
        </p:nvSpPr>
        <p:spPr>
          <a:xfrm>
            <a:off x="4383938" y="5989320"/>
            <a:ext cx="1643329" cy="64008"/>
          </a:xfrm>
          <a:prstGeom prst="rect">
            <a:avLst/>
          </a:prstGeom>
          <a:solidFill>
            <a:srgbClr val="2A3651"/>
          </a:solidFill>
          <a:ln w="12700">
            <a:solidFill>
              <a:srgbClr val="2A3651"/>
            </a:solidFill>
            <a:prstDash val="solid"/>
          </a:ln>
        </p:spPr>
      </p:sp>
      <p:sp>
        <p:nvSpPr>
          <p:cNvPr id="11" name="Text 9"/>
          <p:cNvSpPr/>
          <p:nvPr/>
        </p:nvSpPr>
        <p:spPr>
          <a:xfrm>
            <a:off x="438393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03 Session &amp; cookie</a:t>
            </a:r>
            <a:endParaRPr lang="en-US" sz="950" dirty="0"/>
          </a:p>
        </p:txBody>
      </p:sp>
      <p:sp>
        <p:nvSpPr>
          <p:cNvPr id="12" name="Shape 10"/>
          <p:cNvSpPr/>
          <p:nvPr/>
        </p:nvSpPr>
        <p:spPr>
          <a:xfrm>
            <a:off x="6164428" y="5989320"/>
            <a:ext cx="1643329" cy="64008"/>
          </a:xfrm>
          <a:prstGeom prst="rect">
            <a:avLst/>
          </a:prstGeom>
          <a:solidFill>
            <a:srgbClr val="2A3651"/>
          </a:solidFill>
          <a:ln w="12700">
            <a:solidFill>
              <a:srgbClr val="2A3651"/>
            </a:solidFill>
            <a:prstDash val="solid"/>
          </a:ln>
        </p:spPr>
      </p:sp>
      <p:sp>
        <p:nvSpPr>
          <p:cNvPr id="13" name="Text 11"/>
          <p:cNvSpPr/>
          <p:nvPr/>
        </p:nvSpPr>
        <p:spPr>
          <a:xfrm>
            <a:off x="616442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04 JWT &amp; tokens</a:t>
            </a:r>
            <a:endParaRPr lang="en-US" sz="950" dirty="0"/>
          </a:p>
        </p:txBody>
      </p:sp>
      <p:sp>
        <p:nvSpPr>
          <p:cNvPr id="14" name="Shape 12"/>
          <p:cNvSpPr/>
          <p:nvPr/>
        </p:nvSpPr>
        <p:spPr>
          <a:xfrm>
            <a:off x="7944917" y="5989320"/>
            <a:ext cx="1643329" cy="64008"/>
          </a:xfrm>
          <a:prstGeom prst="rect">
            <a:avLst/>
          </a:prstGeom>
          <a:solidFill>
            <a:srgbClr val="2A3651"/>
          </a:solidFill>
          <a:ln w="12700">
            <a:solidFill>
              <a:srgbClr val="2A3651"/>
            </a:solidFill>
            <a:prstDash val="solid"/>
          </a:ln>
        </p:spPr>
      </p:sp>
      <p:sp>
        <p:nvSpPr>
          <p:cNvPr id="15" name="Text 13"/>
          <p:cNvSpPr/>
          <p:nvPr/>
        </p:nvSpPr>
        <p:spPr>
          <a:xfrm>
            <a:off x="7944917"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05 OAuth / OIDC</a:t>
            </a:r>
            <a:endParaRPr lang="en-US" sz="950" dirty="0"/>
          </a:p>
        </p:txBody>
      </p:sp>
      <p:sp>
        <p:nvSpPr>
          <p:cNvPr id="16" name="Shape 14"/>
          <p:cNvSpPr/>
          <p:nvPr/>
        </p:nvSpPr>
        <p:spPr>
          <a:xfrm>
            <a:off x="9725406" y="5989320"/>
            <a:ext cx="1643329" cy="64008"/>
          </a:xfrm>
          <a:prstGeom prst="rect">
            <a:avLst/>
          </a:prstGeom>
          <a:solidFill>
            <a:srgbClr val="2A3651"/>
          </a:solidFill>
          <a:ln w="12700">
            <a:solidFill>
              <a:srgbClr val="2A3651"/>
            </a:solidFill>
            <a:prstDash val="solid"/>
          </a:ln>
        </p:spPr>
      </p:sp>
      <p:sp>
        <p:nvSpPr>
          <p:cNvPr id="17" name="Text 15"/>
          <p:cNvSpPr/>
          <p:nvPr/>
        </p:nvSpPr>
        <p:spPr>
          <a:xfrm>
            <a:off x="9725406"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06 Lựa chọn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AUTHN &amp; AUTHZ  ·  SLIDE 4/33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Authentication ≠ Authorization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​AuthN: xác định ai đang gọi, từ cookie, Bearer token hoặc password.</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​AuthZ: principal đó có được gọi endpoint này không.</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​Login thành công ≠ có mọi quyền. AuthZ chạy ở backend, mỗi request.</a:t>
            </a:r>
            <a:endParaRPr lang="en-US" sz="1800" dirty="0"/>
          </a:p>
        </p:txBody>
      </p:sp>
      <p:sp>
        <p:nvSpPr>
          <p:cNvPr id="7" name="Text 5"/>
          <p:cNvSpPr/>
          <p:nvPr/>
        </p:nvSpPr>
        <p:spPr>
          <a:xfrm>
            <a:off x="5440680" y="2697480"/>
            <a:ext cx="1828800" cy="868680"/>
          </a:xfrm>
          <a:prstGeom prst="roundRect">
            <a:avLst>
              <a:gd name="adj" fmla="val 8421"/>
            </a:avLst>
          </a:prstGeom>
          <a:solidFill>
            <a:srgbClr val="182238"/>
          </a:solidFill>
          <a:ln w="19050">
            <a:solidFill>
              <a:srgbClr val="B5A5FF"/>
            </a:solidFill>
            <a:prstDash val="solid"/>
          </a:ln>
        </p:spPr>
        <p:txBody>
          <a:bodyPr wrap="square" lIns="76200" tIns="76200" rIns="76200" bIns="76200" rtlCol="0" anchor="ctr"/>
          <a:lstStyle/>
          <a:p>
            <a:pPr marL="0" indent="0" algn="ctr">
              <a:buNone/>
            </a:pPr>
            <a:r>
              <a:rPr lang="en-US" sz="1800" b="1" dirty="0">
                <a:solidFill>
                  <a:srgbClr val="B5A5FF"/>
                </a:solidFill>
                <a:latin typeface="Segoe UI" pitchFamily="34" charset="0"/>
                <a:ea typeface="Segoe UI" pitchFamily="34" charset="-122"/>
                <a:cs typeface="Segoe UI" pitchFamily="34" charset="-120"/>
              </a:rPr>
              <a:t>AuthN</a:t>
            </a:r>
            <a:endParaRPr lang="en-US" sz="1800" dirty="0"/>
          </a:p>
        </p:txBody>
      </p:sp>
      <p:sp>
        <p:nvSpPr>
          <p:cNvPr id="8" name="Text 6"/>
          <p:cNvSpPr/>
          <p:nvPr/>
        </p:nvSpPr>
        <p:spPr>
          <a:xfrm>
            <a:off x="7863840" y="2697480"/>
            <a:ext cx="1828800" cy="868680"/>
          </a:xfrm>
          <a:prstGeom prst="roundRect">
            <a:avLst>
              <a:gd name="adj" fmla="val 8421"/>
            </a:avLst>
          </a:prstGeom>
          <a:solidFill>
            <a:srgbClr val="182238"/>
          </a:solidFill>
          <a:ln w="19050">
            <a:solidFill>
              <a:srgbClr val="7DB3FF"/>
            </a:solidFill>
            <a:prstDash val="solid"/>
          </a:ln>
        </p:spPr>
        <p:txBody>
          <a:bodyPr wrap="square" lIns="76200" tIns="76200" rIns="76200" bIns="76200" rtlCol="0" anchor="ctr"/>
          <a:lstStyle/>
          <a:p>
            <a:pPr marL="0" indent="0" algn="ctr">
              <a:buNone/>
            </a:pPr>
            <a:r>
              <a:rPr lang="en-US" sz="1800" b="1" dirty="0">
                <a:solidFill>
                  <a:srgbClr val="7DB3FF"/>
                </a:solidFill>
                <a:latin typeface="Segoe UI" pitchFamily="34" charset="0"/>
                <a:ea typeface="Segoe UI" pitchFamily="34" charset="-122"/>
                <a:cs typeface="Segoe UI" pitchFamily="34" charset="-120"/>
              </a:rPr>
              <a:t>AuthZ</a:t>
            </a:r>
            <a:endParaRPr lang="en-US" sz="1800" dirty="0"/>
          </a:p>
        </p:txBody>
      </p:sp>
      <p:sp>
        <p:nvSpPr>
          <p:cNvPr id="9" name="Text 7"/>
          <p:cNvSpPr/>
          <p:nvPr/>
        </p:nvSpPr>
        <p:spPr>
          <a:xfrm>
            <a:off x="10287000" y="2697480"/>
            <a:ext cx="1417320" cy="868680"/>
          </a:xfrm>
          <a:prstGeom prst="roundRect">
            <a:avLst>
              <a:gd name="adj" fmla="val 8421"/>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500" b="1" dirty="0">
                <a:solidFill>
                  <a:srgbClr val="6EE7B7"/>
                </a:solidFill>
                <a:latin typeface="Segoe UI" pitchFamily="34" charset="0"/>
                <a:ea typeface="Segoe UI" pitchFamily="34" charset="-122"/>
                <a:cs typeface="Segoe UI" pitchFamily="34" charset="-120"/>
              </a:rPr>
              <a:t>Handler</a:t>
            </a:r>
            <a:endParaRPr lang="en-US" sz="1500" dirty="0"/>
          </a:p>
        </p:txBody>
      </p:sp>
      <p:sp>
        <p:nvSpPr>
          <p:cNvPr id="10" name="Shape 8"/>
          <p:cNvSpPr/>
          <p:nvPr/>
        </p:nvSpPr>
        <p:spPr>
          <a:xfrm>
            <a:off x="7269480" y="3131820"/>
            <a:ext cx="594360" cy="0"/>
          </a:xfrm>
          <a:prstGeom prst="line">
            <a:avLst/>
          </a:prstGeom>
          <a:noFill/>
          <a:ln w="25400">
            <a:solidFill>
              <a:srgbClr val="B5A5FF"/>
            </a:solidFill>
            <a:prstDash val="solid"/>
            <a:tailEnd type="triangle"/>
          </a:ln>
        </p:spPr>
      </p:sp>
      <p:sp>
        <p:nvSpPr>
          <p:cNvPr id="11" name="Shape 9"/>
          <p:cNvSpPr/>
          <p:nvPr/>
        </p:nvSpPr>
        <p:spPr>
          <a:xfrm>
            <a:off x="9692640" y="3131820"/>
            <a:ext cx="594360" cy="0"/>
          </a:xfrm>
          <a:prstGeom prst="line">
            <a:avLst/>
          </a:prstGeom>
          <a:noFill/>
          <a:ln w="25400">
            <a:solidFill>
              <a:srgbClr val="7DB3FF"/>
            </a:solidFill>
            <a:prstDash val="solid"/>
            <a:tailEnd type="triangle"/>
          </a:ln>
        </p:spPr>
      </p:sp>
      <p:sp>
        <p:nvSpPr>
          <p:cNvPr id="12" name="Text 10"/>
          <p:cNvSpPr/>
          <p:nvPr/>
        </p:nvSpPr>
        <p:spPr>
          <a:xfrm>
            <a:off x="6332220" y="1600200"/>
            <a:ext cx="2468880" cy="731520"/>
          </a:xfrm>
          <a:prstGeom prst="roundRect">
            <a:avLst>
              <a:gd name="adj" fmla="val 10000"/>
            </a:avLst>
          </a:prstGeom>
          <a:solidFill>
            <a:srgbClr val="131B2E"/>
          </a:solidFill>
          <a:ln w="12700">
            <a:solidFill>
              <a:srgbClr val="B5A5FF"/>
            </a:solidFill>
            <a:prstDash val="dash"/>
          </a:ln>
        </p:spPr>
        <p:txBody>
          <a:bodyPr wrap="square" lIns="76200" tIns="76200" rIns="76200" bIns="76200" rtlCol="0" anchor="ctr"/>
          <a:lstStyle/>
          <a:p>
            <a:pPr marL="0" indent="0" algn="ctr">
              <a:buNone/>
            </a:pPr>
            <a:r>
              <a:rPr lang="en-US" sz="1100" dirty="0">
                <a:solidFill>
                  <a:srgbClr val="E8ECF5"/>
                </a:solidFill>
                <a:latin typeface="Consolas" pitchFamily="34" charset="0"/>
                <a:ea typeface="Consolas" pitchFamily="34" charset="-122"/>
                <a:cs typeface="Consolas" pitchFamily="34" charset="-120"/>
              </a:rPr>
              <a:t>principal</a:t>
            </a:r>
            <a:endParaRPr lang="en-US" sz="1100" dirty="0"/>
          </a:p>
          <a:p>
            <a:pPr marL="0" indent="0" algn="ctr">
              <a:buNone/>
            </a:pPr>
            <a:r>
              <a:rPr lang="en-US" sz="1100" dirty="0">
                <a:solidFill>
                  <a:srgbClr val="E8ECF5"/>
                </a:solidFill>
                <a:latin typeface="Consolas" pitchFamily="34" charset="0"/>
                <a:ea typeface="Consolas" pitchFamily="34" charset="-122"/>
                <a:cs typeface="Consolas" pitchFamily="34" charset="-120"/>
              </a:rPr>
              <a:t>{ id: 42, role: member }</a:t>
            </a:r>
            <a:endParaRPr lang="en-US" sz="1100" dirty="0"/>
          </a:p>
        </p:txBody>
      </p:sp>
      <p:sp>
        <p:nvSpPr>
          <p:cNvPr id="13" name="Shape 11"/>
          <p:cNvSpPr/>
          <p:nvPr/>
        </p:nvSpPr>
        <p:spPr>
          <a:xfrm>
            <a:off x="7566660" y="2331720"/>
            <a:ext cx="0" cy="800100"/>
          </a:xfrm>
          <a:prstGeom prst="line">
            <a:avLst/>
          </a:prstGeom>
          <a:noFill/>
          <a:ln w="12700">
            <a:solidFill>
              <a:srgbClr val="B5A5FF"/>
            </a:solidFill>
            <a:prstDash val="dash"/>
          </a:ln>
        </p:spPr>
      </p:sp>
      <p:sp>
        <p:nvSpPr>
          <p:cNvPr id="14" name="Text 12"/>
          <p:cNvSpPr/>
          <p:nvPr/>
        </p:nvSpPr>
        <p:spPr>
          <a:xfrm>
            <a:off x="5166360" y="3675888"/>
            <a:ext cx="2377440" cy="685800"/>
          </a:xfrm>
          <a:prstGeom prst="rect">
            <a:avLst/>
          </a:prstGeom>
          <a:noFill/>
          <a:ln/>
        </p:spPr>
        <p:txBody>
          <a:bodyPr wrap="square" lIns="25400" tIns="25400" rIns="25400" bIns="25400" rtlCol="0" anchor="t"/>
          <a:lstStyle/>
          <a:p>
            <a:pPr marL="0" indent="0" algn="ctr">
              <a:buNone/>
            </a:pPr>
            <a:r>
              <a:rPr lang="en-US" sz="1150" dirty="0">
                <a:solidFill>
                  <a:srgbClr val="8F9BB3"/>
                </a:solidFill>
                <a:latin typeface="Segoe UI" pitchFamily="34" charset="0"/>
                <a:ea typeface="Segoe UI" pitchFamily="34" charset="-122"/>
                <a:cs typeface="Segoe UI" pitchFamily="34" charset="-120"/>
              </a:rPr>
              <a:t>Ai đang gọi?</a:t>
            </a:r>
            <a:endParaRPr lang="en-US" sz="1150" dirty="0"/>
          </a:p>
          <a:p>
            <a:pPr marL="0" indent="0" algn="ctr">
              <a:buNone/>
            </a:pPr>
            <a:r>
              <a:rPr lang="en-US" sz="1150" dirty="0">
                <a:solidFill>
                  <a:srgbClr val="8F9BB3"/>
                </a:solidFill>
                <a:latin typeface="Segoe UI" pitchFamily="34" charset="0"/>
                <a:ea typeface="Segoe UI" pitchFamily="34" charset="-122"/>
                <a:cs typeface="Segoe UI" pitchFamily="34" charset="-120"/>
              </a:rPr>
              <a:t>cookie · Bearer → principal</a:t>
            </a:r>
            <a:endParaRPr lang="en-US" sz="1150" dirty="0"/>
          </a:p>
        </p:txBody>
      </p:sp>
      <p:sp>
        <p:nvSpPr>
          <p:cNvPr id="15" name="Text 13"/>
          <p:cNvSpPr/>
          <p:nvPr/>
        </p:nvSpPr>
        <p:spPr>
          <a:xfrm>
            <a:off x="7589520" y="3675888"/>
            <a:ext cx="2377440" cy="685800"/>
          </a:xfrm>
          <a:prstGeom prst="rect">
            <a:avLst/>
          </a:prstGeom>
          <a:noFill/>
          <a:ln/>
        </p:spPr>
        <p:txBody>
          <a:bodyPr wrap="square" lIns="25400" tIns="25400" rIns="25400" bIns="25400" rtlCol="0" anchor="t"/>
          <a:lstStyle/>
          <a:p>
            <a:pPr marL="0" indent="0" algn="ctr">
              <a:buNone/>
            </a:pPr>
            <a:r>
              <a:rPr lang="en-US" sz="1150" dirty="0">
                <a:solidFill>
                  <a:srgbClr val="8F9BB3"/>
                </a:solidFill>
                <a:latin typeface="Segoe UI" pitchFamily="34" charset="0"/>
                <a:ea typeface="Segoe UI" pitchFamily="34" charset="-122"/>
                <a:cs typeface="Segoe UI" pitchFamily="34" charset="-120"/>
              </a:rPr>
              <a:t>Được gọi endpoint này?</a:t>
            </a:r>
            <a:endParaRPr lang="en-US" sz="1150" dirty="0"/>
          </a:p>
          <a:p>
            <a:pPr marL="0" indent="0" algn="ctr">
              <a:buNone/>
            </a:pPr>
            <a:r>
              <a:rPr lang="en-US" sz="1150" dirty="0">
                <a:solidFill>
                  <a:srgbClr val="8F9BB3"/>
                </a:solidFill>
                <a:latin typeface="Segoe UI" pitchFamily="34" charset="0"/>
                <a:ea typeface="Segoe UI" pitchFamily="34" charset="-122"/>
                <a:cs typeface="Segoe UI" pitchFamily="34" charset="-120"/>
              </a:rPr>
              <a:t>principal + policy → allow/deny</a:t>
            </a:r>
            <a:endParaRPr lang="en-US" sz="1150" dirty="0"/>
          </a:p>
        </p:txBody>
      </p:sp>
      <p:sp>
        <p:nvSpPr>
          <p:cNvPr id="16" name="Text 14"/>
          <p:cNvSpPr/>
          <p:nvPr/>
        </p:nvSpPr>
        <p:spPr>
          <a:xfrm>
            <a:off x="10012680" y="3675888"/>
            <a:ext cx="1965960" cy="685800"/>
          </a:xfrm>
          <a:prstGeom prst="rect">
            <a:avLst/>
          </a:prstGeom>
          <a:noFill/>
          <a:ln/>
        </p:spPr>
        <p:txBody>
          <a:bodyPr wrap="square" lIns="25400" tIns="25400" rIns="25400" bIns="25400" rtlCol="0" anchor="t"/>
          <a:lstStyle/>
          <a:p>
            <a:pPr marL="0" indent="0" algn="ctr">
              <a:buNone/>
            </a:pPr>
            <a:r>
              <a:rPr lang="en-US" sz="1150" dirty="0">
                <a:solidFill>
                  <a:srgbClr val="8F9BB3"/>
                </a:solidFill>
                <a:latin typeface="Segoe UI" pitchFamily="34" charset="0"/>
                <a:ea typeface="Segoe UI" pitchFamily="34" charset="-122"/>
                <a:cs typeface="Segoe UI" pitchFamily="34" charset="-120"/>
              </a:rPr>
              <a:t>Business logic</a:t>
            </a:r>
            <a:endParaRPr lang="en-US" sz="1150" dirty="0"/>
          </a:p>
        </p:txBody>
      </p:sp>
      <p:sp>
        <p:nvSpPr>
          <p:cNvPr id="17" name="Shape 15"/>
          <p:cNvSpPr/>
          <p:nvPr/>
        </p:nvSpPr>
        <p:spPr>
          <a:xfrm>
            <a:off x="5440680" y="4572000"/>
            <a:ext cx="6263640" cy="868680"/>
          </a:xfrm>
          <a:prstGeom prst="roundRect">
            <a:avLst>
              <a:gd name="adj" fmla="val 8421"/>
            </a:avLst>
          </a:prstGeom>
          <a:solidFill>
            <a:srgbClr val="131B2E"/>
          </a:solidFill>
          <a:ln w="12700">
            <a:solidFill>
              <a:srgbClr val="2A3651"/>
            </a:solidFill>
            <a:prstDash val="solid"/>
          </a:ln>
        </p:spPr>
      </p:sp>
      <p:sp>
        <p:nvSpPr>
          <p:cNvPr id="18" name="Text 16"/>
          <p:cNvSpPr/>
          <p:nvPr/>
        </p:nvSpPr>
        <p:spPr>
          <a:xfrm>
            <a:off x="5623560" y="4645152"/>
            <a:ext cx="1828800" cy="228600"/>
          </a:xfrm>
          <a:prstGeom prst="rect">
            <a:avLst/>
          </a:prstGeom>
          <a:noFill/>
          <a:ln/>
        </p:spPr>
        <p:txBody>
          <a:bodyPr wrap="square" lIns="25400" tIns="25400" rIns="25400" bIns="25400" rtlCol="0" anchor="ctr"/>
          <a:lstStyle/>
          <a:p>
            <a:pPr marL="0" indent="0" algn="l">
              <a:buNone/>
            </a:pPr>
            <a:r>
              <a:rPr lang="en-US" sz="900" b="1" dirty="0">
                <a:solidFill>
                  <a:srgbClr val="8F9BB3"/>
                </a:solidFill>
                <a:latin typeface="Segoe UI" pitchFamily="34" charset="0"/>
                <a:ea typeface="Segoe UI" pitchFamily="34" charset="-122"/>
                <a:cs typeface="Segoe UI" pitchFamily="34" charset="-120"/>
              </a:rPr>
              <a:t>VÍ DỤ</a:t>
            </a:r>
            <a:endParaRPr lang="en-US" sz="900" dirty="0"/>
          </a:p>
        </p:txBody>
      </p:sp>
      <p:sp>
        <p:nvSpPr>
          <p:cNvPr id="19" name="Text 17"/>
          <p:cNvSpPr/>
          <p:nvPr/>
        </p:nvSpPr>
        <p:spPr>
          <a:xfrm>
            <a:off x="5623560" y="4892040"/>
            <a:ext cx="2651760" cy="411480"/>
          </a:xfrm>
          <a:prstGeom prst="rect">
            <a:avLst/>
          </a:prstGeom>
          <a:noFill/>
          <a:ln/>
        </p:spPr>
        <p:txBody>
          <a:bodyPr wrap="square" lIns="25400" tIns="25400" rIns="25400" bIns="25400" rtlCol="0" anchor="ctr"/>
          <a:lstStyle/>
          <a:p>
            <a:pPr marL="0" indent="0" algn="l">
              <a:buNone/>
            </a:pPr>
            <a:r>
              <a:rPr lang="en-US" sz="1300" dirty="0">
                <a:solidFill>
                  <a:srgbClr val="E8ECF5"/>
                </a:solidFill>
                <a:latin typeface="Consolas" pitchFamily="34" charset="0"/>
                <a:ea typeface="Consolas" pitchFamily="34" charset="-122"/>
                <a:cs typeface="Consolas" pitchFamily="34" charset="-120"/>
              </a:rPr>
              <a:t>member</a:t>
            </a:r>
            <a:r>
              <a:rPr lang="en-US" sz="1300" dirty="0">
                <a:solidFill>
                  <a:srgbClr val="E8ECF5"/>
                </a:solidFill>
                <a:latin typeface="Segoe UI" pitchFamily="34" charset="0"/>
                <a:ea typeface="Segoe UI" pitchFamily="34" charset="-122"/>
                <a:cs typeface="Segoe UI" pitchFamily="34" charset="-120"/>
              </a:rPr>
              <a:t> → </a:t>
            </a:r>
            <a:r>
              <a:rPr lang="en-US" sz="1300" dirty="0">
                <a:solidFill>
                  <a:srgbClr val="E8ECF5"/>
                </a:solidFill>
                <a:latin typeface="Consolas" pitchFamily="34" charset="0"/>
                <a:ea typeface="Consolas" pitchFamily="34" charset="-122"/>
                <a:cs typeface="Consolas" pitchFamily="34" charset="-120"/>
              </a:rPr>
              <a:t>GET /api/admin</a:t>
            </a:r>
            <a:endParaRPr lang="en-US" sz="1300" dirty="0"/>
          </a:p>
        </p:txBody>
      </p:sp>
      <p:sp>
        <p:nvSpPr>
          <p:cNvPr id="20" name="Text 18"/>
          <p:cNvSpPr/>
          <p:nvPr/>
        </p:nvSpPr>
        <p:spPr>
          <a:xfrm>
            <a:off x="8412480" y="4754880"/>
            <a:ext cx="1463040" cy="502920"/>
          </a:xfrm>
          <a:prstGeom prst="roundRect">
            <a:avLst>
              <a:gd name="adj" fmla="val 14545"/>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400" b="1" dirty="0">
                <a:solidFill>
                  <a:srgbClr val="6EE7B7"/>
                </a:solidFill>
                <a:latin typeface="Segoe UI" pitchFamily="34" charset="0"/>
                <a:ea typeface="Segoe UI" pitchFamily="34" charset="-122"/>
                <a:cs typeface="Segoe UI" pitchFamily="34" charset="-120"/>
              </a:rPr>
              <a:t>AuthN ✓</a:t>
            </a:r>
            <a:endParaRPr lang="en-US" sz="1400" dirty="0"/>
          </a:p>
        </p:txBody>
      </p:sp>
      <p:sp>
        <p:nvSpPr>
          <p:cNvPr id="21" name="Text 19"/>
          <p:cNvSpPr/>
          <p:nvPr/>
        </p:nvSpPr>
        <p:spPr>
          <a:xfrm>
            <a:off x="10058400" y="4754880"/>
            <a:ext cx="1463040" cy="502920"/>
          </a:xfrm>
          <a:prstGeom prst="roundRect">
            <a:avLst>
              <a:gd name="adj" fmla="val 14545"/>
            </a:avLst>
          </a:prstGeom>
          <a:solidFill>
            <a:srgbClr val="4D2530"/>
          </a:solidFill>
          <a:ln w="12700">
            <a:solidFill>
              <a:srgbClr val="F28B9A"/>
            </a:solidFill>
            <a:prstDash val="solid"/>
          </a:ln>
        </p:spPr>
        <p:txBody>
          <a:bodyPr wrap="square" lIns="76200" tIns="76200" rIns="76200" bIns="76200" rtlCol="0" anchor="ctr"/>
          <a:lstStyle/>
          <a:p>
            <a:pPr marL="0" indent="0" algn="ctr">
              <a:buNone/>
            </a:pPr>
            <a:r>
              <a:rPr lang="en-US" sz="1400" b="1" dirty="0">
                <a:solidFill>
                  <a:srgbClr val="F28B9A"/>
                </a:solidFill>
                <a:latin typeface="Segoe UI" pitchFamily="34" charset="0"/>
                <a:ea typeface="Segoe UI" pitchFamily="34" charset="-122"/>
                <a:cs typeface="Segoe UI" pitchFamily="34" charset="-120"/>
              </a:rPr>
              <a:t>AuthZ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AUTHN &amp; AUTHZ  ·  SLIDE 5/33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401 hay 403?</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463040"/>
            <a:ext cx="2743200" cy="274320"/>
          </a:xfrm>
          <a:prstGeom prst="rect">
            <a:avLst/>
          </a:prstGeom>
          <a:noFill/>
          <a:ln/>
        </p:spPr>
        <p:txBody>
          <a:bodyPr wrap="square" lIns="25400" tIns="25400" rIns="25400" bIns="25400" rtlCol="0" anchor="ctr"/>
          <a:lstStyle/>
          <a:p>
            <a:pPr marL="0" indent="0" algn="l">
              <a:buNone/>
            </a:pPr>
            <a:r>
              <a:rPr lang="en-US" sz="1000" b="1" dirty="0">
                <a:solidFill>
                  <a:srgbClr val="8F9BB3"/>
                </a:solidFill>
                <a:latin typeface="Segoe UI" pitchFamily="34" charset="0"/>
                <a:ea typeface="Segoe UI" pitchFamily="34" charset="-122"/>
                <a:cs typeface="Segoe UI" pitchFamily="34" charset="-120"/>
              </a:rPr>
              <a:t>REQUEST</a:t>
            </a:r>
            <a:endParaRPr lang="en-US" sz="1000" dirty="0"/>
          </a:p>
        </p:txBody>
      </p:sp>
      <p:sp>
        <p:nvSpPr>
          <p:cNvPr id="7" name="Text 5"/>
          <p:cNvSpPr/>
          <p:nvPr/>
        </p:nvSpPr>
        <p:spPr>
          <a:xfrm>
            <a:off x="4206240" y="1463040"/>
            <a:ext cx="868680" cy="274320"/>
          </a:xfrm>
          <a:prstGeom prst="rect">
            <a:avLst/>
          </a:prstGeom>
          <a:noFill/>
          <a:ln/>
        </p:spPr>
        <p:txBody>
          <a:bodyPr wrap="square" lIns="25400" tIns="25400" rIns="25400" bIns="25400" rtlCol="0" anchor="ctr"/>
          <a:lstStyle/>
          <a:p>
            <a:pPr marL="0" indent="0" algn="ctr">
              <a:buNone/>
            </a:pPr>
            <a:r>
              <a:rPr lang="en-US" sz="1000" b="1" dirty="0">
                <a:solidFill>
                  <a:srgbClr val="8F9BB3"/>
                </a:solidFill>
                <a:latin typeface="Segoe UI" pitchFamily="34" charset="0"/>
                <a:ea typeface="Segoe UI" pitchFamily="34" charset="-122"/>
                <a:cs typeface="Segoe UI" pitchFamily="34" charset="-120"/>
              </a:rPr>
              <a:t>STATUS</a:t>
            </a:r>
            <a:endParaRPr lang="en-US" sz="1000" dirty="0"/>
          </a:p>
        </p:txBody>
      </p:sp>
      <p:sp>
        <p:nvSpPr>
          <p:cNvPr id="8" name="Shape 6"/>
          <p:cNvSpPr/>
          <p:nvPr/>
        </p:nvSpPr>
        <p:spPr>
          <a:xfrm>
            <a:off x="548640" y="2331720"/>
            <a:ext cx="4526280" cy="0"/>
          </a:xfrm>
          <a:prstGeom prst="line">
            <a:avLst/>
          </a:prstGeom>
          <a:noFill/>
          <a:ln w="9525">
            <a:solidFill>
              <a:srgbClr val="2A3651"/>
            </a:solidFill>
            <a:prstDash val="solid"/>
          </a:ln>
        </p:spPr>
      </p:sp>
      <p:sp>
        <p:nvSpPr>
          <p:cNvPr id="9" name="Text 7"/>
          <p:cNvSpPr/>
          <p:nvPr/>
        </p:nvSpPr>
        <p:spPr>
          <a:xfrm>
            <a:off x="548640" y="1783080"/>
            <a:ext cx="3520440" cy="548640"/>
          </a:xfrm>
          <a:prstGeom prst="rect">
            <a:avLst/>
          </a:prstGeom>
          <a:noFill/>
          <a:ln/>
        </p:spPr>
        <p:txBody>
          <a:bodyPr wrap="square" lIns="25400" tIns="25400" rIns="25400" bIns="25400" rtlCol="0" anchor="ctr"/>
          <a:lstStyle/>
          <a:p>
            <a:pPr marL="0" indent="0" algn="l">
              <a:buNone/>
            </a:pPr>
            <a:r>
              <a:rPr lang="en-US" sz="1400" dirty="0">
                <a:solidFill>
                  <a:srgbClr val="E8ECF5"/>
                </a:solidFill>
                <a:latin typeface="Segoe UI" pitchFamily="34" charset="0"/>
                <a:ea typeface="Segoe UI" pitchFamily="34" charset="-122"/>
                <a:cs typeface="Segoe UI" pitchFamily="34" charset="-120"/>
              </a:rPr>
              <a:t>Không có cookie / token</a:t>
            </a:r>
            <a:endParaRPr lang="en-US" sz="1400" dirty="0"/>
          </a:p>
        </p:txBody>
      </p:sp>
      <p:sp>
        <p:nvSpPr>
          <p:cNvPr id="10" name="Text 8"/>
          <p:cNvSpPr/>
          <p:nvPr/>
        </p:nvSpPr>
        <p:spPr>
          <a:xfrm>
            <a:off x="4206240" y="1874520"/>
            <a:ext cx="868680" cy="365760"/>
          </a:xfrm>
          <a:prstGeom prst="roundRect">
            <a:avLst>
              <a:gd name="adj" fmla="val 20000"/>
            </a:avLst>
          </a:prstGeom>
          <a:solidFill>
            <a:srgbClr val="4A3420"/>
          </a:solidFill>
          <a:ln w="12700">
            <a:solidFill>
              <a:srgbClr val="F5A65B"/>
            </a:solidFill>
            <a:prstDash val="solid"/>
          </a:ln>
        </p:spPr>
        <p:txBody>
          <a:bodyPr wrap="square" lIns="12700" tIns="12700" rIns="12700" bIns="12700" rtlCol="0" anchor="ctr"/>
          <a:lstStyle/>
          <a:p>
            <a:pPr marL="0" indent="0" algn="ctr">
              <a:buNone/>
            </a:pPr>
            <a:r>
              <a:rPr lang="en-US" sz="1400" b="1" dirty="0">
                <a:solidFill>
                  <a:srgbClr val="F5A65B"/>
                </a:solidFill>
                <a:latin typeface="Consolas" pitchFamily="34" charset="0"/>
                <a:ea typeface="Consolas" pitchFamily="34" charset="-122"/>
                <a:cs typeface="Consolas" pitchFamily="34" charset="-120"/>
              </a:rPr>
              <a:t>401</a:t>
            </a:r>
            <a:endParaRPr lang="en-US" sz="1400" dirty="0"/>
          </a:p>
        </p:txBody>
      </p:sp>
      <p:sp>
        <p:nvSpPr>
          <p:cNvPr id="11" name="Shape 9"/>
          <p:cNvSpPr/>
          <p:nvPr/>
        </p:nvSpPr>
        <p:spPr>
          <a:xfrm>
            <a:off x="548640" y="2880360"/>
            <a:ext cx="4526280" cy="0"/>
          </a:xfrm>
          <a:prstGeom prst="line">
            <a:avLst/>
          </a:prstGeom>
          <a:noFill/>
          <a:ln w="9525">
            <a:solidFill>
              <a:srgbClr val="2A3651"/>
            </a:solidFill>
            <a:prstDash val="solid"/>
          </a:ln>
        </p:spPr>
      </p:sp>
      <p:sp>
        <p:nvSpPr>
          <p:cNvPr id="12" name="Text 10"/>
          <p:cNvSpPr/>
          <p:nvPr/>
        </p:nvSpPr>
        <p:spPr>
          <a:xfrm>
            <a:off x="548640" y="2331720"/>
            <a:ext cx="3520440" cy="548640"/>
          </a:xfrm>
          <a:prstGeom prst="rect">
            <a:avLst/>
          </a:prstGeom>
          <a:noFill/>
          <a:ln/>
        </p:spPr>
        <p:txBody>
          <a:bodyPr wrap="square" lIns="25400" tIns="25400" rIns="25400" bIns="25400" rtlCol="0" anchor="ctr"/>
          <a:lstStyle/>
          <a:p>
            <a:pPr marL="0" indent="0" algn="l">
              <a:buNone/>
            </a:pPr>
            <a:r>
              <a:rPr lang="en-US" sz="1400" dirty="0">
                <a:solidFill>
                  <a:srgbClr val="E8ECF5"/>
                </a:solidFill>
                <a:latin typeface="Segoe UI" pitchFamily="34" charset="0"/>
                <a:ea typeface="Segoe UI" pitchFamily="34" charset="-122"/>
                <a:cs typeface="Segoe UI" pitchFamily="34" charset="-120"/>
              </a:rPr>
              <a:t>Token hết hạn</a:t>
            </a:r>
            <a:endParaRPr lang="en-US" sz="1400" dirty="0"/>
          </a:p>
        </p:txBody>
      </p:sp>
      <p:sp>
        <p:nvSpPr>
          <p:cNvPr id="13" name="Text 11"/>
          <p:cNvSpPr/>
          <p:nvPr/>
        </p:nvSpPr>
        <p:spPr>
          <a:xfrm>
            <a:off x="4206240" y="2423160"/>
            <a:ext cx="868680" cy="365760"/>
          </a:xfrm>
          <a:prstGeom prst="roundRect">
            <a:avLst>
              <a:gd name="adj" fmla="val 20000"/>
            </a:avLst>
          </a:prstGeom>
          <a:solidFill>
            <a:srgbClr val="4A3420"/>
          </a:solidFill>
          <a:ln w="12700">
            <a:solidFill>
              <a:srgbClr val="F5A65B"/>
            </a:solidFill>
            <a:prstDash val="solid"/>
          </a:ln>
        </p:spPr>
        <p:txBody>
          <a:bodyPr wrap="square" lIns="12700" tIns="12700" rIns="12700" bIns="12700" rtlCol="0" anchor="ctr"/>
          <a:lstStyle/>
          <a:p>
            <a:pPr marL="0" indent="0" algn="ctr">
              <a:buNone/>
            </a:pPr>
            <a:r>
              <a:rPr lang="en-US" sz="1400" b="1" dirty="0">
                <a:solidFill>
                  <a:srgbClr val="F5A65B"/>
                </a:solidFill>
                <a:latin typeface="Consolas" pitchFamily="34" charset="0"/>
                <a:ea typeface="Consolas" pitchFamily="34" charset="-122"/>
                <a:cs typeface="Consolas" pitchFamily="34" charset="-120"/>
              </a:rPr>
              <a:t>401</a:t>
            </a:r>
            <a:endParaRPr lang="en-US" sz="1400" dirty="0"/>
          </a:p>
        </p:txBody>
      </p:sp>
      <p:sp>
        <p:nvSpPr>
          <p:cNvPr id="14" name="Shape 12"/>
          <p:cNvSpPr/>
          <p:nvPr/>
        </p:nvSpPr>
        <p:spPr>
          <a:xfrm>
            <a:off x="548640" y="3429000"/>
            <a:ext cx="4526280" cy="0"/>
          </a:xfrm>
          <a:prstGeom prst="line">
            <a:avLst/>
          </a:prstGeom>
          <a:noFill/>
          <a:ln w="9525">
            <a:solidFill>
              <a:srgbClr val="2A3651"/>
            </a:solidFill>
            <a:prstDash val="solid"/>
          </a:ln>
        </p:spPr>
      </p:sp>
      <p:sp>
        <p:nvSpPr>
          <p:cNvPr id="15" name="Text 13"/>
          <p:cNvSpPr/>
          <p:nvPr/>
        </p:nvSpPr>
        <p:spPr>
          <a:xfrm>
            <a:off x="548640" y="2880360"/>
            <a:ext cx="3520440" cy="548640"/>
          </a:xfrm>
          <a:prstGeom prst="rect">
            <a:avLst/>
          </a:prstGeom>
          <a:noFill/>
          <a:ln/>
        </p:spPr>
        <p:txBody>
          <a:bodyPr wrap="square" lIns="25400" tIns="25400" rIns="25400" bIns="25400" rtlCol="0" anchor="ctr"/>
          <a:lstStyle/>
          <a:p>
            <a:pPr marL="0" indent="0" algn="l">
              <a:buNone/>
            </a:pPr>
            <a:r>
              <a:rPr lang="en-US" sz="1400" dirty="0">
                <a:solidFill>
                  <a:srgbClr val="E8ECF5"/>
                </a:solidFill>
                <a:latin typeface="Segoe UI" pitchFamily="34" charset="0"/>
                <a:ea typeface="Segoe UI" pitchFamily="34" charset="-122"/>
                <a:cs typeface="Segoe UI" pitchFamily="34" charset="-120"/>
              </a:rPr>
              <a:t>Chữ ký token sai</a:t>
            </a:r>
            <a:endParaRPr lang="en-US" sz="1400" dirty="0"/>
          </a:p>
        </p:txBody>
      </p:sp>
      <p:sp>
        <p:nvSpPr>
          <p:cNvPr id="16" name="Text 14"/>
          <p:cNvSpPr/>
          <p:nvPr/>
        </p:nvSpPr>
        <p:spPr>
          <a:xfrm>
            <a:off x="4206240" y="2971800"/>
            <a:ext cx="868680" cy="365760"/>
          </a:xfrm>
          <a:prstGeom prst="roundRect">
            <a:avLst>
              <a:gd name="adj" fmla="val 20000"/>
            </a:avLst>
          </a:prstGeom>
          <a:solidFill>
            <a:srgbClr val="4A3420"/>
          </a:solidFill>
          <a:ln w="12700">
            <a:solidFill>
              <a:srgbClr val="F5A65B"/>
            </a:solidFill>
            <a:prstDash val="solid"/>
          </a:ln>
        </p:spPr>
        <p:txBody>
          <a:bodyPr wrap="square" lIns="12700" tIns="12700" rIns="12700" bIns="12700" rtlCol="0" anchor="ctr"/>
          <a:lstStyle/>
          <a:p>
            <a:pPr marL="0" indent="0" algn="ctr">
              <a:buNone/>
            </a:pPr>
            <a:r>
              <a:rPr lang="en-US" sz="1400" b="1" dirty="0">
                <a:solidFill>
                  <a:srgbClr val="F5A65B"/>
                </a:solidFill>
                <a:latin typeface="Consolas" pitchFamily="34" charset="0"/>
                <a:ea typeface="Consolas" pitchFamily="34" charset="-122"/>
                <a:cs typeface="Consolas" pitchFamily="34" charset="-120"/>
              </a:rPr>
              <a:t>401</a:t>
            </a:r>
            <a:endParaRPr lang="en-US" sz="1400" dirty="0"/>
          </a:p>
        </p:txBody>
      </p:sp>
      <p:sp>
        <p:nvSpPr>
          <p:cNvPr id="17" name="Shape 15"/>
          <p:cNvSpPr/>
          <p:nvPr/>
        </p:nvSpPr>
        <p:spPr>
          <a:xfrm>
            <a:off x="548640" y="3977640"/>
            <a:ext cx="4526280" cy="0"/>
          </a:xfrm>
          <a:prstGeom prst="line">
            <a:avLst/>
          </a:prstGeom>
          <a:noFill/>
          <a:ln w="9525">
            <a:solidFill>
              <a:srgbClr val="2A3651"/>
            </a:solidFill>
            <a:prstDash val="solid"/>
          </a:ln>
        </p:spPr>
      </p:sp>
      <p:sp>
        <p:nvSpPr>
          <p:cNvPr id="18" name="Text 16"/>
          <p:cNvSpPr/>
          <p:nvPr/>
        </p:nvSpPr>
        <p:spPr>
          <a:xfrm>
            <a:off x="548640" y="3429000"/>
            <a:ext cx="3520440" cy="548640"/>
          </a:xfrm>
          <a:prstGeom prst="rect">
            <a:avLst/>
          </a:prstGeom>
          <a:noFill/>
          <a:ln/>
        </p:spPr>
        <p:txBody>
          <a:bodyPr wrap="square" lIns="25400" tIns="25400" rIns="25400" bIns="25400" rtlCol="0" anchor="ctr"/>
          <a:lstStyle/>
          <a:p>
            <a:pPr marL="0" indent="0" algn="l">
              <a:buNone/>
            </a:pPr>
            <a:r>
              <a:rPr lang="en-US" sz="1400" dirty="0">
                <a:solidFill>
                  <a:srgbClr val="B5A5FF"/>
                </a:solidFill>
                <a:latin typeface="Consolas" pitchFamily="34" charset="0"/>
                <a:ea typeface="Consolas" pitchFamily="34" charset="-122"/>
                <a:cs typeface="Consolas" pitchFamily="34" charset="-120"/>
              </a:rPr>
              <a:t>member</a:t>
            </a:r>
            <a:r>
              <a:rPr lang="en-US" sz="1400" dirty="0">
                <a:solidFill>
                  <a:srgbClr val="E8ECF5"/>
                </a:solidFill>
                <a:latin typeface="Segoe UI" pitchFamily="34" charset="0"/>
                <a:ea typeface="Segoe UI" pitchFamily="34" charset="-122"/>
                <a:cs typeface="Segoe UI" pitchFamily="34" charset="-120"/>
              </a:rPr>
              <a:t> gọi </a:t>
            </a:r>
            <a:r>
              <a:rPr lang="en-US" sz="1400" dirty="0">
                <a:solidFill>
                  <a:srgbClr val="B5A5FF"/>
                </a:solidFill>
                <a:latin typeface="Consolas" pitchFamily="34" charset="0"/>
                <a:ea typeface="Consolas" pitchFamily="34" charset="-122"/>
                <a:cs typeface="Consolas" pitchFamily="34" charset="-120"/>
              </a:rPr>
              <a:t>GET /api/admin</a:t>
            </a:r>
            <a:endParaRPr lang="en-US" sz="1400" dirty="0"/>
          </a:p>
        </p:txBody>
      </p:sp>
      <p:sp>
        <p:nvSpPr>
          <p:cNvPr id="19" name="Text 17"/>
          <p:cNvSpPr/>
          <p:nvPr/>
        </p:nvSpPr>
        <p:spPr>
          <a:xfrm>
            <a:off x="4206240" y="3520440"/>
            <a:ext cx="868680" cy="365760"/>
          </a:xfrm>
          <a:prstGeom prst="roundRect">
            <a:avLst>
              <a:gd name="adj" fmla="val 20000"/>
            </a:avLst>
          </a:prstGeom>
          <a:solidFill>
            <a:srgbClr val="4D2530"/>
          </a:solidFill>
          <a:ln w="12700">
            <a:solidFill>
              <a:srgbClr val="F28B9A"/>
            </a:solidFill>
            <a:prstDash val="solid"/>
          </a:ln>
        </p:spPr>
        <p:txBody>
          <a:bodyPr wrap="square" lIns="12700" tIns="12700" rIns="12700" bIns="12700" rtlCol="0" anchor="ctr"/>
          <a:lstStyle/>
          <a:p>
            <a:pPr marL="0" indent="0" algn="ctr">
              <a:buNone/>
            </a:pPr>
            <a:r>
              <a:rPr lang="en-US" sz="1400" b="1" dirty="0">
                <a:solidFill>
                  <a:srgbClr val="F28B9A"/>
                </a:solidFill>
                <a:latin typeface="Consolas" pitchFamily="34" charset="0"/>
                <a:ea typeface="Consolas" pitchFamily="34" charset="-122"/>
                <a:cs typeface="Consolas" pitchFamily="34" charset="-120"/>
              </a:rPr>
              <a:t>403</a:t>
            </a:r>
            <a:endParaRPr lang="en-US" sz="1400" dirty="0"/>
          </a:p>
        </p:txBody>
      </p:sp>
      <p:sp>
        <p:nvSpPr>
          <p:cNvPr id="20" name="Shape 18"/>
          <p:cNvSpPr/>
          <p:nvPr/>
        </p:nvSpPr>
        <p:spPr>
          <a:xfrm>
            <a:off x="548640" y="4526280"/>
            <a:ext cx="4526280" cy="0"/>
          </a:xfrm>
          <a:prstGeom prst="line">
            <a:avLst/>
          </a:prstGeom>
          <a:noFill/>
          <a:ln w="9525">
            <a:solidFill>
              <a:srgbClr val="2A3651"/>
            </a:solidFill>
            <a:prstDash val="solid"/>
          </a:ln>
        </p:spPr>
      </p:sp>
      <p:sp>
        <p:nvSpPr>
          <p:cNvPr id="21" name="Text 19"/>
          <p:cNvSpPr/>
          <p:nvPr/>
        </p:nvSpPr>
        <p:spPr>
          <a:xfrm>
            <a:off x="548640" y="3977640"/>
            <a:ext cx="3520440" cy="548640"/>
          </a:xfrm>
          <a:prstGeom prst="rect">
            <a:avLst/>
          </a:prstGeom>
          <a:noFill/>
          <a:ln/>
        </p:spPr>
        <p:txBody>
          <a:bodyPr wrap="square" lIns="25400" tIns="25400" rIns="25400" bIns="25400" rtlCol="0" anchor="ctr"/>
          <a:lstStyle/>
          <a:p>
            <a:pPr marL="0" indent="0" algn="l">
              <a:buNone/>
            </a:pPr>
            <a:r>
              <a:rPr lang="en-US" sz="1400" dirty="0">
                <a:solidFill>
                  <a:srgbClr val="B5A5FF"/>
                </a:solidFill>
                <a:latin typeface="Consolas" pitchFamily="34" charset="0"/>
                <a:ea typeface="Consolas" pitchFamily="34" charset="-122"/>
                <a:cs typeface="Consolas" pitchFamily="34" charset="-120"/>
              </a:rPr>
              <a:t>admin</a:t>
            </a:r>
            <a:r>
              <a:rPr lang="en-US" sz="1400" dirty="0">
                <a:solidFill>
                  <a:srgbClr val="E8ECF5"/>
                </a:solidFill>
                <a:latin typeface="Segoe UI" pitchFamily="34" charset="0"/>
                <a:ea typeface="Segoe UI" pitchFamily="34" charset="-122"/>
                <a:cs typeface="Segoe UI" pitchFamily="34" charset="-120"/>
              </a:rPr>
              <a:t> gọi </a:t>
            </a:r>
            <a:r>
              <a:rPr lang="en-US" sz="1400" dirty="0">
                <a:solidFill>
                  <a:srgbClr val="B5A5FF"/>
                </a:solidFill>
                <a:latin typeface="Consolas" pitchFamily="34" charset="0"/>
                <a:ea typeface="Consolas" pitchFamily="34" charset="-122"/>
                <a:cs typeface="Consolas" pitchFamily="34" charset="-120"/>
              </a:rPr>
              <a:t>GET /api/admin</a:t>
            </a:r>
            <a:endParaRPr lang="en-US" sz="1400" dirty="0"/>
          </a:p>
        </p:txBody>
      </p:sp>
      <p:sp>
        <p:nvSpPr>
          <p:cNvPr id="22" name="Text 20"/>
          <p:cNvSpPr/>
          <p:nvPr/>
        </p:nvSpPr>
        <p:spPr>
          <a:xfrm>
            <a:off x="4206240" y="4069080"/>
            <a:ext cx="868680" cy="365760"/>
          </a:xfrm>
          <a:prstGeom prst="roundRect">
            <a:avLst>
              <a:gd name="adj" fmla="val 20000"/>
            </a:avLst>
          </a:prstGeom>
          <a:solidFill>
            <a:srgbClr val="1E4D40"/>
          </a:solidFill>
          <a:ln w="12700">
            <a:solidFill>
              <a:srgbClr val="6EE7B7"/>
            </a:solidFill>
            <a:prstDash val="solid"/>
          </a:ln>
        </p:spPr>
        <p:txBody>
          <a:bodyPr wrap="square" lIns="12700" tIns="12700" rIns="12700" bIns="12700" rtlCol="0" anchor="ctr"/>
          <a:lstStyle/>
          <a:p>
            <a:pPr marL="0" indent="0" algn="ctr">
              <a:buNone/>
            </a:pPr>
            <a:r>
              <a:rPr lang="en-US" sz="1400" b="1" dirty="0">
                <a:solidFill>
                  <a:srgbClr val="6EE7B7"/>
                </a:solidFill>
                <a:latin typeface="Consolas" pitchFamily="34" charset="0"/>
                <a:ea typeface="Consolas" pitchFamily="34" charset="-122"/>
                <a:cs typeface="Consolas" pitchFamily="34" charset="-120"/>
              </a:rPr>
              <a:t>200</a:t>
            </a:r>
            <a:endParaRPr lang="en-US" sz="1400" dirty="0"/>
          </a:p>
        </p:txBody>
      </p:sp>
      <p:sp>
        <p:nvSpPr>
          <p:cNvPr id="23" name="Text 21"/>
          <p:cNvSpPr/>
          <p:nvPr/>
        </p:nvSpPr>
        <p:spPr>
          <a:xfrm>
            <a:off x="548640" y="4754880"/>
            <a:ext cx="4526280" cy="777240"/>
          </a:xfrm>
          <a:prstGeom prst="rect">
            <a:avLst/>
          </a:prstGeom>
          <a:noFill/>
          <a:ln/>
        </p:spPr>
        <p:txBody>
          <a:bodyPr wrap="square" lIns="25400" tIns="25400" rIns="25400" bIns="25400" rtlCol="0" anchor="t"/>
          <a:lstStyle/>
          <a:p>
            <a:pPr marL="0" indent="0" algn="l">
              <a:buNone/>
            </a:pPr>
            <a:r>
              <a:rPr lang="en-US" sz="1500" b="1" dirty="0">
                <a:solidFill>
                  <a:srgbClr val="B5A5FF"/>
                </a:solidFill>
                <a:latin typeface="Consolas" pitchFamily="34" charset="0"/>
                <a:ea typeface="Consolas" pitchFamily="34" charset="-122"/>
                <a:cs typeface="Consolas" pitchFamily="34" charset="-120"/>
              </a:rPr>
              <a:t>401</a:t>
            </a:r>
            <a:r>
              <a:rPr lang="en-US" sz="1500" b="1" dirty="0">
                <a:solidFill>
                  <a:srgbClr val="E8ECF5"/>
                </a:solidFill>
                <a:latin typeface="Segoe UI" pitchFamily="34" charset="0"/>
                <a:ea typeface="Segoe UI" pitchFamily="34" charset="-122"/>
                <a:cs typeface="Segoe UI" pitchFamily="34" charset="-120"/>
              </a:rPr>
              <a:t>: không biết bạn là ai.</a:t>
            </a:r>
            <a:endParaRPr lang="en-US" sz="1500" dirty="0"/>
          </a:p>
          <a:p>
            <a:pPr marL="0" indent="0" algn="l">
              <a:buNone/>
            </a:pPr>
            <a:r>
              <a:rPr lang="en-US" sz="1500" b="1" dirty="0">
                <a:solidFill>
                  <a:srgbClr val="B5A5FF"/>
                </a:solidFill>
                <a:latin typeface="Consolas" pitchFamily="34" charset="0"/>
                <a:ea typeface="Consolas" pitchFamily="34" charset="-122"/>
                <a:cs typeface="Consolas" pitchFamily="34" charset="-120"/>
              </a:rPr>
              <a:t>403</a:t>
            </a:r>
            <a:r>
              <a:rPr lang="en-US" sz="1500" b="1" dirty="0">
                <a:solidFill>
                  <a:srgbClr val="E8ECF5"/>
                </a:solidFill>
                <a:latin typeface="Segoe UI" pitchFamily="34" charset="0"/>
                <a:ea typeface="Segoe UI" pitchFamily="34" charset="-122"/>
                <a:cs typeface="Segoe UI" pitchFamily="34" charset="-120"/>
              </a:rPr>
              <a:t>: biết, nhưng không cho.</a:t>
            </a:r>
            <a:endParaRPr lang="en-US" sz="1500" dirty="0"/>
          </a:p>
        </p:txBody>
      </p:sp>
      <p:sp>
        <p:nvSpPr>
          <p:cNvPr id="24" name="Text 22"/>
          <p:cNvSpPr/>
          <p:nvPr/>
        </p:nvSpPr>
        <p:spPr>
          <a:xfrm>
            <a:off x="6446520" y="1463040"/>
            <a:ext cx="21945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200" b="1" dirty="0">
                <a:solidFill>
                  <a:srgbClr val="E8ECF5"/>
                </a:solidFill>
                <a:latin typeface="Consolas" pitchFamily="34" charset="0"/>
                <a:ea typeface="Consolas" pitchFamily="34" charset="-122"/>
                <a:cs typeface="Consolas" pitchFamily="34" charset="-120"/>
              </a:rPr>
              <a:t>GET /api/admin</a:t>
            </a:r>
            <a:endParaRPr lang="en-US" sz="1200" dirty="0"/>
          </a:p>
        </p:txBody>
      </p:sp>
      <p:sp>
        <p:nvSpPr>
          <p:cNvPr id="25" name="Text 23"/>
          <p:cNvSpPr/>
          <p:nvPr/>
        </p:nvSpPr>
        <p:spPr>
          <a:xfrm>
            <a:off x="6355080" y="2240280"/>
            <a:ext cx="2377440" cy="960120"/>
          </a:xfrm>
          <a:prstGeom prst="diamond">
            <a:avLst/>
          </a:prstGeom>
          <a:solidFill>
            <a:srgbClr val="182238"/>
          </a:solidFill>
          <a:ln w="15875">
            <a:solidFill>
              <a:srgbClr val="B5A5FF"/>
            </a:solidFill>
          </a:ln>
        </p:spPr>
        <p:txBody>
          <a:bodyPr wrap="square"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Credential</a:t>
            </a:r>
            <a:endParaRPr lang="en-US" sz="1200" dirty="0"/>
          </a:p>
          <a:p>
            <a:pPr marL="0" indent="0" algn="ctr">
              <a:buNone/>
            </a:pPr>
            <a:r>
              <a:rPr lang="en-US" sz="1200" b="1" dirty="0">
                <a:solidFill>
                  <a:srgbClr val="E8ECF5"/>
                </a:solidFill>
                <a:latin typeface="Segoe UI" pitchFamily="34" charset="0"/>
                <a:ea typeface="Segoe UI" pitchFamily="34" charset="-122"/>
                <a:cs typeface="Segoe UI" pitchFamily="34" charset="-120"/>
              </a:rPr>
              <a:t>hợp lệ?</a:t>
            </a:r>
            <a:endParaRPr lang="en-US" sz="1200" dirty="0"/>
          </a:p>
        </p:txBody>
      </p:sp>
      <p:sp>
        <p:nvSpPr>
          <p:cNvPr id="26" name="Text 24"/>
          <p:cNvSpPr/>
          <p:nvPr/>
        </p:nvSpPr>
        <p:spPr>
          <a:xfrm>
            <a:off x="6355080" y="3611880"/>
            <a:ext cx="2377440" cy="960120"/>
          </a:xfrm>
          <a:prstGeom prst="diamond">
            <a:avLst/>
          </a:prstGeom>
          <a:solidFill>
            <a:srgbClr val="182238"/>
          </a:solidFill>
          <a:ln w="15875">
            <a:solidFill>
              <a:srgbClr val="7DB3FF"/>
            </a:solidFill>
          </a:ln>
        </p:spPr>
        <p:txBody>
          <a:bodyPr wrap="square"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Role đủ</a:t>
            </a:r>
            <a:endParaRPr lang="en-US" sz="1200" dirty="0"/>
          </a:p>
          <a:p>
            <a:pPr marL="0" indent="0" algn="ctr">
              <a:buNone/>
            </a:pPr>
            <a:r>
              <a:rPr lang="en-US" sz="1200" b="1" dirty="0">
                <a:solidFill>
                  <a:srgbClr val="E8ECF5"/>
                </a:solidFill>
                <a:latin typeface="Segoe UI" pitchFamily="34" charset="0"/>
                <a:ea typeface="Segoe UI" pitchFamily="34" charset="-122"/>
                <a:cs typeface="Segoe UI" pitchFamily="34" charset="-120"/>
              </a:rPr>
              <a:t>quyền?</a:t>
            </a:r>
            <a:endParaRPr lang="en-US" sz="1200" dirty="0"/>
          </a:p>
        </p:txBody>
      </p:sp>
      <p:sp>
        <p:nvSpPr>
          <p:cNvPr id="27" name="Text 25"/>
          <p:cNvSpPr/>
          <p:nvPr/>
        </p:nvSpPr>
        <p:spPr>
          <a:xfrm>
            <a:off x="6766560" y="5029200"/>
            <a:ext cx="1554480" cy="548640"/>
          </a:xfrm>
          <a:prstGeom prst="roundRect">
            <a:avLst>
              <a:gd name="adj" fmla="val 13333"/>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600" b="1" dirty="0">
                <a:solidFill>
                  <a:srgbClr val="6EE7B7"/>
                </a:solidFill>
                <a:latin typeface="Segoe UI" pitchFamily="34" charset="0"/>
                <a:ea typeface="Segoe UI" pitchFamily="34" charset="-122"/>
                <a:cs typeface="Segoe UI" pitchFamily="34" charset="-120"/>
              </a:rPr>
              <a:t>200 OK</a:t>
            </a:r>
            <a:endParaRPr lang="en-US" sz="1600" dirty="0"/>
          </a:p>
        </p:txBody>
      </p:sp>
      <p:sp>
        <p:nvSpPr>
          <p:cNvPr id="28" name="Text 26"/>
          <p:cNvSpPr/>
          <p:nvPr/>
        </p:nvSpPr>
        <p:spPr>
          <a:xfrm>
            <a:off x="9646920" y="2423160"/>
            <a:ext cx="2103120" cy="594360"/>
          </a:xfrm>
          <a:prstGeom prst="roundRect">
            <a:avLst>
              <a:gd name="adj" fmla="val 12308"/>
            </a:avLst>
          </a:prstGeom>
          <a:solidFill>
            <a:srgbClr val="4A3420"/>
          </a:solidFill>
          <a:ln w="12700">
            <a:solidFill>
              <a:srgbClr val="F5A65B"/>
            </a:solidFill>
            <a:prstDash val="solid"/>
          </a:ln>
        </p:spPr>
        <p:txBody>
          <a:bodyPr wrap="square" lIns="76200" tIns="76200" rIns="76200" bIns="76200" rtlCol="0" anchor="ctr"/>
          <a:lstStyle/>
          <a:p>
            <a:pPr marL="0" indent="0" algn="ctr">
              <a:buNone/>
            </a:pPr>
            <a:r>
              <a:rPr lang="en-US" sz="1100" b="1" dirty="0">
                <a:solidFill>
                  <a:srgbClr val="F5A65B"/>
                </a:solidFill>
                <a:latin typeface="Segoe UI" pitchFamily="34" charset="0"/>
                <a:ea typeface="Segoe UI" pitchFamily="34" charset="-122"/>
                <a:cs typeface="Segoe UI" pitchFamily="34" charset="-120"/>
              </a:rPr>
              <a:t>401 Unauthorized</a:t>
            </a:r>
            <a:endParaRPr lang="en-US" sz="1100" dirty="0"/>
          </a:p>
          <a:p>
            <a:pPr marL="0" indent="0" algn="ctr">
              <a:buNone/>
            </a:pPr>
            <a:r>
              <a:rPr lang="en-US" sz="1100" b="1" dirty="0">
                <a:solidFill>
                  <a:srgbClr val="F5A65B"/>
                </a:solidFill>
                <a:latin typeface="Segoe UI" pitchFamily="34" charset="0"/>
                <a:ea typeface="Segoe UI" pitchFamily="34" charset="-122"/>
                <a:cs typeface="Segoe UI" pitchFamily="34" charset="-120"/>
              </a:rPr>
              <a:t>+ WWW-Authenticate</a:t>
            </a:r>
            <a:endParaRPr lang="en-US" sz="1100" dirty="0"/>
          </a:p>
        </p:txBody>
      </p:sp>
      <p:sp>
        <p:nvSpPr>
          <p:cNvPr id="29" name="Text 27"/>
          <p:cNvSpPr/>
          <p:nvPr/>
        </p:nvSpPr>
        <p:spPr>
          <a:xfrm>
            <a:off x="9646920" y="3794760"/>
            <a:ext cx="2103120" cy="594360"/>
          </a:xfrm>
          <a:prstGeom prst="roundRect">
            <a:avLst>
              <a:gd name="adj" fmla="val 12308"/>
            </a:avLst>
          </a:prstGeom>
          <a:solidFill>
            <a:srgbClr val="4D2530"/>
          </a:solidFill>
          <a:ln w="12700">
            <a:solidFill>
              <a:srgbClr val="F28B9A"/>
            </a:solidFill>
            <a:prstDash val="solid"/>
          </a:ln>
        </p:spPr>
        <p:txBody>
          <a:bodyPr wrap="square" lIns="76200" tIns="76200" rIns="76200" bIns="76200" rtlCol="0" anchor="ctr"/>
          <a:lstStyle/>
          <a:p>
            <a:pPr marL="0" indent="0" algn="ctr">
              <a:buNone/>
            </a:pPr>
            <a:r>
              <a:rPr lang="en-US" sz="1300" b="1" dirty="0">
                <a:solidFill>
                  <a:srgbClr val="F28B9A"/>
                </a:solidFill>
                <a:latin typeface="Segoe UI" pitchFamily="34" charset="0"/>
                <a:ea typeface="Segoe UI" pitchFamily="34" charset="-122"/>
                <a:cs typeface="Segoe UI" pitchFamily="34" charset="-120"/>
              </a:rPr>
              <a:t>403 Forbidden</a:t>
            </a:r>
            <a:endParaRPr lang="en-US" sz="1300" dirty="0"/>
          </a:p>
        </p:txBody>
      </p:sp>
      <p:sp>
        <p:nvSpPr>
          <p:cNvPr id="30" name="Shape 28"/>
          <p:cNvSpPr/>
          <p:nvPr/>
        </p:nvSpPr>
        <p:spPr>
          <a:xfrm>
            <a:off x="7543800" y="1920240"/>
            <a:ext cx="0" cy="320040"/>
          </a:xfrm>
          <a:prstGeom prst="line">
            <a:avLst/>
          </a:prstGeom>
          <a:noFill/>
          <a:ln w="19050">
            <a:solidFill>
              <a:srgbClr val="8F9BB3"/>
            </a:solidFill>
            <a:prstDash val="solid"/>
            <a:tailEnd type="triangle"/>
          </a:ln>
        </p:spPr>
      </p:sp>
      <p:sp>
        <p:nvSpPr>
          <p:cNvPr id="31" name="Shape 29"/>
          <p:cNvSpPr/>
          <p:nvPr/>
        </p:nvSpPr>
        <p:spPr>
          <a:xfrm>
            <a:off x="7543800" y="3200400"/>
            <a:ext cx="0" cy="411480"/>
          </a:xfrm>
          <a:prstGeom prst="line">
            <a:avLst/>
          </a:prstGeom>
          <a:noFill/>
          <a:ln w="19050">
            <a:solidFill>
              <a:srgbClr val="6EE7B7"/>
            </a:solidFill>
            <a:prstDash val="solid"/>
            <a:tailEnd type="triangle"/>
          </a:ln>
        </p:spPr>
      </p:sp>
      <p:sp>
        <p:nvSpPr>
          <p:cNvPr id="32" name="Shape 30"/>
          <p:cNvSpPr/>
          <p:nvPr/>
        </p:nvSpPr>
        <p:spPr>
          <a:xfrm>
            <a:off x="7543800" y="4572000"/>
            <a:ext cx="0" cy="457200"/>
          </a:xfrm>
          <a:prstGeom prst="line">
            <a:avLst/>
          </a:prstGeom>
          <a:noFill/>
          <a:ln w="19050">
            <a:solidFill>
              <a:srgbClr val="6EE7B7"/>
            </a:solidFill>
            <a:prstDash val="solid"/>
            <a:tailEnd type="triangle"/>
          </a:ln>
        </p:spPr>
      </p:sp>
      <p:sp>
        <p:nvSpPr>
          <p:cNvPr id="33" name="Shape 31"/>
          <p:cNvSpPr/>
          <p:nvPr/>
        </p:nvSpPr>
        <p:spPr>
          <a:xfrm>
            <a:off x="8732520" y="2720340"/>
            <a:ext cx="914400" cy="0"/>
          </a:xfrm>
          <a:prstGeom prst="line">
            <a:avLst/>
          </a:prstGeom>
          <a:noFill/>
          <a:ln w="19050">
            <a:solidFill>
              <a:srgbClr val="F5A65B"/>
            </a:solidFill>
            <a:prstDash val="solid"/>
            <a:tailEnd type="triangle"/>
          </a:ln>
        </p:spPr>
      </p:sp>
      <p:sp>
        <p:nvSpPr>
          <p:cNvPr id="34" name="Shape 32"/>
          <p:cNvSpPr/>
          <p:nvPr/>
        </p:nvSpPr>
        <p:spPr>
          <a:xfrm>
            <a:off x="8732520" y="4091940"/>
            <a:ext cx="914400" cy="0"/>
          </a:xfrm>
          <a:prstGeom prst="line">
            <a:avLst/>
          </a:prstGeom>
          <a:noFill/>
          <a:ln w="19050">
            <a:solidFill>
              <a:srgbClr val="F28B9A"/>
            </a:solidFill>
            <a:prstDash val="solid"/>
            <a:tailEnd type="triangle"/>
          </a:ln>
        </p:spPr>
      </p:sp>
      <p:sp>
        <p:nvSpPr>
          <p:cNvPr id="35" name="Text 33"/>
          <p:cNvSpPr/>
          <p:nvPr/>
        </p:nvSpPr>
        <p:spPr>
          <a:xfrm>
            <a:off x="8732520" y="2359152"/>
            <a:ext cx="914400" cy="320040"/>
          </a:xfrm>
          <a:prstGeom prst="rect">
            <a:avLst/>
          </a:prstGeom>
          <a:noFill/>
          <a:ln/>
        </p:spPr>
        <p:txBody>
          <a:bodyPr wrap="square" lIns="25400" tIns="25400" rIns="25400" bIns="25400" rtlCol="0" anchor="ctr"/>
          <a:lstStyle/>
          <a:p>
            <a:pPr marL="0" indent="0" algn="ctr">
              <a:buNone/>
            </a:pPr>
            <a:r>
              <a:rPr lang="en-US" sz="1200" b="1" dirty="0">
                <a:solidFill>
                  <a:srgbClr val="F5A65B"/>
                </a:solidFill>
                <a:latin typeface="Segoe UI" pitchFamily="34" charset="0"/>
                <a:ea typeface="Segoe UI" pitchFamily="34" charset="-122"/>
                <a:cs typeface="Segoe UI" pitchFamily="34" charset="-120"/>
              </a:rPr>
              <a:t>không</a:t>
            </a:r>
            <a:endParaRPr lang="en-US" sz="1200" dirty="0"/>
          </a:p>
        </p:txBody>
      </p:sp>
      <p:sp>
        <p:nvSpPr>
          <p:cNvPr id="36" name="Text 34"/>
          <p:cNvSpPr/>
          <p:nvPr/>
        </p:nvSpPr>
        <p:spPr>
          <a:xfrm>
            <a:off x="8732520" y="3730752"/>
            <a:ext cx="914400" cy="320040"/>
          </a:xfrm>
          <a:prstGeom prst="rect">
            <a:avLst/>
          </a:prstGeom>
          <a:noFill/>
          <a:ln/>
        </p:spPr>
        <p:txBody>
          <a:bodyPr wrap="square" lIns="25400" tIns="25400" rIns="25400" bIns="25400" rtlCol="0" anchor="ctr"/>
          <a:lstStyle/>
          <a:p>
            <a:pPr marL="0" indent="0" algn="ctr">
              <a:buNone/>
            </a:pPr>
            <a:r>
              <a:rPr lang="en-US" sz="1200" b="1" dirty="0">
                <a:solidFill>
                  <a:srgbClr val="F28B9A"/>
                </a:solidFill>
                <a:latin typeface="Segoe UI" pitchFamily="34" charset="0"/>
                <a:ea typeface="Segoe UI" pitchFamily="34" charset="-122"/>
                <a:cs typeface="Segoe UI" pitchFamily="34" charset="-120"/>
              </a:rPr>
              <a:t>không</a:t>
            </a:r>
            <a:endParaRPr lang="en-US" sz="1200" dirty="0"/>
          </a:p>
        </p:txBody>
      </p:sp>
      <p:sp>
        <p:nvSpPr>
          <p:cNvPr id="37" name="Text 35"/>
          <p:cNvSpPr/>
          <p:nvPr/>
        </p:nvSpPr>
        <p:spPr>
          <a:xfrm>
            <a:off x="7635240" y="3246120"/>
            <a:ext cx="548640" cy="320040"/>
          </a:xfrm>
          <a:prstGeom prst="rect">
            <a:avLst/>
          </a:prstGeom>
          <a:noFill/>
          <a:ln/>
        </p:spPr>
        <p:txBody>
          <a:bodyPr wrap="square" lIns="25400" tIns="25400" rIns="25400" bIns="25400" rtlCol="0" anchor="ctr"/>
          <a:lstStyle/>
          <a:p>
            <a:pPr marL="0" indent="0" algn="l">
              <a:buNone/>
            </a:pPr>
            <a:r>
              <a:rPr lang="en-US" sz="1200" b="1" dirty="0">
                <a:solidFill>
                  <a:srgbClr val="6EE7B7"/>
                </a:solidFill>
                <a:latin typeface="Segoe UI" pitchFamily="34" charset="0"/>
                <a:ea typeface="Segoe UI" pitchFamily="34" charset="-122"/>
                <a:cs typeface="Segoe UI" pitchFamily="34" charset="-120"/>
              </a:rPr>
              <a:t>có</a:t>
            </a:r>
            <a:endParaRPr lang="en-US" sz="1200" dirty="0"/>
          </a:p>
        </p:txBody>
      </p:sp>
      <p:sp>
        <p:nvSpPr>
          <p:cNvPr id="38" name="Text 36"/>
          <p:cNvSpPr/>
          <p:nvPr/>
        </p:nvSpPr>
        <p:spPr>
          <a:xfrm>
            <a:off x="7635240" y="4617720"/>
            <a:ext cx="548640" cy="320040"/>
          </a:xfrm>
          <a:prstGeom prst="rect">
            <a:avLst/>
          </a:prstGeom>
          <a:noFill/>
          <a:ln/>
        </p:spPr>
        <p:txBody>
          <a:bodyPr wrap="square" lIns="25400" tIns="25400" rIns="25400" bIns="25400" rtlCol="0" anchor="ctr"/>
          <a:lstStyle/>
          <a:p>
            <a:pPr marL="0" indent="0" algn="l">
              <a:buNone/>
            </a:pPr>
            <a:r>
              <a:rPr lang="en-US" sz="1200" b="1" dirty="0">
                <a:solidFill>
                  <a:srgbClr val="6EE7B7"/>
                </a:solidFill>
                <a:latin typeface="Segoe UI" pitchFamily="34" charset="0"/>
                <a:ea typeface="Segoe UI" pitchFamily="34" charset="-122"/>
                <a:cs typeface="Segoe UI" pitchFamily="34" charset="-120"/>
              </a:rPr>
              <a:t>có</a:t>
            </a:r>
            <a:endParaRPr lang="en-US" sz="1200" dirty="0"/>
          </a:p>
        </p:txBody>
      </p:sp>
      <p:sp>
        <p:nvSpPr>
          <p:cNvPr id="39" name="Text 37"/>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marL="0" indent="0" algn="ctr">
              <a:buNone/>
            </a:pPr>
            <a:r>
              <a:rPr lang="en-US" sz="1500" b="1" u="sng" dirty="0">
                <a:solidFill>
                  <a:srgbClr val="111329"/>
                </a:solidFill>
                <a:latin typeface="Segoe UI" pitchFamily="34" charset="0"/>
                <a:ea typeface="Segoe UI" pitchFamily="34" charset="-122"/>
                <a:cs typeface="Segoe UI" pitchFamily="34" charset="-120"/>
                <a:hlinkClick r:id="rId3" tooltip="http://localhost:5173/demo/authz">
                  <a:extLst>
                    <a:ext uri="{A12FA001-AC4F-418D-AE19-62706E023703}">
                      <ahyp:hlinkClr xmlns:ahyp="http://schemas.microsoft.com/office/drawing/2018/hyperlinkcolor" val="tx"/>
                    </a:ext>
                  </a:extLst>
                </a:hlinkClick>
              </a:rPr>
              <a:t>Mở API Demo ↗</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5A65B"/>
          </a:solidFill>
          <a:ln w="12700">
            <a:solidFill>
              <a:srgbClr val="F5A65B"/>
            </a:solidFill>
            <a:prstDash val="solid"/>
          </a:ln>
        </p:spPr>
      </p:sp>
      <p:sp>
        <p:nvSpPr>
          <p:cNvPr id="3" name="Text 1"/>
          <p:cNvSpPr/>
          <p:nvPr/>
        </p:nvSpPr>
        <p:spPr>
          <a:xfrm>
            <a:off x="822960" y="1828800"/>
            <a:ext cx="5486400" cy="320040"/>
          </a:xfrm>
          <a:prstGeom prst="rect">
            <a:avLst/>
          </a:prstGeom>
          <a:noFill/>
          <a:ln/>
        </p:spPr>
        <p:txBody>
          <a:bodyPr wrap="square" lIns="25400" tIns="25400" rIns="25400" bIns="25400" rtlCol="0" anchor="ctr"/>
          <a:lstStyle/>
          <a:p>
            <a:pPr marL="0" indent="0" algn="l">
              <a:buNone/>
            </a:pPr>
            <a:r>
              <a:rPr lang="en-US" sz="1400" b="1" dirty="0">
                <a:solidFill>
                  <a:srgbClr val="F5A65B"/>
                </a:solidFill>
                <a:latin typeface="Consolas" pitchFamily="34" charset="0"/>
                <a:ea typeface="Consolas" pitchFamily="34" charset="-122"/>
                <a:cs typeface="Consolas" pitchFamily="34" charset="-120"/>
              </a:rPr>
              <a:t>PHẦN 02 / 06</a:t>
            </a:r>
            <a:endParaRPr lang="en-US" sz="1400" dirty="0"/>
          </a:p>
        </p:txBody>
      </p:sp>
      <p:sp>
        <p:nvSpPr>
          <p:cNvPr id="4" name="Text 2"/>
          <p:cNvSpPr/>
          <p:nvPr/>
        </p:nvSpPr>
        <p:spPr>
          <a:xfrm>
            <a:off x="822960" y="2286000"/>
            <a:ext cx="10515600" cy="1005840"/>
          </a:xfrm>
          <a:prstGeom prst="rect">
            <a:avLst/>
          </a:prstGeom>
          <a:noFill/>
          <a:ln/>
        </p:spPr>
        <p:txBody>
          <a:bodyPr wrap="square" lIns="25400" tIns="25400" rIns="25400" bIns="25400" rtlCol="0" anchor="ctr"/>
          <a:lstStyle/>
          <a:p>
            <a:pPr marL="0" indent="0" algn="l">
              <a:buNone/>
            </a:pPr>
            <a:r>
              <a:rPr lang="en-US" sz="5400" b="1" dirty="0">
                <a:solidFill>
                  <a:srgbClr val="E8ECF5"/>
                </a:solidFill>
                <a:latin typeface="Segoe UI" pitchFamily="34" charset="0"/>
                <a:ea typeface="Segoe UI" pitchFamily="34" charset="-122"/>
                <a:cs typeface="Segoe UI" pitchFamily="34" charset="-120"/>
              </a:rPr>
              <a:t>Password</a:t>
            </a:r>
            <a:endParaRPr lang="en-US" sz="5400" dirty="0"/>
          </a:p>
        </p:txBody>
      </p:sp>
      <p:sp>
        <p:nvSpPr>
          <p:cNvPr id="5" name="Text 3"/>
          <p:cNvSpPr/>
          <p:nvPr/>
        </p:nvSpPr>
        <p:spPr>
          <a:xfrm>
            <a:off x="822960" y="3383280"/>
            <a:ext cx="10515600" cy="548640"/>
          </a:xfrm>
          <a:prstGeom prst="rect">
            <a:avLst/>
          </a:prstGeom>
          <a:noFill/>
          <a:ln/>
        </p:spPr>
        <p:txBody>
          <a:bodyPr wrap="square" lIns="25400" tIns="25400" rIns="25400" bIns="25400" rtlCol="0" anchor="ctr"/>
          <a:lstStyle/>
          <a:p>
            <a:pPr marL="0" indent="0" algn="l">
              <a:buNone/>
            </a:pPr>
            <a:r>
              <a:rPr lang="en-US" sz="2200" i="1" dirty="0">
                <a:solidFill>
                  <a:srgbClr val="8F9BB3"/>
                </a:solidFill>
                <a:latin typeface="Segoe UI" pitchFamily="34" charset="0"/>
                <a:ea typeface="Segoe UI" pitchFamily="34" charset="-122"/>
                <a:cs typeface="Segoe UI" pitchFamily="34" charset="-120"/>
              </a:rPr>
              <a:t>DB bị lộ thì password của user có lộ theo không?</a:t>
            </a:r>
            <a:endParaRPr lang="en-US" sz="2200" dirty="0"/>
          </a:p>
        </p:txBody>
      </p:sp>
      <p:sp>
        <p:nvSpPr>
          <p:cNvPr id="6" name="Shape 4"/>
          <p:cNvSpPr/>
          <p:nvPr/>
        </p:nvSpPr>
        <p:spPr>
          <a:xfrm>
            <a:off x="822960" y="5989320"/>
            <a:ext cx="1643329" cy="64008"/>
          </a:xfrm>
          <a:prstGeom prst="rect">
            <a:avLst/>
          </a:prstGeom>
          <a:solidFill>
            <a:srgbClr val="2A3651"/>
          </a:solidFill>
          <a:ln w="12700">
            <a:solidFill>
              <a:srgbClr val="2A3651"/>
            </a:solidFill>
            <a:prstDash val="solid"/>
          </a:ln>
        </p:spPr>
      </p:sp>
      <p:sp>
        <p:nvSpPr>
          <p:cNvPr id="7" name="Text 5"/>
          <p:cNvSpPr/>
          <p:nvPr/>
        </p:nvSpPr>
        <p:spPr>
          <a:xfrm>
            <a:off x="822960"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01 AuthN ≠ AuthZ</a:t>
            </a:r>
            <a:endParaRPr lang="en-US" sz="950" dirty="0"/>
          </a:p>
        </p:txBody>
      </p:sp>
      <p:sp>
        <p:nvSpPr>
          <p:cNvPr id="8" name="Shape 6"/>
          <p:cNvSpPr/>
          <p:nvPr/>
        </p:nvSpPr>
        <p:spPr>
          <a:xfrm>
            <a:off x="2603449" y="5989320"/>
            <a:ext cx="1643329" cy="64008"/>
          </a:xfrm>
          <a:prstGeom prst="rect">
            <a:avLst/>
          </a:prstGeom>
          <a:solidFill>
            <a:srgbClr val="F5A65B"/>
          </a:solidFill>
          <a:ln w="12700">
            <a:solidFill>
              <a:srgbClr val="F5A65B"/>
            </a:solidFill>
            <a:prstDash val="solid"/>
          </a:ln>
        </p:spPr>
      </p:sp>
      <p:sp>
        <p:nvSpPr>
          <p:cNvPr id="9" name="Text 7"/>
          <p:cNvSpPr/>
          <p:nvPr/>
        </p:nvSpPr>
        <p:spPr>
          <a:xfrm>
            <a:off x="2603449" y="6108192"/>
            <a:ext cx="1643329" cy="274320"/>
          </a:xfrm>
          <a:prstGeom prst="rect">
            <a:avLst/>
          </a:prstGeom>
          <a:noFill/>
          <a:ln/>
        </p:spPr>
        <p:txBody>
          <a:bodyPr wrap="square" lIns="25400" tIns="25400" rIns="25400" bIns="25400" rtlCol="0" anchor="ctr"/>
          <a:lstStyle/>
          <a:p>
            <a:pPr marL="0" indent="0" algn="l">
              <a:buNone/>
            </a:pPr>
            <a:r>
              <a:rPr lang="en-US" sz="950" b="1" dirty="0">
                <a:solidFill>
                  <a:srgbClr val="F5A65B"/>
                </a:solidFill>
                <a:latin typeface="Segoe UI" pitchFamily="34" charset="0"/>
                <a:ea typeface="Segoe UI" pitchFamily="34" charset="-122"/>
                <a:cs typeface="Segoe UI" pitchFamily="34" charset="-120"/>
              </a:rPr>
              <a:t>02 Password</a:t>
            </a:r>
            <a:endParaRPr lang="en-US" sz="950" dirty="0"/>
          </a:p>
        </p:txBody>
      </p:sp>
      <p:sp>
        <p:nvSpPr>
          <p:cNvPr id="10" name="Shape 8"/>
          <p:cNvSpPr/>
          <p:nvPr/>
        </p:nvSpPr>
        <p:spPr>
          <a:xfrm>
            <a:off x="4383938" y="5989320"/>
            <a:ext cx="1643329" cy="64008"/>
          </a:xfrm>
          <a:prstGeom prst="rect">
            <a:avLst/>
          </a:prstGeom>
          <a:solidFill>
            <a:srgbClr val="2A3651"/>
          </a:solidFill>
          <a:ln w="12700">
            <a:solidFill>
              <a:srgbClr val="2A3651"/>
            </a:solidFill>
            <a:prstDash val="solid"/>
          </a:ln>
        </p:spPr>
      </p:sp>
      <p:sp>
        <p:nvSpPr>
          <p:cNvPr id="11" name="Text 9"/>
          <p:cNvSpPr/>
          <p:nvPr/>
        </p:nvSpPr>
        <p:spPr>
          <a:xfrm>
            <a:off x="438393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03 Session &amp; cookie</a:t>
            </a:r>
            <a:endParaRPr lang="en-US" sz="950" dirty="0"/>
          </a:p>
        </p:txBody>
      </p:sp>
      <p:sp>
        <p:nvSpPr>
          <p:cNvPr id="12" name="Shape 10"/>
          <p:cNvSpPr/>
          <p:nvPr/>
        </p:nvSpPr>
        <p:spPr>
          <a:xfrm>
            <a:off x="6164428" y="5989320"/>
            <a:ext cx="1643329" cy="64008"/>
          </a:xfrm>
          <a:prstGeom prst="rect">
            <a:avLst/>
          </a:prstGeom>
          <a:solidFill>
            <a:srgbClr val="2A3651"/>
          </a:solidFill>
          <a:ln w="12700">
            <a:solidFill>
              <a:srgbClr val="2A3651"/>
            </a:solidFill>
            <a:prstDash val="solid"/>
          </a:ln>
        </p:spPr>
      </p:sp>
      <p:sp>
        <p:nvSpPr>
          <p:cNvPr id="13" name="Text 11"/>
          <p:cNvSpPr/>
          <p:nvPr/>
        </p:nvSpPr>
        <p:spPr>
          <a:xfrm>
            <a:off x="616442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04 JWT &amp; tokens</a:t>
            </a:r>
            <a:endParaRPr lang="en-US" sz="950" dirty="0"/>
          </a:p>
        </p:txBody>
      </p:sp>
      <p:sp>
        <p:nvSpPr>
          <p:cNvPr id="14" name="Shape 12"/>
          <p:cNvSpPr/>
          <p:nvPr/>
        </p:nvSpPr>
        <p:spPr>
          <a:xfrm>
            <a:off x="7944917" y="5989320"/>
            <a:ext cx="1643329" cy="64008"/>
          </a:xfrm>
          <a:prstGeom prst="rect">
            <a:avLst/>
          </a:prstGeom>
          <a:solidFill>
            <a:srgbClr val="2A3651"/>
          </a:solidFill>
          <a:ln w="12700">
            <a:solidFill>
              <a:srgbClr val="2A3651"/>
            </a:solidFill>
            <a:prstDash val="solid"/>
          </a:ln>
        </p:spPr>
      </p:sp>
      <p:sp>
        <p:nvSpPr>
          <p:cNvPr id="15" name="Text 13"/>
          <p:cNvSpPr/>
          <p:nvPr/>
        </p:nvSpPr>
        <p:spPr>
          <a:xfrm>
            <a:off x="7944917"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05 OAuth / OIDC</a:t>
            </a:r>
            <a:endParaRPr lang="en-US" sz="950" dirty="0"/>
          </a:p>
        </p:txBody>
      </p:sp>
      <p:sp>
        <p:nvSpPr>
          <p:cNvPr id="16" name="Shape 14"/>
          <p:cNvSpPr/>
          <p:nvPr/>
        </p:nvSpPr>
        <p:spPr>
          <a:xfrm>
            <a:off x="9725406" y="5989320"/>
            <a:ext cx="1643329" cy="64008"/>
          </a:xfrm>
          <a:prstGeom prst="rect">
            <a:avLst/>
          </a:prstGeom>
          <a:solidFill>
            <a:srgbClr val="2A3651"/>
          </a:solidFill>
          <a:ln w="12700">
            <a:solidFill>
              <a:srgbClr val="2A3651"/>
            </a:solidFill>
            <a:prstDash val="solid"/>
          </a:ln>
        </p:spPr>
      </p:sp>
      <p:sp>
        <p:nvSpPr>
          <p:cNvPr id="17" name="Text 15"/>
          <p:cNvSpPr/>
          <p:nvPr/>
        </p:nvSpPr>
        <p:spPr>
          <a:xfrm>
            <a:off x="9725406"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06 Lựa chọn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PASSWORD  ·  SLIDE 7/33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Password không phải dữ liệu để đọc lại</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731520" y="1463040"/>
            <a:ext cx="3200400" cy="621792"/>
          </a:xfrm>
          <a:prstGeom prst="rect">
            <a:avLst/>
          </a:prstGeom>
          <a:noFill/>
          <a:ln/>
        </p:spPr>
        <p:txBody>
          <a:bodyPr wrap="square" lIns="25400" tIns="25400" rIns="25400" bIns="25400" rtlCol="0" anchor="ctr"/>
          <a:lstStyle/>
          <a:p>
            <a:pPr marL="0" indent="0">
              <a:buNone/>
            </a:pPr>
            <a:endParaRPr lang="en-US" sz="2000" dirty="0"/>
          </a:p>
        </p:txBody>
      </p:sp>
      <p:sp>
        <p:nvSpPr>
          <p:cNvPr id="7" name="Text 5"/>
          <p:cNvSpPr/>
          <p:nvPr/>
        </p:nvSpPr>
        <p:spPr>
          <a:xfrm>
            <a:off x="4297680" y="1463040"/>
            <a:ext cx="3383280" cy="621792"/>
          </a:xfrm>
          <a:prstGeom prst="rect">
            <a:avLst/>
          </a:prstGeom>
          <a:noFill/>
          <a:ln/>
        </p:spPr>
        <p:txBody>
          <a:bodyPr wrap="square" lIns="25400" tIns="25400" rIns="25400" bIns="25400" rtlCol="0" anchor="ctr"/>
          <a:lstStyle/>
          <a:p>
            <a:pPr marL="0" indent="0" algn="l">
              <a:buNone/>
            </a:pPr>
            <a:r>
              <a:rPr lang="en-US" sz="2000" b="1" dirty="0">
                <a:solidFill>
                  <a:srgbClr val="6EE7B7"/>
                </a:solidFill>
                <a:latin typeface="Segoe UI" pitchFamily="34" charset="0"/>
                <a:ea typeface="Segoe UI" pitchFamily="34" charset="-122"/>
                <a:cs typeface="Segoe UI" pitchFamily="34" charset="-120"/>
              </a:rPr>
              <a:t>Hashing</a:t>
            </a:r>
            <a:endParaRPr lang="en-US" sz="2000" dirty="0"/>
          </a:p>
        </p:txBody>
      </p:sp>
      <p:sp>
        <p:nvSpPr>
          <p:cNvPr id="8" name="Text 6"/>
          <p:cNvSpPr/>
          <p:nvPr/>
        </p:nvSpPr>
        <p:spPr>
          <a:xfrm>
            <a:off x="8046720" y="1463040"/>
            <a:ext cx="3383280" cy="621792"/>
          </a:xfrm>
          <a:prstGeom prst="rect">
            <a:avLst/>
          </a:prstGeom>
          <a:noFill/>
          <a:ln/>
        </p:spPr>
        <p:txBody>
          <a:bodyPr wrap="square" lIns="25400" tIns="25400" rIns="25400" bIns="25400" rtlCol="0" anchor="ctr"/>
          <a:lstStyle/>
          <a:p>
            <a:pPr marL="0" indent="0" algn="l">
              <a:buNone/>
            </a:pPr>
            <a:r>
              <a:rPr lang="en-US" sz="2000" b="1" dirty="0">
                <a:solidFill>
                  <a:srgbClr val="F5A65B"/>
                </a:solidFill>
                <a:latin typeface="Segoe UI" pitchFamily="34" charset="0"/>
                <a:ea typeface="Segoe UI" pitchFamily="34" charset="-122"/>
                <a:cs typeface="Segoe UI" pitchFamily="34" charset="-120"/>
              </a:rPr>
              <a:t>Encryption</a:t>
            </a:r>
            <a:endParaRPr lang="en-US" sz="2000" dirty="0"/>
          </a:p>
        </p:txBody>
      </p:sp>
      <p:sp>
        <p:nvSpPr>
          <p:cNvPr id="9" name="Shape 7"/>
          <p:cNvSpPr/>
          <p:nvPr/>
        </p:nvSpPr>
        <p:spPr>
          <a:xfrm>
            <a:off x="548640" y="2084832"/>
            <a:ext cx="11064240" cy="0"/>
          </a:xfrm>
          <a:prstGeom prst="line">
            <a:avLst/>
          </a:prstGeom>
          <a:noFill/>
          <a:ln w="12700">
            <a:solidFill>
              <a:srgbClr val="2A3651"/>
            </a:solidFill>
            <a:prstDash val="solid"/>
          </a:ln>
        </p:spPr>
      </p:sp>
      <p:sp>
        <p:nvSpPr>
          <p:cNvPr id="10" name="Text 8"/>
          <p:cNvSpPr/>
          <p:nvPr/>
        </p:nvSpPr>
        <p:spPr>
          <a:xfrm>
            <a:off x="731520" y="2084832"/>
            <a:ext cx="3200400" cy="621792"/>
          </a:xfrm>
          <a:prstGeom prst="rect">
            <a:avLst/>
          </a:prstGeom>
          <a:noFill/>
          <a:ln/>
        </p:spPr>
        <p:txBody>
          <a:bodyPr wrap="square" lIns="25400" tIns="25400" rIns="25400" bIns="25400" rtlCol="0" anchor="ctr"/>
          <a:lstStyle/>
          <a:p>
            <a:pPr marL="0" indent="0" algn="l">
              <a:buNone/>
            </a:pPr>
            <a:r>
              <a:rPr lang="en-US" sz="1800" b="1" dirty="0">
                <a:solidFill>
                  <a:srgbClr val="8F9BB3"/>
                </a:solidFill>
                <a:latin typeface="Segoe UI" pitchFamily="34" charset="0"/>
                <a:ea typeface="Segoe UI" pitchFamily="34" charset="-122"/>
                <a:cs typeface="Segoe UI" pitchFamily="34" charset="-120"/>
              </a:rPr>
              <a:t>Chiều</a:t>
            </a:r>
            <a:endParaRPr lang="en-US" sz="1800" dirty="0"/>
          </a:p>
        </p:txBody>
      </p:sp>
      <p:sp>
        <p:nvSpPr>
          <p:cNvPr id="11" name="Text 9"/>
          <p:cNvSpPr/>
          <p:nvPr/>
        </p:nvSpPr>
        <p:spPr>
          <a:xfrm>
            <a:off x="4297680" y="2084832"/>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Một chiều</a:t>
            </a:r>
            <a:endParaRPr lang="en-US" sz="1800" dirty="0"/>
          </a:p>
        </p:txBody>
      </p:sp>
      <p:sp>
        <p:nvSpPr>
          <p:cNvPr id="12" name="Text 10"/>
          <p:cNvSpPr/>
          <p:nvPr/>
        </p:nvSpPr>
        <p:spPr>
          <a:xfrm>
            <a:off x="8046720" y="2084832"/>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Hai chiều</a:t>
            </a:r>
            <a:endParaRPr lang="en-US" sz="1800" dirty="0"/>
          </a:p>
        </p:txBody>
      </p:sp>
      <p:sp>
        <p:nvSpPr>
          <p:cNvPr id="13" name="Shape 11"/>
          <p:cNvSpPr/>
          <p:nvPr/>
        </p:nvSpPr>
        <p:spPr>
          <a:xfrm>
            <a:off x="548640" y="2706624"/>
            <a:ext cx="11064240" cy="0"/>
          </a:xfrm>
          <a:prstGeom prst="line">
            <a:avLst/>
          </a:prstGeom>
          <a:noFill/>
          <a:ln w="12700">
            <a:solidFill>
              <a:srgbClr val="2A3651"/>
            </a:solidFill>
            <a:prstDash val="solid"/>
          </a:ln>
        </p:spPr>
      </p:sp>
      <p:sp>
        <p:nvSpPr>
          <p:cNvPr id="14" name="Text 12"/>
          <p:cNvSpPr/>
          <p:nvPr/>
        </p:nvSpPr>
        <p:spPr>
          <a:xfrm>
            <a:off x="731520" y="2706624"/>
            <a:ext cx="3200400" cy="621792"/>
          </a:xfrm>
          <a:prstGeom prst="rect">
            <a:avLst/>
          </a:prstGeom>
          <a:noFill/>
          <a:ln/>
        </p:spPr>
        <p:txBody>
          <a:bodyPr wrap="square" lIns="25400" tIns="25400" rIns="25400" bIns="25400" rtlCol="0" anchor="ctr"/>
          <a:lstStyle/>
          <a:p>
            <a:pPr marL="0" indent="0" algn="l">
              <a:buNone/>
            </a:pPr>
            <a:r>
              <a:rPr lang="en-US" sz="1800" b="1" dirty="0">
                <a:solidFill>
                  <a:srgbClr val="8F9BB3"/>
                </a:solidFill>
                <a:latin typeface="Segoe UI" pitchFamily="34" charset="0"/>
                <a:ea typeface="Segoe UI" pitchFamily="34" charset="-122"/>
                <a:cs typeface="Segoe UI" pitchFamily="34" charset="-120"/>
              </a:rPr>
              <a:t>Cần key</a:t>
            </a:r>
            <a:endParaRPr lang="en-US" sz="1800" dirty="0"/>
          </a:p>
        </p:txBody>
      </p:sp>
      <p:sp>
        <p:nvSpPr>
          <p:cNvPr id="15" name="Text 13"/>
          <p:cNvSpPr/>
          <p:nvPr/>
        </p:nvSpPr>
        <p:spPr>
          <a:xfrm>
            <a:off x="4297680" y="2706624"/>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Không</a:t>
            </a:r>
            <a:endParaRPr lang="en-US" sz="1800" dirty="0"/>
          </a:p>
        </p:txBody>
      </p:sp>
      <p:sp>
        <p:nvSpPr>
          <p:cNvPr id="16" name="Text 14"/>
          <p:cNvSpPr/>
          <p:nvPr/>
        </p:nvSpPr>
        <p:spPr>
          <a:xfrm>
            <a:off x="8046720" y="2706624"/>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Có</a:t>
            </a:r>
            <a:endParaRPr lang="en-US" sz="1800" dirty="0"/>
          </a:p>
        </p:txBody>
      </p:sp>
      <p:sp>
        <p:nvSpPr>
          <p:cNvPr id="17" name="Shape 15"/>
          <p:cNvSpPr/>
          <p:nvPr/>
        </p:nvSpPr>
        <p:spPr>
          <a:xfrm>
            <a:off x="548640" y="3328416"/>
            <a:ext cx="11064240" cy="0"/>
          </a:xfrm>
          <a:prstGeom prst="line">
            <a:avLst/>
          </a:prstGeom>
          <a:noFill/>
          <a:ln w="12700">
            <a:solidFill>
              <a:srgbClr val="2A3651"/>
            </a:solidFill>
            <a:prstDash val="solid"/>
          </a:ln>
        </p:spPr>
      </p:sp>
      <p:sp>
        <p:nvSpPr>
          <p:cNvPr id="18" name="Text 16"/>
          <p:cNvSpPr/>
          <p:nvPr/>
        </p:nvSpPr>
        <p:spPr>
          <a:xfrm>
            <a:off x="731520" y="3328416"/>
            <a:ext cx="3200400" cy="621792"/>
          </a:xfrm>
          <a:prstGeom prst="rect">
            <a:avLst/>
          </a:prstGeom>
          <a:noFill/>
          <a:ln/>
        </p:spPr>
        <p:txBody>
          <a:bodyPr wrap="square" lIns="25400" tIns="25400" rIns="25400" bIns="25400" rtlCol="0" anchor="ctr"/>
          <a:lstStyle/>
          <a:p>
            <a:pPr marL="0" indent="0" algn="l">
              <a:buNone/>
            </a:pPr>
            <a:r>
              <a:rPr lang="en-US" sz="1800" b="1" dirty="0">
                <a:solidFill>
                  <a:srgbClr val="8F9BB3"/>
                </a:solidFill>
                <a:latin typeface="Segoe UI" pitchFamily="34" charset="0"/>
                <a:ea typeface="Segoe UI" pitchFamily="34" charset="-122"/>
                <a:cs typeface="Segoe UI" pitchFamily="34" charset="-120"/>
              </a:rPr>
              <a:t>Server đọc lại được password</a:t>
            </a:r>
            <a:endParaRPr lang="en-US" sz="1800" dirty="0"/>
          </a:p>
        </p:txBody>
      </p:sp>
      <p:sp>
        <p:nvSpPr>
          <p:cNvPr id="19" name="Text 17"/>
          <p:cNvSpPr/>
          <p:nvPr/>
        </p:nvSpPr>
        <p:spPr>
          <a:xfrm>
            <a:off x="4297680" y="3328416"/>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Không</a:t>
            </a:r>
            <a:endParaRPr lang="en-US" sz="1800" dirty="0"/>
          </a:p>
        </p:txBody>
      </p:sp>
      <p:sp>
        <p:nvSpPr>
          <p:cNvPr id="20" name="Text 18"/>
          <p:cNvSpPr/>
          <p:nvPr/>
        </p:nvSpPr>
        <p:spPr>
          <a:xfrm>
            <a:off x="8046720" y="3328416"/>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Có</a:t>
            </a:r>
            <a:endParaRPr lang="en-US" sz="1800" dirty="0"/>
          </a:p>
        </p:txBody>
      </p:sp>
      <p:sp>
        <p:nvSpPr>
          <p:cNvPr id="21" name="Shape 19"/>
          <p:cNvSpPr/>
          <p:nvPr/>
        </p:nvSpPr>
        <p:spPr>
          <a:xfrm>
            <a:off x="548640" y="3950208"/>
            <a:ext cx="11064240" cy="0"/>
          </a:xfrm>
          <a:prstGeom prst="line">
            <a:avLst/>
          </a:prstGeom>
          <a:noFill/>
          <a:ln w="12700">
            <a:solidFill>
              <a:srgbClr val="2A3651"/>
            </a:solidFill>
            <a:prstDash val="solid"/>
          </a:ln>
        </p:spPr>
      </p:sp>
      <p:sp>
        <p:nvSpPr>
          <p:cNvPr id="22" name="Text 20"/>
          <p:cNvSpPr/>
          <p:nvPr/>
        </p:nvSpPr>
        <p:spPr>
          <a:xfrm>
            <a:off x="731520" y="3950208"/>
            <a:ext cx="3200400" cy="621792"/>
          </a:xfrm>
          <a:prstGeom prst="rect">
            <a:avLst/>
          </a:prstGeom>
          <a:noFill/>
          <a:ln/>
        </p:spPr>
        <p:txBody>
          <a:bodyPr wrap="square" lIns="25400" tIns="25400" rIns="25400" bIns="25400" rtlCol="0" anchor="ctr"/>
          <a:lstStyle/>
          <a:p>
            <a:pPr marL="0" indent="0" algn="l">
              <a:buNone/>
            </a:pPr>
            <a:r>
              <a:rPr lang="en-US" sz="1800" b="1" dirty="0">
                <a:solidFill>
                  <a:srgbClr val="8F9BB3"/>
                </a:solidFill>
                <a:latin typeface="Segoe UI" pitchFamily="34" charset="0"/>
                <a:ea typeface="Segoe UI" pitchFamily="34" charset="-122"/>
                <a:cs typeface="Segoe UI" pitchFamily="34" charset="-120"/>
              </a:rPr>
              <a:t>Khi lộ DB (+ key)</a:t>
            </a:r>
            <a:endParaRPr lang="en-US" sz="1800" dirty="0"/>
          </a:p>
        </p:txBody>
      </p:sp>
      <p:sp>
        <p:nvSpPr>
          <p:cNvPr id="23" name="Text 21"/>
          <p:cNvSpPr/>
          <p:nvPr/>
        </p:nvSpPr>
        <p:spPr>
          <a:xfrm>
            <a:off x="4297680" y="3950208"/>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Phải crack từng hash</a:t>
            </a:r>
            <a:endParaRPr lang="en-US" sz="1800" dirty="0"/>
          </a:p>
        </p:txBody>
      </p:sp>
      <p:sp>
        <p:nvSpPr>
          <p:cNvPr id="24" name="Text 22"/>
          <p:cNvSpPr/>
          <p:nvPr/>
        </p:nvSpPr>
        <p:spPr>
          <a:xfrm>
            <a:off x="8046720" y="3950208"/>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Đọc được toàn bộ</a:t>
            </a:r>
            <a:endParaRPr lang="en-US" sz="1800" dirty="0"/>
          </a:p>
        </p:txBody>
      </p:sp>
      <p:sp>
        <p:nvSpPr>
          <p:cNvPr id="25" name="Shape 23"/>
          <p:cNvSpPr/>
          <p:nvPr/>
        </p:nvSpPr>
        <p:spPr>
          <a:xfrm>
            <a:off x="548640" y="4572000"/>
            <a:ext cx="11064240" cy="0"/>
          </a:xfrm>
          <a:prstGeom prst="line">
            <a:avLst/>
          </a:prstGeom>
          <a:noFill/>
          <a:ln w="12700">
            <a:solidFill>
              <a:srgbClr val="2A3651"/>
            </a:solidFill>
            <a:prstDash val="solid"/>
          </a:ln>
        </p:spPr>
      </p:sp>
      <p:sp>
        <p:nvSpPr>
          <p:cNvPr id="26" name="Text 24"/>
          <p:cNvSpPr/>
          <p:nvPr/>
        </p:nvSpPr>
        <p:spPr>
          <a:xfrm>
            <a:off x="731520" y="4572000"/>
            <a:ext cx="3200400" cy="621792"/>
          </a:xfrm>
          <a:prstGeom prst="rect">
            <a:avLst/>
          </a:prstGeom>
          <a:noFill/>
          <a:ln/>
        </p:spPr>
        <p:txBody>
          <a:bodyPr wrap="square" lIns="25400" tIns="25400" rIns="25400" bIns="25400" rtlCol="0" anchor="ctr"/>
          <a:lstStyle/>
          <a:p>
            <a:pPr marL="0" indent="0" algn="l">
              <a:buNone/>
            </a:pPr>
            <a:r>
              <a:rPr lang="en-US" sz="1800" b="1" dirty="0">
                <a:solidFill>
                  <a:srgbClr val="8F9BB3"/>
                </a:solidFill>
                <a:latin typeface="Segoe UI" pitchFamily="34" charset="0"/>
                <a:ea typeface="Segoe UI" pitchFamily="34" charset="-122"/>
                <a:cs typeface="Segoe UI" pitchFamily="34" charset="-120"/>
              </a:rPr>
              <a:t>Dùng cho</a:t>
            </a:r>
            <a:endParaRPr lang="en-US" sz="1800" dirty="0"/>
          </a:p>
        </p:txBody>
      </p:sp>
      <p:sp>
        <p:nvSpPr>
          <p:cNvPr id="27" name="Text 25"/>
          <p:cNvSpPr/>
          <p:nvPr/>
        </p:nvSpPr>
        <p:spPr>
          <a:xfrm>
            <a:off x="4297680" y="4572000"/>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Password, checksum, integrity</a:t>
            </a:r>
            <a:endParaRPr lang="en-US" sz="1800" dirty="0"/>
          </a:p>
        </p:txBody>
      </p:sp>
      <p:sp>
        <p:nvSpPr>
          <p:cNvPr id="28" name="Text 26"/>
          <p:cNvSpPr/>
          <p:nvPr/>
        </p:nvSpPr>
        <p:spPr>
          <a:xfrm>
            <a:off x="8046720" y="4572000"/>
            <a:ext cx="3383280" cy="621792"/>
          </a:xfrm>
          <a:prstGeom prst="rect">
            <a:avLst/>
          </a:prstGeom>
          <a:noFill/>
          <a:ln/>
        </p:spPr>
        <p:txBody>
          <a:bodyPr wrap="square" lIns="25400" tIns="25400" rIns="25400" bIns="25400" rtlCol="0" anchor="ctr"/>
          <a:lstStyle/>
          <a:p>
            <a:pPr marL="0" indent="0" algn="l">
              <a:buNone/>
            </a:pPr>
            <a:r>
              <a:rPr lang="en-US" sz="1800" dirty="0">
                <a:solidFill>
                  <a:srgbClr val="E8ECF5"/>
                </a:solidFill>
                <a:latin typeface="Segoe UI" pitchFamily="34" charset="0"/>
                <a:ea typeface="Segoe UI" pitchFamily="34" charset="-122"/>
                <a:cs typeface="Segoe UI" pitchFamily="34" charset="-120"/>
              </a:rPr>
              <a:t>PII, API key bên thứ 3, TLS</a:t>
            </a:r>
            <a:endParaRPr lang="en-US" sz="1800" dirty="0"/>
          </a:p>
        </p:txBody>
      </p:sp>
      <p:sp>
        <p:nvSpPr>
          <p:cNvPr id="29" name="Shape 27"/>
          <p:cNvSpPr/>
          <p:nvPr/>
        </p:nvSpPr>
        <p:spPr>
          <a:xfrm>
            <a:off x="548640" y="5193792"/>
            <a:ext cx="11064240" cy="0"/>
          </a:xfrm>
          <a:prstGeom prst="line">
            <a:avLst/>
          </a:prstGeom>
          <a:noFill/>
          <a:ln w="12700">
            <a:solidFill>
              <a:srgbClr val="2A3651"/>
            </a:solidFill>
            <a:prstDash val="solid"/>
          </a:ln>
        </p:spPr>
      </p:sp>
      <p:sp>
        <p:nvSpPr>
          <p:cNvPr id="30" name="Text 28"/>
          <p:cNvSpPr/>
          <p:nvPr/>
        </p:nvSpPr>
        <p:spPr>
          <a:xfrm>
            <a:off x="548640" y="5513832"/>
            <a:ext cx="11064240" cy="685800"/>
          </a:xfrm>
          <a:prstGeom prst="roundRect">
            <a:avLst>
              <a:gd name="adj" fmla="val 10667"/>
            </a:avLst>
          </a:prstGeom>
          <a:solidFill>
            <a:srgbClr val="1E4D40"/>
          </a:solidFill>
          <a:ln w="12700">
            <a:solidFill>
              <a:srgbClr val="6EE7B7"/>
            </a:solidFill>
            <a:prstDash val="solid"/>
          </a:ln>
        </p:spPr>
        <p:txBody>
          <a:bodyPr wrap="square" lIns="152400" tIns="152400" rIns="152400" bIns="152400" rtlCol="0" anchor="ctr"/>
          <a:lstStyle/>
          <a:p>
            <a:pPr marL="0" indent="0" algn="l">
              <a:buNone/>
            </a:pPr>
            <a:r>
              <a:rPr lang="en-US" sz="1800" b="1" dirty="0">
                <a:solidFill>
                  <a:srgbClr val="E8ECF5"/>
                </a:solidFill>
                <a:latin typeface="Segoe UI" pitchFamily="34" charset="0"/>
                <a:ea typeface="Segoe UI" pitchFamily="34" charset="-122"/>
                <a:cs typeface="Segoe UI" pitchFamily="34" charset="-120"/>
              </a:rPr>
              <a:t>Server chỉ cần biết password đúng hay sai, không cần đọc lại. Vì vậy: hash, không encrypt.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PASSWORD  ·  SLIDE 8/33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Lưu và verify password bằng bcrypt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​DB chỉ lưu chuỗi hash: thuật toán, cost, salt, hash.</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​Login: hash lại password vừa nhập rồi so sánh constant-time.</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​Dùng Argon2id, hoặc bcrypt cost ≥ 10.</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​bcrypt chỉ dùng 72 byte đầu của password.</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LƯU (lúc đăng ký / đổi password)</a:t>
            </a:r>
            <a:endParaRPr lang="en-US" sz="1050" dirty="0"/>
          </a:p>
        </p:txBody>
      </p:sp>
      <p:sp>
        <p:nvSpPr>
          <p:cNvPr id="8" name="Text 6"/>
          <p:cNvSpPr/>
          <p:nvPr/>
        </p:nvSpPr>
        <p:spPr>
          <a:xfrm>
            <a:off x="5440680" y="1828800"/>
            <a:ext cx="1371600" cy="594360"/>
          </a:xfrm>
          <a:prstGeom prst="roundRect">
            <a:avLst>
              <a:gd name="adj" fmla="val 12308"/>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200" dirty="0">
                <a:solidFill>
                  <a:srgbClr val="E8ECF5"/>
                </a:solidFill>
                <a:latin typeface="Consolas" pitchFamily="34" charset="0"/>
                <a:ea typeface="Consolas" pitchFamily="34" charset="-122"/>
                <a:cs typeface="Consolas" pitchFamily="34" charset="-120"/>
              </a:rPr>
              <a:t>password</a:t>
            </a:r>
            <a:endParaRPr lang="en-US" sz="1200" dirty="0"/>
          </a:p>
        </p:txBody>
      </p:sp>
      <p:sp>
        <p:nvSpPr>
          <p:cNvPr id="9" name="Text 7"/>
          <p:cNvSpPr/>
          <p:nvPr/>
        </p:nvSpPr>
        <p:spPr>
          <a:xfrm>
            <a:off x="7360920" y="1783080"/>
            <a:ext cx="2011680" cy="685800"/>
          </a:xfrm>
          <a:prstGeom prst="roundRect">
            <a:avLst>
              <a:gd name="adj" fmla="val 10667"/>
            </a:avLst>
          </a:prstGeom>
          <a:solidFill>
            <a:srgbClr val="182238"/>
          </a:solidFill>
          <a:ln w="12700">
            <a:solidFill>
              <a:srgbClr val="B5A5FF"/>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bcrypt</a:t>
            </a:r>
            <a:endParaRPr lang="en-US" sz="1100" dirty="0"/>
          </a:p>
          <a:p>
            <a:pPr marL="0" indent="0" algn="ctr">
              <a:buNone/>
            </a:pPr>
            <a:r>
              <a:rPr lang="en-US" sz="1100" b="1" dirty="0">
                <a:solidFill>
                  <a:srgbClr val="E8ECF5"/>
                </a:solidFill>
                <a:latin typeface="Segoe UI" pitchFamily="34" charset="0"/>
                <a:ea typeface="Segoe UI" pitchFamily="34" charset="-122"/>
                <a:cs typeface="Segoe UI" pitchFamily="34" charset="-120"/>
              </a:rPr>
              <a:t>cost + salt ngẫu nhiên</a:t>
            </a:r>
            <a:endParaRPr lang="en-US" sz="1100" dirty="0"/>
          </a:p>
        </p:txBody>
      </p:sp>
      <p:sp>
        <p:nvSpPr>
          <p:cNvPr id="10" name="Text 8"/>
          <p:cNvSpPr/>
          <p:nvPr/>
        </p:nvSpPr>
        <p:spPr>
          <a:xfrm>
            <a:off x="9921240" y="1828800"/>
            <a:ext cx="1783080" cy="594360"/>
          </a:xfrm>
          <a:prstGeom prst="roundRect">
            <a:avLst>
              <a:gd name="adj" fmla="val 12308"/>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150" b="1" dirty="0">
                <a:solidFill>
                  <a:srgbClr val="6EE7B7"/>
                </a:solidFill>
                <a:latin typeface="Segoe UI" pitchFamily="34" charset="0"/>
                <a:ea typeface="Segoe UI" pitchFamily="34" charset="-122"/>
                <a:cs typeface="Segoe UI" pitchFamily="34" charset="-120"/>
              </a:rPr>
              <a:t>DB lưu chuỗi hash</a:t>
            </a:r>
            <a:endParaRPr lang="en-US" sz="1150" dirty="0"/>
          </a:p>
        </p:txBody>
      </p:sp>
      <p:sp>
        <p:nvSpPr>
          <p:cNvPr id="11" name="Shape 9"/>
          <p:cNvSpPr/>
          <p:nvPr/>
        </p:nvSpPr>
        <p:spPr>
          <a:xfrm>
            <a:off x="6812280" y="2121408"/>
            <a:ext cx="548640" cy="0"/>
          </a:xfrm>
          <a:prstGeom prst="line">
            <a:avLst/>
          </a:prstGeom>
          <a:noFill/>
          <a:ln w="19050">
            <a:solidFill>
              <a:srgbClr val="B5A5FF"/>
            </a:solidFill>
            <a:prstDash val="solid"/>
            <a:tailEnd type="triangle"/>
          </a:ln>
        </p:spPr>
      </p:sp>
      <p:sp>
        <p:nvSpPr>
          <p:cNvPr id="12" name="Shape 10"/>
          <p:cNvSpPr/>
          <p:nvPr/>
        </p:nvSpPr>
        <p:spPr>
          <a:xfrm>
            <a:off x="9372600" y="2121408"/>
            <a:ext cx="548640" cy="0"/>
          </a:xfrm>
          <a:prstGeom prst="line">
            <a:avLst/>
          </a:prstGeom>
          <a:noFill/>
          <a:ln w="19050">
            <a:solidFill>
              <a:srgbClr val="B5A5FF"/>
            </a:solidFill>
            <a:prstDash val="solid"/>
            <a:tailEnd type="triangle"/>
          </a:ln>
        </p:spPr>
      </p:sp>
      <p:sp>
        <p:nvSpPr>
          <p:cNvPr id="13" name="Text 11"/>
          <p:cNvSpPr/>
          <p:nvPr/>
        </p:nvSpPr>
        <p:spPr>
          <a:xfrm>
            <a:off x="5440680" y="2651760"/>
            <a:ext cx="777240" cy="411480"/>
          </a:xfrm>
          <a:prstGeom prst="roundRect">
            <a:avLst>
              <a:gd name="adj" fmla="val 4444"/>
            </a:avLst>
          </a:prstGeom>
          <a:solidFill>
            <a:srgbClr val="131B2E"/>
          </a:solidFill>
          <a:ln w="12700">
            <a:solidFill>
              <a:srgbClr val="B5A5FF"/>
            </a:solidFill>
            <a:prstDash val="solid"/>
          </a:ln>
        </p:spPr>
        <p:txBody>
          <a:bodyPr wrap="square" lIns="25400" tIns="25400" rIns="25400" bIns="25400" rtlCol="0" anchor="ctr"/>
          <a:lstStyle/>
          <a:p>
            <a:pPr marL="0" indent="0" algn="ctr">
              <a:buNone/>
            </a:pPr>
            <a:r>
              <a:rPr lang="en-US" sz="1100" dirty="0">
                <a:solidFill>
                  <a:srgbClr val="B5A5FF"/>
                </a:solidFill>
                <a:latin typeface="Consolas" pitchFamily="34" charset="0"/>
                <a:ea typeface="Consolas" pitchFamily="34" charset="-122"/>
                <a:cs typeface="Consolas" pitchFamily="34" charset="-120"/>
              </a:rPr>
              <a:t>$2a$</a:t>
            </a:r>
            <a:endParaRPr lang="en-US" sz="1100" dirty="0"/>
          </a:p>
        </p:txBody>
      </p:sp>
      <p:sp>
        <p:nvSpPr>
          <p:cNvPr id="14" name="Text 12"/>
          <p:cNvSpPr/>
          <p:nvPr/>
        </p:nvSpPr>
        <p:spPr>
          <a:xfrm>
            <a:off x="5440680" y="3108960"/>
            <a:ext cx="777240" cy="274320"/>
          </a:xfrm>
          <a:prstGeom prst="rect">
            <a:avLst/>
          </a:prstGeom>
          <a:noFill/>
          <a:ln/>
        </p:spPr>
        <p:txBody>
          <a:bodyPr wrap="square" lIns="25400" tIns="25400" rIns="25400" bIns="25400" rtlCol="0" anchor="ctr"/>
          <a:lstStyle/>
          <a:p>
            <a:pPr marL="0" indent="0" algn="ctr">
              <a:buNone/>
            </a:pPr>
            <a:r>
              <a:rPr lang="en-US" sz="1050" dirty="0">
                <a:solidFill>
                  <a:srgbClr val="B5A5FF"/>
                </a:solidFill>
                <a:latin typeface="Segoe UI" pitchFamily="34" charset="0"/>
                <a:ea typeface="Segoe UI" pitchFamily="34" charset="-122"/>
                <a:cs typeface="Segoe UI" pitchFamily="34" charset="-120"/>
              </a:rPr>
              <a:t>thuật toán</a:t>
            </a:r>
            <a:endParaRPr lang="en-US" sz="1050" dirty="0"/>
          </a:p>
        </p:txBody>
      </p:sp>
      <p:sp>
        <p:nvSpPr>
          <p:cNvPr id="15" name="Text 13"/>
          <p:cNvSpPr/>
          <p:nvPr/>
        </p:nvSpPr>
        <p:spPr>
          <a:xfrm>
            <a:off x="6217920" y="2651760"/>
            <a:ext cx="640080" cy="411480"/>
          </a:xfrm>
          <a:prstGeom prst="roundRect">
            <a:avLst>
              <a:gd name="adj" fmla="val 4444"/>
            </a:avLst>
          </a:prstGeom>
          <a:solidFill>
            <a:srgbClr val="131B2E"/>
          </a:solidFill>
          <a:ln w="12700">
            <a:solidFill>
              <a:srgbClr val="F5A65B"/>
            </a:solidFill>
            <a:prstDash val="solid"/>
          </a:ln>
        </p:spPr>
        <p:txBody>
          <a:bodyPr wrap="square" lIns="25400" tIns="25400" rIns="25400" bIns="25400" rtlCol="0" anchor="ctr"/>
          <a:lstStyle/>
          <a:p>
            <a:pPr marL="0" indent="0" algn="ctr">
              <a:buNone/>
            </a:pPr>
            <a:r>
              <a:rPr lang="en-US" sz="1100" dirty="0">
                <a:solidFill>
                  <a:srgbClr val="F5A65B"/>
                </a:solidFill>
                <a:latin typeface="Consolas" pitchFamily="34" charset="0"/>
                <a:ea typeface="Consolas" pitchFamily="34" charset="-122"/>
                <a:cs typeface="Consolas" pitchFamily="34" charset="-120"/>
              </a:rPr>
              <a:t>10$</a:t>
            </a:r>
            <a:endParaRPr lang="en-US" sz="1100" dirty="0"/>
          </a:p>
        </p:txBody>
      </p:sp>
      <p:sp>
        <p:nvSpPr>
          <p:cNvPr id="16" name="Text 14"/>
          <p:cNvSpPr/>
          <p:nvPr/>
        </p:nvSpPr>
        <p:spPr>
          <a:xfrm>
            <a:off x="6217920" y="3108960"/>
            <a:ext cx="640080" cy="274320"/>
          </a:xfrm>
          <a:prstGeom prst="rect">
            <a:avLst/>
          </a:prstGeom>
          <a:noFill/>
          <a:ln/>
        </p:spPr>
        <p:txBody>
          <a:bodyPr wrap="square" lIns="25400" tIns="25400" rIns="25400" bIns="25400" rtlCol="0" anchor="ctr"/>
          <a:lstStyle/>
          <a:p>
            <a:pPr marL="0" indent="0" algn="ctr">
              <a:buNone/>
            </a:pPr>
            <a:r>
              <a:rPr lang="en-US" sz="1050" dirty="0">
                <a:solidFill>
                  <a:srgbClr val="F5A65B"/>
                </a:solidFill>
                <a:latin typeface="Segoe UI" pitchFamily="34" charset="0"/>
                <a:ea typeface="Segoe UI" pitchFamily="34" charset="-122"/>
                <a:cs typeface="Segoe UI" pitchFamily="34" charset="-120"/>
              </a:rPr>
              <a:t>cost</a:t>
            </a:r>
            <a:endParaRPr lang="en-US" sz="1050" dirty="0"/>
          </a:p>
        </p:txBody>
      </p:sp>
      <p:sp>
        <p:nvSpPr>
          <p:cNvPr id="17" name="Text 15"/>
          <p:cNvSpPr/>
          <p:nvPr/>
        </p:nvSpPr>
        <p:spPr>
          <a:xfrm>
            <a:off x="6858000" y="2651760"/>
            <a:ext cx="2423160" cy="411480"/>
          </a:xfrm>
          <a:prstGeom prst="roundRect">
            <a:avLst>
              <a:gd name="adj" fmla="val 4444"/>
            </a:avLst>
          </a:prstGeom>
          <a:solidFill>
            <a:srgbClr val="131B2E"/>
          </a:solidFill>
          <a:ln w="12700">
            <a:solidFill>
              <a:srgbClr val="6EE7B7"/>
            </a:solidFill>
            <a:prstDash val="solid"/>
          </a:ln>
        </p:spPr>
        <p:txBody>
          <a:bodyPr wrap="square" lIns="25400" tIns="25400" rIns="25400" bIns="25400" rtlCol="0" anchor="ctr"/>
          <a:lstStyle/>
          <a:p>
            <a:pPr marL="0" indent="0" algn="ctr">
              <a:buNone/>
            </a:pPr>
            <a:r>
              <a:rPr lang="en-US" sz="1100" dirty="0">
                <a:solidFill>
                  <a:srgbClr val="6EE7B7"/>
                </a:solidFill>
                <a:latin typeface="Consolas" pitchFamily="34" charset="0"/>
                <a:ea typeface="Consolas" pitchFamily="34" charset="-122"/>
                <a:cs typeface="Consolas" pitchFamily="34" charset="-120"/>
              </a:rPr>
              <a:t>g.Ku7scOETaTCAMBrp2kGu</a:t>
            </a:r>
            <a:endParaRPr lang="en-US" sz="1100" dirty="0"/>
          </a:p>
        </p:txBody>
      </p:sp>
      <p:sp>
        <p:nvSpPr>
          <p:cNvPr id="18" name="Text 16"/>
          <p:cNvSpPr/>
          <p:nvPr/>
        </p:nvSpPr>
        <p:spPr>
          <a:xfrm>
            <a:off x="6858000" y="3108960"/>
            <a:ext cx="2423160" cy="274320"/>
          </a:xfrm>
          <a:prstGeom prst="rect">
            <a:avLst/>
          </a:prstGeom>
          <a:noFill/>
          <a:ln/>
        </p:spPr>
        <p:txBody>
          <a:bodyPr wrap="square" lIns="25400" tIns="25400" rIns="25400" bIns="25400" rtlCol="0" anchor="ctr"/>
          <a:lstStyle/>
          <a:p>
            <a:pPr marL="0" indent="0" algn="ctr">
              <a:buNone/>
            </a:pPr>
            <a:r>
              <a:rPr lang="en-US" sz="1050" dirty="0">
                <a:solidFill>
                  <a:srgbClr val="6EE7B7"/>
                </a:solidFill>
                <a:latin typeface="Segoe UI" pitchFamily="34" charset="0"/>
                <a:ea typeface="Segoe UI" pitchFamily="34" charset="-122"/>
                <a:cs typeface="Segoe UI" pitchFamily="34" charset="-120"/>
              </a:rPr>
              <a:t>salt (22 ký tự)</a:t>
            </a:r>
            <a:endParaRPr lang="en-US" sz="1050" dirty="0"/>
          </a:p>
        </p:txBody>
      </p:sp>
      <p:sp>
        <p:nvSpPr>
          <p:cNvPr id="19" name="Text 17"/>
          <p:cNvSpPr/>
          <p:nvPr/>
        </p:nvSpPr>
        <p:spPr>
          <a:xfrm>
            <a:off x="9281160" y="2651760"/>
            <a:ext cx="2423160" cy="411480"/>
          </a:xfrm>
          <a:prstGeom prst="roundRect">
            <a:avLst>
              <a:gd name="adj" fmla="val 4444"/>
            </a:avLst>
          </a:prstGeom>
          <a:solidFill>
            <a:srgbClr val="131B2E"/>
          </a:solidFill>
          <a:ln w="12700">
            <a:solidFill>
              <a:srgbClr val="7DB3FF"/>
            </a:solidFill>
            <a:prstDash val="solid"/>
          </a:ln>
        </p:spPr>
        <p:txBody>
          <a:bodyPr wrap="square" lIns="25400" tIns="25400" rIns="25400" bIns="25400" rtlCol="0" anchor="ctr"/>
          <a:lstStyle/>
          <a:p>
            <a:pPr marL="0" indent="0" algn="ctr">
              <a:buNone/>
            </a:pPr>
            <a:r>
              <a:rPr lang="en-US" sz="1100" dirty="0">
                <a:solidFill>
                  <a:srgbClr val="7DB3FF"/>
                </a:solidFill>
                <a:latin typeface="Consolas" pitchFamily="34" charset="0"/>
                <a:ea typeface="Consolas" pitchFamily="34" charset="-122"/>
                <a:cs typeface="Consolas" pitchFamily="34" charset="-120"/>
              </a:rPr>
              <a:t>OIBoCCOZiwBFSmHS…</a:t>
            </a:r>
            <a:endParaRPr lang="en-US" sz="1100" dirty="0"/>
          </a:p>
        </p:txBody>
      </p:sp>
      <p:sp>
        <p:nvSpPr>
          <p:cNvPr id="20" name="Text 18"/>
          <p:cNvSpPr/>
          <p:nvPr/>
        </p:nvSpPr>
        <p:spPr>
          <a:xfrm>
            <a:off x="9281160" y="3108960"/>
            <a:ext cx="2423160" cy="274320"/>
          </a:xfrm>
          <a:prstGeom prst="rect">
            <a:avLst/>
          </a:prstGeom>
          <a:noFill/>
          <a:ln/>
        </p:spPr>
        <p:txBody>
          <a:bodyPr wrap="square" lIns="25400" tIns="25400" rIns="25400" bIns="25400" rtlCol="0" anchor="ctr"/>
          <a:lstStyle/>
          <a:p>
            <a:pPr marL="0" indent="0" algn="ctr">
              <a:buNone/>
            </a:pPr>
            <a:r>
              <a:rPr lang="en-US" sz="1050" dirty="0">
                <a:solidFill>
                  <a:srgbClr val="7DB3FF"/>
                </a:solidFill>
                <a:latin typeface="Segoe UI" pitchFamily="34" charset="0"/>
                <a:ea typeface="Segoe UI" pitchFamily="34" charset="-122"/>
                <a:cs typeface="Segoe UI" pitchFamily="34" charset="-120"/>
              </a:rPr>
              <a:t>hash (31 ký tự)</a:t>
            </a:r>
            <a:endParaRPr lang="en-US" sz="1050" dirty="0"/>
          </a:p>
        </p:txBody>
      </p:sp>
      <p:sp>
        <p:nvSpPr>
          <p:cNvPr id="21" name="Text 19"/>
          <p:cNvSpPr/>
          <p:nvPr/>
        </p:nvSpPr>
        <p:spPr>
          <a:xfrm>
            <a:off x="5440680" y="361188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VERIFY (lúc login)</a:t>
            </a:r>
            <a:endParaRPr lang="en-US" sz="1050" dirty="0"/>
          </a:p>
        </p:txBody>
      </p:sp>
      <p:sp>
        <p:nvSpPr>
          <p:cNvPr id="22" name="Text 20"/>
          <p:cNvSpPr/>
          <p:nvPr/>
        </p:nvSpPr>
        <p:spPr>
          <a:xfrm>
            <a:off x="5440680" y="3931920"/>
            <a:ext cx="137160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E8ECF5"/>
                </a:solidFill>
                <a:latin typeface="Consolas" pitchFamily="34" charset="0"/>
                <a:ea typeface="Consolas" pitchFamily="34" charset="-122"/>
                <a:cs typeface="Consolas" pitchFamily="34" charset="-120"/>
              </a:rPr>
              <a:t>password nhập</a:t>
            </a:r>
            <a:endParaRPr lang="en-US" sz="1100" dirty="0"/>
          </a:p>
        </p:txBody>
      </p:sp>
      <p:sp>
        <p:nvSpPr>
          <p:cNvPr id="23" name="Text 21"/>
          <p:cNvSpPr/>
          <p:nvPr/>
        </p:nvSpPr>
        <p:spPr>
          <a:xfrm>
            <a:off x="5440680" y="4526280"/>
            <a:ext cx="1371600"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100" dirty="0">
                <a:solidFill>
                  <a:srgbClr val="E8ECF5"/>
                </a:solidFill>
                <a:latin typeface="Consolas" pitchFamily="34" charset="0"/>
                <a:ea typeface="Consolas" pitchFamily="34" charset="-122"/>
                <a:cs typeface="Consolas" pitchFamily="34" charset="-120"/>
              </a:rPr>
              <a:t>hash đã lưu</a:t>
            </a:r>
            <a:endParaRPr lang="en-US" sz="1100" dirty="0"/>
          </a:p>
        </p:txBody>
      </p:sp>
      <p:sp>
        <p:nvSpPr>
          <p:cNvPr id="24" name="Text 22"/>
          <p:cNvSpPr/>
          <p:nvPr/>
        </p:nvSpPr>
        <p:spPr>
          <a:xfrm>
            <a:off x="7360920" y="4069080"/>
            <a:ext cx="2011680" cy="822960"/>
          </a:xfrm>
          <a:prstGeom prst="roundRect">
            <a:avLst>
              <a:gd name="adj" fmla="val 8889"/>
            </a:avLst>
          </a:prstGeom>
          <a:solidFill>
            <a:srgbClr val="182238"/>
          </a:solidFill>
          <a:ln w="12700">
            <a:solidFill>
              <a:srgbClr val="B5A5FF"/>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bcrypt.compare</a:t>
            </a:r>
            <a:endParaRPr lang="en-US" sz="1100" dirty="0"/>
          </a:p>
          <a:p>
            <a:pPr marL="0" indent="0" algn="ctr">
              <a:buNone/>
            </a:pPr>
            <a:r>
              <a:rPr lang="en-US" sz="1100" b="1" dirty="0">
                <a:solidFill>
                  <a:srgbClr val="E8ECF5"/>
                </a:solidFill>
                <a:latin typeface="Segoe UI" pitchFamily="34" charset="0"/>
                <a:ea typeface="Segoe UI" pitchFamily="34" charset="-122"/>
                <a:cs typeface="Segoe UI" pitchFamily="34" charset="-120"/>
              </a:rPr>
              <a:t>đọc salt + cost từ hash</a:t>
            </a:r>
            <a:endParaRPr lang="en-US" sz="1100" dirty="0"/>
          </a:p>
        </p:txBody>
      </p:sp>
      <p:sp>
        <p:nvSpPr>
          <p:cNvPr id="25" name="Text 23"/>
          <p:cNvSpPr/>
          <p:nvPr/>
        </p:nvSpPr>
        <p:spPr>
          <a:xfrm>
            <a:off x="9921240" y="4160520"/>
            <a:ext cx="1783080" cy="640080"/>
          </a:xfrm>
          <a:prstGeom prst="roundRect">
            <a:avLst>
              <a:gd name="adj" fmla="val 11429"/>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200" dirty="0">
                <a:solidFill>
                  <a:srgbClr val="E8ECF5"/>
                </a:solidFill>
                <a:latin typeface="Consolas" pitchFamily="34" charset="0"/>
                <a:ea typeface="Consolas" pitchFamily="34" charset="-122"/>
                <a:cs typeface="Consolas" pitchFamily="34" charset="-120"/>
              </a:rPr>
              <a:t>match:</a:t>
            </a:r>
            <a:endParaRPr lang="en-US" sz="1200" dirty="0"/>
          </a:p>
          <a:p>
            <a:pPr marL="0" indent="0" algn="ctr">
              <a:buNone/>
            </a:pPr>
            <a:r>
              <a:rPr lang="en-US" sz="1200" dirty="0">
                <a:solidFill>
                  <a:srgbClr val="E8ECF5"/>
                </a:solidFill>
                <a:latin typeface="Consolas" pitchFamily="34" charset="0"/>
                <a:ea typeface="Consolas" pitchFamily="34" charset="-122"/>
                <a:cs typeface="Consolas" pitchFamily="34" charset="-120"/>
              </a:rPr>
              <a:t>true / false</a:t>
            </a:r>
            <a:endParaRPr lang="en-US" sz="1200" dirty="0"/>
          </a:p>
        </p:txBody>
      </p:sp>
      <p:sp>
        <p:nvSpPr>
          <p:cNvPr id="26" name="Shape 24"/>
          <p:cNvSpPr/>
          <p:nvPr/>
        </p:nvSpPr>
        <p:spPr>
          <a:xfrm>
            <a:off x="6812280" y="4178808"/>
            <a:ext cx="548640" cy="118872"/>
          </a:xfrm>
          <a:prstGeom prst="line">
            <a:avLst/>
          </a:prstGeom>
          <a:noFill/>
          <a:ln w="19050">
            <a:solidFill>
              <a:srgbClr val="B5A5FF"/>
            </a:solidFill>
            <a:prstDash val="solid"/>
            <a:tailEnd type="triangle"/>
          </a:ln>
        </p:spPr>
      </p:sp>
      <p:sp>
        <p:nvSpPr>
          <p:cNvPr id="27" name="Shape 25"/>
          <p:cNvSpPr/>
          <p:nvPr/>
        </p:nvSpPr>
        <p:spPr>
          <a:xfrm flipV="1">
            <a:off x="6812280" y="4663440"/>
            <a:ext cx="548640" cy="109728"/>
          </a:xfrm>
          <a:prstGeom prst="line">
            <a:avLst/>
          </a:prstGeom>
          <a:noFill/>
          <a:ln w="19050">
            <a:solidFill>
              <a:srgbClr val="6EE7B7"/>
            </a:solidFill>
            <a:prstDash val="solid"/>
            <a:tailEnd type="triangle"/>
          </a:ln>
        </p:spPr>
      </p:sp>
      <p:sp>
        <p:nvSpPr>
          <p:cNvPr id="28" name="Shape 26"/>
          <p:cNvSpPr/>
          <p:nvPr/>
        </p:nvSpPr>
        <p:spPr>
          <a:xfrm>
            <a:off x="9372600" y="4480560"/>
            <a:ext cx="548640" cy="0"/>
          </a:xfrm>
          <a:prstGeom prst="line">
            <a:avLst/>
          </a:prstGeom>
          <a:noFill/>
          <a:ln w="19050">
            <a:solidFill>
              <a:srgbClr val="B5A5FF"/>
            </a:solidFill>
            <a:prstDash val="solid"/>
            <a:tailEnd type="triangle"/>
          </a:ln>
        </p:spPr>
      </p:sp>
      <p:sp>
        <p:nvSpPr>
          <p:cNvPr id="29" name="Text 27"/>
          <p:cNvSpPr/>
          <p:nvPr/>
        </p:nvSpPr>
        <p:spPr>
          <a:xfrm>
            <a:off x="5440680" y="5166360"/>
            <a:ext cx="6263640" cy="411480"/>
          </a:xfrm>
          <a:prstGeom prst="rect">
            <a:avLst/>
          </a:prstGeom>
          <a:noFill/>
          <a:ln/>
        </p:spPr>
        <p:txBody>
          <a:bodyPr wrap="square" lIns="25400" tIns="25400" rIns="25400" bIns="25400" rtlCol="0" anchor="ctr"/>
          <a:lstStyle/>
          <a:p>
            <a:pPr marL="0" indent="0" algn="ctr">
              <a:buNone/>
            </a:pPr>
            <a:r>
              <a:rPr lang="en-US" sz="1600" b="1" dirty="0">
                <a:solidFill>
                  <a:srgbClr val="F5A65B"/>
                </a:solidFill>
                <a:latin typeface="Segoe UI" pitchFamily="34" charset="0"/>
                <a:ea typeface="Segoe UI" pitchFamily="34" charset="-122"/>
                <a:cs typeface="Segoe UI" pitchFamily="34" charset="-120"/>
              </a:rPr>
              <a:t>Không có bước "giải mã" nào.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PASSWORD  ·  SLIDE 9/33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Salt, brute-force và credential stuffing</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463040"/>
            <a:ext cx="452628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TỐC ĐỘ ĐOÁN TRÊN 1 GPU (RTX 4090)</a:t>
            </a:r>
            <a:endParaRPr lang="en-US" sz="1050" dirty="0"/>
          </a:p>
        </p:txBody>
      </p:sp>
      <p:sp>
        <p:nvSpPr>
          <p:cNvPr id="7" name="Text 5"/>
          <p:cNvSpPr/>
          <p:nvPr/>
        </p:nvSpPr>
        <p:spPr>
          <a:xfrm>
            <a:off x="548640" y="1874520"/>
            <a:ext cx="2194560" cy="320040"/>
          </a:xfrm>
          <a:prstGeom prst="rect">
            <a:avLst/>
          </a:prstGeom>
          <a:noFill/>
          <a:ln/>
        </p:spPr>
        <p:txBody>
          <a:bodyPr wrap="square" lIns="25400" tIns="25400" rIns="25400" bIns="25400" rtlCol="0" anchor="ctr"/>
          <a:lstStyle/>
          <a:p>
            <a:pPr marL="0" indent="0" algn="l">
              <a:buNone/>
            </a:pPr>
            <a:r>
              <a:rPr lang="en-US" sz="1500" b="1" dirty="0">
                <a:solidFill>
                  <a:srgbClr val="E8ECF5"/>
                </a:solidFill>
                <a:latin typeface="Segoe UI" pitchFamily="34" charset="0"/>
                <a:ea typeface="Segoe UI" pitchFamily="34" charset="-122"/>
                <a:cs typeface="Segoe UI" pitchFamily="34" charset="-120"/>
              </a:rPr>
              <a:t>SHA-256</a:t>
            </a:r>
            <a:endParaRPr lang="en-US" sz="1500" dirty="0"/>
          </a:p>
        </p:txBody>
      </p:sp>
      <p:sp>
        <p:nvSpPr>
          <p:cNvPr id="8" name="Text 6"/>
          <p:cNvSpPr/>
          <p:nvPr/>
        </p:nvSpPr>
        <p:spPr>
          <a:xfrm>
            <a:off x="2743200" y="1874520"/>
            <a:ext cx="2331720" cy="320040"/>
          </a:xfrm>
          <a:prstGeom prst="rect">
            <a:avLst/>
          </a:prstGeom>
          <a:noFill/>
          <a:ln/>
        </p:spPr>
        <p:txBody>
          <a:bodyPr wrap="square" lIns="25400" tIns="25400" rIns="25400" bIns="25400" rtlCol="0" anchor="ctr"/>
          <a:lstStyle/>
          <a:p>
            <a:pPr marL="0" indent="0" algn="r">
              <a:buNone/>
            </a:pPr>
            <a:r>
              <a:rPr lang="en-US" sz="1500" b="1" dirty="0">
                <a:solidFill>
                  <a:srgbClr val="F5A65B"/>
                </a:solidFill>
                <a:latin typeface="Segoe UI" pitchFamily="34" charset="0"/>
                <a:ea typeface="Segoe UI" pitchFamily="34" charset="-122"/>
                <a:cs typeface="Segoe UI" pitchFamily="34" charset="-120"/>
              </a:rPr>
              <a:t>~22 tỷ lần/giây</a:t>
            </a:r>
            <a:endParaRPr lang="en-US" sz="1500" dirty="0"/>
          </a:p>
        </p:txBody>
      </p:sp>
      <p:sp>
        <p:nvSpPr>
          <p:cNvPr id="9" name="Shape 7"/>
          <p:cNvSpPr/>
          <p:nvPr/>
        </p:nvSpPr>
        <p:spPr>
          <a:xfrm>
            <a:off x="548640" y="2286000"/>
            <a:ext cx="4526280" cy="274320"/>
          </a:xfrm>
          <a:prstGeom prst="rect">
            <a:avLst/>
          </a:prstGeom>
          <a:solidFill>
            <a:srgbClr val="182238"/>
          </a:solidFill>
          <a:ln w="6350">
            <a:solidFill>
              <a:srgbClr val="2A3651"/>
            </a:solidFill>
            <a:prstDash val="solid"/>
          </a:ln>
        </p:spPr>
      </p:sp>
      <p:sp>
        <p:nvSpPr>
          <p:cNvPr id="10" name="Shape 8"/>
          <p:cNvSpPr/>
          <p:nvPr/>
        </p:nvSpPr>
        <p:spPr>
          <a:xfrm>
            <a:off x="548640" y="2286000"/>
            <a:ext cx="4526280" cy="274320"/>
          </a:xfrm>
          <a:prstGeom prst="rect">
            <a:avLst/>
          </a:prstGeom>
          <a:solidFill>
            <a:srgbClr val="F5A65B"/>
          </a:solidFill>
          <a:ln w="12700">
            <a:solidFill>
              <a:srgbClr val="F5A65B"/>
            </a:solidFill>
            <a:prstDash val="solid"/>
          </a:ln>
        </p:spPr>
      </p:sp>
      <p:sp>
        <p:nvSpPr>
          <p:cNvPr id="11" name="Text 9"/>
          <p:cNvSpPr/>
          <p:nvPr/>
        </p:nvSpPr>
        <p:spPr>
          <a:xfrm>
            <a:off x="548640" y="2788920"/>
            <a:ext cx="2194560" cy="320040"/>
          </a:xfrm>
          <a:prstGeom prst="rect">
            <a:avLst/>
          </a:prstGeom>
          <a:noFill/>
          <a:ln/>
        </p:spPr>
        <p:txBody>
          <a:bodyPr wrap="square" lIns="25400" tIns="25400" rIns="25400" bIns="25400" rtlCol="0" anchor="ctr"/>
          <a:lstStyle/>
          <a:p>
            <a:pPr marL="0" indent="0" algn="l">
              <a:buNone/>
            </a:pPr>
            <a:r>
              <a:rPr lang="en-US" sz="1500" b="1" dirty="0">
                <a:solidFill>
                  <a:srgbClr val="E8ECF5"/>
                </a:solidFill>
                <a:latin typeface="Segoe UI" pitchFamily="34" charset="0"/>
                <a:ea typeface="Segoe UI" pitchFamily="34" charset="-122"/>
                <a:cs typeface="Segoe UI" pitchFamily="34" charset="-120"/>
              </a:rPr>
              <a:t>bcrypt cost 10</a:t>
            </a:r>
            <a:endParaRPr lang="en-US" sz="1500" dirty="0"/>
          </a:p>
        </p:txBody>
      </p:sp>
      <p:sp>
        <p:nvSpPr>
          <p:cNvPr id="12" name="Text 10"/>
          <p:cNvSpPr/>
          <p:nvPr/>
        </p:nvSpPr>
        <p:spPr>
          <a:xfrm>
            <a:off x="2743200" y="2788920"/>
            <a:ext cx="2331720" cy="320040"/>
          </a:xfrm>
          <a:prstGeom prst="rect">
            <a:avLst/>
          </a:prstGeom>
          <a:noFill/>
          <a:ln/>
        </p:spPr>
        <p:txBody>
          <a:bodyPr wrap="square" lIns="25400" tIns="25400" rIns="25400" bIns="25400" rtlCol="0" anchor="ctr"/>
          <a:lstStyle/>
          <a:p>
            <a:pPr marL="0" indent="0" algn="r">
              <a:buNone/>
            </a:pPr>
            <a:r>
              <a:rPr lang="en-US" sz="1500" b="1" dirty="0">
                <a:solidFill>
                  <a:srgbClr val="6EE7B7"/>
                </a:solidFill>
                <a:latin typeface="Segoe UI" pitchFamily="34" charset="0"/>
                <a:ea typeface="Segoe UI" pitchFamily="34" charset="-122"/>
                <a:cs typeface="Segoe UI" pitchFamily="34" charset="-120"/>
              </a:rPr>
              <a:t>~5 nghìn lần/giây</a:t>
            </a:r>
            <a:endParaRPr lang="en-US" sz="1500" dirty="0"/>
          </a:p>
        </p:txBody>
      </p:sp>
      <p:sp>
        <p:nvSpPr>
          <p:cNvPr id="13" name="Shape 11"/>
          <p:cNvSpPr/>
          <p:nvPr/>
        </p:nvSpPr>
        <p:spPr>
          <a:xfrm>
            <a:off x="548640" y="3200400"/>
            <a:ext cx="4526280" cy="274320"/>
          </a:xfrm>
          <a:prstGeom prst="rect">
            <a:avLst/>
          </a:prstGeom>
          <a:solidFill>
            <a:srgbClr val="182238"/>
          </a:solidFill>
          <a:ln w="6350">
            <a:solidFill>
              <a:srgbClr val="2A3651"/>
            </a:solidFill>
            <a:prstDash val="solid"/>
          </a:ln>
        </p:spPr>
      </p:sp>
      <p:sp>
        <p:nvSpPr>
          <p:cNvPr id="14" name="Shape 12"/>
          <p:cNvSpPr/>
          <p:nvPr/>
        </p:nvSpPr>
        <p:spPr>
          <a:xfrm>
            <a:off x="548640" y="3200400"/>
            <a:ext cx="45720" cy="274320"/>
          </a:xfrm>
          <a:prstGeom prst="rect">
            <a:avLst/>
          </a:prstGeom>
          <a:solidFill>
            <a:srgbClr val="6EE7B7"/>
          </a:solidFill>
          <a:ln w="12700">
            <a:solidFill>
              <a:srgbClr val="6EE7B7"/>
            </a:solidFill>
            <a:prstDash val="solid"/>
          </a:ln>
        </p:spPr>
      </p:sp>
      <p:sp>
        <p:nvSpPr>
          <p:cNvPr id="15" name="Text 13"/>
          <p:cNvSpPr/>
          <p:nvPr/>
        </p:nvSpPr>
        <p:spPr>
          <a:xfrm>
            <a:off x="548640" y="3703320"/>
            <a:ext cx="4526280" cy="320040"/>
          </a:xfrm>
          <a:prstGeom prst="rect">
            <a:avLst/>
          </a:prstGeom>
          <a:noFill/>
          <a:ln/>
        </p:spPr>
        <p:txBody>
          <a:bodyPr wrap="square" lIns="25400" tIns="25400" rIns="25400" bIns="25400" rtlCol="0" anchor="ctr"/>
          <a:lstStyle/>
          <a:p>
            <a:pPr marL="0" indent="0" algn="l">
              <a:buNone/>
            </a:pPr>
            <a:r>
              <a:rPr lang="en-US" sz="1300" i="1" dirty="0">
                <a:solidFill>
                  <a:srgbClr val="8F9BB3"/>
                </a:solidFill>
                <a:latin typeface="Segoe UI" pitchFamily="34" charset="0"/>
                <a:ea typeface="Segoe UI" pitchFamily="34" charset="-122"/>
                <a:cs typeface="Segoe UI" pitchFamily="34" charset="-120"/>
              </a:rPr>
              <a:t>bcrypt chậm hơn khoảng 4 triệu lần</a:t>
            </a:r>
            <a:endParaRPr lang="en-US" sz="1300" dirty="0"/>
          </a:p>
        </p:txBody>
      </p:sp>
      <p:sp>
        <p:nvSpPr>
          <p:cNvPr id="16" name="Text 14"/>
          <p:cNvSpPr/>
          <p:nvPr/>
        </p:nvSpPr>
        <p:spPr>
          <a:xfrm>
            <a:off x="548640" y="4160520"/>
            <a:ext cx="4526280" cy="457200"/>
          </a:xfrm>
          <a:prstGeom prst="rect">
            <a:avLst/>
          </a:prstGeom>
          <a:noFill/>
          <a:ln/>
        </p:spPr>
        <p:txBody>
          <a:bodyPr wrap="square" lIns="25400" tIns="25400" rIns="25400" bIns="25400" rtlCol="0" anchor="ctr"/>
          <a:lstStyle/>
          <a:p>
            <a:pPr marL="0" indent="0" algn="l">
              <a:buNone/>
            </a:pPr>
            <a:r>
              <a:rPr lang="en-US" sz="2000" b="1" dirty="0">
                <a:solidFill>
                  <a:srgbClr val="E8ECF5"/>
                </a:solidFill>
                <a:latin typeface="Segoe UI" pitchFamily="34" charset="0"/>
                <a:ea typeface="Segoe UI" pitchFamily="34" charset="-122"/>
                <a:cs typeface="Segoe UI" pitchFamily="34" charset="-120"/>
              </a:rPr>
              <a:t>Chậm là tính năng, không phải bug.</a:t>
            </a:r>
            <a:endParaRPr lang="en-US" sz="2000" dirty="0"/>
          </a:p>
        </p:txBody>
      </p:sp>
      <p:sp>
        <p:nvSpPr>
          <p:cNvPr id="17" name="Text 15"/>
          <p:cNvSpPr/>
          <p:nvPr/>
        </p:nvSpPr>
        <p:spPr>
          <a:xfrm>
            <a:off x="548640" y="4754880"/>
            <a:ext cx="4526280" cy="457200"/>
          </a:xfrm>
          <a:prstGeom prst="rect">
            <a:avLst/>
          </a:prstGeom>
          <a:noFill/>
          <a:ln/>
        </p:spPr>
        <p:txBody>
          <a:bodyPr wrap="square" lIns="25400" tIns="25400" rIns="25400" bIns="25400" rtlCol="0" anchor="t"/>
          <a:lstStyle/>
          <a:p>
            <a:pPr marL="0" indent="0" algn="l">
              <a:buNone/>
            </a:pPr>
            <a:r>
              <a:rPr lang="en-US" sz="950" dirty="0">
                <a:solidFill>
                  <a:srgbClr val="8F9BB3"/>
                </a:solidFill>
                <a:latin typeface="Segoe UI" pitchFamily="34" charset="0"/>
                <a:ea typeface="Segoe UI" pitchFamily="34" charset="-122"/>
                <a:cs typeface="Segoe UI" pitchFamily="34" charset="-120"/>
              </a:rPr>
              <a:t>Ước lượng từ benchmark hashcat công khai; bcrypt quy đổi từ cost 5.</a:t>
            </a:r>
            <a:endParaRPr lang="en-US" sz="950" dirty="0"/>
          </a:p>
        </p:txBody>
      </p:sp>
      <p:sp>
        <p:nvSpPr>
          <p:cNvPr id="18" name="Shape 16"/>
          <p:cNvSpPr/>
          <p:nvPr/>
        </p:nvSpPr>
        <p:spPr>
          <a:xfrm>
            <a:off x="5440680" y="1463040"/>
            <a:ext cx="3017520" cy="4114800"/>
          </a:xfrm>
          <a:prstGeom prst="roundRect">
            <a:avLst>
              <a:gd name="adj" fmla="val 2424"/>
            </a:avLst>
          </a:prstGeom>
          <a:solidFill>
            <a:srgbClr val="131B2E"/>
          </a:solidFill>
          <a:ln w="15875">
            <a:solidFill>
              <a:srgbClr val="B5A5FF"/>
            </a:solidFill>
            <a:prstDash val="solid"/>
          </a:ln>
        </p:spPr>
      </p:sp>
      <p:sp>
        <p:nvSpPr>
          <p:cNvPr id="19" name="Text 17"/>
          <p:cNvSpPr/>
          <p:nvPr/>
        </p:nvSpPr>
        <p:spPr>
          <a:xfrm>
            <a:off x="5623560" y="1600200"/>
            <a:ext cx="2651760" cy="411480"/>
          </a:xfrm>
          <a:prstGeom prst="rect">
            <a:avLst/>
          </a:prstGeom>
          <a:noFill/>
          <a:ln/>
        </p:spPr>
        <p:txBody>
          <a:bodyPr wrap="square" lIns="25400" tIns="25400" rIns="25400" bIns="25400" rtlCol="0" anchor="ctr"/>
          <a:lstStyle/>
          <a:p>
            <a:pPr marL="0" indent="0" algn="l">
              <a:buNone/>
            </a:pPr>
            <a:r>
              <a:rPr lang="en-US" sz="1500" b="1" dirty="0">
                <a:solidFill>
                  <a:srgbClr val="B5A5FF"/>
                </a:solidFill>
                <a:latin typeface="Segoe UI" pitchFamily="34" charset="0"/>
                <a:ea typeface="Segoe UI" pitchFamily="34" charset="-122"/>
                <a:cs typeface="Segoe UI" pitchFamily="34" charset="-120"/>
              </a:rPr>
              <a:t>Offline — DB bị lộ</a:t>
            </a:r>
            <a:endParaRPr lang="en-US" sz="1500" dirty="0"/>
          </a:p>
        </p:txBody>
      </p:sp>
      <p:sp>
        <p:nvSpPr>
          <p:cNvPr id="20" name="Text 18"/>
          <p:cNvSpPr/>
          <p:nvPr/>
        </p:nvSpPr>
        <p:spPr>
          <a:xfrm>
            <a:off x="5623560" y="2148840"/>
            <a:ext cx="2651760" cy="228600"/>
          </a:xfrm>
          <a:prstGeom prst="rect">
            <a:avLst/>
          </a:prstGeom>
          <a:noFill/>
          <a:ln/>
        </p:spPr>
        <p:txBody>
          <a:bodyPr wrap="square" lIns="25400" tIns="25400" rIns="25400" bIns="25400" rtlCol="0" anchor="ctr"/>
          <a:lstStyle/>
          <a:p>
            <a:pPr marL="0" indent="0" algn="l">
              <a:buNone/>
            </a:pPr>
            <a:r>
              <a:rPr lang="en-US" sz="950" b="1" dirty="0">
                <a:solidFill>
                  <a:srgbClr val="8F9BB3"/>
                </a:solidFill>
                <a:latin typeface="Segoe UI" pitchFamily="34" charset="0"/>
                <a:ea typeface="Segoe UI" pitchFamily="34" charset="-122"/>
                <a:cs typeface="Segoe UI" pitchFamily="34" charset="-120"/>
              </a:rPr>
              <a:t>ATTACKER CÓ</a:t>
            </a:r>
            <a:endParaRPr lang="en-US" sz="950" dirty="0"/>
          </a:p>
        </p:txBody>
      </p:sp>
      <p:sp>
        <p:nvSpPr>
          <p:cNvPr id="21" name="Text 19"/>
          <p:cNvSpPr/>
          <p:nvPr/>
        </p:nvSpPr>
        <p:spPr>
          <a:xfrm>
            <a:off x="5623560" y="2377440"/>
            <a:ext cx="2651760" cy="548640"/>
          </a:xfrm>
          <a:prstGeom prst="rect">
            <a:avLst/>
          </a:prstGeom>
          <a:noFill/>
          <a:ln/>
        </p:spPr>
        <p:txBody>
          <a:bodyPr wrap="square" lIns="25400" tIns="25400" rIns="25400" bIns="25400" rtlCol="0" anchor="t"/>
          <a:lstStyle/>
          <a:p>
            <a:pPr marL="0" indent="0" algn="l">
              <a:buNone/>
            </a:pPr>
            <a:r>
              <a:rPr lang="en-US" sz="1300" dirty="0">
                <a:solidFill>
                  <a:srgbClr val="E8ECF5"/>
                </a:solidFill>
                <a:latin typeface="Segoe UI" pitchFamily="34" charset="0"/>
                <a:ea typeface="Segoe UI" pitchFamily="34" charset="-122"/>
                <a:cs typeface="Segoe UI" pitchFamily="34" charset="-120"/>
              </a:rPr>
              <a:t>Bản dump DB, đoán trên máy riêng</a:t>
            </a:r>
            <a:endParaRPr lang="en-US" sz="1300" dirty="0"/>
          </a:p>
        </p:txBody>
      </p:sp>
      <p:sp>
        <p:nvSpPr>
          <p:cNvPr id="22" name="Text 20"/>
          <p:cNvSpPr/>
          <p:nvPr/>
        </p:nvSpPr>
        <p:spPr>
          <a:xfrm>
            <a:off x="5623560" y="3017520"/>
            <a:ext cx="2651760" cy="228600"/>
          </a:xfrm>
          <a:prstGeom prst="rect">
            <a:avLst/>
          </a:prstGeom>
          <a:noFill/>
          <a:ln/>
        </p:spPr>
        <p:txBody>
          <a:bodyPr wrap="square" lIns="25400" tIns="25400" rIns="25400" bIns="25400" rtlCol="0" anchor="ctr"/>
          <a:lstStyle/>
          <a:p>
            <a:pPr marL="0" indent="0" algn="l">
              <a:buNone/>
            </a:pPr>
            <a:r>
              <a:rPr lang="en-US" sz="950" b="1" dirty="0">
                <a:solidFill>
                  <a:srgbClr val="8F9BB3"/>
                </a:solidFill>
                <a:latin typeface="Segoe UI" pitchFamily="34" charset="0"/>
                <a:ea typeface="Segoe UI" pitchFamily="34" charset="-122"/>
                <a:cs typeface="Segoe UI" pitchFamily="34" charset="-120"/>
              </a:rPr>
              <a:t>SALT</a:t>
            </a:r>
            <a:endParaRPr lang="en-US" sz="950" dirty="0"/>
          </a:p>
        </p:txBody>
      </p:sp>
      <p:sp>
        <p:nvSpPr>
          <p:cNvPr id="23" name="Text 21"/>
          <p:cNvSpPr/>
          <p:nvPr/>
        </p:nvSpPr>
        <p:spPr>
          <a:xfrm>
            <a:off x="5623560" y="3246120"/>
            <a:ext cx="2651760" cy="548640"/>
          </a:xfrm>
          <a:prstGeom prst="rect">
            <a:avLst/>
          </a:prstGeom>
          <a:noFill/>
          <a:ln/>
        </p:spPr>
        <p:txBody>
          <a:bodyPr wrap="square" lIns="25400" tIns="25400" rIns="25400" bIns="25400" rtlCol="0" anchor="t"/>
          <a:lstStyle/>
          <a:p>
            <a:pPr marL="0" indent="0" algn="l">
              <a:buNone/>
            </a:pPr>
            <a:r>
              <a:rPr lang="en-US" sz="1300" dirty="0">
                <a:solidFill>
                  <a:srgbClr val="E8ECF5"/>
                </a:solidFill>
                <a:latin typeface="Segoe UI" pitchFamily="34" charset="0"/>
                <a:ea typeface="Segoe UI" pitchFamily="34" charset="-122"/>
                <a:cs typeface="Segoe UI" pitchFamily="34" charset="-120"/>
              </a:rPr>
              <a:t>Rainbow table vô dụng</a:t>
            </a:r>
            <a:endParaRPr lang="en-US" sz="1300" dirty="0"/>
          </a:p>
        </p:txBody>
      </p:sp>
      <p:sp>
        <p:nvSpPr>
          <p:cNvPr id="24" name="Text 22"/>
          <p:cNvSpPr/>
          <p:nvPr/>
        </p:nvSpPr>
        <p:spPr>
          <a:xfrm>
            <a:off x="5623560" y="3886200"/>
            <a:ext cx="2651760" cy="228600"/>
          </a:xfrm>
          <a:prstGeom prst="rect">
            <a:avLst/>
          </a:prstGeom>
          <a:noFill/>
          <a:ln/>
        </p:spPr>
        <p:txBody>
          <a:bodyPr wrap="square" lIns="25400" tIns="25400" rIns="25400" bIns="25400" rtlCol="0" anchor="ctr"/>
          <a:lstStyle/>
          <a:p>
            <a:pPr marL="0" indent="0" algn="l">
              <a:buNone/>
            </a:pPr>
            <a:r>
              <a:rPr lang="en-US" sz="950" b="1" dirty="0">
                <a:solidFill>
                  <a:srgbClr val="8F9BB3"/>
                </a:solidFill>
                <a:latin typeface="Segoe UI" pitchFamily="34" charset="0"/>
                <a:ea typeface="Segoe UI" pitchFamily="34" charset="-122"/>
                <a:cs typeface="Segoe UI" pitchFamily="34" charset="-120"/>
              </a:rPr>
              <a:t>HASH CHẬM</a:t>
            </a:r>
            <a:endParaRPr lang="en-US" sz="950" dirty="0"/>
          </a:p>
        </p:txBody>
      </p:sp>
      <p:sp>
        <p:nvSpPr>
          <p:cNvPr id="25" name="Text 23"/>
          <p:cNvSpPr/>
          <p:nvPr/>
        </p:nvSpPr>
        <p:spPr>
          <a:xfrm>
            <a:off x="5623560" y="4114800"/>
            <a:ext cx="2651760" cy="548640"/>
          </a:xfrm>
          <a:prstGeom prst="rect">
            <a:avLst/>
          </a:prstGeom>
          <a:noFill/>
          <a:ln/>
        </p:spPr>
        <p:txBody>
          <a:bodyPr wrap="square" lIns="25400" tIns="25400" rIns="25400" bIns="25400" rtlCol="0" anchor="t"/>
          <a:lstStyle/>
          <a:p>
            <a:pPr marL="0" indent="0" algn="l">
              <a:buNone/>
            </a:pPr>
            <a:r>
              <a:rPr lang="en-US" sz="1300" dirty="0">
                <a:solidFill>
                  <a:srgbClr val="E8ECF5"/>
                </a:solidFill>
                <a:latin typeface="Segoe UI" pitchFamily="34" charset="0"/>
                <a:ea typeface="Segoe UI" pitchFamily="34" charset="-122"/>
                <a:cs typeface="Segoe UI" pitchFamily="34" charset="-120"/>
              </a:rPr>
              <a:t>Mỗi lần đoán tốn kém</a:t>
            </a:r>
            <a:endParaRPr lang="en-US" sz="1300" dirty="0"/>
          </a:p>
        </p:txBody>
      </p:sp>
      <p:sp>
        <p:nvSpPr>
          <p:cNvPr id="26" name="Text 24"/>
          <p:cNvSpPr/>
          <p:nvPr/>
        </p:nvSpPr>
        <p:spPr>
          <a:xfrm>
            <a:off x="5623560" y="4846320"/>
            <a:ext cx="2651760" cy="548640"/>
          </a:xfrm>
          <a:prstGeom prst="roundRect">
            <a:avLst>
              <a:gd name="adj" fmla="val 13333"/>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300" b="1" dirty="0">
                <a:solidFill>
                  <a:srgbClr val="6EE7B7"/>
                </a:solidFill>
                <a:latin typeface="Segoe UI" pitchFamily="34" charset="0"/>
                <a:ea typeface="Segoe UI" pitchFamily="34" charset="-122"/>
                <a:cs typeface="Segoe UI" pitchFamily="34" charset="-120"/>
              </a:rPr>
              <a:t>Hash chậm: CÓ GIÚP</a:t>
            </a:r>
            <a:endParaRPr lang="en-US" sz="1300" dirty="0"/>
          </a:p>
        </p:txBody>
      </p:sp>
      <p:sp>
        <p:nvSpPr>
          <p:cNvPr id="27" name="Shape 25"/>
          <p:cNvSpPr/>
          <p:nvPr/>
        </p:nvSpPr>
        <p:spPr>
          <a:xfrm>
            <a:off x="8686800" y="1463040"/>
            <a:ext cx="3017520" cy="4114800"/>
          </a:xfrm>
          <a:prstGeom prst="roundRect">
            <a:avLst>
              <a:gd name="adj" fmla="val 2424"/>
            </a:avLst>
          </a:prstGeom>
          <a:solidFill>
            <a:srgbClr val="131B2E"/>
          </a:solidFill>
          <a:ln w="15875">
            <a:solidFill>
              <a:srgbClr val="F5A65B"/>
            </a:solidFill>
            <a:prstDash val="solid"/>
          </a:ln>
        </p:spPr>
      </p:sp>
      <p:sp>
        <p:nvSpPr>
          <p:cNvPr id="28" name="Text 26"/>
          <p:cNvSpPr/>
          <p:nvPr/>
        </p:nvSpPr>
        <p:spPr>
          <a:xfrm>
            <a:off x="8869680" y="1600200"/>
            <a:ext cx="2651760" cy="411480"/>
          </a:xfrm>
          <a:prstGeom prst="rect">
            <a:avLst/>
          </a:prstGeom>
          <a:noFill/>
          <a:ln/>
        </p:spPr>
        <p:txBody>
          <a:bodyPr wrap="square" lIns="25400" tIns="25400" rIns="25400" bIns="25400" rtlCol="0" anchor="ctr"/>
          <a:lstStyle/>
          <a:p>
            <a:pPr marL="0" indent="0" algn="l">
              <a:buNone/>
            </a:pPr>
            <a:r>
              <a:rPr lang="en-US" sz="1500" b="1" dirty="0">
                <a:solidFill>
                  <a:srgbClr val="F5A65B"/>
                </a:solidFill>
                <a:latin typeface="Segoe UI" pitchFamily="34" charset="0"/>
                <a:ea typeface="Segoe UI" pitchFamily="34" charset="-122"/>
                <a:cs typeface="Segoe UI" pitchFamily="34" charset="-120"/>
              </a:rPr>
              <a:t>Online — credential stuffing</a:t>
            </a:r>
            <a:endParaRPr lang="en-US" sz="1500" dirty="0"/>
          </a:p>
        </p:txBody>
      </p:sp>
      <p:sp>
        <p:nvSpPr>
          <p:cNvPr id="29" name="Text 27"/>
          <p:cNvSpPr/>
          <p:nvPr/>
        </p:nvSpPr>
        <p:spPr>
          <a:xfrm>
            <a:off x="8869680" y="2148840"/>
            <a:ext cx="2651760" cy="228600"/>
          </a:xfrm>
          <a:prstGeom prst="rect">
            <a:avLst/>
          </a:prstGeom>
          <a:noFill/>
          <a:ln/>
        </p:spPr>
        <p:txBody>
          <a:bodyPr wrap="square" lIns="25400" tIns="25400" rIns="25400" bIns="25400" rtlCol="0" anchor="ctr"/>
          <a:lstStyle/>
          <a:p>
            <a:pPr marL="0" indent="0" algn="l">
              <a:buNone/>
            </a:pPr>
            <a:r>
              <a:rPr lang="en-US" sz="950" b="1" dirty="0">
                <a:solidFill>
                  <a:srgbClr val="8F9BB3"/>
                </a:solidFill>
                <a:latin typeface="Segoe UI" pitchFamily="34" charset="0"/>
                <a:ea typeface="Segoe UI" pitchFamily="34" charset="-122"/>
                <a:cs typeface="Segoe UI" pitchFamily="34" charset="-120"/>
              </a:rPr>
              <a:t>ATTACKER CÓ</a:t>
            </a:r>
            <a:endParaRPr lang="en-US" sz="950" dirty="0"/>
          </a:p>
        </p:txBody>
      </p:sp>
      <p:sp>
        <p:nvSpPr>
          <p:cNvPr id="30" name="Text 28"/>
          <p:cNvSpPr/>
          <p:nvPr/>
        </p:nvSpPr>
        <p:spPr>
          <a:xfrm>
            <a:off x="8869680" y="2377440"/>
            <a:ext cx="2651760" cy="548640"/>
          </a:xfrm>
          <a:prstGeom prst="rect">
            <a:avLst/>
          </a:prstGeom>
          <a:noFill/>
          <a:ln/>
        </p:spPr>
        <p:txBody>
          <a:bodyPr wrap="square" lIns="25400" tIns="25400" rIns="25400" bIns="25400" rtlCol="0" anchor="t"/>
          <a:lstStyle/>
          <a:p>
            <a:pPr marL="0" indent="0" algn="l">
              <a:buNone/>
            </a:pPr>
            <a:r>
              <a:rPr lang="en-US" sz="1300" dirty="0">
                <a:solidFill>
                  <a:srgbClr val="E8ECF5"/>
                </a:solidFill>
                <a:latin typeface="Segoe UI" pitchFamily="34" charset="0"/>
                <a:ea typeface="Segoe UI" pitchFamily="34" charset="-122"/>
                <a:cs typeface="Segoe UI" pitchFamily="34" charset="-120"/>
              </a:rPr>
              <a:t>Email / password lộ từ site khác</a:t>
            </a:r>
            <a:endParaRPr lang="en-US" sz="1300" dirty="0"/>
          </a:p>
        </p:txBody>
      </p:sp>
      <p:sp>
        <p:nvSpPr>
          <p:cNvPr id="31" name="Text 29"/>
          <p:cNvSpPr/>
          <p:nvPr/>
        </p:nvSpPr>
        <p:spPr>
          <a:xfrm>
            <a:off x="8869680" y="3017520"/>
            <a:ext cx="2651760" cy="228600"/>
          </a:xfrm>
          <a:prstGeom prst="rect">
            <a:avLst/>
          </a:prstGeom>
          <a:noFill/>
          <a:ln/>
        </p:spPr>
        <p:txBody>
          <a:bodyPr wrap="square" lIns="25400" tIns="25400" rIns="25400" bIns="25400" rtlCol="0" anchor="ctr"/>
          <a:lstStyle/>
          <a:p>
            <a:pPr marL="0" indent="0" algn="l">
              <a:buNone/>
            </a:pPr>
            <a:r>
              <a:rPr lang="en-US" sz="950" b="1" dirty="0">
                <a:solidFill>
                  <a:srgbClr val="8F9BB3"/>
                </a:solidFill>
                <a:latin typeface="Segoe UI" pitchFamily="34" charset="0"/>
                <a:ea typeface="Segoe UI" pitchFamily="34" charset="-122"/>
                <a:cs typeface="Segoe UI" pitchFamily="34" charset="-120"/>
              </a:rPr>
              <a:t>CÁCH LÀM</a:t>
            </a:r>
            <a:endParaRPr lang="en-US" sz="950" dirty="0"/>
          </a:p>
        </p:txBody>
      </p:sp>
      <p:sp>
        <p:nvSpPr>
          <p:cNvPr id="32" name="Text 30"/>
          <p:cNvSpPr/>
          <p:nvPr/>
        </p:nvSpPr>
        <p:spPr>
          <a:xfrm>
            <a:off x="8869680" y="3246120"/>
            <a:ext cx="2651760" cy="548640"/>
          </a:xfrm>
          <a:prstGeom prst="rect">
            <a:avLst/>
          </a:prstGeom>
          <a:noFill/>
          <a:ln/>
        </p:spPr>
        <p:txBody>
          <a:bodyPr wrap="square" lIns="25400" tIns="25400" rIns="25400" bIns="25400" rtlCol="0" anchor="t"/>
          <a:lstStyle/>
          <a:p>
            <a:pPr marL="0" indent="0" algn="l">
              <a:buNone/>
            </a:pPr>
            <a:r>
              <a:rPr lang="en-US" sz="1300" dirty="0">
                <a:solidFill>
                  <a:srgbClr val="E8ECF5"/>
                </a:solidFill>
                <a:latin typeface="Segoe UI" pitchFamily="34" charset="0"/>
                <a:ea typeface="Segoe UI" pitchFamily="34" charset="-122"/>
                <a:cs typeface="Segoe UI" pitchFamily="34" charset="-120"/>
              </a:rPr>
              <a:t>Thử login thẳng vào DevHub</a:t>
            </a:r>
            <a:endParaRPr lang="en-US" sz="1300" dirty="0"/>
          </a:p>
        </p:txBody>
      </p:sp>
      <p:sp>
        <p:nvSpPr>
          <p:cNvPr id="33" name="Text 31"/>
          <p:cNvSpPr/>
          <p:nvPr/>
        </p:nvSpPr>
        <p:spPr>
          <a:xfrm>
            <a:off x="8869680" y="3886200"/>
            <a:ext cx="2651760" cy="228600"/>
          </a:xfrm>
          <a:prstGeom prst="rect">
            <a:avLst/>
          </a:prstGeom>
          <a:noFill/>
          <a:ln/>
        </p:spPr>
        <p:txBody>
          <a:bodyPr wrap="square" lIns="25400" tIns="25400" rIns="25400" bIns="25400" rtlCol="0" anchor="ctr"/>
          <a:lstStyle/>
          <a:p>
            <a:pPr marL="0" indent="0" algn="l">
              <a:buNone/>
            </a:pPr>
            <a:r>
              <a:rPr lang="en-US" sz="950" b="1" dirty="0">
                <a:solidFill>
                  <a:srgbClr val="8F9BB3"/>
                </a:solidFill>
                <a:latin typeface="Segoe UI" pitchFamily="34" charset="0"/>
                <a:ea typeface="Segoe UI" pitchFamily="34" charset="-122"/>
                <a:cs typeface="Segoe UI" pitchFamily="34" charset="-120"/>
              </a:rPr>
              <a:t>CẦN</a:t>
            </a:r>
            <a:endParaRPr lang="en-US" sz="950" dirty="0"/>
          </a:p>
        </p:txBody>
      </p:sp>
      <p:sp>
        <p:nvSpPr>
          <p:cNvPr id="34" name="Text 32"/>
          <p:cNvSpPr/>
          <p:nvPr/>
        </p:nvSpPr>
        <p:spPr>
          <a:xfrm>
            <a:off x="8869680" y="4114800"/>
            <a:ext cx="2651760" cy="548640"/>
          </a:xfrm>
          <a:prstGeom prst="rect">
            <a:avLst/>
          </a:prstGeom>
          <a:noFill/>
          <a:ln/>
        </p:spPr>
        <p:txBody>
          <a:bodyPr wrap="square" lIns="25400" tIns="25400" rIns="25400" bIns="25400" rtlCol="0" anchor="t"/>
          <a:lstStyle/>
          <a:p>
            <a:pPr marL="0" indent="0" algn="l">
              <a:buNone/>
            </a:pPr>
            <a:r>
              <a:rPr lang="en-US" sz="1300" dirty="0">
                <a:solidFill>
                  <a:srgbClr val="E8ECF5"/>
                </a:solidFill>
                <a:latin typeface="Segoe UI" pitchFamily="34" charset="0"/>
                <a:ea typeface="Segoe UI" pitchFamily="34" charset="-122"/>
                <a:cs typeface="Segoe UI" pitchFamily="34" charset="-120"/>
              </a:rPr>
              <a:t>Rate limit · MFA · chặn pass đã lộ</a:t>
            </a:r>
            <a:endParaRPr lang="en-US" sz="1300" dirty="0"/>
          </a:p>
        </p:txBody>
      </p:sp>
      <p:sp>
        <p:nvSpPr>
          <p:cNvPr id="35" name="Text 33"/>
          <p:cNvSpPr/>
          <p:nvPr/>
        </p:nvSpPr>
        <p:spPr>
          <a:xfrm>
            <a:off x="8869680" y="4846320"/>
            <a:ext cx="2651760" cy="548640"/>
          </a:xfrm>
          <a:prstGeom prst="roundRect">
            <a:avLst>
              <a:gd name="adj" fmla="val 13333"/>
            </a:avLst>
          </a:prstGeom>
          <a:solidFill>
            <a:srgbClr val="4D2530"/>
          </a:solidFill>
          <a:ln w="12700">
            <a:solidFill>
              <a:srgbClr val="F28B9A"/>
            </a:solidFill>
            <a:prstDash val="solid"/>
          </a:ln>
        </p:spPr>
        <p:txBody>
          <a:bodyPr wrap="square" lIns="76200" tIns="76200" rIns="76200" bIns="76200" rtlCol="0" anchor="ctr"/>
          <a:lstStyle/>
          <a:p>
            <a:pPr marL="0" indent="0" algn="ctr">
              <a:buNone/>
            </a:pPr>
            <a:r>
              <a:rPr lang="en-US" sz="1300" b="1" dirty="0">
                <a:solidFill>
                  <a:srgbClr val="F28B9A"/>
                </a:solidFill>
                <a:latin typeface="Segoe UI" pitchFamily="34" charset="0"/>
                <a:ea typeface="Segoe UI" pitchFamily="34" charset="-122"/>
                <a:cs typeface="Segoe UI" pitchFamily="34" charset="-120"/>
              </a:rPr>
              <a:t>Hash chậm: KHÔNG GIÚP</a:t>
            </a:r>
            <a:endParaRPr lang="en-US" sz="1300" dirty="0"/>
          </a:p>
        </p:txBody>
      </p:sp>
      <p:sp>
        <p:nvSpPr>
          <p:cNvPr id="36" name="Text 34"/>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marL="0" indent="0" algn="ctr">
              <a:buNone/>
            </a:pPr>
            <a:r>
              <a:rPr lang="en-US" sz="1500" b="1" u="sng" dirty="0">
                <a:solidFill>
                  <a:srgbClr val="111329"/>
                </a:solidFill>
                <a:latin typeface="Segoe UI" pitchFamily="34" charset="0"/>
                <a:ea typeface="Segoe UI" pitchFamily="34" charset="-122"/>
                <a:cs typeface="Segoe UI" pitchFamily="34" charset="-120"/>
                <a:hlinkClick r:id="rId3" tooltip="http://localhost:5173/demo/password">
                  <a:extLst>
                    <a:ext uri="{A12FA001-AC4F-418D-AE19-62706E023703}">
                      <ahyp:hlinkClr xmlns:ahyp="http://schemas.microsoft.com/office/drawing/2018/hyperlinkcolor" val="tx"/>
                    </a:ext>
                  </a:extLst>
                </a:hlinkClick>
              </a:rPr>
              <a:t>Mở Password Demo ↗</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EE7B7"/>
          </a:solidFill>
          <a:ln w="12700">
            <a:solidFill>
              <a:srgbClr val="6EE7B7"/>
            </a:solidFill>
            <a:prstDash val="solid"/>
          </a:ln>
        </p:spPr>
      </p:sp>
      <p:sp>
        <p:nvSpPr>
          <p:cNvPr id="3" name="Text 1"/>
          <p:cNvSpPr/>
          <p:nvPr/>
        </p:nvSpPr>
        <p:spPr>
          <a:xfrm>
            <a:off x="822960" y="1828800"/>
            <a:ext cx="5486400" cy="320040"/>
          </a:xfrm>
          <a:prstGeom prst="rect">
            <a:avLst/>
          </a:prstGeom>
          <a:noFill/>
          <a:ln/>
        </p:spPr>
        <p:txBody>
          <a:bodyPr wrap="square" lIns="25400" tIns="25400" rIns="25400" bIns="25400" rtlCol="0" anchor="ctr"/>
          <a:lstStyle/>
          <a:p>
            <a:pPr marL="0" indent="0" algn="l">
              <a:buNone/>
            </a:pPr>
            <a:r>
              <a:rPr lang="en-US" sz="1400" b="1" dirty="0">
                <a:solidFill>
                  <a:srgbClr val="6EE7B7"/>
                </a:solidFill>
                <a:latin typeface="Consolas" pitchFamily="34" charset="0"/>
                <a:ea typeface="Consolas" pitchFamily="34" charset="-122"/>
                <a:cs typeface="Consolas" pitchFamily="34" charset="-120"/>
              </a:rPr>
              <a:t>PHẦN 03 / 06</a:t>
            </a:r>
            <a:endParaRPr lang="en-US" sz="1400" dirty="0"/>
          </a:p>
        </p:txBody>
      </p:sp>
      <p:sp>
        <p:nvSpPr>
          <p:cNvPr id="4" name="Text 2"/>
          <p:cNvSpPr/>
          <p:nvPr/>
        </p:nvSpPr>
        <p:spPr>
          <a:xfrm>
            <a:off x="822960" y="2286000"/>
            <a:ext cx="10515600" cy="1005840"/>
          </a:xfrm>
          <a:prstGeom prst="rect">
            <a:avLst/>
          </a:prstGeom>
          <a:noFill/>
          <a:ln/>
        </p:spPr>
        <p:txBody>
          <a:bodyPr wrap="square" lIns="25400" tIns="25400" rIns="25400" bIns="25400" rtlCol="0" anchor="ctr"/>
          <a:lstStyle/>
          <a:p>
            <a:pPr marL="0" indent="0" algn="l">
              <a:buNone/>
            </a:pPr>
            <a:r>
              <a:rPr lang="en-US" sz="5400" b="1" dirty="0">
                <a:solidFill>
                  <a:srgbClr val="E8ECF5"/>
                </a:solidFill>
                <a:latin typeface="Segoe UI" pitchFamily="34" charset="0"/>
                <a:ea typeface="Segoe UI" pitchFamily="34" charset="-122"/>
                <a:cs typeface="Segoe UI" pitchFamily="34" charset="-120"/>
              </a:rPr>
              <a:t>Session &amp; cookie</a:t>
            </a:r>
            <a:endParaRPr lang="en-US" sz="5400" dirty="0"/>
          </a:p>
        </p:txBody>
      </p:sp>
      <p:sp>
        <p:nvSpPr>
          <p:cNvPr id="5" name="Text 3"/>
          <p:cNvSpPr/>
          <p:nvPr/>
        </p:nvSpPr>
        <p:spPr>
          <a:xfrm>
            <a:off x="822960" y="3383280"/>
            <a:ext cx="10515600" cy="548640"/>
          </a:xfrm>
          <a:prstGeom prst="rect">
            <a:avLst/>
          </a:prstGeom>
          <a:noFill/>
          <a:ln/>
        </p:spPr>
        <p:txBody>
          <a:bodyPr wrap="square" lIns="25400" tIns="25400" rIns="25400" bIns="25400" rtlCol="0" anchor="ctr"/>
          <a:lstStyle/>
          <a:p>
            <a:pPr marL="0" indent="0" algn="l">
              <a:buNone/>
            </a:pPr>
            <a:r>
              <a:rPr lang="en-US" sz="2200" i="1" dirty="0">
                <a:solidFill>
                  <a:srgbClr val="8F9BB3"/>
                </a:solidFill>
                <a:latin typeface="Segoe UI" pitchFamily="34" charset="0"/>
                <a:ea typeface="Segoe UI" pitchFamily="34" charset="-122"/>
                <a:cs typeface="Segoe UI" pitchFamily="34" charset="-120"/>
              </a:rPr>
              <a:t>Cookie mang gì, và logout thực sự xoá cái gì?</a:t>
            </a:r>
            <a:endParaRPr lang="en-US" sz="2200" dirty="0"/>
          </a:p>
        </p:txBody>
      </p:sp>
      <p:sp>
        <p:nvSpPr>
          <p:cNvPr id="6" name="Shape 4"/>
          <p:cNvSpPr/>
          <p:nvPr/>
        </p:nvSpPr>
        <p:spPr>
          <a:xfrm>
            <a:off x="822960" y="5989320"/>
            <a:ext cx="1643329" cy="64008"/>
          </a:xfrm>
          <a:prstGeom prst="rect">
            <a:avLst/>
          </a:prstGeom>
          <a:solidFill>
            <a:srgbClr val="2A3651"/>
          </a:solidFill>
          <a:ln w="12700">
            <a:solidFill>
              <a:srgbClr val="2A3651"/>
            </a:solidFill>
            <a:prstDash val="solid"/>
          </a:ln>
        </p:spPr>
      </p:sp>
      <p:sp>
        <p:nvSpPr>
          <p:cNvPr id="7" name="Text 5"/>
          <p:cNvSpPr/>
          <p:nvPr/>
        </p:nvSpPr>
        <p:spPr>
          <a:xfrm>
            <a:off x="822960"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01 AuthN ≠ AuthZ</a:t>
            </a:r>
            <a:endParaRPr lang="en-US" sz="950" dirty="0"/>
          </a:p>
        </p:txBody>
      </p:sp>
      <p:sp>
        <p:nvSpPr>
          <p:cNvPr id="8" name="Shape 6"/>
          <p:cNvSpPr/>
          <p:nvPr/>
        </p:nvSpPr>
        <p:spPr>
          <a:xfrm>
            <a:off x="2603449" y="5989320"/>
            <a:ext cx="1643329" cy="64008"/>
          </a:xfrm>
          <a:prstGeom prst="rect">
            <a:avLst/>
          </a:prstGeom>
          <a:solidFill>
            <a:srgbClr val="2A3651"/>
          </a:solidFill>
          <a:ln w="12700">
            <a:solidFill>
              <a:srgbClr val="2A3651"/>
            </a:solidFill>
            <a:prstDash val="solid"/>
          </a:ln>
        </p:spPr>
      </p:sp>
      <p:sp>
        <p:nvSpPr>
          <p:cNvPr id="9" name="Text 7"/>
          <p:cNvSpPr/>
          <p:nvPr/>
        </p:nvSpPr>
        <p:spPr>
          <a:xfrm>
            <a:off x="2603449"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02 Password</a:t>
            </a:r>
            <a:endParaRPr lang="en-US" sz="950" dirty="0"/>
          </a:p>
        </p:txBody>
      </p:sp>
      <p:sp>
        <p:nvSpPr>
          <p:cNvPr id="10" name="Shape 8"/>
          <p:cNvSpPr/>
          <p:nvPr/>
        </p:nvSpPr>
        <p:spPr>
          <a:xfrm>
            <a:off x="4383938" y="5989320"/>
            <a:ext cx="1643329" cy="64008"/>
          </a:xfrm>
          <a:prstGeom prst="rect">
            <a:avLst/>
          </a:prstGeom>
          <a:solidFill>
            <a:srgbClr val="6EE7B7"/>
          </a:solidFill>
          <a:ln w="12700">
            <a:solidFill>
              <a:srgbClr val="6EE7B7"/>
            </a:solidFill>
            <a:prstDash val="solid"/>
          </a:ln>
        </p:spPr>
      </p:sp>
      <p:sp>
        <p:nvSpPr>
          <p:cNvPr id="11" name="Text 9"/>
          <p:cNvSpPr/>
          <p:nvPr/>
        </p:nvSpPr>
        <p:spPr>
          <a:xfrm>
            <a:off x="4383938" y="6108192"/>
            <a:ext cx="1643329" cy="274320"/>
          </a:xfrm>
          <a:prstGeom prst="rect">
            <a:avLst/>
          </a:prstGeom>
          <a:noFill/>
          <a:ln/>
        </p:spPr>
        <p:txBody>
          <a:bodyPr wrap="square" lIns="25400" tIns="25400" rIns="25400" bIns="25400" rtlCol="0" anchor="ctr"/>
          <a:lstStyle/>
          <a:p>
            <a:pPr marL="0" indent="0" algn="l">
              <a:buNone/>
            </a:pPr>
            <a:r>
              <a:rPr lang="en-US" sz="950" b="1" dirty="0">
                <a:solidFill>
                  <a:srgbClr val="6EE7B7"/>
                </a:solidFill>
                <a:latin typeface="Segoe UI" pitchFamily="34" charset="0"/>
                <a:ea typeface="Segoe UI" pitchFamily="34" charset="-122"/>
                <a:cs typeface="Segoe UI" pitchFamily="34" charset="-120"/>
              </a:rPr>
              <a:t>03 Session &amp; cookie</a:t>
            </a:r>
            <a:endParaRPr lang="en-US" sz="950" dirty="0"/>
          </a:p>
        </p:txBody>
      </p:sp>
      <p:sp>
        <p:nvSpPr>
          <p:cNvPr id="12" name="Shape 10"/>
          <p:cNvSpPr/>
          <p:nvPr/>
        </p:nvSpPr>
        <p:spPr>
          <a:xfrm>
            <a:off x="6164428" y="5989320"/>
            <a:ext cx="1643329" cy="64008"/>
          </a:xfrm>
          <a:prstGeom prst="rect">
            <a:avLst/>
          </a:prstGeom>
          <a:solidFill>
            <a:srgbClr val="2A3651"/>
          </a:solidFill>
          <a:ln w="12700">
            <a:solidFill>
              <a:srgbClr val="2A3651"/>
            </a:solidFill>
            <a:prstDash val="solid"/>
          </a:ln>
        </p:spPr>
      </p:sp>
      <p:sp>
        <p:nvSpPr>
          <p:cNvPr id="13" name="Text 11"/>
          <p:cNvSpPr/>
          <p:nvPr/>
        </p:nvSpPr>
        <p:spPr>
          <a:xfrm>
            <a:off x="616442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04 JWT &amp; tokens</a:t>
            </a:r>
            <a:endParaRPr lang="en-US" sz="950" dirty="0"/>
          </a:p>
        </p:txBody>
      </p:sp>
      <p:sp>
        <p:nvSpPr>
          <p:cNvPr id="14" name="Shape 12"/>
          <p:cNvSpPr/>
          <p:nvPr/>
        </p:nvSpPr>
        <p:spPr>
          <a:xfrm>
            <a:off x="7944917" y="5989320"/>
            <a:ext cx="1643329" cy="64008"/>
          </a:xfrm>
          <a:prstGeom prst="rect">
            <a:avLst/>
          </a:prstGeom>
          <a:solidFill>
            <a:srgbClr val="2A3651"/>
          </a:solidFill>
          <a:ln w="12700">
            <a:solidFill>
              <a:srgbClr val="2A3651"/>
            </a:solidFill>
            <a:prstDash val="solid"/>
          </a:ln>
        </p:spPr>
      </p:sp>
      <p:sp>
        <p:nvSpPr>
          <p:cNvPr id="15" name="Text 13"/>
          <p:cNvSpPr/>
          <p:nvPr/>
        </p:nvSpPr>
        <p:spPr>
          <a:xfrm>
            <a:off x="7944917"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05 OAuth / OIDC</a:t>
            </a:r>
            <a:endParaRPr lang="en-US" sz="950" dirty="0"/>
          </a:p>
        </p:txBody>
      </p:sp>
      <p:sp>
        <p:nvSpPr>
          <p:cNvPr id="16" name="Shape 14"/>
          <p:cNvSpPr/>
          <p:nvPr/>
        </p:nvSpPr>
        <p:spPr>
          <a:xfrm>
            <a:off x="9725406" y="5989320"/>
            <a:ext cx="1643329" cy="64008"/>
          </a:xfrm>
          <a:prstGeom prst="rect">
            <a:avLst/>
          </a:prstGeom>
          <a:solidFill>
            <a:srgbClr val="2A3651"/>
          </a:solidFill>
          <a:ln w="12700">
            <a:solidFill>
              <a:srgbClr val="2A3651"/>
            </a:solidFill>
            <a:prstDash val="solid"/>
          </a:ln>
        </p:spPr>
      </p:sp>
      <p:sp>
        <p:nvSpPr>
          <p:cNvPr id="17" name="Text 15"/>
          <p:cNvSpPr/>
          <p:nvPr/>
        </p:nvSpPr>
        <p:spPr>
          <a:xfrm>
            <a:off x="9725406"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06 Lựa chọn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SESSION  ·  SLIDE 11/33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Session-based Authentication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​Cookie mang ID, không mang user.</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​Trạng thái phiên nằm ở session store.</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​Browser tự gửi cookie; server tra cứu.</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​Logout / đổi quyền có hiệu lực ngay.</a:t>
            </a:r>
            <a:endParaRPr lang="en-US" sz="1800" dirty="0"/>
          </a:p>
        </p:txBody>
      </p:sp>
      <p:sp>
        <p:nvSpPr>
          <p:cNvPr id="7" name="Text 5"/>
          <p:cNvSpPr/>
          <p:nvPr/>
        </p:nvSpPr>
        <p:spPr>
          <a:xfrm>
            <a:off x="549554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8" name="Shape 6"/>
          <p:cNvSpPr/>
          <p:nvPr/>
        </p:nvSpPr>
        <p:spPr>
          <a:xfrm>
            <a:off x="6484620" y="1883664"/>
            <a:ext cx="0" cy="3694176"/>
          </a:xfrm>
          <a:prstGeom prst="line">
            <a:avLst/>
          </a:prstGeom>
          <a:noFill/>
          <a:ln w="12700">
            <a:solidFill>
              <a:srgbClr val="2A3651"/>
            </a:solidFill>
            <a:prstDash val="dash"/>
          </a:ln>
        </p:spPr>
      </p:sp>
      <p:sp>
        <p:nvSpPr>
          <p:cNvPr id="9" name="Text 7"/>
          <p:cNvSpPr/>
          <p:nvPr/>
        </p:nvSpPr>
        <p:spPr>
          <a:xfrm>
            <a:off x="758342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DevHub API</a:t>
            </a:r>
            <a:endParaRPr lang="en-US" sz="1100" dirty="0"/>
          </a:p>
        </p:txBody>
      </p:sp>
      <p:sp>
        <p:nvSpPr>
          <p:cNvPr id="10" name="Shape 8"/>
          <p:cNvSpPr/>
          <p:nvPr/>
        </p:nvSpPr>
        <p:spPr>
          <a:xfrm>
            <a:off x="8572500" y="1883664"/>
            <a:ext cx="0" cy="3694176"/>
          </a:xfrm>
          <a:prstGeom prst="line">
            <a:avLst/>
          </a:prstGeom>
          <a:noFill/>
          <a:ln w="12700">
            <a:solidFill>
              <a:srgbClr val="2A3651"/>
            </a:solidFill>
            <a:prstDash val="dash"/>
          </a:ln>
        </p:spPr>
      </p:sp>
      <p:sp>
        <p:nvSpPr>
          <p:cNvPr id="11" name="Text 9"/>
          <p:cNvSpPr/>
          <p:nvPr/>
        </p:nvSpPr>
        <p:spPr>
          <a:xfrm>
            <a:off x="9671304" y="1463040"/>
            <a:ext cx="19781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Session Store</a:t>
            </a:r>
            <a:endParaRPr lang="en-US" sz="1100" dirty="0"/>
          </a:p>
        </p:txBody>
      </p:sp>
      <p:sp>
        <p:nvSpPr>
          <p:cNvPr id="12" name="Shape 10"/>
          <p:cNvSpPr/>
          <p:nvPr/>
        </p:nvSpPr>
        <p:spPr>
          <a:xfrm>
            <a:off x="10660380" y="1883664"/>
            <a:ext cx="0" cy="3694176"/>
          </a:xfrm>
          <a:prstGeom prst="line">
            <a:avLst/>
          </a:prstGeom>
          <a:noFill/>
          <a:ln w="12700">
            <a:solidFill>
              <a:srgbClr val="2A3651"/>
            </a:solidFill>
            <a:prstDash val="dash"/>
          </a:ln>
        </p:spPr>
      </p:sp>
      <p:sp>
        <p:nvSpPr>
          <p:cNvPr id="13" name="Shape 11"/>
          <p:cNvSpPr/>
          <p:nvPr/>
        </p:nvSpPr>
        <p:spPr>
          <a:xfrm>
            <a:off x="6484620" y="2310872"/>
            <a:ext cx="2087880" cy="0"/>
          </a:xfrm>
          <a:prstGeom prst="line">
            <a:avLst/>
          </a:prstGeom>
          <a:noFill/>
          <a:ln w="19050">
            <a:solidFill>
              <a:srgbClr val="B5A5FF"/>
            </a:solidFill>
            <a:prstDash val="solid"/>
            <a:tailEnd type="triangle"/>
          </a:ln>
        </p:spPr>
      </p:sp>
      <p:sp>
        <p:nvSpPr>
          <p:cNvPr id="14" name="Text 12"/>
          <p:cNvSpPr/>
          <p:nvPr/>
        </p:nvSpPr>
        <p:spPr>
          <a:xfrm>
            <a:off x="6530340" y="2027408"/>
            <a:ext cx="1996440" cy="256032"/>
          </a:xfrm>
          <a:prstGeom prst="rect">
            <a:avLst/>
          </a:prstGeom>
          <a:noFill/>
          <a:ln/>
        </p:spPr>
        <p:txBody>
          <a:bodyPr wrap="square" lIns="25400" tIns="25400" rIns="25400" bIns="25400" rtlCol="0" anchor="b"/>
          <a:lstStyle/>
          <a:p>
            <a:pPr marL="0" indent="0" algn="ctr">
              <a:buNone/>
            </a:pPr>
            <a:r>
              <a:rPr lang="en-US" sz="1050" dirty="0">
                <a:solidFill>
                  <a:srgbClr val="E8ECF5"/>
                </a:solidFill>
                <a:latin typeface="Segoe UI" pitchFamily="34" charset="0"/>
                <a:ea typeface="Segoe UI" pitchFamily="34" charset="-122"/>
                <a:cs typeface="Segoe UI" pitchFamily="34" charset="-120"/>
              </a:rPr>
              <a:t>1. POST /session/login</a:t>
            </a:r>
            <a:endParaRPr lang="en-US" sz="1050" dirty="0"/>
          </a:p>
        </p:txBody>
      </p:sp>
      <p:sp>
        <p:nvSpPr>
          <p:cNvPr id="15" name="Text 13"/>
          <p:cNvSpPr/>
          <p:nvPr/>
        </p:nvSpPr>
        <p:spPr>
          <a:xfrm>
            <a:off x="7620000" y="2667488"/>
            <a:ext cx="1905000"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marL="0" indent="0" algn="ctr">
              <a:buNone/>
            </a:pPr>
            <a:r>
              <a:rPr lang="en-US" sz="950" dirty="0">
                <a:solidFill>
                  <a:srgbClr val="E8ECF5"/>
                </a:solidFill>
                <a:latin typeface="Segoe UI" pitchFamily="34" charset="0"/>
                <a:ea typeface="Segoe UI" pitchFamily="34" charset="-122"/>
                <a:cs typeface="Segoe UI" pitchFamily="34" charset="-120"/>
              </a:rPr>
              <a:t>2. verify password</a:t>
            </a:r>
            <a:endParaRPr lang="en-US" sz="950" dirty="0"/>
          </a:p>
        </p:txBody>
      </p:sp>
      <p:sp>
        <p:nvSpPr>
          <p:cNvPr id="16" name="Shape 14"/>
          <p:cNvSpPr/>
          <p:nvPr/>
        </p:nvSpPr>
        <p:spPr>
          <a:xfrm>
            <a:off x="8572500" y="3335000"/>
            <a:ext cx="2087880" cy="0"/>
          </a:xfrm>
          <a:prstGeom prst="line">
            <a:avLst/>
          </a:prstGeom>
          <a:noFill/>
          <a:ln w="19050">
            <a:solidFill>
              <a:srgbClr val="B5A5FF"/>
            </a:solidFill>
            <a:prstDash val="solid"/>
            <a:tailEnd type="triangle"/>
          </a:ln>
        </p:spPr>
      </p:sp>
      <p:sp>
        <p:nvSpPr>
          <p:cNvPr id="17" name="Text 15"/>
          <p:cNvSpPr/>
          <p:nvPr/>
        </p:nvSpPr>
        <p:spPr>
          <a:xfrm>
            <a:off x="8618220" y="3051536"/>
            <a:ext cx="1996440" cy="256032"/>
          </a:xfrm>
          <a:prstGeom prst="rect">
            <a:avLst/>
          </a:prstGeom>
          <a:noFill/>
          <a:ln/>
        </p:spPr>
        <p:txBody>
          <a:bodyPr wrap="square" lIns="25400" tIns="25400" rIns="25400" bIns="25400" rtlCol="0" anchor="b"/>
          <a:lstStyle/>
          <a:p>
            <a:pPr marL="0" indent="0" algn="ctr">
              <a:buNone/>
            </a:pPr>
            <a:r>
              <a:rPr lang="en-US" sz="1050" dirty="0">
                <a:solidFill>
                  <a:srgbClr val="E8ECF5"/>
                </a:solidFill>
                <a:latin typeface="Segoe UI" pitchFamily="34" charset="0"/>
                <a:ea typeface="Segoe UI" pitchFamily="34" charset="-122"/>
                <a:cs typeface="Segoe UI" pitchFamily="34" charset="-120"/>
              </a:rPr>
              <a:t>3. regenerate + lưu session</a:t>
            </a:r>
            <a:endParaRPr lang="en-US" sz="1050" dirty="0"/>
          </a:p>
        </p:txBody>
      </p:sp>
      <p:sp>
        <p:nvSpPr>
          <p:cNvPr id="18" name="Shape 16"/>
          <p:cNvSpPr/>
          <p:nvPr/>
        </p:nvSpPr>
        <p:spPr>
          <a:xfrm flipH="1">
            <a:off x="6484620" y="3847064"/>
            <a:ext cx="2087880" cy="0"/>
          </a:xfrm>
          <a:prstGeom prst="line">
            <a:avLst/>
          </a:prstGeom>
          <a:noFill/>
          <a:ln w="19050">
            <a:solidFill>
              <a:srgbClr val="6EE7B7"/>
            </a:solidFill>
            <a:prstDash val="dash"/>
            <a:tailEnd type="triangle"/>
          </a:ln>
        </p:spPr>
      </p:sp>
      <p:sp>
        <p:nvSpPr>
          <p:cNvPr id="19" name="Text 17"/>
          <p:cNvSpPr/>
          <p:nvPr/>
        </p:nvSpPr>
        <p:spPr>
          <a:xfrm>
            <a:off x="6530340" y="3563600"/>
            <a:ext cx="1996440" cy="256032"/>
          </a:xfrm>
          <a:prstGeom prst="rect">
            <a:avLst/>
          </a:prstGeom>
          <a:noFill/>
          <a:ln/>
        </p:spPr>
        <p:txBody>
          <a:bodyPr wrap="square" lIns="25400" tIns="25400" rIns="25400" bIns="25400" rtlCol="0" anchor="b"/>
          <a:lstStyle/>
          <a:p>
            <a:pPr marL="0" indent="0" algn="ctr">
              <a:buNone/>
            </a:pPr>
            <a:r>
              <a:rPr lang="en-US" sz="1050" dirty="0">
                <a:solidFill>
                  <a:srgbClr val="E8ECF5"/>
                </a:solidFill>
                <a:latin typeface="Segoe UI" pitchFamily="34" charset="0"/>
                <a:ea typeface="Segoe UI" pitchFamily="34" charset="-122"/>
                <a:cs typeface="Segoe UI" pitchFamily="34" charset="-120"/>
              </a:rPr>
              <a:t>4. Set-Cookie: devhub.sid=…</a:t>
            </a:r>
            <a:endParaRPr lang="en-US" sz="1050" dirty="0"/>
          </a:p>
        </p:txBody>
      </p:sp>
      <p:sp>
        <p:nvSpPr>
          <p:cNvPr id="20" name="Shape 18"/>
          <p:cNvSpPr/>
          <p:nvPr/>
        </p:nvSpPr>
        <p:spPr>
          <a:xfrm>
            <a:off x="6484620" y="4359128"/>
            <a:ext cx="2087880" cy="0"/>
          </a:xfrm>
          <a:prstGeom prst="line">
            <a:avLst/>
          </a:prstGeom>
          <a:noFill/>
          <a:ln w="19050">
            <a:solidFill>
              <a:srgbClr val="B5A5FF"/>
            </a:solidFill>
            <a:prstDash val="solid"/>
            <a:tailEnd type="triangle"/>
          </a:ln>
        </p:spPr>
      </p:sp>
      <p:sp>
        <p:nvSpPr>
          <p:cNvPr id="21" name="Text 19"/>
          <p:cNvSpPr/>
          <p:nvPr/>
        </p:nvSpPr>
        <p:spPr>
          <a:xfrm>
            <a:off x="6530340" y="4075664"/>
            <a:ext cx="1996440" cy="256032"/>
          </a:xfrm>
          <a:prstGeom prst="rect">
            <a:avLst/>
          </a:prstGeom>
          <a:noFill/>
          <a:ln/>
        </p:spPr>
        <p:txBody>
          <a:bodyPr wrap="square" lIns="25400" tIns="25400" rIns="25400" bIns="25400" rtlCol="0" anchor="b"/>
          <a:lstStyle/>
          <a:p>
            <a:pPr marL="0" indent="0" algn="ctr">
              <a:buNone/>
            </a:pPr>
            <a:r>
              <a:rPr lang="en-US" sz="1050" dirty="0">
                <a:solidFill>
                  <a:srgbClr val="E8ECF5"/>
                </a:solidFill>
                <a:latin typeface="Segoe UI" pitchFamily="34" charset="0"/>
                <a:ea typeface="Segoe UI" pitchFamily="34" charset="-122"/>
                <a:cs typeface="Segoe UI" pitchFamily="34" charset="-120"/>
              </a:rPr>
              <a:t>5. GET /api/me + Cookie</a:t>
            </a:r>
            <a:endParaRPr lang="en-US" sz="1050" dirty="0"/>
          </a:p>
        </p:txBody>
      </p:sp>
      <p:sp>
        <p:nvSpPr>
          <p:cNvPr id="22" name="Shape 20"/>
          <p:cNvSpPr/>
          <p:nvPr/>
        </p:nvSpPr>
        <p:spPr>
          <a:xfrm>
            <a:off x="8572500" y="4871192"/>
            <a:ext cx="2087880" cy="0"/>
          </a:xfrm>
          <a:prstGeom prst="line">
            <a:avLst/>
          </a:prstGeom>
          <a:noFill/>
          <a:ln w="19050">
            <a:solidFill>
              <a:srgbClr val="B5A5FF"/>
            </a:solidFill>
            <a:prstDash val="solid"/>
            <a:tailEnd type="triangle"/>
          </a:ln>
        </p:spPr>
      </p:sp>
      <p:sp>
        <p:nvSpPr>
          <p:cNvPr id="23" name="Text 21"/>
          <p:cNvSpPr/>
          <p:nvPr/>
        </p:nvSpPr>
        <p:spPr>
          <a:xfrm>
            <a:off x="8618220" y="4587728"/>
            <a:ext cx="1996440" cy="256032"/>
          </a:xfrm>
          <a:prstGeom prst="rect">
            <a:avLst/>
          </a:prstGeom>
          <a:noFill/>
          <a:ln/>
        </p:spPr>
        <p:txBody>
          <a:bodyPr wrap="square" lIns="25400" tIns="25400" rIns="25400" bIns="25400" rtlCol="0" anchor="b"/>
          <a:lstStyle/>
          <a:p>
            <a:pPr marL="0" indent="0" algn="ctr">
              <a:buNone/>
            </a:pPr>
            <a:r>
              <a:rPr lang="en-US" sz="1050" dirty="0">
                <a:solidFill>
                  <a:srgbClr val="E8ECF5"/>
                </a:solidFill>
                <a:latin typeface="Segoe UI" pitchFamily="34" charset="0"/>
                <a:ea typeface="Segoe UI" pitchFamily="34" charset="-122"/>
                <a:cs typeface="Segoe UI" pitchFamily="34" charset="-120"/>
              </a:rPr>
              <a:t>6. tra cứu session</a:t>
            </a:r>
            <a:endParaRPr lang="en-US" sz="1050" dirty="0"/>
          </a:p>
        </p:txBody>
      </p:sp>
      <p:sp>
        <p:nvSpPr>
          <p:cNvPr id="24" name="Shape 22"/>
          <p:cNvSpPr/>
          <p:nvPr/>
        </p:nvSpPr>
        <p:spPr>
          <a:xfrm flipH="1">
            <a:off x="6484620" y="5383256"/>
            <a:ext cx="2087880" cy="0"/>
          </a:xfrm>
          <a:prstGeom prst="line">
            <a:avLst/>
          </a:prstGeom>
          <a:noFill/>
          <a:ln w="19050">
            <a:solidFill>
              <a:srgbClr val="6EE7B7"/>
            </a:solidFill>
            <a:prstDash val="dash"/>
            <a:tailEnd type="triangle"/>
          </a:ln>
        </p:spPr>
      </p:sp>
      <p:sp>
        <p:nvSpPr>
          <p:cNvPr id="25" name="Text 23"/>
          <p:cNvSpPr/>
          <p:nvPr/>
        </p:nvSpPr>
        <p:spPr>
          <a:xfrm>
            <a:off x="6530340" y="5099792"/>
            <a:ext cx="1996440" cy="256032"/>
          </a:xfrm>
          <a:prstGeom prst="rect">
            <a:avLst/>
          </a:prstGeom>
          <a:noFill/>
          <a:ln/>
        </p:spPr>
        <p:txBody>
          <a:bodyPr wrap="square" lIns="25400" tIns="25400" rIns="25400" bIns="25400" rtlCol="0" anchor="b"/>
          <a:lstStyle/>
          <a:p>
            <a:pPr marL="0" indent="0" algn="ctr">
              <a:buNone/>
            </a:pPr>
            <a:r>
              <a:rPr lang="en-US" sz="1050" dirty="0">
                <a:solidFill>
                  <a:srgbClr val="E8ECF5"/>
                </a:solidFill>
                <a:latin typeface="Segoe UI" pitchFamily="34" charset="0"/>
                <a:ea typeface="Segoe UI" pitchFamily="34" charset="-122"/>
                <a:cs typeface="Segoe UI" pitchFamily="34" charset="-120"/>
              </a:rPr>
              <a:t>7. 200 { user }</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SESSION  ·  SLIDE 12/33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Cookie là credential</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​Cookie là credential: cầm ID là user đó.</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​Mỗi flag vá một lỗ; không flag nào vá hết.</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HttpOnly</a:t>
            </a:r>
            <a:r>
              <a:rPr lang="en-US" sz="1800" dirty="0">
                <a:solidFill>
                  <a:srgbClr val="E8ECF5"/>
                </a:solidFill>
                <a:latin typeface="Segoe UI" pitchFamily="34" charset="0"/>
                <a:ea typeface="Segoe UI" pitchFamily="34" charset="-122"/>
                <a:cs typeface="Segoe UI" pitchFamily="34" charset="-120"/>
              </a:rPr>
              <a:t> không chặn XSS gọi API.</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Max-Age</a:t>
            </a:r>
            <a:r>
              <a:rPr lang="en-US" sz="1800" dirty="0">
                <a:solidFill>
                  <a:srgbClr val="E8ECF5"/>
                </a:solidFill>
                <a:latin typeface="Segoe UI" pitchFamily="34" charset="0"/>
                <a:ea typeface="Segoe UI" pitchFamily="34" charset="-122"/>
                <a:cs typeface="Segoe UI" pitchFamily="34" charset="-120"/>
              </a:rPr>
              <a:t> hết hạn cookie, không revoke.</a:t>
            </a:r>
            <a:endParaRPr lang="en-US" sz="1800" dirty="0"/>
          </a:p>
        </p:txBody>
      </p:sp>
      <p:sp>
        <p:nvSpPr>
          <p:cNvPr id="7" name="Text 5"/>
          <p:cNvSpPr/>
          <p:nvPr/>
        </p:nvSpPr>
        <p:spPr>
          <a:xfrm>
            <a:off x="5440680" y="1463040"/>
            <a:ext cx="6263640" cy="457200"/>
          </a:xfrm>
          <a:prstGeom prst="roundRect">
            <a:avLst>
              <a:gd name="adj" fmla="val 16000"/>
            </a:avLst>
          </a:prstGeom>
          <a:solidFill>
            <a:srgbClr val="131B2E"/>
          </a:solidFill>
          <a:ln w="12700">
            <a:solidFill>
              <a:srgbClr val="2A3651"/>
            </a:solidFill>
            <a:prstDash val="solid"/>
          </a:ln>
        </p:spPr>
        <p:txBody>
          <a:bodyPr wrap="square" lIns="76200" tIns="76200" rIns="76200" bIns="76200" rtlCol="0" anchor="ctr"/>
          <a:lstStyle/>
          <a:p>
            <a:pPr marL="0" indent="0" algn="l">
              <a:buNone/>
            </a:pPr>
            <a:r>
              <a:rPr lang="en-US" sz="1050" dirty="0">
                <a:solidFill>
                  <a:srgbClr val="8F9BB3"/>
                </a:solidFill>
                <a:latin typeface="Consolas" pitchFamily="34" charset="0"/>
                <a:ea typeface="Consolas" pitchFamily="34" charset="-122"/>
                <a:cs typeface="Consolas" pitchFamily="34" charset="-120"/>
              </a:rPr>
              <a:t>Set-Cookie: </a:t>
            </a:r>
            <a:r>
              <a:rPr lang="en-US" sz="1050" dirty="0">
                <a:solidFill>
                  <a:srgbClr val="E8ECF5"/>
                </a:solidFill>
                <a:latin typeface="Consolas" pitchFamily="34" charset="0"/>
                <a:ea typeface="Consolas" pitchFamily="34" charset="-122"/>
                <a:cs typeface="Consolas" pitchFamily="34" charset="-120"/>
              </a:rPr>
              <a:t>devhub.sid=…; </a:t>
            </a:r>
            <a:r>
              <a:rPr lang="en-US" sz="1050" dirty="0">
                <a:solidFill>
                  <a:srgbClr val="6EE7B7"/>
                </a:solidFill>
                <a:latin typeface="Consolas" pitchFamily="34" charset="0"/>
                <a:ea typeface="Consolas" pitchFamily="34" charset="-122"/>
                <a:cs typeface="Consolas" pitchFamily="34" charset="-120"/>
              </a:rPr>
              <a:t>HttpOnly; Secure; SameSite=Lax; Path=/; Max-Age=900</a:t>
            </a:r>
            <a:endParaRPr lang="en-US" sz="1050" dirty="0"/>
          </a:p>
        </p:txBody>
      </p:sp>
      <p:sp>
        <p:nvSpPr>
          <p:cNvPr id="8" name="Text 6"/>
          <p:cNvSpPr/>
          <p:nvPr/>
        </p:nvSpPr>
        <p:spPr>
          <a:xfrm>
            <a:off x="5440680" y="1938528"/>
            <a:ext cx="6263640" cy="256032"/>
          </a:xfrm>
          <a:prstGeom prst="rect">
            <a:avLst/>
          </a:prstGeom>
          <a:noFill/>
          <a:ln/>
        </p:spPr>
        <p:txBody>
          <a:bodyPr wrap="square" lIns="25400" tIns="25400" rIns="25400" bIns="25400" rtlCol="0" anchor="ctr"/>
          <a:lstStyle/>
          <a:p>
            <a:pPr marL="0" indent="0" algn="l">
              <a:buNone/>
            </a:pPr>
            <a:r>
              <a:rPr lang="en-US" sz="1000" i="1" dirty="0">
                <a:solidFill>
                  <a:srgbClr val="8F9BB3"/>
                </a:solidFill>
                <a:latin typeface="Segoe UI" pitchFamily="34" charset="0"/>
                <a:ea typeface="Segoe UI" pitchFamily="34" charset="-122"/>
                <a:cs typeface="Segoe UI" pitchFamily="34" charset="-120"/>
              </a:rPr>
              <a:t>Mục tiêu production. Lab HTTP: Secure = false.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40680" y="2240280"/>
          <a:ext cx="626364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B5A5FF"/>
                          </a:solidFill>
                          <a:latin typeface="Segoe UI" pitchFamily="34" charset="0"/>
                          <a:ea typeface="Segoe UI" pitchFamily="34" charset="-122"/>
                          <a:cs typeface="Segoe UI" pitchFamily="34" charset="-120"/>
                        </a:rPr>
                        <a:t>Thuộc tính</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marL="0" indent="0">
                        <a:buNone/>
                      </a:pPr>
                      <a:r>
                        <a:rPr lang="en-US" sz="1100" b="1" dirty="0">
                          <a:solidFill>
                            <a:srgbClr val="B5A5FF"/>
                          </a:solidFill>
                          <a:latin typeface="Segoe UI" pitchFamily="34" charset="0"/>
                          <a:ea typeface="Segoe UI" pitchFamily="34" charset="-122"/>
                          <a:cs typeface="Segoe UI" pitchFamily="34" charset="-120"/>
                        </a:rPr>
                        <a:t>Chống lại</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marL="0" indent="0">
                        <a:buNone/>
                      </a:pPr>
                      <a:r>
                        <a:rPr lang="en-US" sz="1100" b="1" dirty="0">
                          <a:solidFill>
                            <a:srgbClr val="B5A5FF"/>
                          </a:solidFill>
                          <a:latin typeface="Segoe UI" pitchFamily="34" charset="0"/>
                          <a:ea typeface="Segoe UI" pitchFamily="34" charset="-122"/>
                          <a:cs typeface="Segoe UI" pitchFamily="34" charset="-120"/>
                        </a:rPr>
                        <a:t>Không chống được</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6EE7B7"/>
                          </a:solidFill>
                          <a:latin typeface="Consolas" pitchFamily="34" charset="0"/>
                          <a:ea typeface="Consolas" pitchFamily="34" charset="-122"/>
                          <a:cs typeface="Consolas" pitchFamily="34" charset="-120"/>
                        </a:rPr>
                        <a:t>HttpOnly</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JavaScript đọc cookie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XSS gọi API thay user</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6EE7B7"/>
                          </a:solidFill>
                          <a:latin typeface="Consolas" pitchFamily="34" charset="0"/>
                          <a:ea typeface="Consolas" pitchFamily="34" charset="-122"/>
                          <a:cs typeface="Consolas" pitchFamily="34" charset="-120"/>
                        </a:rPr>
                        <a:t>Secure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Lộ qua HTTP thường</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Lộ ở log / máy user</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6EE7B7"/>
                          </a:solidFill>
                          <a:latin typeface="Consolas" pitchFamily="34" charset="0"/>
                          <a:ea typeface="Consolas" pitchFamily="34" charset="-122"/>
                          <a:cs typeface="Consolas" pitchFamily="34" charset="-120"/>
                        </a:rPr>
                        <a:t>SameSite=Lax</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Phần lớn request cross-site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Mọi kịch bản CSRF</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6EE7B7"/>
                          </a:solidFill>
                          <a:latin typeface="Consolas" pitchFamily="34" charset="0"/>
                          <a:ea typeface="Consolas" pitchFamily="34" charset="-122"/>
                          <a:cs typeface="Consolas" pitchFamily="34" charset="-120"/>
                        </a:rPr>
                        <a:t>Path</a:t>
                      </a:r>
                      <a:r>
                        <a:rPr lang="en-US" sz="1100" b="1" dirty="0">
                          <a:solidFill>
                            <a:srgbClr val="E8ECF5"/>
                          </a:solidFill>
                          <a:latin typeface="Segoe UI" pitchFamily="34" charset="0"/>
                          <a:ea typeface="Segoe UI" pitchFamily="34" charset="-122"/>
                          <a:cs typeface="Segoe UI" pitchFamily="34" charset="-120"/>
                        </a:rPr>
                        <a:t> / </a:t>
                      </a:r>
                      <a:r>
                        <a:rPr lang="en-US" sz="1100" b="1" dirty="0">
                          <a:solidFill>
                            <a:srgbClr val="6EE7B7"/>
                          </a:solidFill>
                          <a:latin typeface="Consolas" pitchFamily="34" charset="0"/>
                          <a:ea typeface="Consolas" pitchFamily="34" charset="-122"/>
                          <a:cs typeface="Consolas" pitchFamily="34" charset="-120"/>
                        </a:rPr>
                        <a:t>Domain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Gửi cookie ra ngoài phạm vi</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Cổng / app cùng host</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6EE7B7"/>
                          </a:solidFill>
                          <a:latin typeface="Consolas" pitchFamily="34" charset="0"/>
                          <a:ea typeface="Consolas" pitchFamily="34" charset="-122"/>
                          <a:cs typeface="Consolas" pitchFamily="34" charset="-120"/>
                        </a:rPr>
                        <a:t>Max-Age</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Session sống vô thời hạn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100" dirty="0">
                          <a:solidFill>
                            <a:srgbClr val="8F9BB3"/>
                          </a:solidFill>
                          <a:latin typeface="Segoe UI" pitchFamily="34" charset="0"/>
                          <a:ea typeface="Segoe UI" pitchFamily="34" charset="-122"/>
                          <a:cs typeface="Segoe UI" pitchFamily="34" charset="-120"/>
                        </a:rPr>
                        <a:t>Revoke trước hạn</a:t>
                      </a:r>
                      <a:endParaRPr lang="en-US" sz="11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5"/>
                  </a:ext>
                </a:extLst>
              </a:tr>
            </a:tbl>
          </a:graphicData>
        </a:graphic>
      </p:graphicFrame>
      <p:sp>
        <p:nvSpPr>
          <p:cNvPr id="10" name="Text 7"/>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marL="0" indent="0" algn="ctr">
              <a:buNone/>
            </a:pPr>
            <a:r>
              <a:rPr lang="en-US" sz="1500" b="1" u="sng" dirty="0">
                <a:solidFill>
                  <a:srgbClr val="111329"/>
                </a:solidFill>
                <a:latin typeface="Segoe UI" pitchFamily="34" charset="0"/>
                <a:ea typeface="Segoe UI" pitchFamily="34" charset="-122"/>
                <a:cs typeface="Segoe UI" pitchFamily="34" charset="-120"/>
                <a:hlinkClick r:id="rId3" tooltip="http://localhost:5173/demo/session">
                  <a:extLst>
                    <a:ext uri="{A12FA001-AC4F-418D-AE19-62706E023703}">
                      <ahyp:hlinkClr xmlns:ahyp="http://schemas.microsoft.com/office/drawing/2018/hyperlinkcolor" val="tx"/>
                    </a:ext>
                  </a:extLst>
                </a:hlinkClick>
              </a:rPr>
              <a:t>Mở Session Demo ↗</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SESSION  ·  SLIDE 13/33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Xoá cookie ≠ thu hồi session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​Cả hai cách logout đều cho browser 401.</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​401 ở browser ≠ session đã chết.</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​Replay ID cũ: store còn thì vẫn vào được.</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regenerate()</a:t>
            </a:r>
            <a:r>
              <a:rPr lang="en-US" sz="1800" dirty="0">
                <a:solidFill>
                  <a:srgbClr val="E8ECF5"/>
                </a:solidFill>
                <a:latin typeface="Segoe UI" pitchFamily="34" charset="0"/>
                <a:ea typeface="Segoe UI" pitchFamily="34" charset="-122"/>
                <a:cs typeface="Segoe UI" pitchFamily="34" charset="-120"/>
              </a:rPr>
              <a:t> lúc login chống fixation.</a:t>
            </a:r>
            <a:endParaRPr lang="en-US" sz="1800" dirty="0"/>
          </a:p>
        </p:txBody>
      </p:sp>
      <p:sp>
        <p:nvSpPr>
          <p:cNvPr id="7" name="Text 5"/>
          <p:cNvSpPr/>
          <p:nvPr/>
        </p:nvSpPr>
        <p:spPr>
          <a:xfrm>
            <a:off x="5440680" y="1463040"/>
            <a:ext cx="1417320" cy="640080"/>
          </a:xfrm>
          <a:prstGeom prst="roundRect">
            <a:avLst>
              <a:gd name="adj" fmla="val 11429"/>
            </a:avLst>
          </a:prstGeom>
          <a:solidFill>
            <a:srgbClr val="182238"/>
          </a:solidFill>
          <a:ln w="12700">
            <a:solidFill>
              <a:srgbClr val="B5A5FF"/>
            </a:solidFill>
            <a:prstDash val="solid"/>
          </a:ln>
        </p:spPr>
        <p:txBody>
          <a:bodyPr wrap="square" lIns="76200" tIns="76200" rIns="76200" bIns="76200"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Login</a:t>
            </a:r>
            <a:endParaRPr lang="en-US" sz="1200" dirty="0"/>
          </a:p>
        </p:txBody>
      </p:sp>
      <p:sp>
        <p:nvSpPr>
          <p:cNvPr id="8" name="Shape 6"/>
          <p:cNvSpPr/>
          <p:nvPr/>
        </p:nvSpPr>
        <p:spPr>
          <a:xfrm>
            <a:off x="6858000" y="1783080"/>
            <a:ext cx="198120" cy="0"/>
          </a:xfrm>
          <a:prstGeom prst="line">
            <a:avLst/>
          </a:prstGeom>
          <a:noFill/>
          <a:ln w="19050">
            <a:solidFill>
              <a:srgbClr val="B5A5FF"/>
            </a:solidFill>
            <a:prstDash val="solid"/>
            <a:tailEnd type="triangle"/>
          </a:ln>
        </p:spPr>
      </p:sp>
      <p:sp>
        <p:nvSpPr>
          <p:cNvPr id="9" name="Text 7"/>
          <p:cNvSpPr/>
          <p:nvPr/>
        </p:nvSpPr>
        <p:spPr>
          <a:xfrm>
            <a:off x="7056120" y="1463040"/>
            <a:ext cx="1417320" cy="640080"/>
          </a:xfrm>
          <a:prstGeom prst="roundRect">
            <a:avLst>
              <a:gd name="adj" fmla="val 11429"/>
            </a:avLst>
          </a:prstGeom>
          <a:solidFill>
            <a:srgbClr val="182238"/>
          </a:solidFill>
          <a:ln w="12700">
            <a:solidFill>
              <a:srgbClr val="7DB3FF"/>
            </a:solidFill>
            <a:prstDash val="solid"/>
          </a:ln>
        </p:spPr>
        <p:txBody>
          <a:bodyPr wrap="square" lIns="76200" tIns="76200" rIns="76200" bIns="76200"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Regenerate ID</a:t>
            </a:r>
            <a:endParaRPr lang="en-US" sz="1200" dirty="0"/>
          </a:p>
        </p:txBody>
      </p:sp>
      <p:sp>
        <p:nvSpPr>
          <p:cNvPr id="10" name="Shape 8"/>
          <p:cNvSpPr/>
          <p:nvPr/>
        </p:nvSpPr>
        <p:spPr>
          <a:xfrm>
            <a:off x="8473440" y="1783080"/>
            <a:ext cx="198120" cy="0"/>
          </a:xfrm>
          <a:prstGeom prst="line">
            <a:avLst/>
          </a:prstGeom>
          <a:noFill/>
          <a:ln w="19050">
            <a:solidFill>
              <a:srgbClr val="7DB3FF"/>
            </a:solidFill>
            <a:prstDash val="solid"/>
            <a:tailEnd type="triangle"/>
          </a:ln>
        </p:spPr>
      </p:sp>
      <p:sp>
        <p:nvSpPr>
          <p:cNvPr id="11" name="Text 9"/>
          <p:cNvSpPr/>
          <p:nvPr/>
        </p:nvSpPr>
        <p:spPr>
          <a:xfrm>
            <a:off x="8671560" y="1463040"/>
            <a:ext cx="1417320" cy="640080"/>
          </a:xfrm>
          <a:prstGeom prst="roundRect">
            <a:avLst>
              <a:gd name="adj" fmla="val 11429"/>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Use</a:t>
            </a:r>
            <a:endParaRPr lang="en-US" sz="1200" dirty="0"/>
          </a:p>
        </p:txBody>
      </p:sp>
      <p:sp>
        <p:nvSpPr>
          <p:cNvPr id="12" name="Shape 10"/>
          <p:cNvSpPr/>
          <p:nvPr/>
        </p:nvSpPr>
        <p:spPr>
          <a:xfrm>
            <a:off x="10088880" y="1783080"/>
            <a:ext cx="198120" cy="0"/>
          </a:xfrm>
          <a:prstGeom prst="line">
            <a:avLst/>
          </a:prstGeom>
          <a:noFill/>
          <a:ln w="19050">
            <a:solidFill>
              <a:srgbClr val="6EE7B7"/>
            </a:solidFill>
            <a:prstDash val="solid"/>
            <a:tailEnd type="triangle"/>
          </a:ln>
        </p:spPr>
      </p:sp>
      <p:sp>
        <p:nvSpPr>
          <p:cNvPr id="13" name="Text 11"/>
          <p:cNvSpPr/>
          <p:nvPr/>
        </p:nvSpPr>
        <p:spPr>
          <a:xfrm>
            <a:off x="10287000" y="1463040"/>
            <a:ext cx="1417320" cy="640080"/>
          </a:xfrm>
          <a:prstGeom prst="roundRect">
            <a:avLst>
              <a:gd name="adj" fmla="val 11429"/>
            </a:avLst>
          </a:prstGeom>
          <a:solidFill>
            <a:srgbClr val="182238"/>
          </a:solidFill>
          <a:ln w="12700">
            <a:solidFill>
              <a:srgbClr val="F5A65B"/>
            </a:solidFill>
            <a:prstDash val="solid"/>
          </a:ln>
        </p:spPr>
        <p:txBody>
          <a:bodyPr wrap="square" lIns="76200" tIns="76200" rIns="76200" bIns="76200"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Expire / Revoke</a:t>
            </a:r>
            <a:endParaRPr lang="en-US" sz="1200" dirty="0"/>
          </a:p>
        </p:txBody>
      </p:sp>
      <p:sp>
        <p:nvSpPr>
          <p:cNvPr id="14" name="Shape 12"/>
          <p:cNvSpPr/>
          <p:nvPr/>
        </p:nvSpPr>
        <p:spPr>
          <a:xfrm>
            <a:off x="5440680" y="2651760"/>
            <a:ext cx="3017520" cy="2743200"/>
          </a:xfrm>
          <a:prstGeom prst="roundRect">
            <a:avLst>
              <a:gd name="adj" fmla="val 2667"/>
            </a:avLst>
          </a:prstGeom>
          <a:solidFill>
            <a:srgbClr val="131B2E"/>
          </a:solidFill>
          <a:ln w="15875">
            <a:solidFill>
              <a:srgbClr val="F28B9A"/>
            </a:solidFill>
            <a:prstDash val="solid"/>
          </a:ln>
        </p:spPr>
      </p:sp>
      <p:sp>
        <p:nvSpPr>
          <p:cNvPr id="15" name="Text 13"/>
          <p:cNvSpPr/>
          <p:nvPr/>
        </p:nvSpPr>
        <p:spPr>
          <a:xfrm>
            <a:off x="5623560" y="2761488"/>
            <a:ext cx="2651760" cy="365760"/>
          </a:xfrm>
          <a:prstGeom prst="rect">
            <a:avLst/>
          </a:prstGeom>
          <a:noFill/>
          <a:ln/>
        </p:spPr>
        <p:txBody>
          <a:bodyPr wrap="square" lIns="25400" tIns="25400" rIns="25400" bIns="25400" rtlCol="0" anchor="ctr"/>
          <a:lstStyle/>
          <a:p>
            <a:pPr marL="0" indent="0" algn="l">
              <a:buNone/>
            </a:pPr>
            <a:r>
              <a:rPr lang="en-US" sz="1300" b="1" dirty="0">
                <a:solidFill>
                  <a:srgbClr val="F28B9A"/>
                </a:solidFill>
                <a:latin typeface="Segoe UI" pitchFamily="34" charset="0"/>
                <a:ea typeface="Segoe UI" pitchFamily="34" charset="-122"/>
                <a:cs typeface="Segoe UI" pitchFamily="34" charset="-120"/>
              </a:rPr>
              <a:t>Chỉ xoá cookie</a:t>
            </a:r>
            <a:endParaRPr lang="en-US" sz="1300" dirty="0"/>
          </a:p>
        </p:txBody>
      </p:sp>
      <p:sp>
        <p:nvSpPr>
          <p:cNvPr id="16" name="Text 14"/>
          <p:cNvSpPr/>
          <p:nvPr/>
        </p:nvSpPr>
        <p:spPr>
          <a:xfrm>
            <a:off x="5623560" y="3246120"/>
            <a:ext cx="26517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8F9BB3"/>
                </a:solidFill>
                <a:latin typeface="Segoe UI" pitchFamily="34" charset="0"/>
                <a:ea typeface="Segoe UI" pitchFamily="34" charset="-122"/>
                <a:cs typeface="Segoe UI" pitchFamily="34" charset="-120"/>
              </a:rPr>
              <a:t>Cookie: đã hết hạn</a:t>
            </a:r>
            <a:endParaRPr lang="en-US" sz="1100" dirty="0"/>
          </a:p>
        </p:txBody>
      </p:sp>
      <p:sp>
        <p:nvSpPr>
          <p:cNvPr id="17" name="Text 15"/>
          <p:cNvSpPr/>
          <p:nvPr/>
        </p:nvSpPr>
        <p:spPr>
          <a:xfrm>
            <a:off x="5623560" y="3840480"/>
            <a:ext cx="2651760" cy="502920"/>
          </a:xfrm>
          <a:prstGeom prst="roundRect">
            <a:avLst>
              <a:gd name="adj" fmla="val 14545"/>
            </a:avLst>
          </a:prstGeom>
          <a:solidFill>
            <a:srgbClr val="4D2530"/>
          </a:solidFill>
          <a:ln w="12700">
            <a:solidFill>
              <a:srgbClr val="F28B9A"/>
            </a:solidFill>
            <a:prstDash val="solid"/>
          </a:ln>
        </p:spPr>
        <p:txBody>
          <a:bodyPr wrap="square" lIns="76200" tIns="76200" rIns="76200" bIns="76200" rtlCol="0" anchor="ctr"/>
          <a:lstStyle/>
          <a:p>
            <a:pPr marL="0" indent="0" algn="ctr">
              <a:buNone/>
            </a:pPr>
            <a:r>
              <a:rPr lang="en-US" sz="1100" dirty="0">
                <a:solidFill>
                  <a:srgbClr val="F28B9A"/>
                </a:solidFill>
                <a:latin typeface="Segoe UI" pitchFamily="34" charset="0"/>
                <a:ea typeface="Segoe UI" pitchFamily="34" charset="-122"/>
                <a:cs typeface="Segoe UI" pitchFamily="34" charset="-120"/>
              </a:rPr>
              <a:t>Session store: CÒN SỐNG</a:t>
            </a:r>
            <a:endParaRPr lang="en-US" sz="1100" dirty="0"/>
          </a:p>
        </p:txBody>
      </p:sp>
      <p:sp>
        <p:nvSpPr>
          <p:cNvPr id="18" name="Text 16"/>
          <p:cNvSpPr/>
          <p:nvPr/>
        </p:nvSpPr>
        <p:spPr>
          <a:xfrm>
            <a:off x="5623560" y="4434840"/>
            <a:ext cx="2651760" cy="868680"/>
          </a:xfrm>
          <a:prstGeom prst="rect">
            <a:avLst/>
          </a:prstGeom>
          <a:noFill/>
          <a:ln/>
        </p:spPr>
        <p:txBody>
          <a:bodyPr wrap="square" lIns="25400" tIns="25400" rIns="25400" bIns="25400" rtlCol="0" anchor="t"/>
          <a:lstStyle/>
          <a:p>
            <a:pPr marL="0" indent="0" algn="l">
              <a:buNone/>
            </a:pPr>
            <a:r>
              <a:rPr lang="en-US" sz="1100" dirty="0">
                <a:solidFill>
                  <a:srgbClr val="E8ECF5"/>
                </a:solidFill>
                <a:latin typeface="Segoe UI" pitchFamily="34" charset="0"/>
                <a:ea typeface="Segoe UI" pitchFamily="34" charset="-122"/>
                <a:cs typeface="Segoe UI" pitchFamily="34" charset="-120"/>
              </a:rPr>
              <a:t>Bản sao session ID vẫn dùng được.</a:t>
            </a:r>
            <a:endParaRPr lang="en-US" sz="1100" dirty="0"/>
          </a:p>
        </p:txBody>
      </p:sp>
      <p:sp>
        <p:nvSpPr>
          <p:cNvPr id="19" name="Shape 17"/>
          <p:cNvSpPr/>
          <p:nvPr/>
        </p:nvSpPr>
        <p:spPr>
          <a:xfrm>
            <a:off x="8686800" y="2651760"/>
            <a:ext cx="3017520" cy="2743200"/>
          </a:xfrm>
          <a:prstGeom prst="roundRect">
            <a:avLst>
              <a:gd name="adj" fmla="val 2667"/>
            </a:avLst>
          </a:prstGeom>
          <a:solidFill>
            <a:srgbClr val="131B2E"/>
          </a:solidFill>
          <a:ln w="15875">
            <a:solidFill>
              <a:srgbClr val="6EE7B7"/>
            </a:solidFill>
            <a:prstDash val="solid"/>
          </a:ln>
        </p:spPr>
      </p:sp>
      <p:sp>
        <p:nvSpPr>
          <p:cNvPr id="20" name="Text 18"/>
          <p:cNvSpPr/>
          <p:nvPr/>
        </p:nvSpPr>
        <p:spPr>
          <a:xfrm>
            <a:off x="8869680" y="2761488"/>
            <a:ext cx="2651760" cy="365760"/>
          </a:xfrm>
          <a:prstGeom prst="rect">
            <a:avLst/>
          </a:prstGeom>
          <a:noFill/>
          <a:ln/>
        </p:spPr>
        <p:txBody>
          <a:bodyPr wrap="square" lIns="25400" tIns="25400" rIns="25400" bIns="25400" rtlCol="0" anchor="ctr"/>
          <a:lstStyle/>
          <a:p>
            <a:pPr marL="0" indent="0" algn="l">
              <a:buNone/>
            </a:pPr>
            <a:r>
              <a:rPr lang="en-US" sz="1300" b="1" dirty="0">
                <a:solidFill>
                  <a:srgbClr val="6EE7B7"/>
                </a:solidFill>
                <a:latin typeface="Segoe UI" pitchFamily="34" charset="0"/>
                <a:ea typeface="Segoe UI" pitchFamily="34" charset="-122"/>
                <a:cs typeface="Segoe UI" pitchFamily="34" charset="-120"/>
              </a:rPr>
              <a:t>Huỷ session phía server</a:t>
            </a:r>
            <a:endParaRPr lang="en-US" sz="1300" dirty="0"/>
          </a:p>
        </p:txBody>
      </p:sp>
      <p:sp>
        <p:nvSpPr>
          <p:cNvPr id="21" name="Text 19"/>
          <p:cNvSpPr/>
          <p:nvPr/>
        </p:nvSpPr>
        <p:spPr>
          <a:xfrm>
            <a:off x="8869680" y="3246120"/>
            <a:ext cx="2651760" cy="457200"/>
          </a:xfrm>
          <a:prstGeom prst="roundRect">
            <a:avLst>
              <a:gd name="adj" fmla="val 16000"/>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8F9BB3"/>
                </a:solidFill>
                <a:latin typeface="Segoe UI" pitchFamily="34" charset="0"/>
                <a:ea typeface="Segoe UI" pitchFamily="34" charset="-122"/>
                <a:cs typeface="Segoe UI" pitchFamily="34" charset="-120"/>
              </a:rPr>
              <a:t>Cookie: đã hết hạn</a:t>
            </a:r>
            <a:endParaRPr lang="en-US" sz="1100" dirty="0"/>
          </a:p>
        </p:txBody>
      </p:sp>
      <p:sp>
        <p:nvSpPr>
          <p:cNvPr id="22" name="Text 20"/>
          <p:cNvSpPr/>
          <p:nvPr/>
        </p:nvSpPr>
        <p:spPr>
          <a:xfrm>
            <a:off x="8869680" y="3840480"/>
            <a:ext cx="2651760" cy="502920"/>
          </a:xfrm>
          <a:prstGeom prst="roundRect">
            <a:avLst>
              <a:gd name="adj" fmla="val 14545"/>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100" dirty="0">
                <a:solidFill>
                  <a:srgbClr val="6EE7B7"/>
                </a:solidFill>
                <a:latin typeface="Segoe UI" pitchFamily="34" charset="0"/>
                <a:ea typeface="Segoe UI" pitchFamily="34" charset="-122"/>
                <a:cs typeface="Segoe UI" pitchFamily="34" charset="-120"/>
              </a:rPr>
              <a:t>Session store: ĐÃ XOÁ</a:t>
            </a:r>
            <a:endParaRPr lang="en-US" sz="1100" dirty="0"/>
          </a:p>
        </p:txBody>
      </p:sp>
      <p:sp>
        <p:nvSpPr>
          <p:cNvPr id="23" name="Text 21"/>
          <p:cNvSpPr/>
          <p:nvPr/>
        </p:nvSpPr>
        <p:spPr>
          <a:xfrm>
            <a:off x="8869680" y="4434840"/>
            <a:ext cx="2651760" cy="868680"/>
          </a:xfrm>
          <a:prstGeom prst="rect">
            <a:avLst/>
          </a:prstGeom>
          <a:noFill/>
          <a:ln/>
        </p:spPr>
        <p:txBody>
          <a:bodyPr wrap="square" lIns="25400" tIns="25400" rIns="25400" bIns="25400" rtlCol="0" anchor="t"/>
          <a:lstStyle/>
          <a:p>
            <a:pPr marL="0" indent="0" algn="l">
              <a:buNone/>
            </a:pPr>
            <a:r>
              <a:rPr lang="en-US" sz="1100" dirty="0">
                <a:solidFill>
                  <a:srgbClr val="E8ECF5"/>
                </a:solidFill>
                <a:latin typeface="Segoe UI" pitchFamily="34" charset="0"/>
                <a:ea typeface="Segoe UI" pitchFamily="34" charset="-122"/>
                <a:cs typeface="Segoe UI" pitchFamily="34" charset="-120"/>
              </a:rPr>
              <a:t>Mọi bản sao ID đều vô giá trị → 401.</a:t>
            </a:r>
            <a:endParaRPr lang="en-US" sz="1100" dirty="0"/>
          </a:p>
        </p:txBody>
      </p:sp>
      <p:sp>
        <p:nvSpPr>
          <p:cNvPr id="24" name="Text 22"/>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marL="0" indent="0" algn="ctr">
              <a:buNone/>
            </a:pPr>
            <a:r>
              <a:rPr lang="en-US" sz="1500" b="1" u="sng" dirty="0">
                <a:solidFill>
                  <a:srgbClr val="111329"/>
                </a:solidFill>
                <a:latin typeface="Segoe UI" pitchFamily="34" charset="0"/>
                <a:ea typeface="Segoe UI" pitchFamily="34" charset="-122"/>
                <a:cs typeface="Segoe UI" pitchFamily="34" charset="-120"/>
                <a:hlinkClick r:id="rId3" tooltip="http://localhost:5173/demo/session/logout-lab">
                  <a:extLst>
                    <a:ext uri="{A12FA001-AC4F-418D-AE19-62706E023703}">
                      <ahyp:hlinkClr xmlns:ahyp="http://schemas.microsoft.com/office/drawing/2018/hyperlinkcolor" val="tx"/>
                    </a:ext>
                  </a:extLst>
                </a:hlinkClick>
              </a:rPr>
              <a:t>Mở Logout Demo ↗</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SESSION  ·  SLIDE 14/33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CSRF và XSS không giống nhau</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​CSRF: cookie tự gửi, attacker không thấy.</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​XSS: script trong origin gọi API như user.</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HttpOnly</a:t>
            </a:r>
            <a:r>
              <a:rPr lang="en-US" sz="1800" dirty="0">
                <a:solidFill>
                  <a:srgbClr val="E8ECF5"/>
                </a:solidFill>
                <a:latin typeface="Segoe UI" pitchFamily="34" charset="0"/>
                <a:ea typeface="Segoe UI" pitchFamily="34" charset="-122"/>
                <a:cs typeface="Segoe UI" pitchFamily="34" charset="-120"/>
              </a:rPr>
              <a:t> không chặn XSS gọi API.</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SameSite</a:t>
            </a:r>
            <a:r>
              <a:rPr lang="en-US" sz="1800" dirty="0">
                <a:solidFill>
                  <a:srgbClr val="E8ECF5"/>
                </a:solidFill>
                <a:latin typeface="Segoe UI" pitchFamily="34" charset="0"/>
                <a:ea typeface="Segoe UI" pitchFamily="34" charset="-122"/>
                <a:cs typeface="Segoe UI" pitchFamily="34" charset="-120"/>
              </a:rPr>
              <a:t> ≠ CSRF token / Origin.</a:t>
            </a:r>
            <a:endParaRPr lang="en-US" sz="1800" dirty="0"/>
          </a:p>
        </p:txBody>
      </p:sp>
      <p:sp>
        <p:nvSpPr>
          <p:cNvPr id="7" name="Shape 5"/>
          <p:cNvSpPr/>
          <p:nvPr/>
        </p:nvSpPr>
        <p:spPr>
          <a:xfrm>
            <a:off x="5440680" y="1463040"/>
            <a:ext cx="2994660" cy="4114800"/>
          </a:xfrm>
          <a:prstGeom prst="roundRect">
            <a:avLst>
              <a:gd name="adj" fmla="val 2443"/>
            </a:avLst>
          </a:prstGeom>
          <a:solidFill>
            <a:srgbClr val="131B2E"/>
          </a:solidFill>
          <a:ln w="15875">
            <a:solidFill>
              <a:srgbClr val="F5A65B"/>
            </a:solidFill>
            <a:prstDash val="solid"/>
          </a:ln>
        </p:spPr>
      </p:sp>
      <p:sp>
        <p:nvSpPr>
          <p:cNvPr id="8" name="Text 6"/>
          <p:cNvSpPr/>
          <p:nvPr/>
        </p:nvSpPr>
        <p:spPr>
          <a:xfrm>
            <a:off x="5623560" y="1554480"/>
            <a:ext cx="2628900" cy="411480"/>
          </a:xfrm>
          <a:prstGeom prst="rect">
            <a:avLst/>
          </a:prstGeom>
          <a:noFill/>
          <a:ln/>
        </p:spPr>
        <p:txBody>
          <a:bodyPr wrap="square" lIns="25400" tIns="25400" rIns="25400" bIns="25400" rtlCol="0" anchor="ctr"/>
          <a:lstStyle/>
          <a:p>
            <a:pPr marL="0" indent="0" algn="l">
              <a:buNone/>
            </a:pPr>
            <a:r>
              <a:rPr lang="en-US" sz="1500" b="1" dirty="0">
                <a:solidFill>
                  <a:srgbClr val="F5A65B"/>
                </a:solidFill>
                <a:latin typeface="Segoe UI" pitchFamily="34" charset="0"/>
                <a:ea typeface="Segoe UI" pitchFamily="34" charset="-122"/>
                <a:cs typeface="Segoe UI" pitchFamily="34" charset="-120"/>
              </a:rPr>
              <a:t>CSRF</a:t>
            </a:r>
            <a:endParaRPr lang="en-US" sz="1500" dirty="0"/>
          </a:p>
        </p:txBody>
      </p:sp>
      <p:sp>
        <p:nvSpPr>
          <p:cNvPr id="9" name="Text 7"/>
          <p:cNvSpPr/>
          <p:nvPr/>
        </p:nvSpPr>
        <p:spPr>
          <a:xfrm>
            <a:off x="5715000" y="210312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E8ECF5"/>
                </a:solidFill>
                <a:latin typeface="Segoe UI" pitchFamily="34" charset="0"/>
                <a:ea typeface="Segoe UI" pitchFamily="34" charset="-122"/>
                <a:cs typeface="Segoe UI" pitchFamily="34" charset="-120"/>
              </a:rPr>
              <a:t>evil.example</a:t>
            </a:r>
            <a:endParaRPr lang="en-US" sz="1100" dirty="0"/>
          </a:p>
        </p:txBody>
      </p:sp>
      <p:sp>
        <p:nvSpPr>
          <p:cNvPr id="10" name="Shape 8"/>
          <p:cNvSpPr/>
          <p:nvPr/>
        </p:nvSpPr>
        <p:spPr>
          <a:xfrm>
            <a:off x="6938010" y="2606040"/>
            <a:ext cx="0" cy="457200"/>
          </a:xfrm>
          <a:prstGeom prst="line">
            <a:avLst/>
          </a:prstGeom>
          <a:noFill/>
          <a:ln w="19050">
            <a:solidFill>
              <a:srgbClr val="F5A65B"/>
            </a:solidFill>
            <a:prstDash val="solid"/>
            <a:tailEnd type="triangle"/>
          </a:ln>
        </p:spPr>
      </p:sp>
      <p:sp>
        <p:nvSpPr>
          <p:cNvPr id="11" name="Text 9"/>
          <p:cNvSpPr/>
          <p:nvPr/>
        </p:nvSpPr>
        <p:spPr>
          <a:xfrm>
            <a:off x="7011162" y="2651760"/>
            <a:ext cx="1314450" cy="36576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form POST</a:t>
            </a:r>
            <a:endParaRPr lang="en-US" sz="950" dirty="0"/>
          </a:p>
        </p:txBody>
      </p:sp>
      <p:sp>
        <p:nvSpPr>
          <p:cNvPr id="12" name="Text 10"/>
          <p:cNvSpPr/>
          <p:nvPr/>
        </p:nvSpPr>
        <p:spPr>
          <a:xfrm>
            <a:off x="5715000" y="306324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E8ECF5"/>
                </a:solidFill>
                <a:latin typeface="Segoe UI" pitchFamily="34" charset="0"/>
                <a:ea typeface="Segoe UI" pitchFamily="34" charset="-122"/>
                <a:cs typeface="Segoe UI" pitchFamily="34" charset="-120"/>
              </a:rPr>
              <a:t>Browser (đã login)</a:t>
            </a:r>
            <a:endParaRPr lang="en-US" sz="1100" dirty="0"/>
          </a:p>
        </p:txBody>
      </p:sp>
      <p:sp>
        <p:nvSpPr>
          <p:cNvPr id="13" name="Shape 11"/>
          <p:cNvSpPr/>
          <p:nvPr/>
        </p:nvSpPr>
        <p:spPr>
          <a:xfrm>
            <a:off x="6938010" y="3566160"/>
            <a:ext cx="0" cy="457200"/>
          </a:xfrm>
          <a:prstGeom prst="line">
            <a:avLst/>
          </a:prstGeom>
          <a:noFill/>
          <a:ln w="19050">
            <a:solidFill>
              <a:srgbClr val="F5A65B"/>
            </a:solidFill>
            <a:prstDash val="solid"/>
            <a:tailEnd type="triangle"/>
          </a:ln>
        </p:spPr>
      </p:sp>
      <p:sp>
        <p:nvSpPr>
          <p:cNvPr id="14" name="Text 12"/>
          <p:cNvSpPr/>
          <p:nvPr/>
        </p:nvSpPr>
        <p:spPr>
          <a:xfrm>
            <a:off x="7011162" y="3611880"/>
            <a:ext cx="1314450" cy="36576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cookie tự gửi</a:t>
            </a:r>
            <a:endParaRPr lang="en-US" sz="950" dirty="0"/>
          </a:p>
        </p:txBody>
      </p:sp>
      <p:sp>
        <p:nvSpPr>
          <p:cNvPr id="15" name="Text 13"/>
          <p:cNvSpPr/>
          <p:nvPr/>
        </p:nvSpPr>
        <p:spPr>
          <a:xfrm>
            <a:off x="5715000" y="402336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DevHub API</a:t>
            </a:r>
            <a:endParaRPr lang="en-US" sz="1100" dirty="0"/>
          </a:p>
        </p:txBody>
      </p:sp>
      <p:sp>
        <p:nvSpPr>
          <p:cNvPr id="16" name="Text 14"/>
          <p:cNvSpPr/>
          <p:nvPr/>
        </p:nvSpPr>
        <p:spPr>
          <a:xfrm>
            <a:off x="5623560" y="4617720"/>
            <a:ext cx="2628900" cy="868680"/>
          </a:xfrm>
          <a:prstGeom prst="rect">
            <a:avLst/>
          </a:prstGeom>
          <a:noFill/>
          <a:ln/>
        </p:spPr>
        <p:txBody>
          <a:bodyPr wrap="square" lIns="25400" tIns="25400" rIns="25400" bIns="25400" rtlCol="0" anchor="t"/>
          <a:lstStyle/>
          <a:p>
            <a:pPr marL="0" indent="0" algn="l">
              <a:buNone/>
            </a:pPr>
            <a:r>
              <a:rPr lang="en-US" sz="1000" dirty="0">
                <a:solidFill>
                  <a:srgbClr val="E8ECF5"/>
                </a:solidFill>
                <a:latin typeface="Segoe UI" pitchFamily="34" charset="0"/>
                <a:ea typeface="Segoe UI" pitchFamily="34" charset="-122"/>
                <a:cs typeface="Segoe UI" pitchFamily="34" charset="-120"/>
              </a:rPr>
              <a:t>Attacker không thấy cookie.</a:t>
            </a:r>
            <a:endParaRPr lang="en-US" sz="1000" dirty="0"/>
          </a:p>
          <a:p>
            <a:pPr marL="0" indent="0" algn="l">
              <a:buNone/>
            </a:pPr>
            <a:r>
              <a:rPr lang="en-US" sz="1000" dirty="0">
                <a:solidFill>
                  <a:srgbClr val="E8ECF5"/>
                </a:solidFill>
                <a:latin typeface="Segoe UI" pitchFamily="34" charset="0"/>
                <a:ea typeface="Segoe UI" pitchFamily="34" charset="-122"/>
                <a:cs typeface="Segoe UI" pitchFamily="34" charset="-120"/>
              </a:rPr>
              <a:t>Phòng vệ: SameSite, CSRF token, Origin.</a:t>
            </a:r>
            <a:endParaRPr lang="en-US" sz="1000" dirty="0"/>
          </a:p>
        </p:txBody>
      </p:sp>
      <p:sp>
        <p:nvSpPr>
          <p:cNvPr id="17" name="Shape 15"/>
          <p:cNvSpPr/>
          <p:nvPr/>
        </p:nvSpPr>
        <p:spPr>
          <a:xfrm>
            <a:off x="8709660" y="1463040"/>
            <a:ext cx="2994660" cy="4114800"/>
          </a:xfrm>
          <a:prstGeom prst="roundRect">
            <a:avLst>
              <a:gd name="adj" fmla="val 2443"/>
            </a:avLst>
          </a:prstGeom>
          <a:solidFill>
            <a:srgbClr val="131B2E"/>
          </a:solidFill>
          <a:ln w="15875">
            <a:solidFill>
              <a:srgbClr val="F28B9A"/>
            </a:solidFill>
            <a:prstDash val="solid"/>
          </a:ln>
        </p:spPr>
      </p:sp>
      <p:sp>
        <p:nvSpPr>
          <p:cNvPr id="18" name="Text 16"/>
          <p:cNvSpPr/>
          <p:nvPr/>
        </p:nvSpPr>
        <p:spPr>
          <a:xfrm>
            <a:off x="8892540" y="1554480"/>
            <a:ext cx="2628900" cy="411480"/>
          </a:xfrm>
          <a:prstGeom prst="rect">
            <a:avLst/>
          </a:prstGeom>
          <a:noFill/>
          <a:ln/>
        </p:spPr>
        <p:txBody>
          <a:bodyPr wrap="square" lIns="25400" tIns="25400" rIns="25400" bIns="25400" rtlCol="0" anchor="ctr"/>
          <a:lstStyle/>
          <a:p>
            <a:pPr marL="0" indent="0" algn="l">
              <a:buNone/>
            </a:pPr>
            <a:r>
              <a:rPr lang="en-US" sz="1500" b="1" dirty="0">
                <a:solidFill>
                  <a:srgbClr val="F28B9A"/>
                </a:solidFill>
                <a:latin typeface="Segoe UI" pitchFamily="34" charset="0"/>
                <a:ea typeface="Segoe UI" pitchFamily="34" charset="-122"/>
                <a:cs typeface="Segoe UI" pitchFamily="34" charset="-120"/>
              </a:rPr>
              <a:t>XSS</a:t>
            </a:r>
            <a:endParaRPr lang="en-US" sz="1500" dirty="0"/>
          </a:p>
        </p:txBody>
      </p:sp>
      <p:sp>
        <p:nvSpPr>
          <p:cNvPr id="19" name="Text 17"/>
          <p:cNvSpPr/>
          <p:nvPr/>
        </p:nvSpPr>
        <p:spPr>
          <a:xfrm>
            <a:off x="8983980" y="210312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E8ECF5"/>
                </a:solidFill>
                <a:latin typeface="Segoe UI" pitchFamily="34" charset="0"/>
                <a:ea typeface="Segoe UI" pitchFamily="34" charset="-122"/>
                <a:cs typeface="Segoe UI" pitchFamily="34" charset="-120"/>
              </a:rPr>
              <a:t>Script trong origin</a:t>
            </a:r>
            <a:endParaRPr lang="en-US" sz="1100" dirty="0"/>
          </a:p>
        </p:txBody>
      </p:sp>
      <p:sp>
        <p:nvSpPr>
          <p:cNvPr id="20" name="Shape 18"/>
          <p:cNvSpPr/>
          <p:nvPr/>
        </p:nvSpPr>
        <p:spPr>
          <a:xfrm>
            <a:off x="10206990" y="2606040"/>
            <a:ext cx="0" cy="457200"/>
          </a:xfrm>
          <a:prstGeom prst="line">
            <a:avLst/>
          </a:prstGeom>
          <a:noFill/>
          <a:ln w="19050">
            <a:solidFill>
              <a:srgbClr val="F28B9A"/>
            </a:solidFill>
            <a:prstDash val="solid"/>
            <a:tailEnd type="triangle"/>
          </a:ln>
        </p:spPr>
      </p:sp>
      <p:sp>
        <p:nvSpPr>
          <p:cNvPr id="21" name="Text 19"/>
          <p:cNvSpPr/>
          <p:nvPr/>
        </p:nvSpPr>
        <p:spPr>
          <a:xfrm>
            <a:off x="10280142" y="2651760"/>
            <a:ext cx="1314450" cy="36576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quyền của trang</a:t>
            </a:r>
            <a:endParaRPr lang="en-US" sz="950" dirty="0"/>
          </a:p>
        </p:txBody>
      </p:sp>
      <p:sp>
        <p:nvSpPr>
          <p:cNvPr id="22" name="Text 20"/>
          <p:cNvSpPr/>
          <p:nvPr/>
        </p:nvSpPr>
        <p:spPr>
          <a:xfrm>
            <a:off x="8983980" y="306324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E8ECF5"/>
                </a:solidFill>
                <a:latin typeface="Segoe UI" pitchFamily="34" charset="0"/>
                <a:ea typeface="Segoe UI" pitchFamily="34" charset="-122"/>
                <a:cs typeface="Segoe UI" pitchFamily="34" charset="-120"/>
              </a:rPr>
              <a:t>fetch /api như user</a:t>
            </a:r>
            <a:endParaRPr lang="en-US" sz="1100" dirty="0"/>
          </a:p>
        </p:txBody>
      </p:sp>
      <p:sp>
        <p:nvSpPr>
          <p:cNvPr id="23" name="Shape 21"/>
          <p:cNvSpPr/>
          <p:nvPr/>
        </p:nvSpPr>
        <p:spPr>
          <a:xfrm>
            <a:off x="10206990" y="3566160"/>
            <a:ext cx="0" cy="457200"/>
          </a:xfrm>
          <a:prstGeom prst="line">
            <a:avLst/>
          </a:prstGeom>
          <a:noFill/>
          <a:ln w="19050">
            <a:solidFill>
              <a:srgbClr val="F28B9A"/>
            </a:solidFill>
            <a:prstDash val="solid"/>
            <a:tailEnd type="triangle"/>
          </a:ln>
        </p:spPr>
      </p:sp>
      <p:sp>
        <p:nvSpPr>
          <p:cNvPr id="24" name="Text 22"/>
          <p:cNvSpPr/>
          <p:nvPr/>
        </p:nvSpPr>
        <p:spPr>
          <a:xfrm>
            <a:off x="10280142" y="3611880"/>
            <a:ext cx="1314450" cy="36576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cookie vẫn gửi</a:t>
            </a:r>
            <a:endParaRPr lang="en-US" sz="950" dirty="0"/>
          </a:p>
        </p:txBody>
      </p:sp>
      <p:sp>
        <p:nvSpPr>
          <p:cNvPr id="25" name="Text 23"/>
          <p:cNvSpPr/>
          <p:nvPr/>
        </p:nvSpPr>
        <p:spPr>
          <a:xfrm>
            <a:off x="8983980" y="4023360"/>
            <a:ext cx="2446020" cy="502920"/>
          </a:xfrm>
          <a:prstGeom prst="roundRect">
            <a:avLst>
              <a:gd name="adj" fmla="val 14545"/>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DevHub API</a:t>
            </a:r>
            <a:endParaRPr lang="en-US" sz="1100" dirty="0"/>
          </a:p>
        </p:txBody>
      </p:sp>
      <p:sp>
        <p:nvSpPr>
          <p:cNvPr id="26" name="Text 24"/>
          <p:cNvSpPr/>
          <p:nvPr/>
        </p:nvSpPr>
        <p:spPr>
          <a:xfrm>
            <a:off x="8892540" y="4617720"/>
            <a:ext cx="2628900" cy="868680"/>
          </a:xfrm>
          <a:prstGeom prst="rect">
            <a:avLst/>
          </a:prstGeom>
          <a:noFill/>
          <a:ln/>
        </p:spPr>
        <p:txBody>
          <a:bodyPr wrap="square" lIns="25400" tIns="25400" rIns="25400" bIns="25400" rtlCol="0" anchor="t"/>
          <a:lstStyle/>
          <a:p>
            <a:pPr marL="0" indent="0" algn="l">
              <a:buNone/>
            </a:pPr>
            <a:r>
              <a:rPr lang="en-US" sz="1000" dirty="0">
                <a:solidFill>
                  <a:srgbClr val="E8ECF5"/>
                </a:solidFill>
                <a:latin typeface="Segoe UI" pitchFamily="34" charset="0"/>
                <a:ea typeface="Segoe UI" pitchFamily="34" charset="-122"/>
                <a:cs typeface="Segoe UI" pitchFamily="34" charset="-120"/>
              </a:rPr>
              <a:t>HttpOnly chỉ chặn đọc cookie.</a:t>
            </a:r>
            <a:endParaRPr lang="en-US" sz="1000" dirty="0"/>
          </a:p>
          <a:p>
            <a:pPr marL="0" indent="0" algn="l">
              <a:buNone/>
            </a:pPr>
            <a:r>
              <a:rPr lang="en-US" sz="1000" dirty="0">
                <a:solidFill>
                  <a:srgbClr val="E8ECF5"/>
                </a:solidFill>
                <a:latin typeface="Segoe UI" pitchFamily="34" charset="0"/>
                <a:ea typeface="Segoe UI" pitchFamily="34" charset="-122"/>
                <a:cs typeface="Segoe UI" pitchFamily="34" charset="-120"/>
              </a:rPr>
              <a:t>Phòng vệ: encoding, CSP, sanitize.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DB3FF"/>
          </a:solidFill>
          <a:ln w="12700">
            <a:solidFill>
              <a:srgbClr val="7DB3FF"/>
            </a:solidFill>
            <a:prstDash val="solid"/>
          </a:ln>
        </p:spPr>
      </p:sp>
      <p:sp>
        <p:nvSpPr>
          <p:cNvPr id="3" name="Text 1"/>
          <p:cNvSpPr/>
          <p:nvPr/>
        </p:nvSpPr>
        <p:spPr>
          <a:xfrm>
            <a:off x="822960" y="1828800"/>
            <a:ext cx="5486400" cy="320040"/>
          </a:xfrm>
          <a:prstGeom prst="rect">
            <a:avLst/>
          </a:prstGeom>
          <a:noFill/>
          <a:ln/>
        </p:spPr>
        <p:txBody>
          <a:bodyPr wrap="square" lIns="25400" tIns="25400" rIns="25400" bIns="25400" rtlCol="0" anchor="ctr"/>
          <a:lstStyle/>
          <a:p>
            <a:pPr marL="0" indent="0" algn="l">
              <a:buNone/>
            </a:pPr>
            <a:r>
              <a:rPr lang="en-US" sz="1400" b="1" dirty="0">
                <a:solidFill>
                  <a:srgbClr val="7DB3FF"/>
                </a:solidFill>
                <a:latin typeface="Consolas" pitchFamily="34" charset="0"/>
                <a:ea typeface="Consolas" pitchFamily="34" charset="-122"/>
                <a:cs typeface="Consolas" pitchFamily="34" charset="-120"/>
              </a:rPr>
              <a:t>PHẦN 04 / 06</a:t>
            </a:r>
            <a:endParaRPr lang="en-US" sz="1400" dirty="0"/>
          </a:p>
        </p:txBody>
      </p:sp>
      <p:sp>
        <p:nvSpPr>
          <p:cNvPr id="4" name="Text 2"/>
          <p:cNvSpPr/>
          <p:nvPr/>
        </p:nvSpPr>
        <p:spPr>
          <a:xfrm>
            <a:off x="822960" y="2286000"/>
            <a:ext cx="10515600" cy="1005840"/>
          </a:xfrm>
          <a:prstGeom prst="rect">
            <a:avLst/>
          </a:prstGeom>
          <a:noFill/>
          <a:ln/>
        </p:spPr>
        <p:txBody>
          <a:bodyPr wrap="square" lIns="25400" tIns="25400" rIns="25400" bIns="25400" rtlCol="0" anchor="ctr"/>
          <a:lstStyle/>
          <a:p>
            <a:pPr marL="0" indent="0" algn="l">
              <a:buNone/>
            </a:pPr>
            <a:r>
              <a:rPr lang="en-US" sz="5400" b="1" dirty="0">
                <a:solidFill>
                  <a:srgbClr val="E8ECF5"/>
                </a:solidFill>
                <a:latin typeface="Segoe UI" pitchFamily="34" charset="0"/>
                <a:ea typeface="Segoe UI" pitchFamily="34" charset="-122"/>
                <a:cs typeface="Segoe UI" pitchFamily="34" charset="-120"/>
              </a:rPr>
              <a:t>JWT &amp; tokens</a:t>
            </a:r>
            <a:endParaRPr lang="en-US" sz="5400" dirty="0"/>
          </a:p>
        </p:txBody>
      </p:sp>
      <p:sp>
        <p:nvSpPr>
          <p:cNvPr id="5" name="Text 3"/>
          <p:cNvSpPr/>
          <p:nvPr/>
        </p:nvSpPr>
        <p:spPr>
          <a:xfrm>
            <a:off x="822960" y="3383280"/>
            <a:ext cx="10515600" cy="548640"/>
          </a:xfrm>
          <a:prstGeom prst="rect">
            <a:avLst/>
          </a:prstGeom>
          <a:noFill/>
          <a:ln/>
        </p:spPr>
        <p:txBody>
          <a:bodyPr wrap="square" lIns="25400" tIns="25400" rIns="25400" bIns="25400" rtlCol="0" anchor="ctr"/>
          <a:lstStyle/>
          <a:p>
            <a:pPr marL="0" indent="0" algn="l">
              <a:buNone/>
            </a:pPr>
            <a:r>
              <a:rPr lang="en-US" sz="2200" i="1" dirty="0">
                <a:solidFill>
                  <a:srgbClr val="8F9BB3"/>
                </a:solidFill>
                <a:latin typeface="Segoe UI" pitchFamily="34" charset="0"/>
                <a:ea typeface="Segoe UI" pitchFamily="34" charset="-122"/>
                <a:cs typeface="Segoe UI" pitchFamily="34" charset="-120"/>
              </a:rPr>
              <a:t>Đọc được payload có nghĩa là tin được payload không?</a:t>
            </a:r>
            <a:endParaRPr lang="en-US" sz="2200" dirty="0"/>
          </a:p>
        </p:txBody>
      </p:sp>
      <p:sp>
        <p:nvSpPr>
          <p:cNvPr id="6" name="Shape 4"/>
          <p:cNvSpPr/>
          <p:nvPr/>
        </p:nvSpPr>
        <p:spPr>
          <a:xfrm>
            <a:off x="822960" y="5989320"/>
            <a:ext cx="1643329" cy="64008"/>
          </a:xfrm>
          <a:prstGeom prst="rect">
            <a:avLst/>
          </a:prstGeom>
          <a:solidFill>
            <a:srgbClr val="2A3651"/>
          </a:solidFill>
          <a:ln w="12700">
            <a:solidFill>
              <a:srgbClr val="2A3651"/>
            </a:solidFill>
            <a:prstDash val="solid"/>
          </a:ln>
        </p:spPr>
      </p:sp>
      <p:sp>
        <p:nvSpPr>
          <p:cNvPr id="7" name="Text 5"/>
          <p:cNvSpPr/>
          <p:nvPr/>
        </p:nvSpPr>
        <p:spPr>
          <a:xfrm>
            <a:off x="822960"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01 AuthN ≠ AuthZ</a:t>
            </a:r>
            <a:endParaRPr lang="en-US" sz="950" dirty="0"/>
          </a:p>
        </p:txBody>
      </p:sp>
      <p:sp>
        <p:nvSpPr>
          <p:cNvPr id="8" name="Shape 6"/>
          <p:cNvSpPr/>
          <p:nvPr/>
        </p:nvSpPr>
        <p:spPr>
          <a:xfrm>
            <a:off x="2603449" y="5989320"/>
            <a:ext cx="1643329" cy="64008"/>
          </a:xfrm>
          <a:prstGeom prst="rect">
            <a:avLst/>
          </a:prstGeom>
          <a:solidFill>
            <a:srgbClr val="2A3651"/>
          </a:solidFill>
          <a:ln w="12700">
            <a:solidFill>
              <a:srgbClr val="2A3651"/>
            </a:solidFill>
            <a:prstDash val="solid"/>
          </a:ln>
        </p:spPr>
      </p:sp>
      <p:sp>
        <p:nvSpPr>
          <p:cNvPr id="9" name="Text 7"/>
          <p:cNvSpPr/>
          <p:nvPr/>
        </p:nvSpPr>
        <p:spPr>
          <a:xfrm>
            <a:off x="2603449"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02 Password</a:t>
            </a:r>
            <a:endParaRPr lang="en-US" sz="950" dirty="0"/>
          </a:p>
        </p:txBody>
      </p:sp>
      <p:sp>
        <p:nvSpPr>
          <p:cNvPr id="10" name="Shape 8"/>
          <p:cNvSpPr/>
          <p:nvPr/>
        </p:nvSpPr>
        <p:spPr>
          <a:xfrm>
            <a:off x="4383938" y="5989320"/>
            <a:ext cx="1643329" cy="64008"/>
          </a:xfrm>
          <a:prstGeom prst="rect">
            <a:avLst/>
          </a:prstGeom>
          <a:solidFill>
            <a:srgbClr val="2A3651"/>
          </a:solidFill>
          <a:ln w="12700">
            <a:solidFill>
              <a:srgbClr val="2A3651"/>
            </a:solidFill>
            <a:prstDash val="solid"/>
          </a:ln>
        </p:spPr>
      </p:sp>
      <p:sp>
        <p:nvSpPr>
          <p:cNvPr id="11" name="Text 9"/>
          <p:cNvSpPr/>
          <p:nvPr/>
        </p:nvSpPr>
        <p:spPr>
          <a:xfrm>
            <a:off x="438393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03 Session &amp; cookie</a:t>
            </a:r>
            <a:endParaRPr lang="en-US" sz="950" dirty="0"/>
          </a:p>
        </p:txBody>
      </p:sp>
      <p:sp>
        <p:nvSpPr>
          <p:cNvPr id="12" name="Shape 10"/>
          <p:cNvSpPr/>
          <p:nvPr/>
        </p:nvSpPr>
        <p:spPr>
          <a:xfrm>
            <a:off x="6164428" y="5989320"/>
            <a:ext cx="1643329" cy="64008"/>
          </a:xfrm>
          <a:prstGeom prst="rect">
            <a:avLst/>
          </a:prstGeom>
          <a:solidFill>
            <a:srgbClr val="7DB3FF"/>
          </a:solidFill>
          <a:ln w="12700">
            <a:solidFill>
              <a:srgbClr val="7DB3FF"/>
            </a:solidFill>
            <a:prstDash val="solid"/>
          </a:ln>
        </p:spPr>
      </p:sp>
      <p:sp>
        <p:nvSpPr>
          <p:cNvPr id="13" name="Text 11"/>
          <p:cNvSpPr/>
          <p:nvPr/>
        </p:nvSpPr>
        <p:spPr>
          <a:xfrm>
            <a:off x="6164428" y="6108192"/>
            <a:ext cx="1643329" cy="274320"/>
          </a:xfrm>
          <a:prstGeom prst="rect">
            <a:avLst/>
          </a:prstGeom>
          <a:noFill/>
          <a:ln/>
        </p:spPr>
        <p:txBody>
          <a:bodyPr wrap="square" lIns="25400" tIns="25400" rIns="25400" bIns="25400" rtlCol="0" anchor="ctr"/>
          <a:lstStyle/>
          <a:p>
            <a:pPr marL="0" indent="0" algn="l">
              <a:buNone/>
            </a:pPr>
            <a:r>
              <a:rPr lang="en-US" sz="950" b="1" dirty="0">
                <a:solidFill>
                  <a:srgbClr val="7DB3FF"/>
                </a:solidFill>
                <a:latin typeface="Segoe UI" pitchFamily="34" charset="0"/>
                <a:ea typeface="Segoe UI" pitchFamily="34" charset="-122"/>
                <a:cs typeface="Segoe UI" pitchFamily="34" charset="-120"/>
              </a:rPr>
              <a:t>04 JWT &amp; tokens</a:t>
            </a:r>
            <a:endParaRPr lang="en-US" sz="950" dirty="0"/>
          </a:p>
        </p:txBody>
      </p:sp>
      <p:sp>
        <p:nvSpPr>
          <p:cNvPr id="14" name="Shape 12"/>
          <p:cNvSpPr/>
          <p:nvPr/>
        </p:nvSpPr>
        <p:spPr>
          <a:xfrm>
            <a:off x="7944917" y="5989320"/>
            <a:ext cx="1643329" cy="64008"/>
          </a:xfrm>
          <a:prstGeom prst="rect">
            <a:avLst/>
          </a:prstGeom>
          <a:solidFill>
            <a:srgbClr val="2A3651"/>
          </a:solidFill>
          <a:ln w="12700">
            <a:solidFill>
              <a:srgbClr val="2A3651"/>
            </a:solidFill>
            <a:prstDash val="solid"/>
          </a:ln>
        </p:spPr>
      </p:sp>
      <p:sp>
        <p:nvSpPr>
          <p:cNvPr id="15" name="Text 13"/>
          <p:cNvSpPr/>
          <p:nvPr/>
        </p:nvSpPr>
        <p:spPr>
          <a:xfrm>
            <a:off x="7944917"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05 OAuth / OIDC</a:t>
            </a:r>
            <a:endParaRPr lang="en-US" sz="950" dirty="0"/>
          </a:p>
        </p:txBody>
      </p:sp>
      <p:sp>
        <p:nvSpPr>
          <p:cNvPr id="16" name="Shape 14"/>
          <p:cNvSpPr/>
          <p:nvPr/>
        </p:nvSpPr>
        <p:spPr>
          <a:xfrm>
            <a:off x="9725406" y="5989320"/>
            <a:ext cx="1643329" cy="64008"/>
          </a:xfrm>
          <a:prstGeom prst="rect">
            <a:avLst/>
          </a:prstGeom>
          <a:solidFill>
            <a:srgbClr val="2A3651"/>
          </a:solidFill>
          <a:ln w="12700">
            <a:solidFill>
              <a:srgbClr val="2A3651"/>
            </a:solidFill>
            <a:prstDash val="solid"/>
          </a:ln>
        </p:spPr>
      </p:sp>
      <p:sp>
        <p:nvSpPr>
          <p:cNvPr id="17" name="Text 15"/>
          <p:cNvSpPr/>
          <p:nvPr/>
        </p:nvSpPr>
        <p:spPr>
          <a:xfrm>
            <a:off x="9725406"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06 Lựa chọn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JWT  ·  SLIDE 16/33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JWT: ba phần, ba ý nghĩa</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header.payload.signature</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​Payload là Base64URL, không mã hoá.</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​Decode ≠ verify.</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​Chữ ký chỉ có giá trị khi server verify.</a:t>
            </a:r>
            <a:endParaRPr lang="en-US" sz="1800" dirty="0"/>
          </a:p>
        </p:txBody>
      </p:sp>
      <p:sp>
        <p:nvSpPr>
          <p:cNvPr id="7" name="Text 5"/>
          <p:cNvSpPr/>
          <p:nvPr/>
        </p:nvSpPr>
        <p:spPr>
          <a:xfrm>
            <a:off x="5440680" y="1463040"/>
            <a:ext cx="1996440" cy="274320"/>
          </a:xfrm>
          <a:prstGeom prst="rect">
            <a:avLst/>
          </a:prstGeom>
          <a:noFill/>
          <a:ln/>
        </p:spPr>
        <p:txBody>
          <a:bodyPr wrap="square" lIns="25400" tIns="25400" rIns="25400" bIns="25400" rtlCol="0" anchor="ctr"/>
          <a:lstStyle/>
          <a:p>
            <a:pPr marL="0" indent="0" algn="ctr">
              <a:buNone/>
            </a:pPr>
            <a:r>
              <a:rPr lang="en-US" sz="1050" b="1" dirty="0">
                <a:solidFill>
                  <a:srgbClr val="B5A5FF"/>
                </a:solidFill>
                <a:latin typeface="Segoe UI" pitchFamily="34" charset="0"/>
                <a:ea typeface="Segoe UI" pitchFamily="34" charset="-122"/>
                <a:cs typeface="Segoe UI" pitchFamily="34" charset="-120"/>
              </a:rPr>
              <a:t>HEADER</a:t>
            </a:r>
            <a:endParaRPr lang="en-US" sz="1050" dirty="0"/>
          </a:p>
        </p:txBody>
      </p:sp>
      <p:sp>
        <p:nvSpPr>
          <p:cNvPr id="8" name="Text 6"/>
          <p:cNvSpPr/>
          <p:nvPr/>
        </p:nvSpPr>
        <p:spPr>
          <a:xfrm>
            <a:off x="5440680" y="1783080"/>
            <a:ext cx="1996440" cy="502920"/>
          </a:xfrm>
          <a:prstGeom prst="roundRect">
            <a:avLst>
              <a:gd name="adj" fmla="val 14545"/>
            </a:avLst>
          </a:prstGeom>
          <a:solidFill>
            <a:srgbClr val="182238"/>
          </a:solidFill>
          <a:ln w="12700">
            <a:solidFill>
              <a:srgbClr val="B5A5FF"/>
            </a:solidFill>
            <a:prstDash val="solid"/>
          </a:ln>
        </p:spPr>
        <p:txBody>
          <a:bodyPr wrap="square" lIns="76200" tIns="76200" rIns="76200" bIns="76200" rtlCol="0" anchor="ctr"/>
          <a:lstStyle/>
          <a:p>
            <a:pPr marL="0" indent="0" algn="ctr">
              <a:buNone/>
            </a:pPr>
            <a:r>
              <a:rPr lang="en-US" sz="1200" dirty="0">
                <a:solidFill>
                  <a:srgbClr val="B5A5FF"/>
                </a:solidFill>
                <a:latin typeface="Consolas" pitchFamily="34" charset="0"/>
                <a:ea typeface="Consolas" pitchFamily="34" charset="-122"/>
                <a:cs typeface="Consolas" pitchFamily="34" charset="-120"/>
              </a:rPr>
              <a:t>eyJhbGciOi…</a:t>
            </a:r>
            <a:endParaRPr lang="en-US" sz="1200" dirty="0"/>
          </a:p>
        </p:txBody>
      </p:sp>
      <p:sp>
        <p:nvSpPr>
          <p:cNvPr id="9" name="Text 7"/>
          <p:cNvSpPr/>
          <p:nvPr/>
        </p:nvSpPr>
        <p:spPr>
          <a:xfrm>
            <a:off x="54406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marL="0" indent="0" algn="l">
              <a:buNone/>
            </a:pPr>
            <a:r>
              <a:rPr lang="en-US" sz="1000" dirty="0">
                <a:solidFill>
                  <a:srgbClr val="E8ECF5"/>
                </a:solidFill>
                <a:latin typeface="Consolas" pitchFamily="34" charset="0"/>
                <a:ea typeface="Consolas" pitchFamily="34" charset="-122"/>
                <a:cs typeface="Consolas" pitchFamily="34" charset="-120"/>
              </a:rPr>
              <a:t>{ "alg": "HS256",</a:t>
            </a:r>
            <a:endParaRPr lang="en-US" sz="1000" dirty="0"/>
          </a:p>
          <a:p>
            <a:pPr marL="0" indent="0" algn="l">
              <a:buNone/>
            </a:pPr>
            <a:r>
              <a:rPr lang="en-US" sz="1000" dirty="0">
                <a:solidFill>
                  <a:srgbClr val="E8ECF5"/>
                </a:solidFill>
                <a:latin typeface="Consolas" pitchFamily="34" charset="0"/>
                <a:ea typeface="Consolas" pitchFamily="34" charset="-122"/>
                <a:cs typeface="Consolas" pitchFamily="34" charset="-120"/>
              </a:rPr>
              <a:t>  "typ": "JWT" }</a:t>
            </a:r>
            <a:endParaRPr lang="en-US" sz="1000" dirty="0"/>
          </a:p>
        </p:txBody>
      </p:sp>
      <p:sp>
        <p:nvSpPr>
          <p:cNvPr id="10" name="Text 8"/>
          <p:cNvSpPr/>
          <p:nvPr/>
        </p:nvSpPr>
        <p:spPr>
          <a:xfrm>
            <a:off x="7418832" y="1783080"/>
            <a:ext cx="173736" cy="502920"/>
          </a:xfrm>
          <a:prstGeom prst="rect">
            <a:avLst/>
          </a:prstGeom>
          <a:noFill/>
          <a:ln/>
        </p:spPr>
        <p:txBody>
          <a:bodyPr wrap="square" lIns="25400" tIns="25400" rIns="25400" bIns="25400" rtlCol="0" anchor="ctr"/>
          <a:lstStyle/>
          <a:p>
            <a:pPr marL="0" indent="0" algn="ctr">
              <a:buNone/>
            </a:pPr>
            <a:r>
              <a:rPr lang="en-US" sz="2200" b="1" dirty="0">
                <a:solidFill>
                  <a:srgbClr val="E8ECF5"/>
                </a:solidFill>
                <a:latin typeface="Segoe UI" pitchFamily="34" charset="0"/>
                <a:ea typeface="Segoe UI" pitchFamily="34" charset="-122"/>
                <a:cs typeface="Segoe UI" pitchFamily="34" charset="-120"/>
              </a:rPr>
              <a:t>.</a:t>
            </a:r>
            <a:endParaRPr lang="en-US" sz="2200" dirty="0"/>
          </a:p>
        </p:txBody>
      </p:sp>
      <p:sp>
        <p:nvSpPr>
          <p:cNvPr id="11" name="Text 9"/>
          <p:cNvSpPr/>
          <p:nvPr/>
        </p:nvSpPr>
        <p:spPr>
          <a:xfrm>
            <a:off x="7574280" y="1463040"/>
            <a:ext cx="1996440" cy="274320"/>
          </a:xfrm>
          <a:prstGeom prst="rect">
            <a:avLst/>
          </a:prstGeom>
          <a:noFill/>
          <a:ln/>
        </p:spPr>
        <p:txBody>
          <a:bodyPr wrap="square" lIns="25400" tIns="25400" rIns="25400" bIns="254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PAYLOAD</a:t>
            </a:r>
            <a:endParaRPr lang="en-US" sz="1050" dirty="0"/>
          </a:p>
        </p:txBody>
      </p:sp>
      <p:sp>
        <p:nvSpPr>
          <p:cNvPr id="12" name="Text 10"/>
          <p:cNvSpPr/>
          <p:nvPr/>
        </p:nvSpPr>
        <p:spPr>
          <a:xfrm>
            <a:off x="7574280" y="1783080"/>
            <a:ext cx="1996440"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200" dirty="0">
                <a:solidFill>
                  <a:srgbClr val="6EE7B7"/>
                </a:solidFill>
                <a:latin typeface="Consolas" pitchFamily="34" charset="0"/>
                <a:ea typeface="Consolas" pitchFamily="34" charset="-122"/>
                <a:cs typeface="Consolas" pitchFamily="34" charset="-120"/>
              </a:rPr>
              <a:t>eyJzdWIiOi…</a:t>
            </a:r>
            <a:endParaRPr lang="en-US" sz="1200" dirty="0"/>
          </a:p>
        </p:txBody>
      </p:sp>
      <p:sp>
        <p:nvSpPr>
          <p:cNvPr id="13" name="Text 11"/>
          <p:cNvSpPr/>
          <p:nvPr/>
        </p:nvSpPr>
        <p:spPr>
          <a:xfrm>
            <a:off x="75742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marL="0" indent="0" algn="l">
              <a:buNone/>
            </a:pPr>
            <a:r>
              <a:rPr lang="en-US" sz="1000" dirty="0">
                <a:solidFill>
                  <a:srgbClr val="E8ECF5"/>
                </a:solidFill>
                <a:latin typeface="Consolas" pitchFamily="34" charset="0"/>
                <a:ea typeface="Consolas" pitchFamily="34" charset="-122"/>
                <a:cs typeface="Consolas" pitchFamily="34" charset="-120"/>
              </a:rPr>
              <a:t>{ "sub": "user-123",</a:t>
            </a:r>
            <a:endParaRPr lang="en-US" sz="1000" dirty="0"/>
          </a:p>
          <a:p>
            <a:pPr marL="0" indent="0" algn="l">
              <a:buNone/>
            </a:pPr>
            <a:r>
              <a:rPr lang="en-US" sz="1000" dirty="0">
                <a:solidFill>
                  <a:srgbClr val="E8ECF5"/>
                </a:solidFill>
                <a:latin typeface="Consolas" pitchFamily="34" charset="0"/>
                <a:ea typeface="Consolas" pitchFamily="34" charset="-122"/>
                <a:cs typeface="Consolas" pitchFamily="34" charset="-120"/>
              </a:rPr>
              <a:t>  "role": "member",</a:t>
            </a:r>
            <a:endParaRPr lang="en-US" sz="1000" dirty="0"/>
          </a:p>
          <a:p>
            <a:pPr marL="0" indent="0" algn="l">
              <a:buNone/>
            </a:pPr>
            <a:r>
              <a:rPr lang="en-US" sz="1000" dirty="0">
                <a:solidFill>
                  <a:srgbClr val="E8ECF5"/>
                </a:solidFill>
                <a:latin typeface="Consolas" pitchFamily="34" charset="0"/>
                <a:ea typeface="Consolas" pitchFamily="34" charset="-122"/>
                <a:cs typeface="Consolas" pitchFamily="34" charset="-120"/>
              </a:rPr>
              <a:t>  "exp": 1792209470 }</a:t>
            </a:r>
            <a:endParaRPr lang="en-US" sz="1000" dirty="0"/>
          </a:p>
        </p:txBody>
      </p:sp>
      <p:sp>
        <p:nvSpPr>
          <p:cNvPr id="14" name="Text 12"/>
          <p:cNvSpPr/>
          <p:nvPr/>
        </p:nvSpPr>
        <p:spPr>
          <a:xfrm>
            <a:off x="9552432" y="1783080"/>
            <a:ext cx="173736" cy="502920"/>
          </a:xfrm>
          <a:prstGeom prst="rect">
            <a:avLst/>
          </a:prstGeom>
          <a:noFill/>
          <a:ln/>
        </p:spPr>
        <p:txBody>
          <a:bodyPr wrap="square" lIns="25400" tIns="25400" rIns="25400" bIns="25400" rtlCol="0" anchor="ctr"/>
          <a:lstStyle/>
          <a:p>
            <a:pPr marL="0" indent="0" algn="ctr">
              <a:buNone/>
            </a:pPr>
            <a:r>
              <a:rPr lang="en-US" sz="2200" b="1" dirty="0">
                <a:solidFill>
                  <a:srgbClr val="E8ECF5"/>
                </a:solidFill>
                <a:latin typeface="Segoe UI" pitchFamily="34" charset="0"/>
                <a:ea typeface="Segoe UI" pitchFamily="34" charset="-122"/>
                <a:cs typeface="Segoe UI" pitchFamily="34" charset="-120"/>
              </a:rPr>
              <a:t>.</a:t>
            </a:r>
            <a:endParaRPr lang="en-US" sz="2200" dirty="0"/>
          </a:p>
        </p:txBody>
      </p:sp>
      <p:sp>
        <p:nvSpPr>
          <p:cNvPr id="15" name="Text 13"/>
          <p:cNvSpPr/>
          <p:nvPr/>
        </p:nvSpPr>
        <p:spPr>
          <a:xfrm>
            <a:off x="9707880" y="1463040"/>
            <a:ext cx="1996440" cy="274320"/>
          </a:xfrm>
          <a:prstGeom prst="rect">
            <a:avLst/>
          </a:prstGeom>
          <a:noFill/>
          <a:ln/>
        </p:spPr>
        <p:txBody>
          <a:bodyPr wrap="square" lIns="25400" tIns="25400" rIns="25400" bIns="25400" rtlCol="0" anchor="ctr"/>
          <a:lstStyle/>
          <a:p>
            <a:pPr marL="0" indent="0" algn="ctr">
              <a:buNone/>
            </a:pPr>
            <a:r>
              <a:rPr lang="en-US" sz="1050" b="1" dirty="0">
                <a:solidFill>
                  <a:srgbClr val="F5A65B"/>
                </a:solidFill>
                <a:latin typeface="Segoe UI" pitchFamily="34" charset="0"/>
                <a:ea typeface="Segoe UI" pitchFamily="34" charset="-122"/>
                <a:cs typeface="Segoe UI" pitchFamily="34" charset="-120"/>
              </a:rPr>
              <a:t>SIGNATURE</a:t>
            </a:r>
            <a:endParaRPr lang="en-US" sz="1050" dirty="0"/>
          </a:p>
        </p:txBody>
      </p:sp>
      <p:sp>
        <p:nvSpPr>
          <p:cNvPr id="16" name="Text 14"/>
          <p:cNvSpPr/>
          <p:nvPr/>
        </p:nvSpPr>
        <p:spPr>
          <a:xfrm>
            <a:off x="9707880" y="1783080"/>
            <a:ext cx="1996440" cy="502920"/>
          </a:xfrm>
          <a:prstGeom prst="roundRect">
            <a:avLst>
              <a:gd name="adj" fmla="val 14545"/>
            </a:avLst>
          </a:prstGeom>
          <a:solidFill>
            <a:srgbClr val="182238"/>
          </a:solidFill>
          <a:ln w="12700">
            <a:solidFill>
              <a:srgbClr val="F5A65B"/>
            </a:solidFill>
            <a:prstDash val="solid"/>
          </a:ln>
        </p:spPr>
        <p:txBody>
          <a:bodyPr wrap="square" lIns="76200" tIns="76200" rIns="76200" bIns="76200" rtlCol="0" anchor="ctr"/>
          <a:lstStyle/>
          <a:p>
            <a:pPr marL="0" indent="0" algn="ctr">
              <a:buNone/>
            </a:pPr>
            <a:r>
              <a:rPr lang="en-US" sz="1200" dirty="0">
                <a:solidFill>
                  <a:srgbClr val="F5A65B"/>
                </a:solidFill>
                <a:latin typeface="Consolas" pitchFamily="34" charset="0"/>
                <a:ea typeface="Consolas" pitchFamily="34" charset="-122"/>
                <a:cs typeface="Consolas" pitchFamily="34" charset="-120"/>
              </a:rPr>
              <a:t>xq_x9oky…</a:t>
            </a:r>
            <a:endParaRPr lang="en-US" sz="1200" dirty="0"/>
          </a:p>
        </p:txBody>
      </p:sp>
      <p:sp>
        <p:nvSpPr>
          <p:cNvPr id="17" name="Text 15"/>
          <p:cNvSpPr/>
          <p:nvPr/>
        </p:nvSpPr>
        <p:spPr>
          <a:xfrm>
            <a:off x="9707880" y="2423160"/>
            <a:ext cx="1996440" cy="1143000"/>
          </a:xfrm>
          <a:prstGeom prst="roundRect">
            <a:avLst>
              <a:gd name="adj" fmla="val 6400"/>
            </a:avLst>
          </a:prstGeom>
          <a:solidFill>
            <a:srgbClr val="131B2E"/>
          </a:solidFill>
          <a:ln w="12700">
            <a:solidFill>
              <a:srgbClr val="2A3651"/>
            </a:solidFill>
            <a:prstDash val="solid"/>
          </a:ln>
        </p:spPr>
        <p:txBody>
          <a:bodyPr wrap="square" lIns="76200" tIns="76200" rIns="76200" bIns="76200" rtlCol="0" anchor="ctr"/>
          <a:lstStyle/>
          <a:p>
            <a:pPr marL="0" indent="0" algn="l">
              <a:buNone/>
            </a:pPr>
            <a:r>
              <a:rPr lang="en-US" sz="1000" dirty="0">
                <a:solidFill>
                  <a:srgbClr val="E8ECF5"/>
                </a:solidFill>
                <a:latin typeface="Consolas" pitchFamily="34" charset="0"/>
                <a:ea typeface="Consolas" pitchFamily="34" charset="-122"/>
                <a:cs typeface="Consolas" pitchFamily="34" charset="-120"/>
              </a:rPr>
              <a:t>HMAC-SHA256(</a:t>
            </a:r>
            <a:endParaRPr lang="en-US" sz="1000" dirty="0"/>
          </a:p>
          <a:p>
            <a:pPr marL="0" indent="0" algn="l">
              <a:buNone/>
            </a:pPr>
            <a:r>
              <a:rPr lang="en-US" sz="1000" dirty="0">
                <a:solidFill>
                  <a:srgbClr val="E8ECF5"/>
                </a:solidFill>
                <a:latin typeface="Consolas" pitchFamily="34" charset="0"/>
                <a:ea typeface="Consolas" pitchFamily="34" charset="-122"/>
                <a:cs typeface="Consolas" pitchFamily="34" charset="-120"/>
              </a:rPr>
              <a:t>  header.payload,</a:t>
            </a:r>
            <a:endParaRPr lang="en-US" sz="1000" dirty="0"/>
          </a:p>
          <a:p>
            <a:pPr marL="0" indent="0" algn="l">
              <a:buNone/>
            </a:pPr>
            <a:r>
              <a:rPr lang="en-US" sz="1000" dirty="0">
                <a:solidFill>
                  <a:srgbClr val="E8ECF5"/>
                </a:solidFill>
                <a:latin typeface="Consolas" pitchFamily="34" charset="0"/>
                <a:ea typeface="Consolas" pitchFamily="34" charset="-122"/>
                <a:cs typeface="Consolas" pitchFamily="34" charset="-120"/>
              </a:rPr>
              <a:t>  secret)</a:t>
            </a:r>
            <a:endParaRPr lang="en-US" sz="1000" dirty="0"/>
          </a:p>
        </p:txBody>
      </p:sp>
      <p:sp>
        <p:nvSpPr>
          <p:cNvPr id="18" name="Text 16"/>
          <p:cNvSpPr/>
          <p:nvPr/>
        </p:nvSpPr>
        <p:spPr>
          <a:xfrm>
            <a:off x="5440680" y="3611880"/>
            <a:ext cx="4130040" cy="274320"/>
          </a:xfrm>
          <a:prstGeom prst="rect">
            <a:avLst/>
          </a:prstGeom>
          <a:noFill/>
          <a:ln/>
        </p:spPr>
        <p:txBody>
          <a:bodyPr wrap="square" lIns="25400" tIns="25400" rIns="25400" bIns="25400" rtlCol="0" anchor="ctr"/>
          <a:lstStyle/>
          <a:p>
            <a:pPr marL="0" indent="0" algn="ctr">
              <a:buNone/>
            </a:pPr>
            <a:r>
              <a:rPr lang="en-US" sz="1000" i="1" dirty="0">
                <a:solidFill>
                  <a:srgbClr val="8F9BB3"/>
                </a:solidFill>
                <a:latin typeface="Segoe UI" pitchFamily="34" charset="0"/>
                <a:ea typeface="Segoe UI" pitchFamily="34" charset="-122"/>
                <a:cs typeface="Segoe UI" pitchFamily="34" charset="-120"/>
              </a:rPr>
              <a:t>Base64URL — ai cũng decode được</a:t>
            </a:r>
            <a:endParaRPr lang="en-US" sz="1000" dirty="0"/>
          </a:p>
        </p:txBody>
      </p:sp>
      <p:sp>
        <p:nvSpPr>
          <p:cNvPr id="19" name="Text 17"/>
          <p:cNvSpPr/>
          <p:nvPr/>
        </p:nvSpPr>
        <p:spPr>
          <a:xfrm>
            <a:off x="9707880" y="3611880"/>
            <a:ext cx="1996440" cy="274320"/>
          </a:xfrm>
          <a:prstGeom prst="rect">
            <a:avLst/>
          </a:prstGeom>
          <a:noFill/>
          <a:ln/>
        </p:spPr>
        <p:txBody>
          <a:bodyPr wrap="square" lIns="25400" tIns="25400" rIns="25400" bIns="25400" rtlCol="0" anchor="ctr"/>
          <a:lstStyle/>
          <a:p>
            <a:pPr marL="0" indent="0" algn="ctr">
              <a:buNone/>
            </a:pPr>
            <a:r>
              <a:rPr lang="en-US" sz="1000" i="1" dirty="0">
                <a:solidFill>
                  <a:srgbClr val="8F9BB3"/>
                </a:solidFill>
                <a:latin typeface="Segoe UI" pitchFamily="34" charset="0"/>
                <a:ea typeface="Segoe UI" pitchFamily="34" charset="-122"/>
                <a:cs typeface="Segoe UI" pitchFamily="34" charset="-120"/>
              </a:rPr>
              <a:t>cần secret/key để kiểm tra</a:t>
            </a:r>
            <a:endParaRPr lang="en-US" sz="1000" dirty="0"/>
          </a:p>
        </p:txBody>
      </p:sp>
      <p:sp>
        <p:nvSpPr>
          <p:cNvPr id="20" name="Text 18"/>
          <p:cNvSpPr/>
          <p:nvPr/>
        </p:nvSpPr>
        <p:spPr>
          <a:xfrm>
            <a:off x="5440680" y="411480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TOKEN-BASED FLOW</a:t>
            </a:r>
            <a:endParaRPr lang="en-US" sz="1050" dirty="0"/>
          </a:p>
        </p:txBody>
      </p:sp>
      <p:sp>
        <p:nvSpPr>
          <p:cNvPr id="21" name="Text 19"/>
          <p:cNvSpPr/>
          <p:nvPr/>
        </p:nvSpPr>
        <p:spPr>
          <a:xfrm>
            <a:off x="544068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Login</a:t>
            </a:r>
            <a:endParaRPr lang="en-US" sz="1000" dirty="0"/>
          </a:p>
        </p:txBody>
      </p:sp>
      <p:sp>
        <p:nvSpPr>
          <p:cNvPr id="22" name="Shape 20"/>
          <p:cNvSpPr/>
          <p:nvPr/>
        </p:nvSpPr>
        <p:spPr>
          <a:xfrm>
            <a:off x="6537960" y="4846320"/>
            <a:ext cx="194310" cy="0"/>
          </a:xfrm>
          <a:prstGeom prst="line">
            <a:avLst/>
          </a:prstGeom>
          <a:noFill/>
          <a:ln w="19050">
            <a:solidFill>
              <a:srgbClr val="B5A5FF"/>
            </a:solidFill>
            <a:prstDash val="solid"/>
            <a:tailEnd type="triangle"/>
          </a:ln>
        </p:spPr>
      </p:sp>
      <p:sp>
        <p:nvSpPr>
          <p:cNvPr id="23" name="Text 21"/>
          <p:cNvSpPr/>
          <p:nvPr/>
        </p:nvSpPr>
        <p:spPr>
          <a:xfrm>
            <a:off x="673227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Server ký JWT</a:t>
            </a:r>
            <a:endParaRPr lang="en-US" sz="1000" dirty="0"/>
          </a:p>
        </p:txBody>
      </p:sp>
      <p:sp>
        <p:nvSpPr>
          <p:cNvPr id="24" name="Shape 22"/>
          <p:cNvSpPr/>
          <p:nvPr/>
        </p:nvSpPr>
        <p:spPr>
          <a:xfrm>
            <a:off x="7829550" y="4846320"/>
            <a:ext cx="194310" cy="0"/>
          </a:xfrm>
          <a:prstGeom prst="line">
            <a:avLst/>
          </a:prstGeom>
          <a:noFill/>
          <a:ln w="19050">
            <a:solidFill>
              <a:srgbClr val="B5A5FF"/>
            </a:solidFill>
            <a:prstDash val="solid"/>
            <a:tailEnd type="triangle"/>
          </a:ln>
        </p:spPr>
      </p:sp>
      <p:sp>
        <p:nvSpPr>
          <p:cNvPr id="25" name="Text 23"/>
          <p:cNvSpPr/>
          <p:nvPr/>
        </p:nvSpPr>
        <p:spPr>
          <a:xfrm>
            <a:off x="802386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Client tự lưu</a:t>
            </a:r>
            <a:endParaRPr lang="en-US" sz="1000" dirty="0"/>
          </a:p>
        </p:txBody>
      </p:sp>
      <p:sp>
        <p:nvSpPr>
          <p:cNvPr id="26" name="Shape 24"/>
          <p:cNvSpPr/>
          <p:nvPr/>
        </p:nvSpPr>
        <p:spPr>
          <a:xfrm>
            <a:off x="9121140" y="4846320"/>
            <a:ext cx="194310" cy="0"/>
          </a:xfrm>
          <a:prstGeom prst="line">
            <a:avLst/>
          </a:prstGeom>
          <a:noFill/>
          <a:ln w="19050">
            <a:solidFill>
              <a:srgbClr val="B5A5FF"/>
            </a:solidFill>
            <a:prstDash val="solid"/>
            <a:tailEnd type="triangle"/>
          </a:ln>
        </p:spPr>
      </p:sp>
      <p:sp>
        <p:nvSpPr>
          <p:cNvPr id="27" name="Text 25"/>
          <p:cNvSpPr/>
          <p:nvPr/>
        </p:nvSpPr>
        <p:spPr>
          <a:xfrm>
            <a:off x="9315450" y="4480560"/>
            <a:ext cx="1097280" cy="731520"/>
          </a:xfrm>
          <a:prstGeom prst="roundRect">
            <a:avLst>
              <a:gd name="adj" fmla="val 10000"/>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Gửi header</a:t>
            </a:r>
            <a:endParaRPr lang="en-US" sz="1000" dirty="0"/>
          </a:p>
          <a:p>
            <a:pPr marL="0" indent="0" algn="ctr">
              <a:buNone/>
            </a:pPr>
            <a:r>
              <a:rPr lang="en-US" sz="1000" dirty="0">
                <a:solidFill>
                  <a:srgbClr val="E8ECF5"/>
                </a:solidFill>
                <a:latin typeface="Segoe UI" pitchFamily="34" charset="0"/>
                <a:ea typeface="Segoe UI" pitchFamily="34" charset="-122"/>
                <a:cs typeface="Segoe UI" pitchFamily="34" charset="-120"/>
              </a:rPr>
              <a:t>Bearer token</a:t>
            </a:r>
            <a:endParaRPr lang="en-US" sz="1000" dirty="0"/>
          </a:p>
        </p:txBody>
      </p:sp>
      <p:sp>
        <p:nvSpPr>
          <p:cNvPr id="28" name="Shape 26"/>
          <p:cNvSpPr/>
          <p:nvPr/>
        </p:nvSpPr>
        <p:spPr>
          <a:xfrm>
            <a:off x="10412730" y="4846320"/>
            <a:ext cx="194310" cy="0"/>
          </a:xfrm>
          <a:prstGeom prst="line">
            <a:avLst/>
          </a:prstGeom>
          <a:noFill/>
          <a:ln w="19050">
            <a:solidFill>
              <a:srgbClr val="B5A5FF"/>
            </a:solidFill>
            <a:prstDash val="solid"/>
            <a:tailEnd type="triangle"/>
          </a:ln>
        </p:spPr>
      </p:sp>
      <p:sp>
        <p:nvSpPr>
          <p:cNvPr id="29" name="Text 27"/>
          <p:cNvSpPr/>
          <p:nvPr/>
        </p:nvSpPr>
        <p:spPr>
          <a:xfrm>
            <a:off x="10607040" y="4480560"/>
            <a:ext cx="1097280" cy="731520"/>
          </a:xfrm>
          <a:prstGeom prst="roundRect">
            <a:avLst>
              <a:gd name="adj" fmla="val 10000"/>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00" b="1" dirty="0">
                <a:solidFill>
                  <a:srgbClr val="E8ECF5"/>
                </a:solidFill>
                <a:latin typeface="Segoe UI" pitchFamily="34" charset="0"/>
                <a:ea typeface="Segoe UI" pitchFamily="34" charset="-122"/>
                <a:cs typeface="Segoe UI" pitchFamily="34" charset="-120"/>
              </a:rPr>
              <a:t>API verify</a:t>
            </a:r>
            <a:endParaRPr lang="en-US" sz="1000" dirty="0"/>
          </a:p>
          <a:p>
            <a:pPr marL="0" indent="0" algn="ctr">
              <a:buNone/>
            </a:pPr>
            <a:r>
              <a:rPr lang="en-US" sz="1000" b="1" dirty="0">
                <a:solidFill>
                  <a:srgbClr val="E8ECF5"/>
                </a:solidFill>
                <a:latin typeface="Segoe UI" pitchFamily="34" charset="0"/>
                <a:ea typeface="Segoe UI" pitchFamily="34" charset="-122"/>
                <a:cs typeface="Segoe UI" pitchFamily="34" charset="-120"/>
              </a:rPr>
              <a:t>mỗi request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JWT  ·  SLIDE 17/33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Chữ ký đúng chưa đủ</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530352">
                <a:tc>
                  <a:txBody>
                    <a:bodyPr/>
                    <a:lstStyle/>
                    <a:p>
                      <a:pPr marL="0" indent="0">
                        <a:buNone/>
                      </a:pPr>
                      <a:r>
                        <a:rPr lang="en-US" sz="1600" b="1" dirty="0">
                          <a:solidFill>
                            <a:srgbClr val="B5A5FF"/>
                          </a:solidFill>
                          <a:latin typeface="Segoe UI" pitchFamily="34" charset="0"/>
                          <a:ea typeface="Segoe UI" pitchFamily="34" charset="-122"/>
                          <a:cs typeface="Segoe UI" pitchFamily="34" charset="-120"/>
                        </a:rPr>
                        <a:t>Claim / header</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marL="0" indent="0">
                        <a:buNone/>
                      </a:pPr>
                      <a:r>
                        <a:rPr lang="en-US" sz="1600" b="1" dirty="0">
                          <a:solidFill>
                            <a:srgbClr val="B5A5FF"/>
                          </a:solidFill>
                          <a:latin typeface="Segoe UI" pitchFamily="34" charset="0"/>
                          <a:ea typeface="Segoe UI" pitchFamily="34" charset="-122"/>
                          <a:cs typeface="Segoe UI" pitchFamily="34" charset="-120"/>
                        </a:rPr>
                        <a:t>Server kiểm tra</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extLst>
                  <a:ext uri="{0D108BD9-81ED-4DB2-BD59-A6C34878D82A}">
                    <a16:rowId xmlns:a16="http://schemas.microsoft.com/office/drawing/2014/main" val="10000"/>
                  </a:ext>
                </a:extLst>
              </a:tr>
              <a:tr h="530352">
                <a:tc>
                  <a:txBody>
                    <a:bodyPr/>
                    <a:lstStyle/>
                    <a:p>
                      <a:pPr marL="0" indent="0">
                        <a:buNone/>
                      </a:pPr>
                      <a:r>
                        <a:rPr lang="en-US" sz="1600" b="1" dirty="0">
                          <a:solidFill>
                            <a:srgbClr val="6EE7B7"/>
                          </a:solidFill>
                          <a:latin typeface="Consolas" pitchFamily="34" charset="0"/>
                          <a:ea typeface="Consolas" pitchFamily="34" charset="-122"/>
                          <a:cs typeface="Consolas" pitchFamily="34" charset="-120"/>
                        </a:rPr>
                        <a:t>sub</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User tồn tại, còn hoạt động</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1"/>
                  </a:ext>
                </a:extLst>
              </a:tr>
              <a:tr h="530352">
                <a:tc>
                  <a:txBody>
                    <a:bodyPr/>
                    <a:lstStyle/>
                    <a:p>
                      <a:pPr marL="0" indent="0">
                        <a:buNone/>
                      </a:pPr>
                      <a:r>
                        <a:rPr lang="en-US" sz="1600" b="1" dirty="0">
                          <a:solidFill>
                            <a:srgbClr val="6EE7B7"/>
                          </a:solidFill>
                          <a:latin typeface="Consolas" pitchFamily="34" charset="0"/>
                          <a:ea typeface="Consolas" pitchFamily="34" charset="-122"/>
                          <a:cs typeface="Consolas" pitchFamily="34" charset="-120"/>
                        </a:rPr>
                        <a:t>iss</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Đúng issuer mong đợi</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2"/>
                  </a:ext>
                </a:extLst>
              </a:tr>
              <a:tr h="530352">
                <a:tc>
                  <a:txBody>
                    <a:bodyPr/>
                    <a:lstStyle/>
                    <a:p>
                      <a:pPr marL="0" indent="0">
                        <a:buNone/>
                      </a:pPr>
                      <a:r>
                        <a:rPr lang="en-US" sz="1600" b="1" dirty="0">
                          <a:solidFill>
                            <a:srgbClr val="6EE7B7"/>
                          </a:solidFill>
                          <a:latin typeface="Consolas" pitchFamily="34" charset="0"/>
                          <a:ea typeface="Consolas" pitchFamily="34" charset="-122"/>
                          <a:cs typeface="Consolas" pitchFamily="34" charset="-120"/>
                        </a:rPr>
                        <a:t>aud</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Token dành cho chính API này</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3"/>
                  </a:ext>
                </a:extLst>
              </a:tr>
              <a:tr h="530352">
                <a:tc>
                  <a:txBody>
                    <a:bodyPr/>
                    <a:lstStyle/>
                    <a:p>
                      <a:pPr marL="0" indent="0">
                        <a:buNone/>
                      </a:pPr>
                      <a:r>
                        <a:rPr lang="en-US" sz="1600" b="1" dirty="0">
                          <a:solidFill>
                            <a:srgbClr val="6EE7B7"/>
                          </a:solidFill>
                          <a:latin typeface="Consolas" pitchFamily="34" charset="0"/>
                          <a:ea typeface="Consolas" pitchFamily="34" charset="-122"/>
                          <a:cs typeface="Consolas" pitchFamily="34" charset="-120"/>
                        </a:rPr>
                        <a:t>exp</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Chưa hết hạn (bắt buộc)</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4"/>
                  </a:ext>
                </a:extLst>
              </a:tr>
              <a:tr h="530352">
                <a:tc>
                  <a:txBody>
                    <a:bodyPr/>
                    <a:lstStyle/>
                    <a:p>
                      <a:pPr marL="0" indent="0">
                        <a:buNone/>
                      </a:pPr>
                      <a:r>
                        <a:rPr lang="en-US" sz="1600" b="1" dirty="0">
                          <a:solidFill>
                            <a:srgbClr val="6EE7B7"/>
                          </a:solidFill>
                          <a:latin typeface="Consolas" pitchFamily="34" charset="0"/>
                          <a:ea typeface="Consolas" pitchFamily="34" charset="-122"/>
                          <a:cs typeface="Consolas" pitchFamily="34" charset="-120"/>
                        </a:rPr>
                        <a:t>nbf</a:t>
                      </a:r>
                      <a:r>
                        <a:rPr lang="en-US" sz="1600" b="1" dirty="0">
                          <a:solidFill>
                            <a:srgbClr val="E8ECF5"/>
                          </a:solidFill>
                          <a:latin typeface="Segoe UI" pitchFamily="34" charset="0"/>
                          <a:ea typeface="Segoe UI" pitchFamily="34" charset="-122"/>
                          <a:cs typeface="Segoe UI" pitchFamily="34" charset="-120"/>
                        </a:rPr>
                        <a:t> / </a:t>
                      </a:r>
                      <a:r>
                        <a:rPr lang="en-US" sz="1600" b="1" dirty="0">
                          <a:solidFill>
                            <a:srgbClr val="6EE7B7"/>
                          </a:solidFill>
                          <a:latin typeface="Consolas" pitchFamily="34" charset="0"/>
                          <a:ea typeface="Consolas" pitchFamily="34" charset="-122"/>
                          <a:cs typeface="Consolas" pitchFamily="34" charset="-120"/>
                        </a:rPr>
                        <a:t>iat</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Đã có hiệu lực, phát hành hợp lý</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5"/>
                  </a:ext>
                </a:extLst>
              </a:tr>
              <a:tr h="530352">
                <a:tc>
                  <a:txBody>
                    <a:bodyPr/>
                    <a:lstStyle/>
                    <a:p>
                      <a:pPr marL="0" indent="0">
                        <a:buNone/>
                      </a:pPr>
                      <a:r>
                        <a:rPr lang="en-US" sz="1600" b="1" dirty="0">
                          <a:solidFill>
                            <a:srgbClr val="6EE7B7"/>
                          </a:solidFill>
                          <a:latin typeface="Consolas" pitchFamily="34" charset="0"/>
                          <a:ea typeface="Consolas" pitchFamily="34" charset="-122"/>
                          <a:cs typeface="Consolas" pitchFamily="34" charset="-120"/>
                        </a:rPr>
                        <a:t>jti</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ID để thu hồi / chống replay</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6"/>
                  </a:ext>
                </a:extLst>
              </a:tr>
              <a:tr h="530352">
                <a:tc>
                  <a:txBody>
                    <a:bodyPr/>
                    <a:lstStyle/>
                    <a:p>
                      <a:pPr marL="0" indent="0">
                        <a:buNone/>
                      </a:pPr>
                      <a:r>
                        <a:rPr lang="en-US" sz="1600" b="1" dirty="0">
                          <a:solidFill>
                            <a:srgbClr val="6EE7B7"/>
                          </a:solidFill>
                          <a:latin typeface="Consolas" pitchFamily="34" charset="0"/>
                          <a:ea typeface="Consolas" pitchFamily="34" charset="-122"/>
                          <a:cs typeface="Consolas" pitchFamily="34" charset="-120"/>
                        </a:rPr>
                        <a:t>alg</a:t>
                      </a:r>
                      <a:r>
                        <a:rPr lang="en-US" sz="1600" b="1" dirty="0">
                          <a:solidFill>
                            <a:srgbClr val="E8ECF5"/>
                          </a:solidFill>
                          <a:latin typeface="Segoe UI" pitchFamily="34" charset="0"/>
                          <a:ea typeface="Segoe UI" pitchFamily="34" charset="-122"/>
                          <a:cs typeface="Segoe UI" pitchFamily="34" charset="-120"/>
                        </a:rPr>
                        <a:t> (header)</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Nằm trong allowlist</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7"/>
                  </a:ext>
                </a:extLst>
              </a:tr>
            </a:tbl>
          </a:graphicData>
        </a:graphic>
      </p:graphicFrame>
      <p:sp>
        <p:nvSpPr>
          <p:cNvPr id="7" name="Text 4"/>
          <p:cNvSpPr/>
          <p:nvPr/>
        </p:nvSpPr>
        <p:spPr>
          <a:xfrm>
            <a:off x="548640" y="5669280"/>
            <a:ext cx="11064240" cy="640080"/>
          </a:xfrm>
          <a:prstGeom prst="roundRect">
            <a:avLst>
              <a:gd name="adj" fmla="val 11429"/>
            </a:avLst>
          </a:prstGeom>
          <a:solidFill>
            <a:srgbClr val="4A3420"/>
          </a:solidFill>
          <a:ln w="12700">
            <a:solidFill>
              <a:srgbClr val="F5A65B"/>
            </a:solidFill>
            <a:prstDash val="solid"/>
          </a:ln>
        </p:spPr>
        <p:txBody>
          <a:bodyPr wrap="square" lIns="152400" tIns="152400" rIns="152400" bIns="152400" rtlCol="0" anchor="ctr"/>
          <a:lstStyle/>
          <a:p>
            <a:pPr marL="0" indent="0" algn="l">
              <a:buNone/>
            </a:pPr>
            <a:r>
              <a:rPr lang="en-US" sz="1600" b="1" dirty="0">
                <a:solidFill>
                  <a:srgbClr val="B5A5FF"/>
                </a:solidFill>
                <a:latin typeface="Consolas" pitchFamily="34" charset="0"/>
                <a:ea typeface="Consolas" pitchFamily="34" charset="-122"/>
                <a:cs typeface="Consolas" pitchFamily="34" charset="-120"/>
              </a:rPr>
              <a:t>alg</a:t>
            </a:r>
            <a:r>
              <a:rPr lang="en-US" sz="1600" b="1" dirty="0">
                <a:solidFill>
                  <a:srgbClr val="E8ECF5"/>
                </a:solidFill>
                <a:latin typeface="Segoe UI" pitchFamily="34" charset="0"/>
                <a:ea typeface="Segoe UI" pitchFamily="34" charset="-122"/>
                <a:cs typeface="Segoe UI" pitchFamily="34" charset="-120"/>
              </a:rPr>
              <a:t> nằm header, không phải claim. Chỉ nhận thuật toán trong allowlist.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JWT  ·  SLIDE 18/33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Đừng tin payload chỉ vì đọc được</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​Sửa payload, giữ chữ ký cũ → </a:t>
            </a:r>
            <a:r>
              <a:rPr lang="en-US" sz="1800" dirty="0">
                <a:solidFill>
                  <a:srgbClr val="B5A5FF"/>
                </a:solidFill>
                <a:latin typeface="Consolas" pitchFamily="34" charset="0"/>
                <a:ea typeface="Consolas" pitchFamily="34" charset="-122"/>
                <a:cs typeface="Consolas" pitchFamily="34" charset="-120"/>
              </a:rPr>
              <a:t>401</a:t>
            </a:r>
            <a:r>
              <a:rPr lang="en-US" sz="1800" dirty="0">
                <a:solidFill>
                  <a:srgbClr val="E8ECF5"/>
                </a:solidFill>
                <a:latin typeface="Segoe UI" pitchFamily="34" charset="0"/>
                <a:ea typeface="Segoe UI" pitchFamily="34" charset="-122"/>
                <a:cs typeface="Segoe UI" pitchFamily="34" charset="-120"/>
              </a:rPr>
              <a:t>.</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t>
            </a:r>
            <a:r>
              <a:rPr lang="en-US" sz="1800" dirty="0">
                <a:solidFill>
                  <a:srgbClr val="B5A5FF"/>
                </a:solidFill>
                <a:latin typeface="Consolas" pitchFamily="34" charset="0"/>
                <a:ea typeface="Consolas" pitchFamily="34" charset="-122"/>
                <a:cs typeface="Consolas" pitchFamily="34" charset="-120"/>
              </a:rPr>
              <a:t>alg: none</a:t>
            </a:r>
            <a:r>
              <a:rPr lang="en-US" sz="1800" dirty="0">
                <a:solidFill>
                  <a:srgbClr val="E8ECF5"/>
                </a:solidFill>
                <a:latin typeface="Segoe UI" pitchFamily="34" charset="0"/>
                <a:ea typeface="Segoe UI" pitchFamily="34" charset="-122"/>
                <a:cs typeface="Segoe UI" pitchFamily="34" charset="-120"/>
              </a:rPr>
              <a:t> ngoài allowlist → </a:t>
            </a:r>
            <a:r>
              <a:rPr lang="en-US" sz="1800" dirty="0">
                <a:solidFill>
                  <a:srgbClr val="B5A5FF"/>
                </a:solidFill>
                <a:latin typeface="Consolas" pitchFamily="34" charset="0"/>
                <a:ea typeface="Consolas" pitchFamily="34" charset="-122"/>
                <a:cs typeface="Consolas" pitchFamily="34" charset="-120"/>
              </a:rPr>
              <a:t>401</a:t>
            </a:r>
            <a:r>
              <a:rPr lang="en-US" sz="1800" dirty="0">
                <a:solidFill>
                  <a:srgbClr val="E8ECF5"/>
                </a:solidFill>
                <a:latin typeface="Segoe UI" pitchFamily="34" charset="0"/>
                <a:ea typeface="Segoe UI" pitchFamily="34" charset="-122"/>
                <a:cs typeface="Segoe UI" pitchFamily="34" charset="-120"/>
              </a:rPr>
              <a:t>.</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​Member hợp lệ gọi </a:t>
            </a:r>
            <a:r>
              <a:rPr lang="en-US" sz="1800" dirty="0">
                <a:solidFill>
                  <a:srgbClr val="B5A5FF"/>
                </a:solidFill>
                <a:latin typeface="Consolas" pitchFamily="34" charset="0"/>
                <a:ea typeface="Consolas" pitchFamily="34" charset="-122"/>
                <a:cs typeface="Consolas" pitchFamily="34" charset="-120"/>
              </a:rPr>
              <a:t>/api/admin</a:t>
            </a:r>
            <a:r>
              <a:rPr lang="en-US" sz="1800" dirty="0">
                <a:solidFill>
                  <a:srgbClr val="E8ECF5"/>
                </a:solidFill>
                <a:latin typeface="Segoe UI" pitchFamily="34" charset="0"/>
                <a:ea typeface="Segoe UI" pitchFamily="34" charset="-122"/>
                <a:cs typeface="Segoe UI" pitchFamily="34" charset="-120"/>
              </a:rPr>
              <a:t> → </a:t>
            </a:r>
            <a:r>
              <a:rPr lang="en-US" sz="1800" dirty="0">
                <a:solidFill>
                  <a:srgbClr val="B5A5FF"/>
                </a:solidFill>
                <a:latin typeface="Consolas" pitchFamily="34" charset="0"/>
                <a:ea typeface="Consolas" pitchFamily="34" charset="-122"/>
                <a:cs typeface="Consolas" pitchFamily="34" charset="-120"/>
              </a:rPr>
              <a:t>403</a:t>
            </a:r>
            <a:r>
              <a:rPr lang="en-US" sz="1800" dirty="0">
                <a:solidFill>
                  <a:srgbClr val="E8ECF5"/>
                </a:solidFill>
                <a:latin typeface="Segoe UI" pitchFamily="34" charset="0"/>
                <a:ea typeface="Segoe UI" pitchFamily="34" charset="-122"/>
                <a:cs typeface="Segoe UI" pitchFamily="34" charset="-120"/>
              </a:rPr>
              <a:t>.</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​Decode ≠ verify; </a:t>
            </a:r>
            <a:r>
              <a:rPr lang="en-US" sz="1800" dirty="0">
                <a:solidFill>
                  <a:srgbClr val="B5A5FF"/>
                </a:solidFill>
                <a:latin typeface="Consolas" pitchFamily="34" charset="0"/>
                <a:ea typeface="Consolas" pitchFamily="34" charset="-122"/>
                <a:cs typeface="Consolas" pitchFamily="34" charset="-120"/>
              </a:rPr>
              <a:t>401</a:t>
            </a:r>
            <a:r>
              <a:rPr lang="en-US" sz="1800" dirty="0">
                <a:solidFill>
                  <a:srgbClr val="E8ECF5"/>
                </a:solidFill>
                <a:latin typeface="Segoe UI" pitchFamily="34" charset="0"/>
                <a:ea typeface="Segoe UI" pitchFamily="34" charset="-122"/>
                <a:cs typeface="Segoe UI" pitchFamily="34" charset="-120"/>
              </a:rPr>
              <a:t> ≠ </a:t>
            </a:r>
            <a:r>
              <a:rPr lang="en-US" sz="1800" dirty="0">
                <a:solidFill>
                  <a:srgbClr val="B5A5FF"/>
                </a:solidFill>
                <a:latin typeface="Consolas" pitchFamily="34" charset="0"/>
                <a:ea typeface="Consolas" pitchFamily="34" charset="-122"/>
                <a:cs typeface="Consolas" pitchFamily="34" charset="-120"/>
              </a:rPr>
              <a:t>403</a:t>
            </a:r>
            <a:r>
              <a:rPr lang="en-US" sz="1800" dirty="0">
                <a:solidFill>
                  <a:srgbClr val="E8ECF5"/>
                </a:solidFill>
                <a:latin typeface="Segoe UI" pitchFamily="34" charset="0"/>
                <a:ea typeface="Segoe UI" pitchFamily="34" charset="-122"/>
                <a:cs typeface="Segoe UI" pitchFamily="34" charset="-120"/>
              </a:rPr>
              <a:t>.</a:t>
            </a:r>
            <a:endParaRPr lang="en-US" sz="18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SỬA PAYLOAD</a:t>
            </a:r>
            <a:endParaRPr lang="en-US" sz="1050" dirty="0"/>
          </a:p>
        </p:txBody>
      </p:sp>
      <p:sp>
        <p:nvSpPr>
          <p:cNvPr id="8" name="Text 6"/>
          <p:cNvSpPr/>
          <p:nvPr/>
        </p:nvSpPr>
        <p:spPr>
          <a:xfrm>
            <a:off x="544068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Consolas" pitchFamily="34" charset="0"/>
                <a:ea typeface="Consolas" pitchFamily="34" charset="-122"/>
                <a:cs typeface="Consolas" pitchFamily="34" charset="-120"/>
              </a:rPr>
              <a:t>role: "member"</a:t>
            </a:r>
            <a:endParaRPr lang="en-US" sz="1000" dirty="0"/>
          </a:p>
          <a:p>
            <a:pPr marL="0" indent="0" algn="ctr">
              <a:buNone/>
            </a:pPr>
            <a:r>
              <a:rPr lang="en-US" sz="1000" dirty="0">
                <a:solidFill>
                  <a:srgbClr val="E8ECF5"/>
                </a:solidFill>
                <a:latin typeface="Consolas" pitchFamily="34" charset="0"/>
                <a:ea typeface="Consolas" pitchFamily="34" charset="-122"/>
                <a:cs typeface="Consolas" pitchFamily="34" charset="-120"/>
              </a:rPr>
              <a:t>→ "admin"</a:t>
            </a:r>
            <a:endParaRPr lang="en-US" sz="1000" dirty="0"/>
          </a:p>
        </p:txBody>
      </p:sp>
      <p:sp>
        <p:nvSpPr>
          <p:cNvPr id="9" name="Shape 7"/>
          <p:cNvSpPr/>
          <p:nvPr/>
        </p:nvSpPr>
        <p:spPr>
          <a:xfrm>
            <a:off x="7040880" y="2112264"/>
            <a:ext cx="274320" cy="0"/>
          </a:xfrm>
          <a:prstGeom prst="line">
            <a:avLst/>
          </a:prstGeom>
          <a:noFill/>
          <a:ln w="19050">
            <a:solidFill>
              <a:srgbClr val="F5A65B"/>
            </a:solidFill>
            <a:prstDash val="solid"/>
            <a:tailEnd type="triangle"/>
          </a:ln>
        </p:spPr>
      </p:sp>
      <p:sp>
        <p:nvSpPr>
          <p:cNvPr id="10" name="Text 8"/>
          <p:cNvSpPr/>
          <p:nvPr/>
        </p:nvSpPr>
        <p:spPr>
          <a:xfrm>
            <a:off x="731520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chữ ký cũ giữ nguyên</a:t>
            </a:r>
            <a:endParaRPr lang="en-US" sz="1000" dirty="0"/>
          </a:p>
        </p:txBody>
      </p:sp>
      <p:sp>
        <p:nvSpPr>
          <p:cNvPr id="11" name="Shape 9"/>
          <p:cNvSpPr/>
          <p:nvPr/>
        </p:nvSpPr>
        <p:spPr>
          <a:xfrm>
            <a:off x="8915400" y="2112264"/>
            <a:ext cx="274320" cy="0"/>
          </a:xfrm>
          <a:prstGeom prst="line">
            <a:avLst/>
          </a:prstGeom>
          <a:noFill/>
          <a:ln w="19050">
            <a:solidFill>
              <a:srgbClr val="F5A65B"/>
            </a:solidFill>
            <a:prstDash val="solid"/>
            <a:tailEnd type="triangle"/>
          </a:ln>
        </p:spPr>
      </p:sp>
      <p:sp>
        <p:nvSpPr>
          <p:cNvPr id="12" name="Text 10"/>
          <p:cNvSpPr/>
          <p:nvPr/>
        </p:nvSpPr>
        <p:spPr>
          <a:xfrm>
            <a:off x="9189720" y="178308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HMAC(header.payload′)</a:t>
            </a:r>
            <a:endParaRPr lang="en-US" sz="1000" dirty="0"/>
          </a:p>
          <a:p>
            <a:pPr marL="0" indent="0" algn="ctr">
              <a:buNone/>
            </a:pPr>
            <a:r>
              <a:rPr lang="en-US" sz="1000" dirty="0">
                <a:solidFill>
                  <a:srgbClr val="E8ECF5"/>
                </a:solidFill>
                <a:latin typeface="Segoe UI" pitchFamily="34" charset="0"/>
                <a:ea typeface="Segoe UI" pitchFamily="34" charset="-122"/>
                <a:cs typeface="Segoe UI" pitchFamily="34" charset="-120"/>
              </a:rPr>
              <a:t>≠ signature</a:t>
            </a:r>
            <a:endParaRPr lang="en-US" sz="1000" dirty="0"/>
          </a:p>
        </p:txBody>
      </p:sp>
      <p:sp>
        <p:nvSpPr>
          <p:cNvPr id="13" name="Shape 11"/>
          <p:cNvSpPr/>
          <p:nvPr/>
        </p:nvSpPr>
        <p:spPr>
          <a:xfrm>
            <a:off x="10789920" y="2112264"/>
            <a:ext cx="274320" cy="0"/>
          </a:xfrm>
          <a:prstGeom prst="line">
            <a:avLst/>
          </a:prstGeom>
          <a:noFill/>
          <a:ln w="19050">
            <a:solidFill>
              <a:srgbClr val="F5A65B"/>
            </a:solidFill>
            <a:prstDash val="solid"/>
            <a:tailEnd type="triangle"/>
          </a:ln>
        </p:spPr>
      </p:sp>
      <p:sp>
        <p:nvSpPr>
          <p:cNvPr id="14" name="Text 12"/>
          <p:cNvSpPr/>
          <p:nvPr/>
        </p:nvSpPr>
        <p:spPr>
          <a:xfrm>
            <a:off x="11064240" y="1783080"/>
            <a:ext cx="640080" cy="658368"/>
          </a:xfrm>
          <a:prstGeom prst="roundRect">
            <a:avLst>
              <a:gd name="adj" fmla="val 11429"/>
            </a:avLst>
          </a:prstGeom>
          <a:solidFill>
            <a:srgbClr val="4A3420"/>
          </a:solidFill>
          <a:ln w="12700">
            <a:solidFill>
              <a:srgbClr val="F5A65B"/>
            </a:solidFill>
            <a:prstDash val="solid"/>
          </a:ln>
        </p:spPr>
        <p:txBody>
          <a:bodyPr wrap="square" lIns="76200" tIns="76200" rIns="76200" bIns="76200" rtlCol="0" anchor="ctr"/>
          <a:lstStyle/>
          <a:p>
            <a:pPr marL="0" indent="0" algn="ctr">
              <a:buNone/>
            </a:pPr>
            <a:r>
              <a:rPr lang="en-US" sz="1600" b="1" dirty="0">
                <a:solidFill>
                  <a:srgbClr val="F5A65B"/>
                </a:solidFill>
                <a:latin typeface="Segoe UI" pitchFamily="34" charset="0"/>
                <a:ea typeface="Segoe UI" pitchFamily="34" charset="-122"/>
                <a:cs typeface="Segoe UI" pitchFamily="34" charset="-120"/>
              </a:rPr>
              <a:t>401</a:t>
            </a:r>
            <a:endParaRPr lang="en-US" sz="1600" dirty="0"/>
          </a:p>
        </p:txBody>
      </p:sp>
      <p:sp>
        <p:nvSpPr>
          <p:cNvPr id="15" name="Text 13"/>
          <p:cNvSpPr/>
          <p:nvPr/>
        </p:nvSpPr>
        <p:spPr>
          <a:xfrm>
            <a:off x="5440680" y="278892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ALG: NONE</a:t>
            </a:r>
            <a:endParaRPr lang="en-US" sz="1050" dirty="0"/>
          </a:p>
        </p:txBody>
      </p:sp>
      <p:sp>
        <p:nvSpPr>
          <p:cNvPr id="16" name="Text 14"/>
          <p:cNvSpPr/>
          <p:nvPr/>
        </p:nvSpPr>
        <p:spPr>
          <a:xfrm>
            <a:off x="544068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Consolas" pitchFamily="34" charset="0"/>
                <a:ea typeface="Consolas" pitchFamily="34" charset="-122"/>
                <a:cs typeface="Consolas" pitchFamily="34" charset="-120"/>
              </a:rPr>
              <a:t>"alg": "none"</a:t>
            </a:r>
            <a:endParaRPr lang="en-US" sz="1000" dirty="0"/>
          </a:p>
          <a:p>
            <a:pPr marL="0" indent="0" algn="ctr">
              <a:buNone/>
            </a:pPr>
            <a:r>
              <a:rPr lang="en-US" sz="1000" dirty="0">
                <a:solidFill>
                  <a:srgbClr val="E8ECF5"/>
                </a:solidFill>
                <a:latin typeface="Consolas" pitchFamily="34" charset="0"/>
                <a:ea typeface="Consolas" pitchFamily="34" charset="-122"/>
                <a:cs typeface="Consolas" pitchFamily="34" charset="-120"/>
              </a:rPr>
              <a:t>bỏ signature</a:t>
            </a:r>
            <a:endParaRPr lang="en-US" sz="1000" dirty="0"/>
          </a:p>
        </p:txBody>
      </p:sp>
      <p:sp>
        <p:nvSpPr>
          <p:cNvPr id="17" name="Shape 15"/>
          <p:cNvSpPr/>
          <p:nvPr/>
        </p:nvSpPr>
        <p:spPr>
          <a:xfrm>
            <a:off x="7040880" y="3438144"/>
            <a:ext cx="274320" cy="0"/>
          </a:xfrm>
          <a:prstGeom prst="line">
            <a:avLst/>
          </a:prstGeom>
          <a:noFill/>
          <a:ln w="19050">
            <a:solidFill>
              <a:srgbClr val="F5A65B"/>
            </a:solidFill>
            <a:prstDash val="solid"/>
            <a:tailEnd type="triangle"/>
          </a:ln>
        </p:spPr>
      </p:sp>
      <p:sp>
        <p:nvSpPr>
          <p:cNvPr id="18" name="Text 16"/>
          <p:cNvSpPr/>
          <p:nvPr/>
        </p:nvSpPr>
        <p:spPr>
          <a:xfrm>
            <a:off x="731520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alg không nằm</a:t>
            </a:r>
            <a:endParaRPr lang="en-US" sz="1000" dirty="0"/>
          </a:p>
          <a:p>
            <a:pPr marL="0" indent="0" algn="ctr">
              <a:buNone/>
            </a:pPr>
            <a:r>
              <a:rPr lang="en-US" sz="1000" dirty="0">
                <a:solidFill>
                  <a:srgbClr val="E8ECF5"/>
                </a:solidFill>
                <a:latin typeface="Segoe UI" pitchFamily="34" charset="0"/>
                <a:ea typeface="Segoe UI" pitchFamily="34" charset="-122"/>
                <a:cs typeface="Segoe UI" pitchFamily="34" charset="-120"/>
              </a:rPr>
              <a:t>trong allowlist</a:t>
            </a:r>
            <a:endParaRPr lang="en-US" sz="1000" dirty="0"/>
          </a:p>
        </p:txBody>
      </p:sp>
      <p:sp>
        <p:nvSpPr>
          <p:cNvPr id="19" name="Shape 17"/>
          <p:cNvSpPr/>
          <p:nvPr/>
        </p:nvSpPr>
        <p:spPr>
          <a:xfrm>
            <a:off x="8915400" y="3438144"/>
            <a:ext cx="274320" cy="0"/>
          </a:xfrm>
          <a:prstGeom prst="line">
            <a:avLst/>
          </a:prstGeom>
          <a:noFill/>
          <a:ln w="19050">
            <a:solidFill>
              <a:srgbClr val="F5A65B"/>
            </a:solidFill>
            <a:prstDash val="solid"/>
            <a:tailEnd type="triangle"/>
          </a:ln>
        </p:spPr>
      </p:sp>
      <p:sp>
        <p:nvSpPr>
          <p:cNvPr id="20" name="Text 18"/>
          <p:cNvSpPr/>
          <p:nvPr/>
        </p:nvSpPr>
        <p:spPr>
          <a:xfrm>
            <a:off x="9189720" y="310896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jwt.verify từ chối</a:t>
            </a:r>
            <a:endParaRPr lang="en-US" sz="1000" dirty="0"/>
          </a:p>
        </p:txBody>
      </p:sp>
      <p:sp>
        <p:nvSpPr>
          <p:cNvPr id="21" name="Shape 19"/>
          <p:cNvSpPr/>
          <p:nvPr/>
        </p:nvSpPr>
        <p:spPr>
          <a:xfrm>
            <a:off x="10789920" y="3438144"/>
            <a:ext cx="274320" cy="0"/>
          </a:xfrm>
          <a:prstGeom prst="line">
            <a:avLst/>
          </a:prstGeom>
          <a:noFill/>
          <a:ln w="19050">
            <a:solidFill>
              <a:srgbClr val="F5A65B"/>
            </a:solidFill>
            <a:prstDash val="solid"/>
            <a:tailEnd type="triangle"/>
          </a:ln>
        </p:spPr>
      </p:sp>
      <p:sp>
        <p:nvSpPr>
          <p:cNvPr id="22" name="Text 20"/>
          <p:cNvSpPr/>
          <p:nvPr/>
        </p:nvSpPr>
        <p:spPr>
          <a:xfrm>
            <a:off x="11064240" y="3108960"/>
            <a:ext cx="640080" cy="658368"/>
          </a:xfrm>
          <a:prstGeom prst="roundRect">
            <a:avLst>
              <a:gd name="adj" fmla="val 11429"/>
            </a:avLst>
          </a:prstGeom>
          <a:solidFill>
            <a:srgbClr val="4A3420"/>
          </a:solidFill>
          <a:ln w="12700">
            <a:solidFill>
              <a:srgbClr val="F5A65B"/>
            </a:solidFill>
            <a:prstDash val="solid"/>
          </a:ln>
        </p:spPr>
        <p:txBody>
          <a:bodyPr wrap="square" lIns="76200" tIns="76200" rIns="76200" bIns="76200" rtlCol="0" anchor="ctr"/>
          <a:lstStyle/>
          <a:p>
            <a:pPr marL="0" indent="0" algn="ctr">
              <a:buNone/>
            </a:pPr>
            <a:r>
              <a:rPr lang="en-US" sz="1600" b="1" dirty="0">
                <a:solidFill>
                  <a:srgbClr val="F5A65B"/>
                </a:solidFill>
                <a:latin typeface="Segoe UI" pitchFamily="34" charset="0"/>
                <a:ea typeface="Segoe UI" pitchFamily="34" charset="-122"/>
                <a:cs typeface="Segoe UI" pitchFamily="34" charset="-120"/>
              </a:rPr>
              <a:t>401</a:t>
            </a:r>
            <a:endParaRPr lang="en-US" sz="1600" dirty="0"/>
          </a:p>
        </p:txBody>
      </p:sp>
      <p:sp>
        <p:nvSpPr>
          <p:cNvPr id="23" name="Text 21"/>
          <p:cNvSpPr/>
          <p:nvPr/>
        </p:nvSpPr>
        <p:spPr>
          <a:xfrm>
            <a:off x="5440680" y="411480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TOKEN MEMBER HỢP LỆ → /api/admin</a:t>
            </a:r>
            <a:endParaRPr lang="en-US" sz="1050" dirty="0"/>
          </a:p>
        </p:txBody>
      </p:sp>
      <p:sp>
        <p:nvSpPr>
          <p:cNvPr id="24" name="Text 22"/>
          <p:cNvSpPr/>
          <p:nvPr/>
        </p:nvSpPr>
        <p:spPr>
          <a:xfrm>
            <a:off x="544068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Consolas" pitchFamily="34" charset="0"/>
                <a:ea typeface="Consolas" pitchFamily="34" charset="-122"/>
                <a:cs typeface="Consolas" pitchFamily="34" charset="-120"/>
              </a:rPr>
              <a:t>chữ ký đúng</a:t>
            </a:r>
            <a:endParaRPr lang="en-US" sz="1000" dirty="0"/>
          </a:p>
          <a:p>
            <a:pPr marL="0" indent="0" algn="ctr">
              <a:buNone/>
            </a:pPr>
            <a:r>
              <a:rPr lang="en-US" sz="1000" dirty="0">
                <a:solidFill>
                  <a:srgbClr val="E8ECF5"/>
                </a:solidFill>
                <a:latin typeface="Consolas" pitchFamily="34" charset="0"/>
                <a:ea typeface="Consolas" pitchFamily="34" charset="-122"/>
                <a:cs typeface="Consolas" pitchFamily="34" charset="-120"/>
              </a:rPr>
              <a:t>iss / aud / exp ok</a:t>
            </a:r>
            <a:endParaRPr lang="en-US" sz="1000" dirty="0"/>
          </a:p>
        </p:txBody>
      </p:sp>
      <p:sp>
        <p:nvSpPr>
          <p:cNvPr id="25" name="Shape 23"/>
          <p:cNvSpPr/>
          <p:nvPr/>
        </p:nvSpPr>
        <p:spPr>
          <a:xfrm>
            <a:off x="7040880" y="4764024"/>
            <a:ext cx="274320" cy="0"/>
          </a:xfrm>
          <a:prstGeom prst="line">
            <a:avLst/>
          </a:prstGeom>
          <a:noFill/>
          <a:ln w="19050">
            <a:solidFill>
              <a:srgbClr val="F28B9A"/>
            </a:solidFill>
            <a:prstDash val="solid"/>
            <a:tailEnd type="triangle"/>
          </a:ln>
        </p:spPr>
      </p:sp>
      <p:sp>
        <p:nvSpPr>
          <p:cNvPr id="26" name="Text 24"/>
          <p:cNvSpPr/>
          <p:nvPr/>
        </p:nvSpPr>
        <p:spPr>
          <a:xfrm>
            <a:off x="731520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principal</a:t>
            </a:r>
            <a:endParaRPr lang="en-US" sz="1000" dirty="0"/>
          </a:p>
          <a:p>
            <a:pPr marL="0" indent="0" algn="ctr">
              <a:buNone/>
            </a:pPr>
            <a:r>
              <a:rPr lang="en-US" sz="1000" dirty="0">
                <a:solidFill>
                  <a:srgbClr val="E8ECF5"/>
                </a:solidFill>
                <a:latin typeface="Segoe UI" pitchFamily="34" charset="0"/>
                <a:ea typeface="Segoe UI" pitchFamily="34" charset="-122"/>
                <a:cs typeface="Segoe UI" pitchFamily="34" charset="-120"/>
              </a:rPr>
              <a:t>role = member</a:t>
            </a:r>
            <a:endParaRPr lang="en-US" sz="1000" dirty="0"/>
          </a:p>
        </p:txBody>
      </p:sp>
      <p:sp>
        <p:nvSpPr>
          <p:cNvPr id="27" name="Shape 25"/>
          <p:cNvSpPr/>
          <p:nvPr/>
        </p:nvSpPr>
        <p:spPr>
          <a:xfrm>
            <a:off x="8915400" y="4764024"/>
            <a:ext cx="274320" cy="0"/>
          </a:xfrm>
          <a:prstGeom prst="line">
            <a:avLst/>
          </a:prstGeom>
          <a:noFill/>
          <a:ln w="19050">
            <a:solidFill>
              <a:srgbClr val="F28B9A"/>
            </a:solidFill>
            <a:prstDash val="solid"/>
            <a:tailEnd type="triangle"/>
          </a:ln>
        </p:spPr>
      </p:sp>
      <p:sp>
        <p:nvSpPr>
          <p:cNvPr id="28" name="Text 26"/>
          <p:cNvSpPr/>
          <p:nvPr/>
        </p:nvSpPr>
        <p:spPr>
          <a:xfrm>
            <a:off x="9189720" y="4434840"/>
            <a:ext cx="1600200" cy="658368"/>
          </a:xfrm>
          <a:prstGeom prst="roundRect">
            <a:avLst>
              <a:gd name="adj" fmla="val 1111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000" dirty="0">
                <a:solidFill>
                  <a:srgbClr val="E8ECF5"/>
                </a:solidFill>
                <a:latin typeface="Segoe UI" pitchFamily="34" charset="0"/>
                <a:ea typeface="Segoe UI" pitchFamily="34" charset="-122"/>
                <a:cs typeface="Segoe UI" pitchFamily="34" charset="-120"/>
              </a:rPr>
              <a:t>policy: chỉ admin</a:t>
            </a:r>
            <a:endParaRPr lang="en-US" sz="1000" dirty="0"/>
          </a:p>
        </p:txBody>
      </p:sp>
      <p:sp>
        <p:nvSpPr>
          <p:cNvPr id="29" name="Shape 27"/>
          <p:cNvSpPr/>
          <p:nvPr/>
        </p:nvSpPr>
        <p:spPr>
          <a:xfrm>
            <a:off x="10789920" y="4764024"/>
            <a:ext cx="274320" cy="0"/>
          </a:xfrm>
          <a:prstGeom prst="line">
            <a:avLst/>
          </a:prstGeom>
          <a:noFill/>
          <a:ln w="19050">
            <a:solidFill>
              <a:srgbClr val="F28B9A"/>
            </a:solidFill>
            <a:prstDash val="solid"/>
            <a:tailEnd type="triangle"/>
          </a:ln>
        </p:spPr>
      </p:sp>
      <p:sp>
        <p:nvSpPr>
          <p:cNvPr id="30" name="Text 28"/>
          <p:cNvSpPr/>
          <p:nvPr/>
        </p:nvSpPr>
        <p:spPr>
          <a:xfrm>
            <a:off x="11064240" y="4434840"/>
            <a:ext cx="640080" cy="658368"/>
          </a:xfrm>
          <a:prstGeom prst="roundRect">
            <a:avLst>
              <a:gd name="adj" fmla="val 11429"/>
            </a:avLst>
          </a:prstGeom>
          <a:solidFill>
            <a:srgbClr val="4D2530"/>
          </a:solidFill>
          <a:ln w="12700">
            <a:solidFill>
              <a:srgbClr val="F28B9A"/>
            </a:solidFill>
            <a:prstDash val="solid"/>
          </a:ln>
        </p:spPr>
        <p:txBody>
          <a:bodyPr wrap="square" lIns="76200" tIns="76200" rIns="76200" bIns="76200" rtlCol="0" anchor="ctr"/>
          <a:lstStyle/>
          <a:p>
            <a:pPr marL="0" indent="0" algn="ctr">
              <a:buNone/>
            </a:pPr>
            <a:r>
              <a:rPr lang="en-US" sz="1600" b="1" dirty="0">
                <a:solidFill>
                  <a:srgbClr val="F28B9A"/>
                </a:solidFill>
                <a:latin typeface="Segoe UI" pitchFamily="34" charset="0"/>
                <a:ea typeface="Segoe UI" pitchFamily="34" charset="-122"/>
                <a:cs typeface="Segoe UI" pitchFamily="34" charset="-120"/>
              </a:rPr>
              <a:t>403</a:t>
            </a:r>
            <a:endParaRPr lang="en-US" sz="1600" dirty="0"/>
          </a:p>
        </p:txBody>
      </p:sp>
      <p:sp>
        <p:nvSpPr>
          <p:cNvPr id="31" name="Text 29"/>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marL="0" indent="0" algn="ctr">
              <a:buNone/>
            </a:pPr>
            <a:r>
              <a:rPr lang="en-US" sz="1500" b="1" u="sng" dirty="0">
                <a:solidFill>
                  <a:srgbClr val="111329"/>
                </a:solidFill>
                <a:latin typeface="Segoe UI" pitchFamily="34" charset="0"/>
                <a:ea typeface="Segoe UI" pitchFamily="34" charset="-122"/>
                <a:cs typeface="Segoe UI" pitchFamily="34" charset="-120"/>
                <a:hlinkClick r:id="rId3" tooltip="http://localhost:5173/demo/jwt">
                  <a:extLst>
                    <a:ext uri="{A12FA001-AC4F-418D-AE19-62706E023703}">
                      <ahyp:hlinkClr xmlns:ahyp="http://schemas.microsoft.com/office/drawing/2018/hyperlinkcolor" val="tx"/>
                    </a:ext>
                  </a:extLst>
                </a:hlinkClick>
              </a:rPr>
              <a:t>Mở JWT Demo ↗</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JWT  ·  SLIDE 19/33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Access token và refresh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​Access: JWT ngắn hạn, gửi Bearer tới API.</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​Refresh: opaque, chỉ </a:t>
            </a:r>
            <a:r>
              <a:rPr lang="en-US" sz="1800" dirty="0">
                <a:solidFill>
                  <a:srgbClr val="B5A5FF"/>
                </a:solidFill>
                <a:latin typeface="Consolas" pitchFamily="34" charset="0"/>
                <a:ea typeface="Consolas" pitchFamily="34" charset="-122"/>
                <a:cs typeface="Consolas" pitchFamily="34" charset="-120"/>
              </a:rPr>
              <a:t>/tokens/refresh</a:t>
            </a:r>
            <a:r>
              <a:rPr lang="en-US" sz="1800" dirty="0">
                <a:solidFill>
                  <a:srgbClr val="E8ECF5"/>
                </a:solidFill>
                <a:latin typeface="Segoe UI" pitchFamily="34" charset="0"/>
                <a:ea typeface="Segoe UI" pitchFamily="34" charset="-122"/>
                <a:cs typeface="Segoe UI" pitchFamily="34" charset="-120"/>
              </a:rPr>
              <a:t>.</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​Rotate: token mới, cái cũ = rotated.</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​Reuse RT cũ → </a:t>
            </a:r>
            <a:r>
              <a:rPr lang="en-US" sz="1800" dirty="0">
                <a:solidFill>
                  <a:srgbClr val="B5A5FF"/>
                </a:solidFill>
                <a:latin typeface="Consolas" pitchFamily="34" charset="0"/>
                <a:ea typeface="Consolas" pitchFamily="34" charset="-122"/>
                <a:cs typeface="Consolas" pitchFamily="34" charset="-120"/>
              </a:rPr>
              <a:t>401</a:t>
            </a:r>
            <a:r>
              <a:rPr lang="en-US" sz="1800" dirty="0">
                <a:solidFill>
                  <a:srgbClr val="E8ECF5"/>
                </a:solidFill>
                <a:latin typeface="Segoe UI" pitchFamily="34" charset="0"/>
                <a:ea typeface="Segoe UI" pitchFamily="34" charset="-122"/>
                <a:cs typeface="Segoe UI" pitchFamily="34" charset="-120"/>
              </a:rPr>
              <a:t>, thu hồi family.</a:t>
            </a:r>
            <a:endParaRPr lang="en-US" sz="1800" dirty="0"/>
          </a:p>
        </p:txBody>
      </p:sp>
      <p:sp>
        <p:nvSpPr>
          <p:cNvPr id="7" name="Text 5"/>
          <p:cNvSpPr/>
          <p:nvPr/>
        </p:nvSpPr>
        <p:spPr>
          <a:xfrm>
            <a:off x="5440680" y="1463040"/>
            <a:ext cx="3040380" cy="868680"/>
          </a:xfrm>
          <a:prstGeom prst="roundRect">
            <a:avLst>
              <a:gd name="adj" fmla="val 842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200" b="1" dirty="0">
                <a:solidFill>
                  <a:srgbClr val="B5A5FF"/>
                </a:solidFill>
                <a:latin typeface="Segoe UI" pitchFamily="34" charset="0"/>
                <a:ea typeface="Segoe UI" pitchFamily="34" charset="-122"/>
                <a:cs typeface="Segoe UI" pitchFamily="34" charset="-120"/>
              </a:rPr>
              <a:t>Access token · JWT</a:t>
            </a:r>
            <a:endParaRPr lang="en-US" sz="1200" dirty="0"/>
          </a:p>
          <a:p>
            <a:pPr marL="0" indent="0" algn="ctr">
              <a:buNone/>
            </a:pPr>
            <a:r>
              <a:rPr lang="en-US" sz="1050" dirty="0">
                <a:solidFill>
                  <a:srgbClr val="E8ECF5"/>
                </a:solidFill>
                <a:latin typeface="Segoe UI" pitchFamily="34" charset="0"/>
                <a:ea typeface="Segoe UI" pitchFamily="34" charset="-122"/>
                <a:cs typeface="Segoe UI" pitchFamily="34" charset="-120"/>
              </a:rPr>
              <a:t>ngắn hạn · gửi tới API</a:t>
            </a:r>
            <a:endParaRPr lang="en-US" sz="1200" dirty="0"/>
          </a:p>
          <a:p>
            <a:pPr marL="0" indent="0" algn="ctr">
              <a:buNone/>
            </a:pPr>
            <a:r>
              <a:rPr lang="en-US" sz="1050" dirty="0">
                <a:solidFill>
                  <a:srgbClr val="E8ECF5"/>
                </a:solidFill>
                <a:latin typeface="Segoe UI" pitchFamily="34" charset="0"/>
                <a:ea typeface="Segoe UI" pitchFamily="34" charset="-122"/>
                <a:cs typeface="Segoe UI" pitchFamily="34" charset="-120"/>
              </a:rPr>
              <a:t>Authorization: Bearer</a:t>
            </a:r>
            <a:endParaRPr lang="en-US" sz="1200" dirty="0"/>
          </a:p>
        </p:txBody>
      </p:sp>
      <p:sp>
        <p:nvSpPr>
          <p:cNvPr id="8" name="Text 6"/>
          <p:cNvSpPr/>
          <p:nvPr/>
        </p:nvSpPr>
        <p:spPr>
          <a:xfrm>
            <a:off x="8663940" y="1463040"/>
            <a:ext cx="3040380" cy="868680"/>
          </a:xfrm>
          <a:prstGeom prst="roundRect">
            <a:avLst>
              <a:gd name="adj" fmla="val 8421"/>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200" b="1" dirty="0">
                <a:solidFill>
                  <a:srgbClr val="6EE7B7"/>
                </a:solidFill>
                <a:latin typeface="Segoe UI" pitchFamily="34" charset="0"/>
                <a:ea typeface="Segoe UI" pitchFamily="34" charset="-122"/>
                <a:cs typeface="Segoe UI" pitchFamily="34" charset="-120"/>
              </a:rPr>
              <a:t>Refresh token · opaque</a:t>
            </a:r>
            <a:endParaRPr lang="en-US" sz="1200" dirty="0"/>
          </a:p>
          <a:p>
            <a:pPr marL="0" indent="0" algn="ctr">
              <a:buNone/>
            </a:pPr>
            <a:r>
              <a:rPr lang="en-US" sz="1050" dirty="0">
                <a:solidFill>
                  <a:srgbClr val="E8ECF5"/>
                </a:solidFill>
                <a:latin typeface="Segoe UI" pitchFamily="34" charset="0"/>
                <a:ea typeface="Segoe UI" pitchFamily="34" charset="-122"/>
                <a:cs typeface="Segoe UI" pitchFamily="34" charset="-120"/>
              </a:rPr>
              <a:t>chỉ /tokens/refresh · server lưu hash</a:t>
            </a:r>
            <a:endParaRPr lang="en-US" sz="1200" dirty="0"/>
          </a:p>
        </p:txBody>
      </p:sp>
      <p:sp>
        <p:nvSpPr>
          <p:cNvPr id="9" name="Text 7"/>
          <p:cNvSpPr/>
          <p:nvPr/>
        </p:nvSpPr>
        <p:spPr>
          <a:xfrm>
            <a:off x="5440680" y="260604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ROTATION — MỖI LẦN REFRESH CẤP TOKEN MỚI</a:t>
            </a:r>
            <a:endParaRPr lang="en-US" sz="1050" dirty="0"/>
          </a:p>
        </p:txBody>
      </p:sp>
      <p:sp>
        <p:nvSpPr>
          <p:cNvPr id="10" name="Text 8"/>
          <p:cNvSpPr/>
          <p:nvPr/>
        </p:nvSpPr>
        <p:spPr>
          <a:xfrm>
            <a:off x="5440680" y="2971800"/>
            <a:ext cx="155448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8F9BB3"/>
                </a:solidFill>
                <a:latin typeface="Consolas" pitchFamily="34" charset="0"/>
                <a:ea typeface="Consolas" pitchFamily="34" charset="-122"/>
                <a:cs typeface="Consolas" pitchFamily="34" charset="-120"/>
              </a:rPr>
              <a:t>RT1</a:t>
            </a:r>
            <a:endParaRPr lang="en-US" sz="1100" dirty="0"/>
          </a:p>
          <a:p>
            <a:pPr marL="0" indent="0" algn="ctr">
              <a:buNone/>
            </a:pPr>
            <a:r>
              <a:rPr lang="en-US" sz="1100" dirty="0">
                <a:solidFill>
                  <a:srgbClr val="8F9BB3"/>
                </a:solidFill>
                <a:latin typeface="Consolas" pitchFamily="34" charset="0"/>
                <a:ea typeface="Consolas" pitchFamily="34" charset="-122"/>
                <a:cs typeface="Consolas" pitchFamily="34" charset="-120"/>
              </a:rPr>
              <a:t>rotated</a:t>
            </a:r>
            <a:endParaRPr lang="en-US" sz="1100" dirty="0"/>
          </a:p>
        </p:txBody>
      </p:sp>
      <p:sp>
        <p:nvSpPr>
          <p:cNvPr id="11" name="Shape 9"/>
          <p:cNvSpPr/>
          <p:nvPr/>
        </p:nvSpPr>
        <p:spPr>
          <a:xfrm>
            <a:off x="6995160" y="3310128"/>
            <a:ext cx="800100" cy="0"/>
          </a:xfrm>
          <a:prstGeom prst="line">
            <a:avLst/>
          </a:prstGeom>
          <a:noFill/>
          <a:ln w="19050">
            <a:solidFill>
              <a:srgbClr val="6EE7B7"/>
            </a:solidFill>
            <a:prstDash val="solid"/>
            <a:tailEnd type="triangle"/>
          </a:ln>
        </p:spPr>
      </p:sp>
      <p:sp>
        <p:nvSpPr>
          <p:cNvPr id="12" name="Text 10"/>
          <p:cNvSpPr/>
          <p:nvPr/>
        </p:nvSpPr>
        <p:spPr>
          <a:xfrm>
            <a:off x="6995160" y="2990088"/>
            <a:ext cx="800100" cy="274320"/>
          </a:xfrm>
          <a:prstGeom prst="rect">
            <a:avLst/>
          </a:prstGeom>
          <a:noFill/>
          <a:ln/>
        </p:spPr>
        <p:txBody>
          <a:bodyPr wrap="square" lIns="25400" tIns="25400" rIns="25400" bIns="25400" rtlCol="0" anchor="ctr"/>
          <a:lstStyle/>
          <a:p>
            <a:pPr marL="0" indent="0" algn="ctr">
              <a:buNone/>
            </a:pPr>
            <a:r>
              <a:rPr lang="en-US" sz="950" dirty="0">
                <a:solidFill>
                  <a:srgbClr val="8F9BB3"/>
                </a:solidFill>
                <a:latin typeface="Segoe UI" pitchFamily="34" charset="0"/>
                <a:ea typeface="Segoe UI" pitchFamily="34" charset="-122"/>
                <a:cs typeface="Segoe UI" pitchFamily="34" charset="-120"/>
              </a:rPr>
              <a:t>refresh</a:t>
            </a:r>
            <a:endParaRPr lang="en-US" sz="950" dirty="0"/>
          </a:p>
        </p:txBody>
      </p:sp>
      <p:sp>
        <p:nvSpPr>
          <p:cNvPr id="13" name="Text 11"/>
          <p:cNvSpPr/>
          <p:nvPr/>
        </p:nvSpPr>
        <p:spPr>
          <a:xfrm>
            <a:off x="7795260" y="2971800"/>
            <a:ext cx="155448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dirty="0">
                <a:solidFill>
                  <a:srgbClr val="8F9BB3"/>
                </a:solidFill>
                <a:latin typeface="Consolas" pitchFamily="34" charset="0"/>
                <a:ea typeface="Consolas" pitchFamily="34" charset="-122"/>
                <a:cs typeface="Consolas" pitchFamily="34" charset="-120"/>
              </a:rPr>
              <a:t>RT2</a:t>
            </a:r>
            <a:endParaRPr lang="en-US" sz="1100" dirty="0"/>
          </a:p>
          <a:p>
            <a:pPr marL="0" indent="0" algn="ctr">
              <a:buNone/>
            </a:pPr>
            <a:r>
              <a:rPr lang="en-US" sz="1100" dirty="0">
                <a:solidFill>
                  <a:srgbClr val="8F9BB3"/>
                </a:solidFill>
                <a:latin typeface="Consolas" pitchFamily="34" charset="0"/>
                <a:ea typeface="Consolas" pitchFamily="34" charset="-122"/>
                <a:cs typeface="Consolas" pitchFamily="34" charset="-120"/>
              </a:rPr>
              <a:t>rotated</a:t>
            </a:r>
            <a:endParaRPr lang="en-US" sz="1100" dirty="0"/>
          </a:p>
        </p:txBody>
      </p:sp>
      <p:sp>
        <p:nvSpPr>
          <p:cNvPr id="14" name="Shape 12"/>
          <p:cNvSpPr/>
          <p:nvPr/>
        </p:nvSpPr>
        <p:spPr>
          <a:xfrm>
            <a:off x="9349740" y="3310128"/>
            <a:ext cx="800100" cy="0"/>
          </a:xfrm>
          <a:prstGeom prst="line">
            <a:avLst/>
          </a:prstGeom>
          <a:noFill/>
          <a:ln w="19050">
            <a:solidFill>
              <a:srgbClr val="6EE7B7"/>
            </a:solidFill>
            <a:prstDash val="solid"/>
            <a:tailEnd type="triangle"/>
          </a:ln>
        </p:spPr>
      </p:sp>
      <p:sp>
        <p:nvSpPr>
          <p:cNvPr id="15" name="Text 13"/>
          <p:cNvSpPr/>
          <p:nvPr/>
        </p:nvSpPr>
        <p:spPr>
          <a:xfrm>
            <a:off x="9349740" y="2990088"/>
            <a:ext cx="800100" cy="274320"/>
          </a:xfrm>
          <a:prstGeom prst="rect">
            <a:avLst/>
          </a:prstGeom>
          <a:noFill/>
          <a:ln/>
        </p:spPr>
        <p:txBody>
          <a:bodyPr wrap="square" lIns="25400" tIns="25400" rIns="25400" bIns="25400" rtlCol="0" anchor="ctr"/>
          <a:lstStyle/>
          <a:p>
            <a:pPr marL="0" indent="0" algn="ctr">
              <a:buNone/>
            </a:pPr>
            <a:r>
              <a:rPr lang="en-US" sz="950" dirty="0">
                <a:solidFill>
                  <a:srgbClr val="8F9BB3"/>
                </a:solidFill>
                <a:latin typeface="Segoe UI" pitchFamily="34" charset="0"/>
                <a:ea typeface="Segoe UI" pitchFamily="34" charset="-122"/>
                <a:cs typeface="Segoe UI" pitchFamily="34" charset="-120"/>
              </a:rPr>
              <a:t>refresh</a:t>
            </a:r>
            <a:endParaRPr lang="en-US" sz="950" dirty="0"/>
          </a:p>
        </p:txBody>
      </p:sp>
      <p:sp>
        <p:nvSpPr>
          <p:cNvPr id="16" name="Text 14"/>
          <p:cNvSpPr/>
          <p:nvPr/>
        </p:nvSpPr>
        <p:spPr>
          <a:xfrm>
            <a:off x="10149840" y="2971800"/>
            <a:ext cx="1554480" cy="685800"/>
          </a:xfrm>
          <a:prstGeom prst="roundRect">
            <a:avLst>
              <a:gd name="adj" fmla="val 10667"/>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100" dirty="0">
                <a:solidFill>
                  <a:srgbClr val="6EE7B7"/>
                </a:solidFill>
                <a:latin typeface="Consolas" pitchFamily="34" charset="0"/>
                <a:ea typeface="Consolas" pitchFamily="34" charset="-122"/>
                <a:cs typeface="Consolas" pitchFamily="34" charset="-120"/>
              </a:rPr>
              <a:t>RT3</a:t>
            </a:r>
            <a:endParaRPr lang="en-US" sz="1100" dirty="0"/>
          </a:p>
          <a:p>
            <a:pPr marL="0" indent="0" algn="ctr">
              <a:buNone/>
            </a:pPr>
            <a:r>
              <a:rPr lang="en-US" sz="1100" dirty="0">
                <a:solidFill>
                  <a:srgbClr val="6EE7B7"/>
                </a:solidFill>
                <a:latin typeface="Consolas" pitchFamily="34" charset="0"/>
                <a:ea typeface="Consolas" pitchFamily="34" charset="-122"/>
                <a:cs typeface="Consolas" pitchFamily="34" charset="-120"/>
              </a:rPr>
              <a:t>active</a:t>
            </a:r>
            <a:endParaRPr lang="en-US" sz="1100" dirty="0"/>
          </a:p>
        </p:txBody>
      </p:sp>
      <p:sp>
        <p:nvSpPr>
          <p:cNvPr id="17" name="Text 15"/>
          <p:cNvSpPr/>
          <p:nvPr/>
        </p:nvSpPr>
        <p:spPr>
          <a:xfrm>
            <a:off x="5440680" y="397764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REUSE DETECTION</a:t>
            </a:r>
            <a:endParaRPr lang="en-US" sz="1050" dirty="0"/>
          </a:p>
        </p:txBody>
      </p:sp>
      <p:sp>
        <p:nvSpPr>
          <p:cNvPr id="18" name="Text 16"/>
          <p:cNvSpPr/>
          <p:nvPr/>
        </p:nvSpPr>
        <p:spPr>
          <a:xfrm>
            <a:off x="5440680" y="4343400"/>
            <a:ext cx="1920240" cy="777240"/>
          </a:xfrm>
          <a:prstGeom prst="roundRect">
            <a:avLst>
              <a:gd name="adj" fmla="val 9412"/>
            </a:avLst>
          </a:prstGeom>
          <a:solidFill>
            <a:srgbClr val="182238"/>
          </a:solidFill>
          <a:ln w="12700">
            <a:solidFill>
              <a:srgbClr val="F28B9A"/>
            </a:solidFill>
            <a:prstDash val="solid"/>
          </a:ln>
        </p:spPr>
        <p:txBody>
          <a:bodyPr wrap="square" lIns="76200" tIns="76200" rIns="76200" bIns="76200" rtlCol="0" anchor="ctr"/>
          <a:lstStyle/>
          <a:p>
            <a:pPr marL="0" indent="0" algn="ctr">
              <a:buNone/>
            </a:pPr>
            <a:r>
              <a:rPr lang="en-US" sz="1100" dirty="0">
                <a:solidFill>
                  <a:srgbClr val="E8ECF5"/>
                </a:solidFill>
                <a:latin typeface="Segoe UI" pitchFamily="34" charset="0"/>
                <a:ea typeface="Segoe UI" pitchFamily="34" charset="-122"/>
                <a:cs typeface="Segoe UI" pitchFamily="34" charset="-120"/>
              </a:rPr>
              <a:t>Ai đó dùng lại RT1</a:t>
            </a:r>
            <a:endParaRPr lang="en-US" sz="1100" dirty="0"/>
          </a:p>
          <a:p>
            <a:pPr marL="0" indent="0" algn="ctr">
              <a:buNone/>
            </a:pPr>
            <a:r>
              <a:rPr lang="en-US" sz="1100" dirty="0">
                <a:solidFill>
                  <a:srgbClr val="E8ECF5"/>
                </a:solidFill>
                <a:latin typeface="Segoe UI" pitchFamily="34" charset="0"/>
                <a:ea typeface="Segoe UI" pitchFamily="34" charset="-122"/>
                <a:cs typeface="Segoe UI" pitchFamily="34" charset="-120"/>
              </a:rPr>
              <a:t>(đã rotate)</a:t>
            </a:r>
            <a:endParaRPr lang="en-US" sz="1100" dirty="0"/>
          </a:p>
        </p:txBody>
      </p:sp>
      <p:sp>
        <p:nvSpPr>
          <p:cNvPr id="19" name="Shape 17"/>
          <p:cNvSpPr/>
          <p:nvPr/>
        </p:nvSpPr>
        <p:spPr>
          <a:xfrm>
            <a:off x="7360920" y="4727448"/>
            <a:ext cx="548640" cy="0"/>
          </a:xfrm>
          <a:prstGeom prst="line">
            <a:avLst/>
          </a:prstGeom>
          <a:noFill/>
          <a:ln w="19050">
            <a:solidFill>
              <a:srgbClr val="F28B9A"/>
            </a:solidFill>
            <a:prstDash val="solid"/>
            <a:tailEnd type="triangle"/>
          </a:ln>
        </p:spPr>
      </p:sp>
      <p:sp>
        <p:nvSpPr>
          <p:cNvPr id="20" name="Text 18"/>
          <p:cNvSpPr/>
          <p:nvPr/>
        </p:nvSpPr>
        <p:spPr>
          <a:xfrm>
            <a:off x="7909560" y="4343400"/>
            <a:ext cx="2377440" cy="777240"/>
          </a:xfrm>
          <a:prstGeom prst="roundRect">
            <a:avLst>
              <a:gd name="adj" fmla="val 9412"/>
            </a:avLst>
          </a:prstGeom>
          <a:solidFill>
            <a:srgbClr val="4D2530"/>
          </a:solidFill>
          <a:ln w="12700">
            <a:solidFill>
              <a:srgbClr val="F28B9A"/>
            </a:solidFill>
            <a:prstDash val="solid"/>
          </a:ln>
        </p:spPr>
        <p:txBody>
          <a:bodyPr wrap="square" lIns="76200" tIns="76200" rIns="76200" bIns="76200" rtlCol="0" anchor="ctr"/>
          <a:lstStyle/>
          <a:p>
            <a:pPr marL="0" indent="0" algn="ctr">
              <a:buNone/>
            </a:pPr>
            <a:r>
              <a:rPr lang="en-US" sz="1150" b="1" dirty="0">
                <a:solidFill>
                  <a:srgbClr val="F28B9A"/>
                </a:solidFill>
                <a:latin typeface="Segoe UI" pitchFamily="34" charset="0"/>
                <a:ea typeface="Segoe UI" pitchFamily="34" charset="-122"/>
                <a:cs typeface="Segoe UI" pitchFamily="34" charset="-120"/>
              </a:rPr>
              <a:t>401 + thu hồi cả family</a:t>
            </a:r>
            <a:endParaRPr lang="en-US" sz="1150" dirty="0"/>
          </a:p>
          <a:p>
            <a:pPr marL="0" indent="0" algn="ctr">
              <a:buNone/>
            </a:pPr>
            <a:r>
              <a:rPr lang="en-US" sz="1150" b="1" dirty="0">
                <a:solidFill>
                  <a:srgbClr val="F28B9A"/>
                </a:solidFill>
                <a:latin typeface="Segoe UI" pitchFamily="34" charset="0"/>
                <a:ea typeface="Segoe UI" pitchFamily="34" charset="-122"/>
                <a:cs typeface="Segoe UI" pitchFamily="34" charset="-120"/>
              </a:rPr>
              <a:t>(RT1, RT2, RT3)</a:t>
            </a:r>
            <a:endParaRPr lang="en-US" sz="1150" dirty="0"/>
          </a:p>
        </p:txBody>
      </p:sp>
      <p:sp>
        <p:nvSpPr>
          <p:cNvPr id="21" name="Text 19"/>
          <p:cNvSpPr/>
          <p:nvPr/>
        </p:nvSpPr>
        <p:spPr>
          <a:xfrm>
            <a:off x="10378440" y="4297680"/>
            <a:ext cx="1325880" cy="868680"/>
          </a:xfrm>
          <a:prstGeom prst="rect">
            <a:avLst/>
          </a:prstGeom>
          <a:noFill/>
          <a:ln/>
        </p:spPr>
        <p:txBody>
          <a:bodyPr wrap="square" lIns="25400" tIns="25400" rIns="25400" bIns="25400" rtlCol="0" anchor="ctr"/>
          <a:lstStyle/>
          <a:p>
            <a:pPr marL="0" indent="0" algn="l">
              <a:buNone/>
            </a:pPr>
            <a:r>
              <a:rPr lang="en-US" sz="1100" dirty="0">
                <a:solidFill>
                  <a:srgbClr val="8F9BB3"/>
                </a:solidFill>
                <a:latin typeface="Segoe UI" pitchFamily="34" charset="0"/>
                <a:ea typeface="Segoe UI" pitchFamily="34" charset="-122"/>
                <a:cs typeface="Segoe UI" pitchFamily="34" charset="-120"/>
              </a:rPr>
              <a:t>Không phân biệt attacker → huỷ family, login lại.</a:t>
            </a:r>
            <a:endParaRPr lang="en-US" sz="1100" dirty="0"/>
          </a:p>
        </p:txBody>
      </p:sp>
      <p:sp>
        <p:nvSpPr>
          <p:cNvPr id="22" name="Text 20"/>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marL="0" indent="0" algn="ctr">
              <a:buNone/>
            </a:pPr>
            <a:r>
              <a:rPr lang="en-US" sz="1500" b="1" u="sng" dirty="0">
                <a:solidFill>
                  <a:srgbClr val="111329"/>
                </a:solidFill>
                <a:latin typeface="Segoe UI" pitchFamily="34" charset="0"/>
                <a:ea typeface="Segoe UI" pitchFamily="34" charset="-122"/>
                <a:cs typeface="Segoe UI" pitchFamily="34" charset="-120"/>
                <a:hlinkClick r:id="rId3" tooltip="http://localhost:5173/demo/tokens">
                  <a:extLst>
                    <a:ext uri="{A12FA001-AC4F-418D-AE19-62706E023703}">
                      <ahyp:hlinkClr xmlns:ahyp="http://schemas.microsoft.com/office/drawing/2018/hyperlinkcolor" val="tx"/>
                    </a:ext>
                  </a:extLst>
                </a:hlinkClick>
              </a:rPr>
              <a:t>Mở Token Lifecycle Demo ↗</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JWT  ·  SLIDE 20/33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Session hay JWT?</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621792">
                <a:tc>
                  <a:txBody>
                    <a:bodyPr/>
                    <a:lstStyle/>
                    <a:p>
                      <a:pPr marL="0" indent="0">
                        <a:buNone/>
                      </a:pPr>
                      <a:r>
                        <a:rPr lang="en-US" sz="1600" b="1" dirty="0">
                          <a:solidFill>
                            <a:srgbClr val="B5A5FF"/>
                          </a:solidFill>
                          <a:latin typeface="Segoe UI" pitchFamily="34" charset="0"/>
                          <a:ea typeface="Segoe UI" pitchFamily="34" charset="-122"/>
                          <a:cs typeface="Segoe UI" pitchFamily="34" charset="-120"/>
                        </a:rPr>
                        <a:t>Tiêu chí</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marL="0" indent="0">
                        <a:buNone/>
                      </a:pPr>
                      <a:r>
                        <a:rPr lang="en-US" sz="1600" b="1" dirty="0">
                          <a:solidFill>
                            <a:srgbClr val="B5A5FF"/>
                          </a:solidFill>
                          <a:latin typeface="Segoe UI" pitchFamily="34" charset="0"/>
                          <a:ea typeface="Segoe UI" pitchFamily="34" charset="-122"/>
                          <a:cs typeface="Segoe UI" pitchFamily="34" charset="-120"/>
                        </a:rPr>
                        <a:t>Session (stateful)</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tc>
                  <a:txBody>
                    <a:bodyPr/>
                    <a:lstStyle/>
                    <a:p>
                      <a:pPr marL="0" indent="0">
                        <a:buNone/>
                      </a:pPr>
                      <a:r>
                        <a:rPr lang="en-US" sz="1600" b="1" dirty="0">
                          <a:solidFill>
                            <a:srgbClr val="B5A5FF"/>
                          </a:solidFill>
                          <a:latin typeface="Segoe UI" pitchFamily="34" charset="0"/>
                          <a:ea typeface="Segoe UI" pitchFamily="34" charset="-122"/>
                          <a:cs typeface="Segoe UI" pitchFamily="34" charset="-120"/>
                        </a:rPr>
                        <a:t>JWT (stateless)</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82238"/>
                    </a:solidFill>
                  </a:tcPr>
                </a:tc>
                <a:extLst>
                  <a:ext uri="{0D108BD9-81ED-4DB2-BD59-A6C34878D82A}">
                    <a16:rowId xmlns:a16="http://schemas.microsoft.com/office/drawing/2014/main" val="10000"/>
                  </a:ext>
                </a:extLst>
              </a:tr>
              <a:tr h="621792">
                <a:tc>
                  <a:txBody>
                    <a:bodyPr/>
                    <a:lstStyle/>
                    <a:p>
                      <a:pPr marL="0" indent="0">
                        <a:buNone/>
                      </a:pPr>
                      <a:r>
                        <a:rPr lang="en-US" sz="1600" b="1" dirty="0">
                          <a:solidFill>
                            <a:srgbClr val="E8ECF5"/>
                          </a:solidFill>
                          <a:latin typeface="Segoe UI" pitchFamily="34" charset="0"/>
                          <a:ea typeface="Segoe UI" pitchFamily="34" charset="-122"/>
                          <a:cs typeface="Segoe UI" pitchFamily="34" charset="-120"/>
                        </a:rPr>
                        <a:t>Trạng thái</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Ở server (session store)</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Nằm trong access token</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1"/>
                  </a:ext>
                </a:extLst>
              </a:tr>
              <a:tr h="621792">
                <a:tc>
                  <a:txBody>
                    <a:bodyPr/>
                    <a:lstStyle/>
                    <a:p>
                      <a:pPr marL="0" indent="0">
                        <a:buNone/>
                      </a:pPr>
                      <a:r>
                        <a:rPr lang="en-US" sz="1600" b="1" dirty="0">
                          <a:solidFill>
                            <a:srgbClr val="E8ECF5"/>
                          </a:solidFill>
                          <a:latin typeface="Segoe UI" pitchFamily="34" charset="0"/>
                          <a:ea typeface="Segoe UI" pitchFamily="34" charset="-122"/>
                          <a:cs typeface="Segoe UI" pitchFamily="34" charset="-120"/>
                        </a:rPr>
                        <a:t>Revoke</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Xoá session — có hiệu lực ngay</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Chờ exp, hoặc denylist / rotation</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2"/>
                  </a:ext>
                </a:extLst>
              </a:tr>
              <a:tr h="621792">
                <a:tc>
                  <a:txBody>
                    <a:bodyPr/>
                    <a:lstStyle/>
                    <a:p>
                      <a:pPr marL="0" indent="0">
                        <a:buNone/>
                      </a:pPr>
                      <a:r>
                        <a:rPr lang="en-US" sz="1600" b="1" dirty="0">
                          <a:solidFill>
                            <a:srgbClr val="E8ECF5"/>
                          </a:solidFill>
                          <a:latin typeface="Segoe UI" pitchFamily="34" charset="0"/>
                          <a:ea typeface="Segoe UI" pitchFamily="34" charset="-122"/>
                          <a:cs typeface="Segoe UI" pitchFamily="34" charset="-120"/>
                        </a:rPr>
                        <a:t>Scale ngang</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Cần store dùng chung</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Verify ở bất kỳ đâu có key</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3"/>
                  </a:ext>
                </a:extLst>
              </a:tr>
              <a:tr h="621792">
                <a:tc>
                  <a:txBody>
                    <a:bodyPr/>
                    <a:lstStyle/>
                    <a:p>
                      <a:pPr marL="0" indent="0">
                        <a:buNone/>
                      </a:pPr>
                      <a:r>
                        <a:rPr lang="en-US" sz="1600" b="1" dirty="0">
                          <a:solidFill>
                            <a:srgbClr val="E8ECF5"/>
                          </a:solidFill>
                          <a:latin typeface="Segoe UI" pitchFamily="34" charset="0"/>
                          <a:ea typeface="Segoe UI" pitchFamily="34" charset="-122"/>
                          <a:cs typeface="Segoe UI" pitchFamily="34" charset="-120"/>
                        </a:rPr>
                        <a:t>Kích thước</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ID nhỏ</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Lớn hơn, gửi kèm mỗi request</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4"/>
                  </a:ext>
                </a:extLst>
              </a:tr>
              <a:tr h="621792">
                <a:tc>
                  <a:txBody>
                    <a:bodyPr/>
                    <a:lstStyle/>
                    <a:p>
                      <a:pPr marL="0" indent="0">
                        <a:buNone/>
                      </a:pPr>
                      <a:r>
                        <a:rPr lang="en-US" sz="1600" b="1" dirty="0">
                          <a:solidFill>
                            <a:srgbClr val="E8ECF5"/>
                          </a:solidFill>
                          <a:latin typeface="Segoe UI" pitchFamily="34" charset="0"/>
                          <a:ea typeface="Segoe UI" pitchFamily="34" charset="-122"/>
                          <a:cs typeface="Segoe UI" pitchFamily="34" charset="-120"/>
                        </a:rPr>
                        <a:t>Phù hợp</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Web app cùng site</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tc>
                  <a:txBody>
                    <a:bodyPr/>
                    <a:lstStyle/>
                    <a:p>
                      <a:pPr marL="0" indent="0">
                        <a:buNone/>
                      </a:pPr>
                      <a:r>
                        <a:rPr lang="en-US" sz="1600" dirty="0">
                          <a:solidFill>
                            <a:srgbClr val="8F9BB3"/>
                          </a:solidFill>
                          <a:latin typeface="Segoe UI" pitchFamily="34" charset="0"/>
                          <a:ea typeface="Segoe UI" pitchFamily="34" charset="-122"/>
                          <a:cs typeface="Segoe UI" pitchFamily="34" charset="-120"/>
                        </a:rPr>
                        <a:t>Nhiều API, mobile, phân tán</a:t>
                      </a:r>
                      <a:endParaRPr lang="en-US" sz="1600" dirty="0">
                        <a:latin typeface="Segoe UI" charset="0"/>
                        <a:ea typeface="Segoe UI" charset="0"/>
                        <a:cs typeface="Segoe UI" charset="0"/>
                      </a:endParaRPr>
                    </a:p>
                  </a:txBody>
                  <a:tcPr marL="64008" marR="64008" marT="64008" marB="64008" anchor="ctr">
                    <a:lnL w="9525" cap="flat" cmpd="sng" algn="ctr">
                      <a:solidFill>
                        <a:srgbClr val="2A3651"/>
                      </a:solidFill>
                      <a:prstDash val="solid"/>
                      <a:round/>
                      <a:headEnd type="none" w="med" len="med"/>
                      <a:tailEnd type="none" w="med" len="med"/>
                    </a:lnL>
                    <a:lnR w="9525" cap="flat" cmpd="sng" algn="ctr">
                      <a:solidFill>
                        <a:srgbClr val="2A3651"/>
                      </a:solidFill>
                      <a:prstDash val="solid"/>
                      <a:round/>
                      <a:headEnd type="none" w="med" len="med"/>
                      <a:tailEnd type="none" w="med" len="med"/>
                    </a:lnR>
                    <a:lnT w="9525" cap="flat" cmpd="sng" algn="ctr">
                      <a:solidFill>
                        <a:srgbClr val="2A3651"/>
                      </a:solidFill>
                      <a:prstDash val="solid"/>
                      <a:round/>
                      <a:headEnd type="none" w="med" len="med"/>
                      <a:tailEnd type="none" w="med" len="med"/>
                    </a:lnT>
                    <a:lnB w="9525" cap="flat" cmpd="sng" algn="ctr">
                      <a:solidFill>
                        <a:srgbClr val="2A3651"/>
                      </a:solidFill>
                      <a:prstDash val="solid"/>
                      <a:round/>
                      <a:headEnd type="none" w="med" len="med"/>
                      <a:tailEnd type="none" w="med" len="med"/>
                    </a:lnB>
                    <a:solidFill>
                      <a:srgbClr val="131B2E"/>
                    </a:solidFill>
                  </a:tcPr>
                </a:tc>
                <a:extLst>
                  <a:ext uri="{0D108BD9-81ED-4DB2-BD59-A6C34878D82A}">
                    <a16:rowId xmlns:a16="http://schemas.microsoft.com/office/drawing/2014/main" val="10005"/>
                  </a:ext>
                </a:extLst>
              </a:tr>
            </a:tbl>
          </a:graphicData>
        </a:graphic>
      </p:graphicFrame>
      <p:sp>
        <p:nvSpPr>
          <p:cNvPr id="7" name="Text 4"/>
          <p:cNvSpPr/>
          <p:nvPr/>
        </p:nvSpPr>
        <p:spPr>
          <a:xfrm>
            <a:off x="548640" y="5669280"/>
            <a:ext cx="11064240" cy="640080"/>
          </a:xfrm>
          <a:prstGeom prst="roundRect">
            <a:avLst>
              <a:gd name="adj" fmla="val 11429"/>
            </a:avLst>
          </a:prstGeom>
          <a:solidFill>
            <a:srgbClr val="4A3420"/>
          </a:solidFill>
          <a:ln w="12700">
            <a:solidFill>
              <a:srgbClr val="F5A65B"/>
            </a:solidFill>
            <a:prstDash val="solid"/>
          </a:ln>
        </p:spPr>
        <p:txBody>
          <a:bodyPr wrap="square" lIns="152400" tIns="152400" rIns="152400" bIns="152400" rtlCol="0" anchor="ctr"/>
          <a:lstStyle/>
          <a:p>
            <a:pPr marL="0" indent="0" algn="l">
              <a:buNone/>
            </a:pPr>
            <a:r>
              <a:rPr lang="en-US" sz="1600" b="1" dirty="0">
                <a:solidFill>
                  <a:srgbClr val="E8ECF5"/>
                </a:solidFill>
                <a:latin typeface="Segoe UI" pitchFamily="34" charset="0"/>
                <a:ea typeface="Segoe UI" pitchFamily="34" charset="-122"/>
                <a:cs typeface="Segoe UI" pitchFamily="34" charset="-120"/>
              </a:rPr>
              <a:t>Cần revoke ngay → session. Nhiều API / mobile → JWT.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5A5FF"/>
          </a:solidFill>
          <a:ln w="12700">
            <a:solidFill>
              <a:srgbClr val="B5A5FF"/>
            </a:solidFill>
            <a:prstDash val="solid"/>
          </a:ln>
        </p:spPr>
      </p:sp>
      <p:sp>
        <p:nvSpPr>
          <p:cNvPr id="3" name="Text 1"/>
          <p:cNvSpPr/>
          <p:nvPr/>
        </p:nvSpPr>
        <p:spPr>
          <a:xfrm>
            <a:off x="822960" y="1828800"/>
            <a:ext cx="5486400" cy="320040"/>
          </a:xfrm>
          <a:prstGeom prst="rect">
            <a:avLst/>
          </a:prstGeom>
          <a:noFill/>
          <a:ln/>
        </p:spPr>
        <p:txBody>
          <a:bodyPr wrap="square" lIns="25400" tIns="25400" rIns="25400" bIns="25400" rtlCol="0" anchor="ctr"/>
          <a:lstStyle/>
          <a:p>
            <a:pPr marL="0" indent="0" algn="l">
              <a:buNone/>
            </a:pPr>
            <a:r>
              <a:rPr lang="en-US" sz="1400" b="1" dirty="0">
                <a:solidFill>
                  <a:srgbClr val="B5A5FF"/>
                </a:solidFill>
                <a:latin typeface="Consolas" pitchFamily="34" charset="0"/>
                <a:ea typeface="Consolas" pitchFamily="34" charset="-122"/>
                <a:cs typeface="Consolas" pitchFamily="34" charset="-120"/>
              </a:rPr>
              <a:t>PHẦN 05 / 06</a:t>
            </a:r>
            <a:endParaRPr lang="en-US" sz="1400" dirty="0"/>
          </a:p>
        </p:txBody>
      </p:sp>
      <p:sp>
        <p:nvSpPr>
          <p:cNvPr id="4" name="Text 2"/>
          <p:cNvSpPr/>
          <p:nvPr/>
        </p:nvSpPr>
        <p:spPr>
          <a:xfrm>
            <a:off x="822960" y="2286000"/>
            <a:ext cx="10515600" cy="1005840"/>
          </a:xfrm>
          <a:prstGeom prst="rect">
            <a:avLst/>
          </a:prstGeom>
          <a:noFill/>
          <a:ln/>
        </p:spPr>
        <p:txBody>
          <a:bodyPr wrap="square" lIns="25400" tIns="25400" rIns="25400" bIns="25400" rtlCol="0" anchor="ctr"/>
          <a:lstStyle/>
          <a:p>
            <a:pPr marL="0" indent="0" algn="l">
              <a:buNone/>
            </a:pPr>
            <a:r>
              <a:rPr lang="en-US" sz="5400" b="1" dirty="0">
                <a:solidFill>
                  <a:srgbClr val="E8ECF5"/>
                </a:solidFill>
                <a:latin typeface="Segoe UI" pitchFamily="34" charset="0"/>
                <a:ea typeface="Segoe UI" pitchFamily="34" charset="-122"/>
                <a:cs typeface="Segoe UI" pitchFamily="34" charset="-120"/>
              </a:rPr>
              <a:t>OAuth / OIDC / SAML</a:t>
            </a:r>
            <a:endParaRPr lang="en-US" sz="5400" dirty="0"/>
          </a:p>
        </p:txBody>
      </p:sp>
      <p:sp>
        <p:nvSpPr>
          <p:cNvPr id="5" name="Text 3"/>
          <p:cNvSpPr/>
          <p:nvPr/>
        </p:nvSpPr>
        <p:spPr>
          <a:xfrm>
            <a:off x="822960" y="3383280"/>
            <a:ext cx="10515600" cy="548640"/>
          </a:xfrm>
          <a:prstGeom prst="rect">
            <a:avLst/>
          </a:prstGeom>
          <a:noFill/>
          <a:ln/>
        </p:spPr>
        <p:txBody>
          <a:bodyPr wrap="square" lIns="25400" tIns="25400" rIns="25400" bIns="25400" rtlCol="0" anchor="ctr"/>
          <a:lstStyle/>
          <a:p>
            <a:pPr marL="0" indent="0" algn="l">
              <a:buNone/>
            </a:pPr>
            <a:r>
              <a:rPr lang="en-US" sz="2200" i="1" dirty="0">
                <a:solidFill>
                  <a:srgbClr val="8F9BB3"/>
                </a:solidFill>
                <a:latin typeface="Segoe UI" pitchFamily="34" charset="0"/>
                <a:ea typeface="Segoe UI" pitchFamily="34" charset="-122"/>
                <a:cs typeface="Segoe UI" pitchFamily="34" charset="-120"/>
              </a:rPr>
              <a:t>"Login with Google" thực ra là flow gì?</a:t>
            </a:r>
            <a:endParaRPr lang="en-US" sz="2200" dirty="0"/>
          </a:p>
        </p:txBody>
      </p:sp>
      <p:sp>
        <p:nvSpPr>
          <p:cNvPr id="6" name="Shape 4"/>
          <p:cNvSpPr/>
          <p:nvPr/>
        </p:nvSpPr>
        <p:spPr>
          <a:xfrm>
            <a:off x="822960" y="5989320"/>
            <a:ext cx="1643329" cy="64008"/>
          </a:xfrm>
          <a:prstGeom prst="rect">
            <a:avLst/>
          </a:prstGeom>
          <a:solidFill>
            <a:srgbClr val="2A3651"/>
          </a:solidFill>
          <a:ln w="12700">
            <a:solidFill>
              <a:srgbClr val="2A3651"/>
            </a:solidFill>
            <a:prstDash val="solid"/>
          </a:ln>
        </p:spPr>
      </p:sp>
      <p:sp>
        <p:nvSpPr>
          <p:cNvPr id="7" name="Text 5"/>
          <p:cNvSpPr/>
          <p:nvPr/>
        </p:nvSpPr>
        <p:spPr>
          <a:xfrm>
            <a:off x="822960"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01 AuthN ≠ AuthZ</a:t>
            </a:r>
            <a:endParaRPr lang="en-US" sz="950" dirty="0"/>
          </a:p>
        </p:txBody>
      </p:sp>
      <p:sp>
        <p:nvSpPr>
          <p:cNvPr id="8" name="Shape 6"/>
          <p:cNvSpPr/>
          <p:nvPr/>
        </p:nvSpPr>
        <p:spPr>
          <a:xfrm>
            <a:off x="2603449" y="5989320"/>
            <a:ext cx="1643329" cy="64008"/>
          </a:xfrm>
          <a:prstGeom prst="rect">
            <a:avLst/>
          </a:prstGeom>
          <a:solidFill>
            <a:srgbClr val="2A3651"/>
          </a:solidFill>
          <a:ln w="12700">
            <a:solidFill>
              <a:srgbClr val="2A3651"/>
            </a:solidFill>
            <a:prstDash val="solid"/>
          </a:ln>
        </p:spPr>
      </p:sp>
      <p:sp>
        <p:nvSpPr>
          <p:cNvPr id="9" name="Text 7"/>
          <p:cNvSpPr/>
          <p:nvPr/>
        </p:nvSpPr>
        <p:spPr>
          <a:xfrm>
            <a:off x="2603449"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02 Password</a:t>
            </a:r>
            <a:endParaRPr lang="en-US" sz="950" dirty="0"/>
          </a:p>
        </p:txBody>
      </p:sp>
      <p:sp>
        <p:nvSpPr>
          <p:cNvPr id="10" name="Shape 8"/>
          <p:cNvSpPr/>
          <p:nvPr/>
        </p:nvSpPr>
        <p:spPr>
          <a:xfrm>
            <a:off x="4383938" y="5989320"/>
            <a:ext cx="1643329" cy="64008"/>
          </a:xfrm>
          <a:prstGeom prst="rect">
            <a:avLst/>
          </a:prstGeom>
          <a:solidFill>
            <a:srgbClr val="2A3651"/>
          </a:solidFill>
          <a:ln w="12700">
            <a:solidFill>
              <a:srgbClr val="2A3651"/>
            </a:solidFill>
            <a:prstDash val="solid"/>
          </a:ln>
        </p:spPr>
      </p:sp>
      <p:sp>
        <p:nvSpPr>
          <p:cNvPr id="11" name="Text 9"/>
          <p:cNvSpPr/>
          <p:nvPr/>
        </p:nvSpPr>
        <p:spPr>
          <a:xfrm>
            <a:off x="438393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03 Session &amp; cookie</a:t>
            </a:r>
            <a:endParaRPr lang="en-US" sz="950" dirty="0"/>
          </a:p>
        </p:txBody>
      </p:sp>
      <p:sp>
        <p:nvSpPr>
          <p:cNvPr id="12" name="Shape 10"/>
          <p:cNvSpPr/>
          <p:nvPr/>
        </p:nvSpPr>
        <p:spPr>
          <a:xfrm>
            <a:off x="6164428" y="5989320"/>
            <a:ext cx="1643329" cy="64008"/>
          </a:xfrm>
          <a:prstGeom prst="rect">
            <a:avLst/>
          </a:prstGeom>
          <a:solidFill>
            <a:srgbClr val="2A3651"/>
          </a:solidFill>
          <a:ln w="12700">
            <a:solidFill>
              <a:srgbClr val="2A3651"/>
            </a:solidFill>
            <a:prstDash val="solid"/>
          </a:ln>
        </p:spPr>
      </p:sp>
      <p:sp>
        <p:nvSpPr>
          <p:cNvPr id="13" name="Text 11"/>
          <p:cNvSpPr/>
          <p:nvPr/>
        </p:nvSpPr>
        <p:spPr>
          <a:xfrm>
            <a:off x="616442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04 JWT &amp; tokens</a:t>
            </a:r>
            <a:endParaRPr lang="en-US" sz="950" dirty="0"/>
          </a:p>
        </p:txBody>
      </p:sp>
      <p:sp>
        <p:nvSpPr>
          <p:cNvPr id="14" name="Shape 12"/>
          <p:cNvSpPr/>
          <p:nvPr/>
        </p:nvSpPr>
        <p:spPr>
          <a:xfrm>
            <a:off x="7944917" y="5989320"/>
            <a:ext cx="1643329" cy="64008"/>
          </a:xfrm>
          <a:prstGeom prst="rect">
            <a:avLst/>
          </a:prstGeom>
          <a:solidFill>
            <a:srgbClr val="B5A5FF"/>
          </a:solidFill>
          <a:ln w="12700">
            <a:solidFill>
              <a:srgbClr val="B5A5FF"/>
            </a:solidFill>
            <a:prstDash val="solid"/>
          </a:ln>
        </p:spPr>
      </p:sp>
      <p:sp>
        <p:nvSpPr>
          <p:cNvPr id="15" name="Text 13"/>
          <p:cNvSpPr/>
          <p:nvPr/>
        </p:nvSpPr>
        <p:spPr>
          <a:xfrm>
            <a:off x="7944917" y="6108192"/>
            <a:ext cx="1643329" cy="274320"/>
          </a:xfrm>
          <a:prstGeom prst="rect">
            <a:avLst/>
          </a:prstGeom>
          <a:noFill/>
          <a:ln/>
        </p:spPr>
        <p:txBody>
          <a:bodyPr wrap="square" lIns="25400" tIns="25400" rIns="25400" bIns="25400" rtlCol="0" anchor="ctr"/>
          <a:lstStyle/>
          <a:p>
            <a:pPr marL="0" indent="0" algn="l">
              <a:buNone/>
            </a:pPr>
            <a:r>
              <a:rPr lang="en-US" sz="950" b="1" dirty="0">
                <a:solidFill>
                  <a:srgbClr val="B5A5FF"/>
                </a:solidFill>
                <a:latin typeface="Segoe UI" pitchFamily="34" charset="0"/>
                <a:ea typeface="Segoe UI" pitchFamily="34" charset="-122"/>
                <a:cs typeface="Segoe UI" pitchFamily="34" charset="-120"/>
              </a:rPr>
              <a:t>05 OAuth / OIDC</a:t>
            </a:r>
            <a:endParaRPr lang="en-US" sz="950" dirty="0"/>
          </a:p>
        </p:txBody>
      </p:sp>
      <p:sp>
        <p:nvSpPr>
          <p:cNvPr id="16" name="Shape 14"/>
          <p:cNvSpPr/>
          <p:nvPr/>
        </p:nvSpPr>
        <p:spPr>
          <a:xfrm>
            <a:off x="9725406" y="5989320"/>
            <a:ext cx="1643329" cy="64008"/>
          </a:xfrm>
          <a:prstGeom prst="rect">
            <a:avLst/>
          </a:prstGeom>
          <a:solidFill>
            <a:srgbClr val="2A3651"/>
          </a:solidFill>
          <a:ln w="12700">
            <a:solidFill>
              <a:srgbClr val="2A3651"/>
            </a:solidFill>
            <a:prstDash val="solid"/>
          </a:ln>
        </p:spPr>
      </p:sp>
      <p:sp>
        <p:nvSpPr>
          <p:cNvPr id="17" name="Text 15"/>
          <p:cNvSpPr/>
          <p:nvPr/>
        </p:nvSpPr>
        <p:spPr>
          <a:xfrm>
            <a:off x="9725406"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06 Lựa chọn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OAUTH / OIDC / SAML  ·  SLIDE 22/33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OAuth 2.0 không đồng nghĩa Login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​App A gọi dữ liệu của bạn ở app B.</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​Đọc Calendar, không lấy password.</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​Access token gọi API, không nói ai login.</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​Muốn login chuẩn → OIDC (slide sau).</a:t>
            </a:r>
            <a:endParaRPr lang="en-US" sz="1800" dirty="0"/>
          </a:p>
        </p:txBody>
      </p:sp>
      <p:sp>
        <p:nvSpPr>
          <p:cNvPr id="7" name="Text 5"/>
          <p:cNvSpPr/>
          <p:nvPr/>
        </p:nvSpPr>
        <p:spPr>
          <a:xfrm>
            <a:off x="5495544" y="146304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Resource Owner</a:t>
            </a:r>
            <a:endParaRPr lang="en-US" sz="1100" dirty="0"/>
          </a:p>
          <a:p>
            <a:pPr marL="0" indent="0" algn="ctr">
              <a:buNone/>
            </a:pPr>
            <a:r>
              <a:rPr lang="en-US" sz="1100" b="1" dirty="0">
                <a:solidFill>
                  <a:srgbClr val="E8ECF5"/>
                </a:solidFill>
                <a:latin typeface="Segoe UI" pitchFamily="34" charset="0"/>
                <a:ea typeface="Segoe UI" pitchFamily="34" charset="-122"/>
                <a:cs typeface="Segoe UI" pitchFamily="34" charset="-120"/>
              </a:rPr>
              <a:t>(user)</a:t>
            </a:r>
            <a:endParaRPr lang="en-US" sz="1100" dirty="0"/>
          </a:p>
        </p:txBody>
      </p:sp>
      <p:sp>
        <p:nvSpPr>
          <p:cNvPr id="8" name="Shape 6"/>
          <p:cNvSpPr/>
          <p:nvPr/>
        </p:nvSpPr>
        <p:spPr>
          <a:xfrm>
            <a:off x="6223635" y="1883664"/>
            <a:ext cx="0" cy="3694176"/>
          </a:xfrm>
          <a:prstGeom prst="line">
            <a:avLst/>
          </a:prstGeom>
          <a:noFill/>
          <a:ln w="12700">
            <a:solidFill>
              <a:srgbClr val="2A3651"/>
            </a:solidFill>
            <a:prstDash val="dash"/>
          </a:ln>
        </p:spPr>
      </p:sp>
      <p:sp>
        <p:nvSpPr>
          <p:cNvPr id="9" name="Text 7"/>
          <p:cNvSpPr/>
          <p:nvPr/>
        </p:nvSpPr>
        <p:spPr>
          <a:xfrm>
            <a:off x="7061454" y="146304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Client</a:t>
            </a:r>
            <a:endParaRPr lang="en-US" sz="1100" dirty="0"/>
          </a:p>
          <a:p>
            <a:pPr marL="0" indent="0" algn="ctr">
              <a:buNone/>
            </a:pPr>
            <a:r>
              <a:rPr lang="en-US" sz="1100" b="1" dirty="0">
                <a:solidFill>
                  <a:srgbClr val="E8ECF5"/>
                </a:solidFill>
                <a:latin typeface="Segoe UI" pitchFamily="34" charset="0"/>
                <a:ea typeface="Segoe UI" pitchFamily="34" charset="-122"/>
                <a:cs typeface="Segoe UI" pitchFamily="34" charset="-120"/>
              </a:rPr>
              <a:t>(DevHub)</a:t>
            </a:r>
            <a:endParaRPr lang="en-US" sz="1100" dirty="0"/>
          </a:p>
        </p:txBody>
      </p:sp>
      <p:sp>
        <p:nvSpPr>
          <p:cNvPr id="10" name="Shape 8"/>
          <p:cNvSpPr/>
          <p:nvPr/>
        </p:nvSpPr>
        <p:spPr>
          <a:xfrm>
            <a:off x="7789545" y="1883664"/>
            <a:ext cx="0" cy="3694176"/>
          </a:xfrm>
          <a:prstGeom prst="line">
            <a:avLst/>
          </a:prstGeom>
          <a:noFill/>
          <a:ln w="12700">
            <a:solidFill>
              <a:srgbClr val="2A3651"/>
            </a:solidFill>
            <a:prstDash val="dash"/>
          </a:ln>
        </p:spPr>
      </p:sp>
      <p:sp>
        <p:nvSpPr>
          <p:cNvPr id="11" name="Text 9"/>
          <p:cNvSpPr/>
          <p:nvPr/>
        </p:nvSpPr>
        <p:spPr>
          <a:xfrm>
            <a:off x="8627364" y="146304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Authorization</a:t>
            </a:r>
            <a:endParaRPr lang="en-US" sz="1100" dirty="0"/>
          </a:p>
          <a:p>
            <a:pPr marL="0" indent="0" algn="ctr">
              <a:buNone/>
            </a:pPr>
            <a:r>
              <a:rPr lang="en-US" sz="1100" b="1" dirty="0">
                <a:solidFill>
                  <a:srgbClr val="E8ECF5"/>
                </a:solidFill>
                <a:latin typeface="Segoe UI" pitchFamily="34" charset="0"/>
                <a:ea typeface="Segoe UI" pitchFamily="34" charset="-122"/>
                <a:cs typeface="Segoe UI" pitchFamily="34" charset="-120"/>
              </a:rPr>
              <a:t>Server</a:t>
            </a:r>
            <a:endParaRPr lang="en-US" sz="1100" dirty="0"/>
          </a:p>
        </p:txBody>
      </p:sp>
      <p:sp>
        <p:nvSpPr>
          <p:cNvPr id="12" name="Shape 10"/>
          <p:cNvSpPr/>
          <p:nvPr/>
        </p:nvSpPr>
        <p:spPr>
          <a:xfrm>
            <a:off x="9355455" y="1883664"/>
            <a:ext cx="0" cy="3694176"/>
          </a:xfrm>
          <a:prstGeom prst="line">
            <a:avLst/>
          </a:prstGeom>
          <a:noFill/>
          <a:ln w="12700">
            <a:solidFill>
              <a:srgbClr val="2A3651"/>
            </a:solidFill>
            <a:prstDash val="dash"/>
          </a:ln>
        </p:spPr>
      </p:sp>
      <p:sp>
        <p:nvSpPr>
          <p:cNvPr id="13" name="Text 11"/>
          <p:cNvSpPr/>
          <p:nvPr/>
        </p:nvSpPr>
        <p:spPr>
          <a:xfrm>
            <a:off x="10193274" y="1463040"/>
            <a:ext cx="145618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Resource</a:t>
            </a:r>
            <a:endParaRPr lang="en-US" sz="1100" dirty="0"/>
          </a:p>
          <a:p>
            <a:pPr marL="0" indent="0" algn="ctr">
              <a:buNone/>
            </a:pPr>
            <a:r>
              <a:rPr lang="en-US" sz="1100" b="1" dirty="0">
                <a:solidFill>
                  <a:srgbClr val="E8ECF5"/>
                </a:solidFill>
                <a:latin typeface="Segoe UI" pitchFamily="34" charset="0"/>
                <a:ea typeface="Segoe UI" pitchFamily="34" charset="-122"/>
                <a:cs typeface="Segoe UI" pitchFamily="34" charset="-120"/>
              </a:rPr>
              <a:t>Server (API)</a:t>
            </a:r>
            <a:endParaRPr lang="en-US" sz="1100" dirty="0"/>
          </a:p>
        </p:txBody>
      </p:sp>
      <p:sp>
        <p:nvSpPr>
          <p:cNvPr id="14" name="Shape 12"/>
          <p:cNvSpPr/>
          <p:nvPr/>
        </p:nvSpPr>
        <p:spPr>
          <a:xfrm>
            <a:off x="10921365" y="1883664"/>
            <a:ext cx="0" cy="3694176"/>
          </a:xfrm>
          <a:prstGeom prst="line">
            <a:avLst/>
          </a:prstGeom>
          <a:noFill/>
          <a:ln w="12700">
            <a:solidFill>
              <a:srgbClr val="2A3651"/>
            </a:solidFill>
            <a:prstDash val="dash"/>
          </a:ln>
        </p:spPr>
      </p:sp>
      <p:sp>
        <p:nvSpPr>
          <p:cNvPr id="15" name="Shape 13"/>
          <p:cNvSpPr/>
          <p:nvPr/>
        </p:nvSpPr>
        <p:spPr>
          <a:xfrm flipH="1">
            <a:off x="6223635" y="2363785"/>
            <a:ext cx="1565910" cy="0"/>
          </a:xfrm>
          <a:prstGeom prst="line">
            <a:avLst/>
          </a:prstGeom>
          <a:noFill/>
          <a:ln w="19050">
            <a:solidFill>
              <a:srgbClr val="B5A5FF"/>
            </a:solidFill>
            <a:prstDash val="solid"/>
            <a:tailEnd type="triangle"/>
          </a:ln>
        </p:spPr>
      </p:sp>
      <p:sp>
        <p:nvSpPr>
          <p:cNvPr id="16" name="Text 14"/>
          <p:cNvSpPr/>
          <p:nvPr/>
        </p:nvSpPr>
        <p:spPr>
          <a:xfrm>
            <a:off x="6269355" y="2080321"/>
            <a:ext cx="1474470" cy="256032"/>
          </a:xfrm>
          <a:prstGeom prst="rect">
            <a:avLst/>
          </a:prstGeom>
          <a:noFill/>
          <a:ln/>
        </p:spPr>
        <p:txBody>
          <a:bodyPr wrap="square" lIns="25400" tIns="25400" rIns="25400" bIns="25400" rtlCol="0" anchor="b"/>
          <a:lstStyle/>
          <a:p>
            <a:pPr marL="0" indent="0" algn="ctr">
              <a:buNone/>
            </a:pPr>
            <a:r>
              <a:rPr lang="en-US" sz="1000" dirty="0">
                <a:solidFill>
                  <a:srgbClr val="E8ECF5"/>
                </a:solidFill>
                <a:latin typeface="Segoe UI" pitchFamily="34" charset="0"/>
                <a:ea typeface="Segoe UI" pitchFamily="34" charset="-122"/>
                <a:cs typeface="Segoe UI" pitchFamily="34" charset="-120"/>
              </a:rPr>
              <a:t>1. xin ủy quyền</a:t>
            </a:r>
            <a:endParaRPr lang="en-US" sz="1000" dirty="0"/>
          </a:p>
        </p:txBody>
      </p:sp>
      <p:sp>
        <p:nvSpPr>
          <p:cNvPr id="17" name="Shape 15"/>
          <p:cNvSpPr/>
          <p:nvPr/>
        </p:nvSpPr>
        <p:spPr>
          <a:xfrm>
            <a:off x="6223635" y="2961193"/>
            <a:ext cx="1565910" cy="0"/>
          </a:xfrm>
          <a:prstGeom prst="line">
            <a:avLst/>
          </a:prstGeom>
          <a:noFill/>
          <a:ln w="19050">
            <a:solidFill>
              <a:srgbClr val="6EE7B7"/>
            </a:solidFill>
            <a:prstDash val="dash"/>
            <a:tailEnd type="triangle"/>
          </a:ln>
        </p:spPr>
      </p:sp>
      <p:sp>
        <p:nvSpPr>
          <p:cNvPr id="18" name="Text 16"/>
          <p:cNvSpPr/>
          <p:nvPr/>
        </p:nvSpPr>
        <p:spPr>
          <a:xfrm>
            <a:off x="6269355" y="2677729"/>
            <a:ext cx="1474470" cy="256032"/>
          </a:xfrm>
          <a:prstGeom prst="rect">
            <a:avLst/>
          </a:prstGeom>
          <a:noFill/>
          <a:ln/>
        </p:spPr>
        <p:txBody>
          <a:bodyPr wrap="square" lIns="25400" tIns="25400" rIns="25400" bIns="25400" rtlCol="0" anchor="b"/>
          <a:lstStyle/>
          <a:p>
            <a:pPr marL="0" indent="0" algn="ctr">
              <a:buNone/>
            </a:pPr>
            <a:r>
              <a:rPr lang="en-US" sz="1000" dirty="0">
                <a:solidFill>
                  <a:srgbClr val="E8ECF5"/>
                </a:solidFill>
                <a:latin typeface="Segoe UI" pitchFamily="34" charset="0"/>
                <a:ea typeface="Segoe UI" pitchFamily="34" charset="-122"/>
                <a:cs typeface="Segoe UI" pitchFamily="34" charset="-120"/>
              </a:rPr>
              <a:t>2. authorization grant</a:t>
            </a:r>
            <a:endParaRPr lang="en-US" sz="1000" dirty="0"/>
          </a:p>
        </p:txBody>
      </p:sp>
      <p:sp>
        <p:nvSpPr>
          <p:cNvPr id="19" name="Shape 17"/>
          <p:cNvSpPr/>
          <p:nvPr/>
        </p:nvSpPr>
        <p:spPr>
          <a:xfrm>
            <a:off x="7789545" y="3558601"/>
            <a:ext cx="1565910" cy="0"/>
          </a:xfrm>
          <a:prstGeom prst="line">
            <a:avLst/>
          </a:prstGeom>
          <a:noFill/>
          <a:ln w="19050">
            <a:solidFill>
              <a:srgbClr val="B5A5FF"/>
            </a:solidFill>
            <a:prstDash val="solid"/>
            <a:tailEnd type="triangle"/>
          </a:ln>
        </p:spPr>
      </p:sp>
      <p:sp>
        <p:nvSpPr>
          <p:cNvPr id="20" name="Text 18"/>
          <p:cNvSpPr/>
          <p:nvPr/>
        </p:nvSpPr>
        <p:spPr>
          <a:xfrm>
            <a:off x="7835265" y="3275137"/>
            <a:ext cx="1474470" cy="256032"/>
          </a:xfrm>
          <a:prstGeom prst="rect">
            <a:avLst/>
          </a:prstGeom>
          <a:noFill/>
          <a:ln/>
        </p:spPr>
        <p:txBody>
          <a:bodyPr wrap="square" lIns="25400" tIns="25400" rIns="25400" bIns="25400" rtlCol="0" anchor="b"/>
          <a:lstStyle/>
          <a:p>
            <a:pPr marL="0" indent="0" algn="ctr">
              <a:buNone/>
            </a:pPr>
            <a:r>
              <a:rPr lang="en-US" sz="1000" dirty="0">
                <a:solidFill>
                  <a:srgbClr val="E8ECF5"/>
                </a:solidFill>
                <a:latin typeface="Segoe UI" pitchFamily="34" charset="0"/>
                <a:ea typeface="Segoe UI" pitchFamily="34" charset="-122"/>
                <a:cs typeface="Segoe UI" pitchFamily="34" charset="-120"/>
              </a:rPr>
              <a:t>3. grant + credentials</a:t>
            </a:r>
            <a:endParaRPr lang="en-US" sz="1000" dirty="0"/>
          </a:p>
        </p:txBody>
      </p:sp>
      <p:sp>
        <p:nvSpPr>
          <p:cNvPr id="21" name="Shape 19"/>
          <p:cNvSpPr/>
          <p:nvPr/>
        </p:nvSpPr>
        <p:spPr>
          <a:xfrm flipH="1">
            <a:off x="7789545" y="4156009"/>
            <a:ext cx="1565910" cy="0"/>
          </a:xfrm>
          <a:prstGeom prst="line">
            <a:avLst/>
          </a:prstGeom>
          <a:noFill/>
          <a:ln w="19050">
            <a:solidFill>
              <a:srgbClr val="6EE7B7"/>
            </a:solidFill>
            <a:prstDash val="dash"/>
            <a:tailEnd type="triangle"/>
          </a:ln>
        </p:spPr>
      </p:sp>
      <p:sp>
        <p:nvSpPr>
          <p:cNvPr id="22" name="Text 20"/>
          <p:cNvSpPr/>
          <p:nvPr/>
        </p:nvSpPr>
        <p:spPr>
          <a:xfrm>
            <a:off x="7835265" y="3872545"/>
            <a:ext cx="1474470" cy="256032"/>
          </a:xfrm>
          <a:prstGeom prst="rect">
            <a:avLst/>
          </a:prstGeom>
          <a:noFill/>
          <a:ln/>
        </p:spPr>
        <p:txBody>
          <a:bodyPr wrap="square" lIns="25400" tIns="25400" rIns="25400" bIns="25400" rtlCol="0" anchor="b"/>
          <a:lstStyle/>
          <a:p>
            <a:pPr marL="0" indent="0" algn="ctr">
              <a:buNone/>
            </a:pPr>
            <a:r>
              <a:rPr lang="en-US" sz="1000" dirty="0">
                <a:solidFill>
                  <a:srgbClr val="E8ECF5"/>
                </a:solidFill>
                <a:latin typeface="Segoe UI" pitchFamily="34" charset="0"/>
                <a:ea typeface="Segoe UI" pitchFamily="34" charset="-122"/>
                <a:cs typeface="Segoe UI" pitchFamily="34" charset="-120"/>
              </a:rPr>
              <a:t>4. access token</a:t>
            </a:r>
            <a:endParaRPr lang="en-US" sz="1000" dirty="0"/>
          </a:p>
        </p:txBody>
      </p:sp>
      <p:sp>
        <p:nvSpPr>
          <p:cNvPr id="23" name="Shape 21"/>
          <p:cNvSpPr/>
          <p:nvPr/>
        </p:nvSpPr>
        <p:spPr>
          <a:xfrm>
            <a:off x="7789545" y="4753417"/>
            <a:ext cx="3131820" cy="0"/>
          </a:xfrm>
          <a:prstGeom prst="line">
            <a:avLst/>
          </a:prstGeom>
          <a:noFill/>
          <a:ln w="19050">
            <a:solidFill>
              <a:srgbClr val="B5A5FF"/>
            </a:solidFill>
            <a:prstDash val="solid"/>
            <a:tailEnd type="triangle"/>
          </a:ln>
        </p:spPr>
      </p:sp>
      <p:sp>
        <p:nvSpPr>
          <p:cNvPr id="24" name="Text 22"/>
          <p:cNvSpPr/>
          <p:nvPr/>
        </p:nvSpPr>
        <p:spPr>
          <a:xfrm>
            <a:off x="7835265" y="4469953"/>
            <a:ext cx="3040380" cy="256032"/>
          </a:xfrm>
          <a:prstGeom prst="rect">
            <a:avLst/>
          </a:prstGeom>
          <a:noFill/>
          <a:ln/>
        </p:spPr>
        <p:txBody>
          <a:bodyPr wrap="square" lIns="25400" tIns="25400" rIns="25400" bIns="25400" rtlCol="0" anchor="b"/>
          <a:lstStyle/>
          <a:p>
            <a:pPr marL="0" indent="0" algn="ctr">
              <a:buNone/>
            </a:pPr>
            <a:r>
              <a:rPr lang="en-US" sz="1000" dirty="0">
                <a:solidFill>
                  <a:srgbClr val="E8ECF5"/>
                </a:solidFill>
                <a:latin typeface="Segoe UI" pitchFamily="34" charset="0"/>
                <a:ea typeface="Segoe UI" pitchFamily="34" charset="-122"/>
                <a:cs typeface="Segoe UI" pitchFamily="34" charset="-120"/>
              </a:rPr>
              <a:t>5. gọi API bằng access token</a:t>
            </a:r>
            <a:endParaRPr lang="en-US" sz="1000" dirty="0"/>
          </a:p>
        </p:txBody>
      </p:sp>
      <p:sp>
        <p:nvSpPr>
          <p:cNvPr id="25" name="Shape 23"/>
          <p:cNvSpPr/>
          <p:nvPr/>
        </p:nvSpPr>
        <p:spPr>
          <a:xfrm flipH="1">
            <a:off x="7789545" y="5350825"/>
            <a:ext cx="3131820" cy="0"/>
          </a:xfrm>
          <a:prstGeom prst="line">
            <a:avLst/>
          </a:prstGeom>
          <a:noFill/>
          <a:ln w="19050">
            <a:solidFill>
              <a:srgbClr val="6EE7B7"/>
            </a:solidFill>
            <a:prstDash val="dash"/>
            <a:tailEnd type="triangle"/>
          </a:ln>
        </p:spPr>
      </p:sp>
      <p:sp>
        <p:nvSpPr>
          <p:cNvPr id="26" name="Text 24"/>
          <p:cNvSpPr/>
          <p:nvPr/>
        </p:nvSpPr>
        <p:spPr>
          <a:xfrm>
            <a:off x="7835265" y="5067361"/>
            <a:ext cx="3040380" cy="256032"/>
          </a:xfrm>
          <a:prstGeom prst="rect">
            <a:avLst/>
          </a:prstGeom>
          <a:noFill/>
          <a:ln/>
        </p:spPr>
        <p:txBody>
          <a:bodyPr wrap="square" lIns="25400" tIns="25400" rIns="25400" bIns="25400" rtlCol="0" anchor="b"/>
          <a:lstStyle/>
          <a:p>
            <a:pPr marL="0" indent="0" algn="ctr">
              <a:buNone/>
            </a:pPr>
            <a:r>
              <a:rPr lang="en-US" sz="1000" dirty="0">
                <a:solidFill>
                  <a:srgbClr val="E8ECF5"/>
                </a:solidFill>
                <a:latin typeface="Segoe UI" pitchFamily="34" charset="0"/>
                <a:ea typeface="Segoe UI" pitchFamily="34" charset="-122"/>
                <a:cs typeface="Segoe UI" pitchFamily="34" charset="-120"/>
              </a:rPr>
              <a:t>6. dữ liệu được phép</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OAUTH / OIDC / SAML  ·  SLIDE 23/33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ID token ≠ Access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​OIDC = danh tính trên OAuth 2.0.</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​ID token cho client; access token cho API.</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​Đừng gửi ID token làm Bearer.</a:t>
            </a:r>
            <a:endParaRPr lang="en-US" sz="1800" dirty="0"/>
          </a:p>
        </p:txBody>
      </p:sp>
      <p:sp>
        <p:nvSpPr>
          <p:cNvPr id="7" name="Text 5"/>
          <p:cNvSpPr/>
          <p:nvPr/>
        </p:nvSpPr>
        <p:spPr>
          <a:xfrm>
            <a:off x="5440680" y="2377440"/>
            <a:ext cx="1371600" cy="1097280"/>
          </a:xfrm>
          <a:prstGeom prst="roundRect">
            <a:avLst>
              <a:gd name="adj" fmla="val 6667"/>
            </a:avLst>
          </a:prstGeom>
          <a:solidFill>
            <a:srgbClr val="182238"/>
          </a:solidFill>
          <a:ln w="12700">
            <a:solidFill>
              <a:srgbClr val="F5A65B"/>
            </a:solidFill>
            <a:prstDash val="solid"/>
          </a:ln>
        </p:spPr>
        <p:txBody>
          <a:bodyPr wrap="square" lIns="76200" tIns="76200" rIns="76200" bIns="76200"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Identity Provider</a:t>
            </a:r>
            <a:endParaRPr lang="en-US" sz="1200" dirty="0"/>
          </a:p>
        </p:txBody>
      </p:sp>
      <p:sp>
        <p:nvSpPr>
          <p:cNvPr id="8" name="Text 6"/>
          <p:cNvSpPr/>
          <p:nvPr/>
        </p:nvSpPr>
        <p:spPr>
          <a:xfrm>
            <a:off x="7886700" y="2377440"/>
            <a:ext cx="1371600" cy="1097280"/>
          </a:xfrm>
          <a:prstGeom prst="roundRect">
            <a:avLst>
              <a:gd name="adj" fmla="val 6667"/>
            </a:avLst>
          </a:prstGeom>
          <a:solidFill>
            <a:srgbClr val="182238"/>
          </a:solidFill>
          <a:ln w="12700">
            <a:solidFill>
              <a:srgbClr val="B5A5FF"/>
            </a:solidFill>
            <a:prstDash val="solid"/>
          </a:ln>
        </p:spPr>
        <p:txBody>
          <a:bodyPr wrap="square" lIns="76200" tIns="76200" rIns="76200" bIns="76200"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Client</a:t>
            </a:r>
            <a:endParaRPr lang="en-US" sz="1200" dirty="0"/>
          </a:p>
          <a:p>
            <a:pPr marL="0" indent="0" algn="ctr">
              <a:buNone/>
            </a:pPr>
            <a:r>
              <a:rPr lang="en-US" sz="1200" b="1" dirty="0">
                <a:solidFill>
                  <a:srgbClr val="E8ECF5"/>
                </a:solidFill>
                <a:latin typeface="Segoe UI" pitchFamily="34" charset="0"/>
                <a:ea typeface="Segoe UI" pitchFamily="34" charset="-122"/>
                <a:cs typeface="Segoe UI" pitchFamily="34" charset="-120"/>
              </a:rPr>
              <a:t>(DevHub)</a:t>
            </a:r>
            <a:endParaRPr lang="en-US" sz="1200" dirty="0"/>
          </a:p>
        </p:txBody>
      </p:sp>
      <p:sp>
        <p:nvSpPr>
          <p:cNvPr id="9" name="Text 7"/>
          <p:cNvSpPr/>
          <p:nvPr/>
        </p:nvSpPr>
        <p:spPr>
          <a:xfrm>
            <a:off x="10332720" y="2377440"/>
            <a:ext cx="1371600" cy="1097280"/>
          </a:xfrm>
          <a:prstGeom prst="roundRect">
            <a:avLst>
              <a:gd name="adj" fmla="val 6667"/>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200" b="1" dirty="0">
                <a:solidFill>
                  <a:srgbClr val="E8ECF5"/>
                </a:solidFill>
                <a:latin typeface="Segoe UI" pitchFamily="34" charset="0"/>
                <a:ea typeface="Segoe UI" pitchFamily="34" charset="-122"/>
                <a:cs typeface="Segoe UI" pitchFamily="34" charset="-120"/>
              </a:rPr>
              <a:t>Resource API</a:t>
            </a:r>
            <a:endParaRPr lang="en-US" sz="1200" dirty="0"/>
          </a:p>
        </p:txBody>
      </p:sp>
      <p:sp>
        <p:nvSpPr>
          <p:cNvPr id="10" name="Shape 8"/>
          <p:cNvSpPr/>
          <p:nvPr/>
        </p:nvSpPr>
        <p:spPr>
          <a:xfrm>
            <a:off x="6812280" y="2651760"/>
            <a:ext cx="1074420" cy="0"/>
          </a:xfrm>
          <a:prstGeom prst="line">
            <a:avLst/>
          </a:prstGeom>
          <a:noFill/>
          <a:ln w="19050">
            <a:solidFill>
              <a:srgbClr val="B5A5FF"/>
            </a:solidFill>
            <a:prstDash val="solid"/>
            <a:tailEnd type="triangle"/>
          </a:ln>
        </p:spPr>
      </p:sp>
      <p:sp>
        <p:nvSpPr>
          <p:cNvPr id="11" name="Shape 9"/>
          <p:cNvSpPr/>
          <p:nvPr/>
        </p:nvSpPr>
        <p:spPr>
          <a:xfrm>
            <a:off x="6812280" y="3200400"/>
            <a:ext cx="1074420" cy="0"/>
          </a:xfrm>
          <a:prstGeom prst="line">
            <a:avLst/>
          </a:prstGeom>
          <a:noFill/>
          <a:ln w="19050">
            <a:solidFill>
              <a:srgbClr val="6EE7B7"/>
            </a:solidFill>
            <a:prstDash val="solid"/>
            <a:tailEnd type="triangle"/>
          </a:ln>
        </p:spPr>
      </p:sp>
      <p:sp>
        <p:nvSpPr>
          <p:cNvPr id="12" name="Text 10"/>
          <p:cNvSpPr/>
          <p:nvPr/>
        </p:nvSpPr>
        <p:spPr>
          <a:xfrm>
            <a:off x="6812280" y="2359152"/>
            <a:ext cx="1074420" cy="274320"/>
          </a:xfrm>
          <a:prstGeom prst="rect">
            <a:avLst/>
          </a:prstGeom>
          <a:noFill/>
          <a:ln/>
        </p:spPr>
        <p:txBody>
          <a:bodyPr wrap="square" lIns="25400" tIns="25400" rIns="25400" bIns="25400" rtlCol="0" anchor="ctr"/>
          <a:lstStyle/>
          <a:p>
            <a:pPr marL="0" indent="0" algn="ctr">
              <a:buNone/>
            </a:pPr>
            <a:r>
              <a:rPr lang="en-US" sz="1000" b="1" dirty="0">
                <a:solidFill>
                  <a:srgbClr val="B5A5FF"/>
                </a:solidFill>
                <a:latin typeface="Segoe UI" pitchFamily="34" charset="0"/>
                <a:ea typeface="Segoe UI" pitchFamily="34" charset="-122"/>
                <a:cs typeface="Segoe UI" pitchFamily="34" charset="-120"/>
              </a:rPr>
              <a:t>ID token</a:t>
            </a:r>
            <a:endParaRPr lang="en-US" sz="1000" dirty="0"/>
          </a:p>
        </p:txBody>
      </p:sp>
      <p:sp>
        <p:nvSpPr>
          <p:cNvPr id="13" name="Text 11"/>
          <p:cNvSpPr/>
          <p:nvPr/>
        </p:nvSpPr>
        <p:spPr>
          <a:xfrm>
            <a:off x="6812280" y="2907792"/>
            <a:ext cx="1074420" cy="274320"/>
          </a:xfrm>
          <a:prstGeom prst="rect">
            <a:avLst/>
          </a:prstGeom>
          <a:noFill/>
          <a:ln/>
        </p:spPr>
        <p:txBody>
          <a:bodyPr wrap="square" lIns="25400" tIns="25400" rIns="25400" bIns="25400" rtlCol="0" anchor="ctr"/>
          <a:lstStyle/>
          <a:p>
            <a:pPr marL="0" indent="0" algn="ctr">
              <a:buNone/>
            </a:pPr>
            <a:r>
              <a:rPr lang="en-US" sz="1000" b="1" dirty="0">
                <a:solidFill>
                  <a:srgbClr val="6EE7B7"/>
                </a:solidFill>
                <a:latin typeface="Segoe UI" pitchFamily="34" charset="0"/>
                <a:ea typeface="Segoe UI" pitchFamily="34" charset="-122"/>
                <a:cs typeface="Segoe UI" pitchFamily="34" charset="-120"/>
              </a:rPr>
              <a:t>access token</a:t>
            </a:r>
            <a:endParaRPr lang="en-US" sz="1000" dirty="0"/>
          </a:p>
        </p:txBody>
      </p:sp>
      <p:sp>
        <p:nvSpPr>
          <p:cNvPr id="14" name="Shape 12"/>
          <p:cNvSpPr/>
          <p:nvPr/>
        </p:nvSpPr>
        <p:spPr>
          <a:xfrm>
            <a:off x="9258300" y="2651760"/>
            <a:ext cx="1074420" cy="0"/>
          </a:xfrm>
          <a:prstGeom prst="line">
            <a:avLst/>
          </a:prstGeom>
          <a:noFill/>
          <a:ln w="19050">
            <a:solidFill>
              <a:srgbClr val="6EE7B7"/>
            </a:solidFill>
            <a:prstDash val="solid"/>
            <a:tailEnd type="triangle"/>
          </a:ln>
        </p:spPr>
      </p:sp>
      <p:sp>
        <p:nvSpPr>
          <p:cNvPr id="15" name="Text 13"/>
          <p:cNvSpPr/>
          <p:nvPr/>
        </p:nvSpPr>
        <p:spPr>
          <a:xfrm>
            <a:off x="9258300" y="2359152"/>
            <a:ext cx="1074420" cy="274320"/>
          </a:xfrm>
          <a:prstGeom prst="rect">
            <a:avLst/>
          </a:prstGeom>
          <a:noFill/>
          <a:ln/>
        </p:spPr>
        <p:txBody>
          <a:bodyPr wrap="square" lIns="25400" tIns="25400" rIns="25400" bIns="25400" rtlCol="0" anchor="ctr"/>
          <a:lstStyle/>
          <a:p>
            <a:pPr marL="0" indent="0" algn="ctr">
              <a:buNone/>
            </a:pPr>
            <a:r>
              <a:rPr lang="en-US" sz="1000" dirty="0">
                <a:solidFill>
                  <a:srgbClr val="6EE7B7"/>
                </a:solidFill>
                <a:latin typeface="Segoe UI" pitchFamily="34" charset="0"/>
                <a:ea typeface="Segoe UI" pitchFamily="34" charset="-122"/>
                <a:cs typeface="Segoe UI" pitchFamily="34" charset="-120"/>
              </a:rPr>
              <a:t>access token ✓</a:t>
            </a:r>
            <a:endParaRPr lang="en-US" sz="1000" dirty="0"/>
          </a:p>
        </p:txBody>
      </p:sp>
      <p:sp>
        <p:nvSpPr>
          <p:cNvPr id="16" name="Shape 14"/>
          <p:cNvSpPr/>
          <p:nvPr/>
        </p:nvSpPr>
        <p:spPr>
          <a:xfrm>
            <a:off x="9258300" y="3200400"/>
            <a:ext cx="1074420" cy="0"/>
          </a:xfrm>
          <a:prstGeom prst="line">
            <a:avLst/>
          </a:prstGeom>
          <a:noFill/>
          <a:ln w="19050">
            <a:solidFill>
              <a:srgbClr val="F28B9A"/>
            </a:solidFill>
            <a:prstDash val="dash"/>
            <a:tailEnd type="triangle"/>
          </a:ln>
        </p:spPr>
      </p:sp>
      <p:sp>
        <p:nvSpPr>
          <p:cNvPr id="17" name="Text 15"/>
          <p:cNvSpPr/>
          <p:nvPr/>
        </p:nvSpPr>
        <p:spPr>
          <a:xfrm>
            <a:off x="9258300" y="2907792"/>
            <a:ext cx="1074420" cy="274320"/>
          </a:xfrm>
          <a:prstGeom prst="rect">
            <a:avLst/>
          </a:prstGeom>
          <a:noFill/>
          <a:ln/>
        </p:spPr>
        <p:txBody>
          <a:bodyPr wrap="square" lIns="25400" tIns="25400" rIns="25400" bIns="25400" rtlCol="0" anchor="ctr"/>
          <a:lstStyle/>
          <a:p>
            <a:pPr marL="0" indent="0" algn="ctr">
              <a:buNone/>
            </a:pPr>
            <a:r>
              <a:rPr lang="en-US" sz="1000" dirty="0">
                <a:solidFill>
                  <a:srgbClr val="F28B9A"/>
                </a:solidFill>
                <a:latin typeface="Segoe UI" pitchFamily="34" charset="0"/>
                <a:ea typeface="Segoe UI" pitchFamily="34" charset="-122"/>
                <a:cs typeface="Segoe UI" pitchFamily="34" charset="-120"/>
              </a:rPr>
              <a:t>ID token ✗</a:t>
            </a:r>
            <a:endParaRPr lang="en-US" sz="1000" dirty="0"/>
          </a:p>
        </p:txBody>
      </p:sp>
      <p:sp>
        <p:nvSpPr>
          <p:cNvPr id="18" name="Text 16"/>
          <p:cNvSpPr/>
          <p:nvPr/>
        </p:nvSpPr>
        <p:spPr>
          <a:xfrm>
            <a:off x="5440680" y="4206240"/>
            <a:ext cx="3063240" cy="1325880"/>
          </a:xfrm>
          <a:prstGeom prst="roundRect">
            <a:avLst>
              <a:gd name="adj" fmla="val 5517"/>
            </a:avLst>
          </a:prstGeom>
          <a:solidFill>
            <a:srgbClr val="182238"/>
          </a:solidFill>
          <a:ln w="12700">
            <a:solidFill>
              <a:srgbClr val="B5A5FF"/>
            </a:solidFill>
            <a:prstDash val="solid"/>
          </a:ln>
        </p:spPr>
        <p:txBody>
          <a:bodyPr wrap="square" lIns="76200" tIns="76200" rIns="76200" bIns="76200" rtlCol="0" anchor="ctr"/>
          <a:lstStyle/>
          <a:p>
            <a:pPr marL="0" indent="0" algn="l">
              <a:buNone/>
            </a:pPr>
            <a:r>
              <a:rPr lang="en-US" sz="1200" b="1" dirty="0">
                <a:solidFill>
                  <a:srgbClr val="B5A5FF"/>
                </a:solidFill>
                <a:latin typeface="Segoe UI" pitchFamily="34" charset="0"/>
                <a:ea typeface="Segoe UI" pitchFamily="34" charset="-122"/>
                <a:cs typeface="Segoe UI" pitchFamily="34" charset="-120"/>
              </a:rPr>
              <a:t>ID token — cho client</a:t>
            </a:r>
            <a:endParaRPr lang="en-US" sz="1200" dirty="0"/>
          </a:p>
          <a:p>
            <a:pPr marL="0" indent="0" algn="l">
              <a:buNone/>
            </a:pPr>
            <a:r>
              <a:rPr lang="en-US" sz="1050" dirty="0">
                <a:solidFill>
                  <a:srgbClr val="E8ECF5"/>
                </a:solidFill>
                <a:latin typeface="Consolas" pitchFamily="34" charset="0"/>
                <a:ea typeface="Consolas" pitchFamily="34" charset="-122"/>
                <a:cs typeface="Consolas" pitchFamily="34" charset="-120"/>
              </a:rPr>
              <a:t>aud = client_id</a:t>
            </a:r>
            <a:endParaRPr lang="en-US" sz="1200" dirty="0"/>
          </a:p>
          <a:p>
            <a:pPr marL="0" indent="0" algn="l">
              <a:buNone/>
            </a:pPr>
            <a:r>
              <a:rPr lang="en-US" sz="1050" dirty="0">
                <a:solidFill>
                  <a:srgbClr val="E8ECF5"/>
                </a:solidFill>
                <a:latin typeface="Consolas" pitchFamily="34" charset="0"/>
                <a:ea typeface="Consolas" pitchFamily="34" charset="-122"/>
                <a:cs typeface="Consolas" pitchFamily="34" charset="-120"/>
              </a:rPr>
              <a:t>nonce, sub, auth_time</a:t>
            </a:r>
            <a:endParaRPr lang="en-US" sz="1200" dirty="0"/>
          </a:p>
          <a:p>
            <a:pPr marL="0" indent="0" algn="l">
              <a:buNone/>
            </a:pPr>
            <a:r>
              <a:rPr lang="en-US" sz="1050" dirty="0">
                <a:solidFill>
                  <a:srgbClr val="E8ECF5"/>
                </a:solidFill>
                <a:latin typeface="Consolas" pitchFamily="34" charset="0"/>
                <a:ea typeface="Consolas" pitchFamily="34" charset="-122"/>
                <a:cs typeface="Consolas" pitchFamily="34" charset="-120"/>
              </a:rPr>
              <a:t>→ biết AI đã login</a:t>
            </a:r>
            <a:endParaRPr lang="en-US" sz="1200" dirty="0"/>
          </a:p>
        </p:txBody>
      </p:sp>
      <p:sp>
        <p:nvSpPr>
          <p:cNvPr id="19" name="Text 17"/>
          <p:cNvSpPr/>
          <p:nvPr/>
        </p:nvSpPr>
        <p:spPr>
          <a:xfrm>
            <a:off x="8732520" y="4206240"/>
            <a:ext cx="3063240" cy="1325880"/>
          </a:xfrm>
          <a:prstGeom prst="roundRect">
            <a:avLst>
              <a:gd name="adj" fmla="val 5517"/>
            </a:avLst>
          </a:prstGeom>
          <a:solidFill>
            <a:srgbClr val="182238"/>
          </a:solidFill>
          <a:ln w="12700">
            <a:solidFill>
              <a:srgbClr val="6EE7B7"/>
            </a:solidFill>
            <a:prstDash val="solid"/>
          </a:ln>
        </p:spPr>
        <p:txBody>
          <a:bodyPr wrap="square" lIns="76200" tIns="76200" rIns="76200" bIns="76200" rtlCol="0" anchor="ctr"/>
          <a:lstStyle/>
          <a:p>
            <a:pPr marL="0" indent="0" algn="l">
              <a:buNone/>
            </a:pPr>
            <a:r>
              <a:rPr lang="en-US" sz="1200" b="1" dirty="0">
                <a:solidFill>
                  <a:srgbClr val="6EE7B7"/>
                </a:solidFill>
                <a:latin typeface="Segoe UI" pitchFamily="34" charset="0"/>
                <a:ea typeface="Segoe UI" pitchFamily="34" charset="-122"/>
                <a:cs typeface="Segoe UI" pitchFamily="34" charset="-120"/>
              </a:rPr>
              <a:t>Access token — cho API</a:t>
            </a:r>
            <a:endParaRPr lang="en-US" sz="1200" dirty="0"/>
          </a:p>
          <a:p>
            <a:pPr marL="0" indent="0" algn="l">
              <a:buNone/>
            </a:pPr>
            <a:r>
              <a:rPr lang="en-US" sz="1050" dirty="0">
                <a:solidFill>
                  <a:srgbClr val="E8ECF5"/>
                </a:solidFill>
                <a:latin typeface="Consolas" pitchFamily="34" charset="0"/>
                <a:ea typeface="Consolas" pitchFamily="34" charset="-122"/>
                <a:cs typeface="Consolas" pitchFamily="34" charset="-120"/>
              </a:rPr>
              <a:t>aud = API</a:t>
            </a:r>
            <a:endParaRPr lang="en-US" sz="1200" dirty="0"/>
          </a:p>
          <a:p>
            <a:pPr marL="0" indent="0" algn="l">
              <a:buNone/>
            </a:pPr>
            <a:r>
              <a:rPr lang="en-US" sz="1050" dirty="0">
                <a:solidFill>
                  <a:srgbClr val="E8ECF5"/>
                </a:solidFill>
                <a:latin typeface="Consolas" pitchFamily="34" charset="0"/>
                <a:ea typeface="Consolas" pitchFamily="34" charset="-122"/>
                <a:cs typeface="Consolas" pitchFamily="34" charset="-120"/>
              </a:rPr>
              <a:t>scope</a:t>
            </a:r>
            <a:endParaRPr lang="en-US" sz="1200" dirty="0"/>
          </a:p>
          <a:p>
            <a:pPr marL="0" indent="0" algn="l">
              <a:buNone/>
            </a:pPr>
            <a:r>
              <a:rPr lang="en-US" sz="1050" dirty="0">
                <a:solidFill>
                  <a:srgbClr val="E8ECF5"/>
                </a:solidFill>
                <a:latin typeface="Consolas" pitchFamily="34" charset="0"/>
                <a:ea typeface="Consolas" pitchFamily="34" charset="-122"/>
                <a:cs typeface="Consolas" pitchFamily="34" charset="-120"/>
              </a:rPr>
              <a:t>→ được GỌI API nào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OAUTH / OIDC / SAML  ·  SLIDE 24/33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Authorization Code Flow + PKCE</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603504" y="1325880"/>
            <a:ext cx="35783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7" name="Shape 5"/>
          <p:cNvSpPr/>
          <p:nvPr/>
        </p:nvSpPr>
        <p:spPr>
          <a:xfrm>
            <a:off x="2392680" y="1746504"/>
            <a:ext cx="0" cy="2231136"/>
          </a:xfrm>
          <a:prstGeom prst="line">
            <a:avLst/>
          </a:prstGeom>
          <a:noFill/>
          <a:ln w="12700">
            <a:solidFill>
              <a:srgbClr val="2A3651"/>
            </a:solidFill>
            <a:prstDash val="dash"/>
          </a:ln>
        </p:spPr>
      </p:sp>
      <p:sp>
        <p:nvSpPr>
          <p:cNvPr id="8" name="Text 6"/>
          <p:cNvSpPr/>
          <p:nvPr/>
        </p:nvSpPr>
        <p:spPr>
          <a:xfrm>
            <a:off x="4291584" y="1325880"/>
            <a:ext cx="35783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DevHub</a:t>
            </a:r>
            <a:endParaRPr lang="en-US" sz="1100" dirty="0"/>
          </a:p>
        </p:txBody>
      </p:sp>
      <p:sp>
        <p:nvSpPr>
          <p:cNvPr id="9" name="Shape 7"/>
          <p:cNvSpPr/>
          <p:nvPr/>
        </p:nvSpPr>
        <p:spPr>
          <a:xfrm>
            <a:off x="6080760" y="1746504"/>
            <a:ext cx="0" cy="2231136"/>
          </a:xfrm>
          <a:prstGeom prst="line">
            <a:avLst/>
          </a:prstGeom>
          <a:noFill/>
          <a:ln w="12700">
            <a:solidFill>
              <a:srgbClr val="2A3651"/>
            </a:solidFill>
            <a:prstDash val="dash"/>
          </a:ln>
        </p:spPr>
      </p:sp>
      <p:sp>
        <p:nvSpPr>
          <p:cNvPr id="10" name="Text 8"/>
          <p:cNvSpPr/>
          <p:nvPr/>
        </p:nvSpPr>
        <p:spPr>
          <a:xfrm>
            <a:off x="7979664" y="1325880"/>
            <a:ext cx="35783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IdP</a:t>
            </a:r>
            <a:endParaRPr lang="en-US" sz="1100" dirty="0"/>
          </a:p>
        </p:txBody>
      </p:sp>
      <p:sp>
        <p:nvSpPr>
          <p:cNvPr id="11" name="Shape 9"/>
          <p:cNvSpPr/>
          <p:nvPr/>
        </p:nvSpPr>
        <p:spPr>
          <a:xfrm>
            <a:off x="9768840" y="1746504"/>
            <a:ext cx="0" cy="2231136"/>
          </a:xfrm>
          <a:prstGeom prst="line">
            <a:avLst/>
          </a:prstGeom>
          <a:noFill/>
          <a:ln w="12700">
            <a:solidFill>
              <a:srgbClr val="2A3651"/>
            </a:solidFill>
            <a:prstDash val="dash"/>
          </a:ln>
        </p:spPr>
      </p:sp>
      <p:sp>
        <p:nvSpPr>
          <p:cNvPr id="12" name="Text 10"/>
          <p:cNvSpPr/>
          <p:nvPr/>
        </p:nvSpPr>
        <p:spPr>
          <a:xfrm>
            <a:off x="3313938" y="1963839"/>
            <a:ext cx="5533644" cy="310896"/>
          </a:xfrm>
          <a:prstGeom prst="roundRect">
            <a:avLst>
              <a:gd name="adj" fmla="val 23529"/>
            </a:avLst>
          </a:prstGeom>
          <a:solidFill>
            <a:srgbClr val="131B2E"/>
          </a:solidFill>
          <a:ln w="12700">
            <a:solidFill>
              <a:srgbClr val="B5A5FF"/>
            </a:solidFill>
            <a:prstDash val="dash"/>
          </a:ln>
        </p:spPr>
        <p:txBody>
          <a:bodyPr wrap="square" lIns="38100" tIns="38100" rIns="38100" bIns="38100" rtlCol="0" anchor="ctr"/>
          <a:lstStyle/>
          <a:p>
            <a:pPr marL="0" indent="0" algn="ctr">
              <a:buNone/>
            </a:pPr>
            <a:r>
              <a:rPr lang="en-US" sz="1100" dirty="0">
                <a:solidFill>
                  <a:srgbClr val="E8ECF5"/>
                </a:solidFill>
                <a:latin typeface="Segoe UI" pitchFamily="34" charset="0"/>
                <a:ea typeface="Segoe UI" pitchFamily="34" charset="-122"/>
                <a:cs typeface="Segoe UI" pitchFamily="34" charset="-120"/>
              </a:rPr>
              <a:t>1. sinh verifier · challenge · state · nonce</a:t>
            </a:r>
            <a:endParaRPr lang="en-US" sz="1100" dirty="0"/>
          </a:p>
        </p:txBody>
      </p:sp>
      <p:sp>
        <p:nvSpPr>
          <p:cNvPr id="13" name="Shape 11"/>
          <p:cNvSpPr/>
          <p:nvPr/>
        </p:nvSpPr>
        <p:spPr>
          <a:xfrm>
            <a:off x="2392680" y="2543568"/>
            <a:ext cx="7376160" cy="0"/>
          </a:xfrm>
          <a:prstGeom prst="line">
            <a:avLst/>
          </a:prstGeom>
          <a:noFill/>
          <a:ln w="19050">
            <a:solidFill>
              <a:srgbClr val="B5A5FF"/>
            </a:solidFill>
            <a:prstDash val="solid"/>
            <a:tailEnd type="triangle"/>
          </a:ln>
        </p:spPr>
      </p:sp>
      <p:sp>
        <p:nvSpPr>
          <p:cNvPr id="14" name="Text 12"/>
          <p:cNvSpPr/>
          <p:nvPr/>
        </p:nvSpPr>
        <p:spPr>
          <a:xfrm>
            <a:off x="2438400" y="2260104"/>
            <a:ext cx="7284720" cy="256032"/>
          </a:xfrm>
          <a:prstGeom prst="rect">
            <a:avLst/>
          </a:prstGeom>
          <a:noFill/>
          <a:ln/>
        </p:spPr>
        <p:txBody>
          <a:bodyPr wrap="square" lIns="25400" tIns="25400" rIns="25400" bIns="25400" rtlCol="0" anchor="b"/>
          <a:lstStyle/>
          <a:p>
            <a:pPr marL="0" indent="0" algn="ctr">
              <a:buNone/>
            </a:pPr>
            <a:r>
              <a:rPr lang="en-US" sz="1200" dirty="0">
                <a:solidFill>
                  <a:srgbClr val="E8ECF5"/>
                </a:solidFill>
                <a:latin typeface="Segoe UI" pitchFamily="34" charset="0"/>
                <a:ea typeface="Segoe UI" pitchFamily="34" charset="-122"/>
                <a:cs typeface="Segoe UI" pitchFamily="34" charset="-120"/>
              </a:rPr>
              <a:t>2. /authorize?challenge&amp;state&amp;nonce</a:t>
            </a:r>
            <a:endParaRPr lang="en-US" sz="1200" dirty="0"/>
          </a:p>
        </p:txBody>
      </p:sp>
      <p:sp>
        <p:nvSpPr>
          <p:cNvPr id="15" name="Shape 13"/>
          <p:cNvSpPr/>
          <p:nvPr/>
        </p:nvSpPr>
        <p:spPr>
          <a:xfrm flipH="1">
            <a:off x="2392680" y="2967850"/>
            <a:ext cx="7376160" cy="0"/>
          </a:xfrm>
          <a:prstGeom prst="line">
            <a:avLst/>
          </a:prstGeom>
          <a:noFill/>
          <a:ln w="19050">
            <a:solidFill>
              <a:srgbClr val="6EE7B7"/>
            </a:solidFill>
            <a:prstDash val="dash"/>
            <a:tailEnd type="triangle"/>
          </a:ln>
        </p:spPr>
      </p:sp>
      <p:sp>
        <p:nvSpPr>
          <p:cNvPr id="16" name="Text 14"/>
          <p:cNvSpPr/>
          <p:nvPr/>
        </p:nvSpPr>
        <p:spPr>
          <a:xfrm>
            <a:off x="2438400" y="2684386"/>
            <a:ext cx="7284720" cy="256032"/>
          </a:xfrm>
          <a:prstGeom prst="rect">
            <a:avLst/>
          </a:prstGeom>
          <a:noFill/>
          <a:ln/>
        </p:spPr>
        <p:txBody>
          <a:bodyPr wrap="square" lIns="25400" tIns="25400" rIns="25400" bIns="25400" rtlCol="0" anchor="b"/>
          <a:lstStyle/>
          <a:p>
            <a:pPr marL="0" indent="0" algn="ctr">
              <a:buNone/>
            </a:pPr>
            <a:r>
              <a:rPr lang="en-US" sz="1200" dirty="0">
                <a:solidFill>
                  <a:srgbClr val="E8ECF5"/>
                </a:solidFill>
                <a:latin typeface="Segoe UI" pitchFamily="34" charset="0"/>
                <a:ea typeface="Segoe UI" pitchFamily="34" charset="-122"/>
                <a:cs typeface="Segoe UI" pitchFamily="34" charset="-120"/>
              </a:rPr>
              <a:t>3. callback?code&amp;state</a:t>
            </a:r>
            <a:endParaRPr lang="en-US" sz="1200" dirty="0"/>
          </a:p>
        </p:txBody>
      </p:sp>
      <p:sp>
        <p:nvSpPr>
          <p:cNvPr id="17" name="Shape 15"/>
          <p:cNvSpPr/>
          <p:nvPr/>
        </p:nvSpPr>
        <p:spPr>
          <a:xfrm>
            <a:off x="6080760" y="3392131"/>
            <a:ext cx="3688080" cy="0"/>
          </a:xfrm>
          <a:prstGeom prst="line">
            <a:avLst/>
          </a:prstGeom>
          <a:noFill/>
          <a:ln w="19050">
            <a:solidFill>
              <a:srgbClr val="B5A5FF"/>
            </a:solidFill>
            <a:prstDash val="solid"/>
            <a:tailEnd type="triangle"/>
          </a:ln>
        </p:spPr>
      </p:sp>
      <p:sp>
        <p:nvSpPr>
          <p:cNvPr id="18" name="Text 16"/>
          <p:cNvSpPr/>
          <p:nvPr/>
        </p:nvSpPr>
        <p:spPr>
          <a:xfrm>
            <a:off x="6126480" y="3108667"/>
            <a:ext cx="3596640" cy="256032"/>
          </a:xfrm>
          <a:prstGeom prst="rect">
            <a:avLst/>
          </a:prstGeom>
          <a:noFill/>
          <a:ln/>
        </p:spPr>
        <p:txBody>
          <a:bodyPr wrap="square" lIns="25400" tIns="25400" rIns="25400" bIns="25400" rtlCol="0" anchor="b"/>
          <a:lstStyle/>
          <a:p>
            <a:pPr marL="0" indent="0" algn="ctr">
              <a:buNone/>
            </a:pPr>
            <a:r>
              <a:rPr lang="en-US" sz="1200" dirty="0">
                <a:solidFill>
                  <a:srgbClr val="E8ECF5"/>
                </a:solidFill>
                <a:latin typeface="Segoe UI" pitchFamily="34" charset="0"/>
                <a:ea typeface="Segoe UI" pitchFamily="34" charset="-122"/>
                <a:cs typeface="Segoe UI" pitchFamily="34" charset="-120"/>
              </a:rPr>
              <a:t>4. /token: code + verifier</a:t>
            </a:r>
            <a:endParaRPr lang="en-US" sz="1200" dirty="0"/>
          </a:p>
        </p:txBody>
      </p:sp>
      <p:sp>
        <p:nvSpPr>
          <p:cNvPr id="19" name="Shape 17"/>
          <p:cNvSpPr/>
          <p:nvPr/>
        </p:nvSpPr>
        <p:spPr>
          <a:xfrm flipH="1">
            <a:off x="6080760" y="3816413"/>
            <a:ext cx="3688080" cy="0"/>
          </a:xfrm>
          <a:prstGeom prst="line">
            <a:avLst/>
          </a:prstGeom>
          <a:noFill/>
          <a:ln w="19050">
            <a:solidFill>
              <a:srgbClr val="6EE7B7"/>
            </a:solidFill>
            <a:prstDash val="dash"/>
            <a:tailEnd type="triangle"/>
          </a:ln>
        </p:spPr>
      </p:sp>
      <p:sp>
        <p:nvSpPr>
          <p:cNvPr id="20" name="Text 18"/>
          <p:cNvSpPr/>
          <p:nvPr/>
        </p:nvSpPr>
        <p:spPr>
          <a:xfrm>
            <a:off x="6126480" y="3532949"/>
            <a:ext cx="3596640" cy="256032"/>
          </a:xfrm>
          <a:prstGeom prst="rect">
            <a:avLst/>
          </a:prstGeom>
          <a:noFill/>
          <a:ln/>
        </p:spPr>
        <p:txBody>
          <a:bodyPr wrap="square" lIns="25400" tIns="25400" rIns="25400" bIns="25400" rtlCol="0" anchor="b"/>
          <a:lstStyle/>
          <a:p>
            <a:pPr marL="0" indent="0" algn="ctr">
              <a:buNone/>
            </a:pPr>
            <a:r>
              <a:rPr lang="en-US" sz="1200" dirty="0">
                <a:solidFill>
                  <a:srgbClr val="E8ECF5"/>
                </a:solidFill>
                <a:latin typeface="Segoe UI" pitchFamily="34" charset="0"/>
                <a:ea typeface="Segoe UI" pitchFamily="34" charset="-122"/>
                <a:cs typeface="Segoe UI" pitchFamily="34" charset="-120"/>
              </a:rPr>
              <a:t>5. ID token + access token</a:t>
            </a:r>
            <a:endParaRPr lang="en-US" sz="1200" dirty="0"/>
          </a:p>
        </p:txBody>
      </p:sp>
      <p:sp>
        <p:nvSpPr>
          <p:cNvPr id="21" name="Text 19"/>
          <p:cNvSpPr/>
          <p:nvPr/>
        </p:nvSpPr>
        <p:spPr>
          <a:xfrm>
            <a:off x="548640" y="4114800"/>
            <a:ext cx="2697480" cy="1325880"/>
          </a:xfrm>
          <a:prstGeom prst="roundRect">
            <a:avLst>
              <a:gd name="adj" fmla="val 5517"/>
            </a:avLst>
          </a:prstGeom>
          <a:solidFill>
            <a:srgbClr val="182238"/>
          </a:solidFill>
          <a:ln w="12700">
            <a:solidFill>
              <a:srgbClr val="B5A5FF"/>
            </a:solidFill>
            <a:prstDash val="solid"/>
          </a:ln>
        </p:spPr>
        <p:txBody>
          <a:bodyPr wrap="square" lIns="76200" tIns="76200" rIns="76200" bIns="76200" rtlCol="0" anchor="ctr"/>
          <a:lstStyle/>
          <a:p>
            <a:pPr marL="0" indent="0" algn="l">
              <a:buNone/>
            </a:pPr>
            <a:r>
              <a:rPr lang="en-US" sz="1400" b="1" dirty="0">
                <a:solidFill>
                  <a:srgbClr val="B5A5FF"/>
                </a:solidFill>
                <a:latin typeface="Segoe UI" pitchFamily="34" charset="0"/>
                <a:ea typeface="Segoe UI" pitchFamily="34" charset="-122"/>
                <a:cs typeface="Segoe UI" pitchFamily="34" charset="-120"/>
              </a:rPr>
              <a:t>state</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Khớp callback với lần bấm login.</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Chống CSRF trên redirect.</a:t>
            </a:r>
            <a:endParaRPr lang="en-US" sz="1200" dirty="0"/>
          </a:p>
        </p:txBody>
      </p:sp>
      <p:sp>
        <p:nvSpPr>
          <p:cNvPr id="22" name="Text 20"/>
          <p:cNvSpPr/>
          <p:nvPr/>
        </p:nvSpPr>
        <p:spPr>
          <a:xfrm>
            <a:off x="3337560" y="4114800"/>
            <a:ext cx="2697480" cy="1325880"/>
          </a:xfrm>
          <a:prstGeom prst="roundRect">
            <a:avLst>
              <a:gd name="adj" fmla="val 5517"/>
            </a:avLst>
          </a:prstGeom>
          <a:solidFill>
            <a:srgbClr val="182238"/>
          </a:solidFill>
          <a:ln w="12700">
            <a:solidFill>
              <a:srgbClr val="7DB3FF"/>
            </a:solidFill>
            <a:prstDash val="solid"/>
          </a:ln>
        </p:spPr>
        <p:txBody>
          <a:bodyPr wrap="square" lIns="76200" tIns="76200" rIns="76200" bIns="76200" rtlCol="0" anchor="ctr"/>
          <a:lstStyle/>
          <a:p>
            <a:pPr marL="0" indent="0" algn="l">
              <a:buNone/>
            </a:pPr>
            <a:r>
              <a:rPr lang="en-US" sz="1400" b="1" dirty="0">
                <a:solidFill>
                  <a:srgbClr val="7DB3FF"/>
                </a:solidFill>
                <a:latin typeface="Segoe UI" pitchFamily="34" charset="0"/>
                <a:ea typeface="Segoe UI" pitchFamily="34" charset="-122"/>
                <a:cs typeface="Segoe UI" pitchFamily="34" charset="-120"/>
              </a:rPr>
              <a:t>nonce</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Phải có trong ID token.</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Chống replay ID token.</a:t>
            </a:r>
            <a:endParaRPr lang="en-US" sz="1200" dirty="0"/>
          </a:p>
        </p:txBody>
      </p:sp>
      <p:sp>
        <p:nvSpPr>
          <p:cNvPr id="23" name="Text 21"/>
          <p:cNvSpPr/>
          <p:nvPr/>
        </p:nvSpPr>
        <p:spPr>
          <a:xfrm>
            <a:off x="6126480" y="4114800"/>
            <a:ext cx="2697480" cy="1325880"/>
          </a:xfrm>
          <a:prstGeom prst="roundRect">
            <a:avLst>
              <a:gd name="adj" fmla="val 5517"/>
            </a:avLst>
          </a:prstGeom>
          <a:solidFill>
            <a:srgbClr val="182238"/>
          </a:solidFill>
          <a:ln w="12700">
            <a:solidFill>
              <a:srgbClr val="6EE7B7"/>
            </a:solidFill>
            <a:prstDash val="solid"/>
          </a:ln>
        </p:spPr>
        <p:txBody>
          <a:bodyPr wrap="square" lIns="76200" tIns="76200" rIns="76200" bIns="76200" rtlCol="0" anchor="ctr"/>
          <a:lstStyle/>
          <a:p>
            <a:pPr marL="0" indent="0" algn="l">
              <a:buNone/>
            </a:pPr>
            <a:r>
              <a:rPr lang="en-US" sz="1400" b="1" dirty="0">
                <a:solidFill>
                  <a:srgbClr val="6EE7B7"/>
                </a:solidFill>
                <a:latin typeface="Segoe UI" pitchFamily="34" charset="0"/>
                <a:ea typeface="Segoe UI" pitchFamily="34" charset="-122"/>
                <a:cs typeface="Segoe UI" pitchFamily="34" charset="-120"/>
              </a:rPr>
              <a:t>PKCE</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challenge lên URL.</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verifier giữ bí mật.</a:t>
            </a:r>
            <a:endParaRPr lang="en-US" sz="1200" dirty="0"/>
          </a:p>
        </p:txBody>
      </p:sp>
      <p:sp>
        <p:nvSpPr>
          <p:cNvPr id="24" name="Text 22"/>
          <p:cNvSpPr/>
          <p:nvPr/>
        </p:nvSpPr>
        <p:spPr>
          <a:xfrm>
            <a:off x="8915400" y="4114800"/>
            <a:ext cx="2697480" cy="1325880"/>
          </a:xfrm>
          <a:prstGeom prst="roundRect">
            <a:avLst>
              <a:gd name="adj" fmla="val 5517"/>
            </a:avLst>
          </a:prstGeom>
          <a:solidFill>
            <a:srgbClr val="182238"/>
          </a:solidFill>
          <a:ln w="12700">
            <a:solidFill>
              <a:srgbClr val="F5A65B"/>
            </a:solidFill>
            <a:prstDash val="solid"/>
          </a:ln>
        </p:spPr>
        <p:txBody>
          <a:bodyPr wrap="square" lIns="76200" tIns="76200" rIns="76200" bIns="76200" rtlCol="0" anchor="ctr"/>
          <a:lstStyle/>
          <a:p>
            <a:pPr marL="0" indent="0" algn="l">
              <a:buNone/>
            </a:pPr>
            <a:r>
              <a:rPr lang="en-US" sz="1400" b="1" dirty="0">
                <a:solidFill>
                  <a:srgbClr val="F5A65B"/>
                </a:solidFill>
                <a:latin typeface="Segoe UI" pitchFamily="34" charset="0"/>
                <a:ea typeface="Segoe UI" pitchFamily="34" charset="-122"/>
                <a:cs typeface="Segoe UI" pitchFamily="34" charset="-120"/>
              </a:rPr>
              <a:t>redirect_uri</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Chỉ nhận callback đúng URL</a:t>
            </a:r>
            <a:endParaRPr lang="en-US" sz="1200" dirty="0"/>
          </a:p>
          <a:p>
            <a:pPr marL="0" indent="0" algn="l">
              <a:buNone/>
            </a:pPr>
            <a:r>
              <a:rPr lang="en-US" sz="1200" dirty="0">
                <a:solidFill>
                  <a:srgbClr val="E8ECF5"/>
                </a:solidFill>
                <a:latin typeface="Segoe UI" pitchFamily="34" charset="0"/>
                <a:ea typeface="Segoe UI" pitchFamily="34" charset="-122"/>
                <a:cs typeface="Segoe UI" pitchFamily="34" charset="-120"/>
              </a:rPr>
              <a:t>đã đăng ký với IdP.</a:t>
            </a:r>
            <a:endParaRPr lang="en-US" sz="1200" dirty="0"/>
          </a:p>
        </p:txBody>
      </p:sp>
      <p:sp>
        <p:nvSpPr>
          <p:cNvPr id="25" name="Text 23"/>
          <p:cNvSpPr/>
          <p:nvPr/>
        </p:nvSpPr>
        <p:spPr>
          <a:xfrm>
            <a:off x="548640" y="5623560"/>
            <a:ext cx="11064240" cy="640080"/>
          </a:xfrm>
          <a:prstGeom prst="roundRect">
            <a:avLst>
              <a:gd name="adj" fmla="val 11429"/>
            </a:avLst>
          </a:prstGeom>
          <a:solidFill>
            <a:srgbClr val="4A3420"/>
          </a:solidFill>
          <a:ln w="12700">
            <a:solidFill>
              <a:srgbClr val="F5A65B"/>
            </a:solidFill>
            <a:prstDash val="solid"/>
          </a:ln>
        </p:spPr>
        <p:txBody>
          <a:bodyPr wrap="square" lIns="152400" tIns="152400" rIns="152400" bIns="152400" rtlCol="0" anchor="ctr"/>
          <a:lstStyle/>
          <a:p>
            <a:pPr marL="0" indent="0" algn="l">
              <a:buNone/>
            </a:pPr>
            <a:r>
              <a:rPr lang="en-US" sz="1600" b="1" dirty="0">
                <a:solidFill>
                  <a:srgbClr val="E8ECF5"/>
                </a:solidFill>
                <a:latin typeface="Segoe UI" pitchFamily="34" charset="0"/>
                <a:ea typeface="Segoe UI" pitchFamily="34" charset="-122"/>
                <a:cs typeface="Segoe UI" pitchFamily="34" charset="-120"/>
              </a:rPr>
              <a:t>Verifier không lên URL. Cắp được code cũng không đổi token.</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OAUTH / OIDC / SAML  ·  SLIDE 25/33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OIDC Demo — Login qua Identity Provider</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​IdP giữ password. DevHub không.</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​Callback mang </a:t>
            </a:r>
            <a:r>
              <a:rPr lang="en-US" sz="1800" dirty="0">
                <a:solidFill>
                  <a:srgbClr val="B5A5FF"/>
                </a:solidFill>
                <a:latin typeface="Consolas" pitchFamily="34" charset="0"/>
                <a:ea typeface="Consolas" pitchFamily="34" charset="-122"/>
                <a:cs typeface="Consolas" pitchFamily="34" charset="-120"/>
              </a:rPr>
              <a:t>code</a:t>
            </a:r>
            <a:r>
              <a:rPr lang="en-US" sz="1800" dirty="0">
                <a:solidFill>
                  <a:srgbClr val="E8ECF5"/>
                </a:solidFill>
                <a:latin typeface="Segoe UI" pitchFamily="34" charset="0"/>
                <a:ea typeface="Segoe UI" pitchFamily="34" charset="-122"/>
                <a:cs typeface="Segoe UI" pitchFamily="34" charset="-120"/>
              </a:rPr>
              <a:t> + </a:t>
            </a:r>
            <a:r>
              <a:rPr lang="en-US" sz="1800" dirty="0">
                <a:solidFill>
                  <a:srgbClr val="B5A5FF"/>
                </a:solidFill>
                <a:latin typeface="Consolas" pitchFamily="34" charset="0"/>
                <a:ea typeface="Consolas" pitchFamily="34" charset="-122"/>
                <a:cs typeface="Consolas" pitchFamily="34" charset="-120"/>
              </a:rPr>
              <a:t>state</a:t>
            </a:r>
            <a:r>
              <a:rPr lang="en-US" sz="1800" dirty="0">
                <a:solidFill>
                  <a:srgbClr val="E8ECF5"/>
                </a:solidFill>
                <a:latin typeface="Segoe UI" pitchFamily="34" charset="0"/>
                <a:ea typeface="Segoe UI" pitchFamily="34" charset="-122"/>
                <a:cs typeface="Segoe UI" pitchFamily="34" charset="-120"/>
              </a:rPr>
              <a:t>.</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​Đủ check mới tin login.</a:t>
            </a:r>
            <a:endParaRPr lang="en-US" sz="1800" dirty="0"/>
          </a:p>
          <a:p>
            <a:pPr marL="279400" indent="-279400" algn="l">
              <a:spcAft>
                <a:spcPts val="1200"/>
              </a:spcAft>
              <a:buSzPct val="100000"/>
              <a:buChar char="▸"/>
            </a:pPr>
            <a:r>
              <a:rPr lang="en-US" sz="1800" dirty="0">
                <a:solidFill>
                  <a:srgbClr val="E8ECF5"/>
                </a:solidFill>
                <a:latin typeface="Segoe UI" pitchFamily="34" charset="0"/>
                <a:ea typeface="Segoe UI" pitchFamily="34" charset="-122"/>
                <a:cs typeface="Segoe UI" pitchFamily="34" charset="-120"/>
              </a:rPr>
              <a:t>​Session DevHub ≠ session IdP.</a:t>
            </a:r>
            <a:endParaRPr lang="en-US" sz="1800" dirty="0"/>
          </a:p>
        </p:txBody>
      </p:sp>
      <p:sp>
        <p:nvSpPr>
          <p:cNvPr id="7" name="Text 5"/>
          <p:cNvSpPr/>
          <p:nvPr/>
        </p:nvSpPr>
        <p:spPr>
          <a:xfrm>
            <a:off x="5440680" y="1463040"/>
            <a:ext cx="1371600" cy="914400"/>
          </a:xfrm>
          <a:prstGeom prst="roundRect">
            <a:avLst>
              <a:gd name="adj" fmla="val 8000"/>
            </a:avLst>
          </a:prstGeom>
          <a:solidFill>
            <a:srgbClr val="182238"/>
          </a:solidFill>
          <a:ln w="12700">
            <a:solidFill>
              <a:srgbClr val="B5A5FF"/>
            </a:solidFill>
            <a:prstDash val="solid"/>
          </a:ln>
        </p:spPr>
        <p:txBody>
          <a:bodyPr wrap="square" lIns="76200" tIns="76200" rIns="76200" bIns="76200" rtlCol="0" anchor="ctr"/>
          <a:lstStyle/>
          <a:p>
            <a:pPr marL="0" indent="0" algn="ctr">
              <a:buNone/>
            </a:pPr>
            <a:r>
              <a:rPr lang="en-US" sz="1200" b="1" dirty="0">
                <a:solidFill>
                  <a:srgbClr val="B5A5FF"/>
                </a:solidFill>
                <a:latin typeface="Segoe UI" pitchFamily="34" charset="0"/>
                <a:ea typeface="Segoe UI" pitchFamily="34" charset="-122"/>
                <a:cs typeface="Segoe UI" pitchFamily="34" charset="-120"/>
              </a:rPr>
              <a:t>DevHub</a:t>
            </a:r>
            <a:endParaRPr lang="en-US" sz="1200" dirty="0"/>
          </a:p>
          <a:p>
            <a:pPr marL="0" indent="0" algn="ctr">
              <a:buNone/>
            </a:pPr>
            <a:r>
              <a:rPr lang="en-US" sz="1000" dirty="0">
                <a:solidFill>
                  <a:srgbClr val="E8ECF5"/>
                </a:solidFill>
                <a:latin typeface="Segoe UI" pitchFamily="34" charset="0"/>
                <a:ea typeface="Segoe UI" pitchFamily="34" charset="-122"/>
                <a:cs typeface="Segoe UI" pitchFamily="34" charset="-120"/>
              </a:rPr>
              <a:t>sinh state, nonce, PKCE</a:t>
            </a:r>
            <a:endParaRPr lang="en-US" sz="1200" dirty="0"/>
          </a:p>
        </p:txBody>
      </p:sp>
      <p:sp>
        <p:nvSpPr>
          <p:cNvPr id="8" name="Shape 6"/>
          <p:cNvSpPr/>
          <p:nvPr/>
        </p:nvSpPr>
        <p:spPr>
          <a:xfrm>
            <a:off x="6812280" y="1920240"/>
            <a:ext cx="259080" cy="0"/>
          </a:xfrm>
          <a:prstGeom prst="line">
            <a:avLst/>
          </a:prstGeom>
          <a:noFill/>
          <a:ln w="19050">
            <a:solidFill>
              <a:srgbClr val="B5A5FF"/>
            </a:solidFill>
            <a:prstDash val="solid"/>
            <a:tailEnd type="triangle"/>
          </a:ln>
        </p:spPr>
      </p:sp>
      <p:sp>
        <p:nvSpPr>
          <p:cNvPr id="9" name="Text 7"/>
          <p:cNvSpPr/>
          <p:nvPr/>
        </p:nvSpPr>
        <p:spPr>
          <a:xfrm>
            <a:off x="7071360" y="1463040"/>
            <a:ext cx="137160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marL="0" indent="0" algn="ctr">
              <a:buNone/>
            </a:pPr>
            <a:r>
              <a:rPr lang="en-US" sz="1200" b="1" dirty="0">
                <a:solidFill>
                  <a:srgbClr val="7DB3FF"/>
                </a:solidFill>
                <a:latin typeface="Segoe UI" pitchFamily="34" charset="0"/>
                <a:ea typeface="Segoe UI" pitchFamily="34" charset="-122"/>
                <a:cs typeface="Segoe UI" pitchFamily="34" charset="-120"/>
              </a:rPr>
              <a:t>Identity Provider</a:t>
            </a:r>
            <a:endParaRPr lang="en-US" sz="1200" dirty="0"/>
          </a:p>
          <a:p>
            <a:pPr marL="0" indent="0" algn="ctr">
              <a:buNone/>
            </a:pPr>
            <a:r>
              <a:rPr lang="en-US" sz="1000" dirty="0">
                <a:solidFill>
                  <a:srgbClr val="E8ECF5"/>
                </a:solidFill>
                <a:latin typeface="Segoe UI" pitchFamily="34" charset="0"/>
                <a:ea typeface="Segoe UI" pitchFamily="34" charset="-122"/>
                <a:cs typeface="Segoe UI" pitchFamily="34" charset="-120"/>
              </a:rPr>
              <a:t>user đăng nhập</a:t>
            </a:r>
            <a:endParaRPr lang="en-US" sz="1200" dirty="0"/>
          </a:p>
        </p:txBody>
      </p:sp>
      <p:sp>
        <p:nvSpPr>
          <p:cNvPr id="10" name="Shape 8"/>
          <p:cNvSpPr/>
          <p:nvPr/>
        </p:nvSpPr>
        <p:spPr>
          <a:xfrm>
            <a:off x="8442960" y="1920240"/>
            <a:ext cx="259080" cy="0"/>
          </a:xfrm>
          <a:prstGeom prst="line">
            <a:avLst/>
          </a:prstGeom>
          <a:noFill/>
          <a:ln w="19050">
            <a:solidFill>
              <a:srgbClr val="7DB3FF"/>
            </a:solidFill>
            <a:prstDash val="solid"/>
            <a:tailEnd type="triangle"/>
          </a:ln>
        </p:spPr>
      </p:sp>
      <p:sp>
        <p:nvSpPr>
          <p:cNvPr id="11" name="Text 9"/>
          <p:cNvSpPr/>
          <p:nvPr/>
        </p:nvSpPr>
        <p:spPr>
          <a:xfrm>
            <a:off x="8702040" y="1463040"/>
            <a:ext cx="1371600" cy="914400"/>
          </a:xfrm>
          <a:prstGeom prst="roundRect">
            <a:avLst>
              <a:gd name="adj" fmla="val 8000"/>
            </a:avLst>
          </a:prstGeom>
          <a:solidFill>
            <a:srgbClr val="182238"/>
          </a:solidFill>
          <a:ln w="12700">
            <a:solidFill>
              <a:srgbClr val="7DB3FF"/>
            </a:solidFill>
            <a:prstDash val="solid"/>
          </a:ln>
        </p:spPr>
        <p:txBody>
          <a:bodyPr wrap="square" lIns="76200" tIns="76200" rIns="76200" bIns="76200" rtlCol="0" anchor="ctr"/>
          <a:lstStyle/>
          <a:p>
            <a:pPr marL="0" indent="0" algn="ctr">
              <a:buNone/>
            </a:pPr>
            <a:r>
              <a:rPr lang="en-US" sz="1200" b="1" dirty="0">
                <a:solidFill>
                  <a:srgbClr val="7DB3FF"/>
                </a:solidFill>
                <a:latin typeface="Segoe UI" pitchFamily="34" charset="0"/>
                <a:ea typeface="Segoe UI" pitchFamily="34" charset="-122"/>
                <a:cs typeface="Segoe UI" pitchFamily="34" charset="-120"/>
              </a:rPr>
              <a:t>Callback</a:t>
            </a:r>
            <a:endParaRPr lang="en-US" sz="1200" dirty="0"/>
          </a:p>
          <a:p>
            <a:pPr marL="0" indent="0" algn="ctr">
              <a:buNone/>
            </a:pPr>
            <a:r>
              <a:rPr lang="en-US" sz="1000" dirty="0">
                <a:solidFill>
                  <a:srgbClr val="E8ECF5"/>
                </a:solidFill>
                <a:latin typeface="Segoe UI" pitchFamily="34" charset="0"/>
                <a:ea typeface="Segoe UI" pitchFamily="34" charset="-122"/>
                <a:cs typeface="Segoe UI" pitchFamily="34" charset="-120"/>
              </a:rPr>
              <a:t>code + state</a:t>
            </a:r>
            <a:endParaRPr lang="en-US" sz="1200" dirty="0"/>
          </a:p>
        </p:txBody>
      </p:sp>
      <p:sp>
        <p:nvSpPr>
          <p:cNvPr id="12" name="Shape 10"/>
          <p:cNvSpPr/>
          <p:nvPr/>
        </p:nvSpPr>
        <p:spPr>
          <a:xfrm>
            <a:off x="10073640" y="1920240"/>
            <a:ext cx="259080" cy="0"/>
          </a:xfrm>
          <a:prstGeom prst="line">
            <a:avLst/>
          </a:prstGeom>
          <a:noFill/>
          <a:ln w="19050">
            <a:solidFill>
              <a:srgbClr val="7DB3FF"/>
            </a:solidFill>
            <a:prstDash val="solid"/>
            <a:tailEnd type="triangle"/>
          </a:ln>
        </p:spPr>
      </p:sp>
      <p:sp>
        <p:nvSpPr>
          <p:cNvPr id="13" name="Text 11"/>
          <p:cNvSpPr/>
          <p:nvPr/>
        </p:nvSpPr>
        <p:spPr>
          <a:xfrm>
            <a:off x="10332720" y="1463040"/>
            <a:ext cx="1371600" cy="914400"/>
          </a:xfrm>
          <a:prstGeom prst="roundRect">
            <a:avLst>
              <a:gd name="adj" fmla="val 8000"/>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200" b="1" dirty="0">
                <a:solidFill>
                  <a:srgbClr val="6EE7B7"/>
                </a:solidFill>
                <a:latin typeface="Segoe UI" pitchFamily="34" charset="0"/>
                <a:ea typeface="Segoe UI" pitchFamily="34" charset="-122"/>
                <a:cs typeface="Segoe UI" pitchFamily="34" charset="-120"/>
              </a:rPr>
              <a:t>DevHub</a:t>
            </a:r>
            <a:endParaRPr lang="en-US" sz="1200" dirty="0"/>
          </a:p>
          <a:p>
            <a:pPr marL="0" indent="0" algn="ctr">
              <a:buNone/>
            </a:pPr>
            <a:r>
              <a:rPr lang="en-US" sz="1000" dirty="0">
                <a:solidFill>
                  <a:srgbClr val="E8ECF5"/>
                </a:solidFill>
                <a:latin typeface="Segoe UI" pitchFamily="34" charset="0"/>
                <a:ea typeface="Segoe UI" pitchFamily="34" charset="-122"/>
                <a:cs typeface="Segoe UI" pitchFamily="34" charset="-120"/>
              </a:rPr>
              <a:t>kiểm tra, tạo session</a:t>
            </a:r>
            <a:endParaRPr lang="en-US" sz="1200" dirty="0"/>
          </a:p>
        </p:txBody>
      </p:sp>
      <p:sp>
        <p:nvSpPr>
          <p:cNvPr id="14" name="Text 12"/>
          <p:cNvSpPr/>
          <p:nvPr/>
        </p:nvSpPr>
        <p:spPr>
          <a:xfrm>
            <a:off x="5440680" y="2697480"/>
            <a:ext cx="6263640" cy="320040"/>
          </a:xfrm>
          <a:prstGeom prst="rect">
            <a:avLst/>
          </a:prstGeom>
          <a:noFill/>
          <a:ln/>
        </p:spPr>
        <p:txBody>
          <a:bodyPr wrap="square" lIns="25400" tIns="25400" rIns="25400" bIns="25400" rtlCol="0" anchor="ctr"/>
          <a:lstStyle/>
          <a:p>
            <a:pPr marL="0" indent="0" algn="l">
              <a:buNone/>
            </a:pPr>
            <a:r>
              <a:rPr lang="en-US" sz="1100" b="1" dirty="0">
                <a:solidFill>
                  <a:srgbClr val="8F9BB3"/>
                </a:solidFill>
                <a:latin typeface="Segoe UI" pitchFamily="34" charset="0"/>
                <a:ea typeface="Segoe UI" pitchFamily="34" charset="-122"/>
                <a:cs typeface="Segoe UI" pitchFamily="34" charset="-120"/>
              </a:rPr>
              <a:t>DevHub chỉ tin lần login khi đạt đủ:</a:t>
            </a:r>
            <a:endParaRPr lang="en-US" sz="1100" dirty="0"/>
          </a:p>
        </p:txBody>
      </p:sp>
      <p:sp>
        <p:nvSpPr>
          <p:cNvPr id="15" name="Text 13"/>
          <p:cNvSpPr/>
          <p:nvPr/>
        </p:nvSpPr>
        <p:spPr>
          <a:xfrm>
            <a:off x="5440680"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 state</a:t>
            </a:r>
            <a:endParaRPr lang="en-US" sz="1200" dirty="0"/>
          </a:p>
        </p:txBody>
      </p:sp>
      <p:sp>
        <p:nvSpPr>
          <p:cNvPr id="16" name="Text 14"/>
          <p:cNvSpPr/>
          <p:nvPr/>
        </p:nvSpPr>
        <p:spPr>
          <a:xfrm>
            <a:off x="6348549"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 PKCE</a:t>
            </a:r>
            <a:endParaRPr lang="en-US" sz="1200" dirty="0"/>
          </a:p>
        </p:txBody>
      </p:sp>
      <p:sp>
        <p:nvSpPr>
          <p:cNvPr id="17" name="Text 15"/>
          <p:cNvSpPr/>
          <p:nvPr/>
        </p:nvSpPr>
        <p:spPr>
          <a:xfrm>
            <a:off x="7256417"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 chữ ký</a:t>
            </a:r>
            <a:endParaRPr lang="en-US" sz="1200" dirty="0"/>
          </a:p>
        </p:txBody>
      </p:sp>
      <p:sp>
        <p:nvSpPr>
          <p:cNvPr id="18" name="Text 16"/>
          <p:cNvSpPr/>
          <p:nvPr/>
        </p:nvSpPr>
        <p:spPr>
          <a:xfrm>
            <a:off x="8164286"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 iss</a:t>
            </a:r>
            <a:endParaRPr lang="en-US" sz="1200" dirty="0"/>
          </a:p>
        </p:txBody>
      </p:sp>
      <p:sp>
        <p:nvSpPr>
          <p:cNvPr id="19" name="Text 17"/>
          <p:cNvSpPr/>
          <p:nvPr/>
        </p:nvSpPr>
        <p:spPr>
          <a:xfrm>
            <a:off x="9072154"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 aud</a:t>
            </a:r>
            <a:endParaRPr lang="en-US" sz="1200" dirty="0"/>
          </a:p>
        </p:txBody>
      </p:sp>
      <p:sp>
        <p:nvSpPr>
          <p:cNvPr id="20" name="Text 18"/>
          <p:cNvSpPr/>
          <p:nvPr/>
        </p:nvSpPr>
        <p:spPr>
          <a:xfrm>
            <a:off x="9980023"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 exp</a:t>
            </a:r>
            <a:endParaRPr lang="en-US" sz="1200" dirty="0"/>
          </a:p>
        </p:txBody>
      </p:sp>
      <p:sp>
        <p:nvSpPr>
          <p:cNvPr id="21" name="Text 19"/>
          <p:cNvSpPr/>
          <p:nvPr/>
        </p:nvSpPr>
        <p:spPr>
          <a:xfrm>
            <a:off x="10887891" y="3063240"/>
            <a:ext cx="816429" cy="502920"/>
          </a:xfrm>
          <a:prstGeom prst="roundRect">
            <a:avLst>
              <a:gd name="adj" fmla="val 14545"/>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050" b="1" dirty="0">
                <a:solidFill>
                  <a:srgbClr val="6EE7B7"/>
                </a:solidFill>
                <a:latin typeface="Segoe UI" pitchFamily="34" charset="0"/>
                <a:ea typeface="Segoe UI" pitchFamily="34" charset="-122"/>
                <a:cs typeface="Segoe UI" pitchFamily="34" charset="-120"/>
              </a:rPr>
              <a:t>✓ nonce</a:t>
            </a:r>
            <a:endParaRPr lang="en-US" sz="1200" dirty="0"/>
          </a:p>
        </p:txBody>
      </p:sp>
      <p:sp>
        <p:nvSpPr>
          <p:cNvPr id="22" name="Text 20"/>
          <p:cNvSpPr/>
          <p:nvPr/>
        </p:nvSpPr>
        <p:spPr>
          <a:xfrm>
            <a:off x="5440680" y="3931920"/>
            <a:ext cx="3040380" cy="1005840"/>
          </a:xfrm>
          <a:prstGeom prst="roundRect">
            <a:avLst>
              <a:gd name="adj" fmla="val 7273"/>
            </a:avLst>
          </a:prstGeom>
          <a:solidFill>
            <a:srgbClr val="182238"/>
          </a:solidFill>
          <a:ln w="12700">
            <a:solidFill>
              <a:srgbClr val="6EE7B7"/>
            </a:solidFill>
            <a:prstDash val="solid"/>
          </a:ln>
        </p:spPr>
        <p:txBody>
          <a:bodyPr wrap="square" lIns="76200" tIns="76200" rIns="76200" bIns="76200" rtlCol="0" anchor="ctr"/>
          <a:lstStyle/>
          <a:p>
            <a:pPr marL="0" indent="0" algn="l">
              <a:buNone/>
            </a:pPr>
            <a:r>
              <a:rPr lang="en-US" sz="1200" b="1" dirty="0">
                <a:solidFill>
                  <a:srgbClr val="6EE7B7"/>
                </a:solidFill>
                <a:latin typeface="Segoe UI" pitchFamily="34" charset="0"/>
                <a:ea typeface="Segoe UI" pitchFamily="34" charset="-122"/>
                <a:cs typeface="Segoe UI" pitchFamily="34" charset="-120"/>
              </a:rPr>
              <a:t>Logout khỏi DevHub</a:t>
            </a:r>
            <a:endParaRPr lang="en-US" sz="1200" dirty="0"/>
          </a:p>
          <a:p>
            <a:pPr marL="0" indent="0" algn="l">
              <a:buNone/>
            </a:pPr>
            <a:r>
              <a:rPr lang="en-US" sz="1050" dirty="0">
                <a:solidFill>
                  <a:srgbClr val="E8ECF5"/>
                </a:solidFill>
                <a:latin typeface="Segoe UI" pitchFamily="34" charset="0"/>
                <a:ea typeface="Segoe UI" pitchFamily="34" charset="-122"/>
                <a:cs typeface="Segoe UI" pitchFamily="34" charset="-120"/>
              </a:rPr>
              <a:t>Session của DevHub bị huỷ → API trả 401.</a:t>
            </a:r>
            <a:endParaRPr lang="en-US" sz="1200" dirty="0"/>
          </a:p>
        </p:txBody>
      </p:sp>
      <p:sp>
        <p:nvSpPr>
          <p:cNvPr id="23" name="Text 21"/>
          <p:cNvSpPr/>
          <p:nvPr/>
        </p:nvSpPr>
        <p:spPr>
          <a:xfrm>
            <a:off x="8663940" y="3931920"/>
            <a:ext cx="3040380" cy="1005840"/>
          </a:xfrm>
          <a:prstGeom prst="roundRect">
            <a:avLst>
              <a:gd name="adj" fmla="val 7273"/>
            </a:avLst>
          </a:prstGeom>
          <a:solidFill>
            <a:srgbClr val="182238"/>
          </a:solidFill>
          <a:ln w="12700">
            <a:solidFill>
              <a:srgbClr val="F5A65B"/>
            </a:solidFill>
            <a:prstDash val="solid"/>
          </a:ln>
        </p:spPr>
        <p:txBody>
          <a:bodyPr wrap="square" lIns="76200" tIns="76200" rIns="76200" bIns="76200" rtlCol="0" anchor="ctr"/>
          <a:lstStyle/>
          <a:p>
            <a:pPr marL="0" indent="0" algn="l">
              <a:buNone/>
            </a:pPr>
            <a:r>
              <a:rPr lang="en-US" sz="1200" b="1" dirty="0">
                <a:solidFill>
                  <a:srgbClr val="F5A65B"/>
                </a:solidFill>
                <a:latin typeface="Segoe UI" pitchFamily="34" charset="0"/>
                <a:ea typeface="Segoe UI" pitchFamily="34" charset="-122"/>
                <a:cs typeface="Segoe UI" pitchFamily="34" charset="-120"/>
              </a:rPr>
              <a:t>Session ở IdP vẫn còn</a:t>
            </a:r>
            <a:endParaRPr lang="en-US" sz="1200" dirty="0"/>
          </a:p>
          <a:p>
            <a:pPr marL="0" indent="0" algn="l">
              <a:buNone/>
            </a:pPr>
            <a:r>
              <a:rPr lang="en-US" sz="1050" dirty="0">
                <a:solidFill>
                  <a:srgbClr val="E8ECF5"/>
                </a:solidFill>
                <a:latin typeface="Segoe UI" pitchFamily="34" charset="0"/>
                <a:ea typeface="Segoe UI" pitchFamily="34" charset="-122"/>
                <a:cs typeface="Segoe UI" pitchFamily="34" charset="-120"/>
              </a:rPr>
              <a:t>Login sau có thể không hỏi password. Cần logout cả IdP.</a:t>
            </a:r>
            <a:endParaRPr lang="en-US" sz="1200" dirty="0"/>
          </a:p>
        </p:txBody>
      </p:sp>
      <p:sp>
        <p:nvSpPr>
          <p:cNvPr id="24" name="Text 22"/>
          <p:cNvSpPr/>
          <p:nvPr/>
        </p:nvSpPr>
        <p:spPr>
          <a:xfrm>
            <a:off x="548640" y="5760720"/>
            <a:ext cx="3566160" cy="566928"/>
          </a:xfrm>
          <a:prstGeom prst="roundRect">
            <a:avLst>
              <a:gd name="adj" fmla="val 12903"/>
            </a:avLst>
          </a:prstGeom>
          <a:solidFill>
            <a:srgbClr val="B5A5FF"/>
          </a:solidFill>
          <a:ln w="12700">
            <a:solidFill>
              <a:srgbClr val="B5A5FF"/>
            </a:solidFill>
          </a:ln>
        </p:spPr>
        <p:txBody>
          <a:bodyPr wrap="square" rtlCol="0" anchor="ctr"/>
          <a:lstStyle/>
          <a:p>
            <a:pPr marL="0" indent="0" algn="ctr">
              <a:buNone/>
            </a:pPr>
            <a:r>
              <a:rPr lang="en-US" sz="1500" b="1" u="sng" dirty="0">
                <a:solidFill>
                  <a:srgbClr val="111329"/>
                </a:solidFill>
                <a:latin typeface="Segoe UI" pitchFamily="34" charset="0"/>
                <a:ea typeface="Segoe UI" pitchFamily="34" charset="-122"/>
                <a:cs typeface="Segoe UI" pitchFamily="34" charset="-120"/>
                <a:hlinkClick r:id="rId3" tooltip="http://localhost:5173/demo/oidc">
                  <a:extLst>
                    <a:ext uri="{A12FA001-AC4F-418D-AE19-62706E023703}">
                      <ahyp:hlinkClr xmlns:ahyp="http://schemas.microsoft.com/office/drawing/2018/hyperlinkcolor" val="tx"/>
                    </a:ext>
                  </a:extLst>
                </a:hlinkClick>
              </a:rPr>
              <a:t>Mở OIDC Demo ↗</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OAUTH / OIDC / SAML  ·  SLIDE 26/33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SAML — Assertion XML vs ID token</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325880"/>
            <a:ext cx="11064240" cy="685800"/>
          </a:xfrm>
          <a:prstGeom prst="roundRect">
            <a:avLst>
              <a:gd name="adj" fmla="val 10667"/>
            </a:avLst>
          </a:prstGeom>
          <a:solidFill>
            <a:srgbClr val="182238"/>
          </a:solidFill>
          <a:ln w="12700">
            <a:solidFill>
              <a:srgbClr val="6EE7B7"/>
            </a:solidFill>
            <a:prstDash val="solid"/>
          </a:ln>
        </p:spPr>
        <p:txBody>
          <a:bodyPr wrap="square" lIns="76200" tIns="76200" rIns="76200" bIns="76200" rtlCol="0" anchor="ctr"/>
          <a:lstStyle/>
          <a:p>
            <a:pPr marL="0" indent="0" algn="l">
              <a:buNone/>
            </a:pPr>
            <a:r>
              <a:rPr lang="en-US" sz="1400" b="1" dirty="0">
                <a:solidFill>
                  <a:srgbClr val="6EE7B7"/>
                </a:solidFill>
                <a:latin typeface="Segoe UI" pitchFamily="34" charset="0"/>
                <a:ea typeface="Segoe UI" pitchFamily="34" charset="-122"/>
                <a:cs typeface="Segoe UI" pitchFamily="34" charset="-120"/>
              </a:rPr>
              <a:t>Assertion = giấy IdP xác nhận  </a:t>
            </a:r>
            <a:r>
              <a:rPr lang="en-US" sz="1300" dirty="0">
                <a:solidFill>
                  <a:srgbClr val="E8ECF5"/>
                </a:solidFill>
                <a:latin typeface="Segoe UI" pitchFamily="34" charset="0"/>
                <a:ea typeface="Segoe UI" pitchFamily="34" charset="-122"/>
                <a:cs typeface="Segoe UI" pitchFamily="34" charset="-120"/>
              </a:rPr>
              <a:t>“User X đã login · dành cho app Y · còn hạn tới …” — cùng việc với ID token, khác bao bì (XML vs JWT).</a:t>
            </a:r>
            <a:endParaRPr lang="en-US" sz="1200" dirty="0"/>
          </a:p>
        </p:txBody>
      </p:sp>
      <p:sp>
        <p:nvSpPr>
          <p:cNvPr id="7" name="Text 5"/>
          <p:cNvSpPr/>
          <p:nvPr/>
        </p:nvSpPr>
        <p:spPr>
          <a:xfrm>
            <a:off x="548640" y="2148840"/>
            <a:ext cx="5440680" cy="1417320"/>
          </a:xfrm>
          <a:prstGeom prst="roundRect">
            <a:avLst>
              <a:gd name="adj" fmla="val 5161"/>
            </a:avLst>
          </a:prstGeom>
          <a:solidFill>
            <a:srgbClr val="182238"/>
          </a:solidFill>
          <a:ln w="12700">
            <a:solidFill>
              <a:srgbClr val="F5A65B"/>
            </a:solidFill>
            <a:prstDash val="solid"/>
          </a:ln>
        </p:spPr>
        <p:txBody>
          <a:bodyPr wrap="square" lIns="76200" tIns="76200" rIns="76200" bIns="76200" rtlCol="0" anchor="ctr"/>
          <a:lstStyle/>
          <a:p>
            <a:pPr marL="0" indent="0" algn="l">
              <a:buNone/>
            </a:pPr>
            <a:r>
              <a:rPr lang="en-US" sz="1400" b="1" dirty="0">
                <a:solidFill>
                  <a:srgbClr val="F5A65B"/>
                </a:solidFill>
                <a:latin typeface="Segoe UI" pitchFamily="34" charset="0"/>
                <a:ea typeface="Segoe UI" pitchFamily="34" charset="-122"/>
                <a:cs typeface="Segoe UI" pitchFamily="34" charset="-120"/>
              </a:rPr>
              <a:t>SAML Assertion</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Định dạng: XML + chữ ký</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Mang: Subject, Audience, exp</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Về app: POST tới ACS</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Ai đọc: SP (DevHub)</a:t>
            </a:r>
            <a:endParaRPr lang="en-US" sz="1200" dirty="0"/>
          </a:p>
        </p:txBody>
      </p:sp>
      <p:sp>
        <p:nvSpPr>
          <p:cNvPr id="8" name="Text 6"/>
          <p:cNvSpPr/>
          <p:nvPr/>
        </p:nvSpPr>
        <p:spPr>
          <a:xfrm>
            <a:off x="6172200" y="2148840"/>
            <a:ext cx="5440680" cy="1417320"/>
          </a:xfrm>
          <a:prstGeom prst="roundRect">
            <a:avLst>
              <a:gd name="adj" fmla="val 5161"/>
            </a:avLst>
          </a:prstGeom>
          <a:solidFill>
            <a:srgbClr val="182238"/>
          </a:solidFill>
          <a:ln w="12700">
            <a:solidFill>
              <a:srgbClr val="B5A5FF"/>
            </a:solidFill>
            <a:prstDash val="solid"/>
          </a:ln>
        </p:spPr>
        <p:txBody>
          <a:bodyPr wrap="square" lIns="76200" tIns="76200" rIns="76200" bIns="76200" rtlCol="0" anchor="ctr"/>
          <a:lstStyle/>
          <a:p>
            <a:pPr marL="0" indent="0" algn="l">
              <a:buNone/>
            </a:pPr>
            <a:r>
              <a:rPr lang="en-US" sz="1400" b="1" dirty="0">
                <a:solidFill>
                  <a:srgbClr val="B5A5FF"/>
                </a:solidFill>
                <a:latin typeface="Segoe UI" pitchFamily="34" charset="0"/>
                <a:ea typeface="Segoe UI" pitchFamily="34" charset="-122"/>
                <a:cs typeface="Segoe UI" pitchFamily="34" charset="-120"/>
              </a:rPr>
              <a:t>OIDC ID token</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Định dạng: JWT (JSON)</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Mang: sub, aud, exp, nonce</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Về app: code → /token</a:t>
            </a:r>
            <a:endParaRPr lang="en-US" sz="1200" dirty="0"/>
          </a:p>
          <a:p>
            <a:pPr marL="0" indent="0" algn="l">
              <a:buNone/>
            </a:pPr>
            <a:r>
              <a:rPr lang="en-US" sz="1300" dirty="0">
                <a:solidFill>
                  <a:srgbClr val="E8ECF5"/>
                </a:solidFill>
                <a:latin typeface="Consolas" pitchFamily="34" charset="0"/>
                <a:ea typeface="Consolas" pitchFamily="34" charset="-122"/>
                <a:cs typeface="Consolas" pitchFamily="34" charset="-120"/>
              </a:rPr>
              <a:t>Ai đọc: OIDC client</a:t>
            </a:r>
            <a:endParaRPr lang="en-US" sz="1200" dirty="0"/>
          </a:p>
        </p:txBody>
      </p:sp>
      <p:sp>
        <p:nvSpPr>
          <p:cNvPr id="9" name="Text 7"/>
          <p:cNvSpPr/>
          <p:nvPr/>
        </p:nvSpPr>
        <p:spPr>
          <a:xfrm>
            <a:off x="548640" y="3703320"/>
            <a:ext cx="11064240" cy="256032"/>
          </a:xfrm>
          <a:prstGeom prst="rect">
            <a:avLst/>
          </a:prstGeom>
          <a:noFill/>
          <a:ln/>
        </p:spPr>
        <p:txBody>
          <a:bodyPr wrap="square" lIns="25400" tIns="25400" rIns="25400" bIns="25400" rtlCol="0" anchor="ctr"/>
          <a:lstStyle/>
          <a:p>
            <a:pPr marL="0" indent="0" algn="l">
              <a:buNone/>
            </a:pPr>
            <a:r>
              <a:rPr lang="en-US" sz="1200" b="1" dirty="0">
                <a:solidFill>
                  <a:srgbClr val="8F9BB3"/>
                </a:solidFill>
                <a:latin typeface="Segoe UI" pitchFamily="34" charset="0"/>
                <a:ea typeface="Segoe UI" pitchFamily="34" charset="-122"/>
                <a:cs typeface="Segoe UI" pitchFamily="34" charset="-120"/>
              </a:rPr>
              <a:t>SAU KHI TIN CHỨNG TỪ → CẢ HAI ĐỀU TẠO SESSION RIÊNG CỦA APP</a:t>
            </a:r>
            <a:endParaRPr lang="en-US" sz="1200" dirty="0"/>
          </a:p>
        </p:txBody>
      </p:sp>
      <p:sp>
        <p:nvSpPr>
          <p:cNvPr id="10" name="Text 8"/>
          <p:cNvSpPr/>
          <p:nvPr/>
        </p:nvSpPr>
        <p:spPr>
          <a:xfrm>
            <a:off x="603504" y="3977640"/>
            <a:ext cx="35783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Browser</a:t>
            </a:r>
            <a:endParaRPr lang="en-US" sz="1100" dirty="0"/>
          </a:p>
        </p:txBody>
      </p:sp>
      <p:sp>
        <p:nvSpPr>
          <p:cNvPr id="11" name="Shape 9"/>
          <p:cNvSpPr/>
          <p:nvPr/>
        </p:nvSpPr>
        <p:spPr>
          <a:xfrm>
            <a:off x="2392680" y="4398264"/>
            <a:ext cx="0" cy="1088136"/>
          </a:xfrm>
          <a:prstGeom prst="line">
            <a:avLst/>
          </a:prstGeom>
          <a:noFill/>
          <a:ln w="12700">
            <a:solidFill>
              <a:srgbClr val="2A3651"/>
            </a:solidFill>
            <a:prstDash val="dash"/>
          </a:ln>
        </p:spPr>
      </p:sp>
      <p:sp>
        <p:nvSpPr>
          <p:cNvPr id="12" name="Text 10"/>
          <p:cNvSpPr/>
          <p:nvPr/>
        </p:nvSpPr>
        <p:spPr>
          <a:xfrm>
            <a:off x="4291584" y="3977640"/>
            <a:ext cx="35783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SP</a:t>
            </a:r>
            <a:endParaRPr lang="en-US" sz="1100" dirty="0"/>
          </a:p>
        </p:txBody>
      </p:sp>
      <p:sp>
        <p:nvSpPr>
          <p:cNvPr id="13" name="Shape 11"/>
          <p:cNvSpPr/>
          <p:nvPr/>
        </p:nvSpPr>
        <p:spPr>
          <a:xfrm>
            <a:off x="6080760" y="4398264"/>
            <a:ext cx="0" cy="1088136"/>
          </a:xfrm>
          <a:prstGeom prst="line">
            <a:avLst/>
          </a:prstGeom>
          <a:noFill/>
          <a:ln w="12700">
            <a:solidFill>
              <a:srgbClr val="2A3651"/>
            </a:solidFill>
            <a:prstDash val="dash"/>
          </a:ln>
        </p:spPr>
      </p:sp>
      <p:sp>
        <p:nvSpPr>
          <p:cNvPr id="14" name="Text 12"/>
          <p:cNvSpPr/>
          <p:nvPr/>
        </p:nvSpPr>
        <p:spPr>
          <a:xfrm>
            <a:off x="7979664" y="3977640"/>
            <a:ext cx="3578352" cy="420624"/>
          </a:xfrm>
          <a:prstGeom prst="roundRect">
            <a:avLst>
              <a:gd name="adj" fmla="val 17391"/>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00" b="1" dirty="0">
                <a:solidFill>
                  <a:srgbClr val="E8ECF5"/>
                </a:solidFill>
                <a:latin typeface="Segoe UI" pitchFamily="34" charset="0"/>
                <a:ea typeface="Segoe UI" pitchFamily="34" charset="-122"/>
                <a:cs typeface="Segoe UI" pitchFamily="34" charset="-120"/>
              </a:rPr>
              <a:t>IdP</a:t>
            </a:r>
            <a:endParaRPr lang="en-US" sz="1100" dirty="0"/>
          </a:p>
        </p:txBody>
      </p:sp>
      <p:sp>
        <p:nvSpPr>
          <p:cNvPr id="15" name="Shape 13"/>
          <p:cNvSpPr/>
          <p:nvPr/>
        </p:nvSpPr>
        <p:spPr>
          <a:xfrm>
            <a:off x="9768840" y="4398264"/>
            <a:ext cx="0" cy="1088136"/>
          </a:xfrm>
          <a:prstGeom prst="line">
            <a:avLst/>
          </a:prstGeom>
          <a:noFill/>
          <a:ln w="12700">
            <a:solidFill>
              <a:srgbClr val="2A3651"/>
            </a:solidFill>
            <a:prstDash val="dash"/>
          </a:ln>
        </p:spPr>
      </p:sp>
      <p:sp>
        <p:nvSpPr>
          <p:cNvPr id="16" name="Shape 14"/>
          <p:cNvSpPr/>
          <p:nvPr/>
        </p:nvSpPr>
        <p:spPr>
          <a:xfrm>
            <a:off x="6080760" y="4710196"/>
            <a:ext cx="3688080" cy="0"/>
          </a:xfrm>
          <a:prstGeom prst="line">
            <a:avLst/>
          </a:prstGeom>
          <a:noFill/>
          <a:ln w="19050">
            <a:solidFill>
              <a:srgbClr val="B5A5FF"/>
            </a:solidFill>
            <a:prstDash val="solid"/>
            <a:tailEnd type="triangle"/>
          </a:ln>
        </p:spPr>
      </p:sp>
      <p:sp>
        <p:nvSpPr>
          <p:cNvPr id="17" name="Text 15"/>
          <p:cNvSpPr/>
          <p:nvPr/>
        </p:nvSpPr>
        <p:spPr>
          <a:xfrm>
            <a:off x="6126480" y="4426732"/>
            <a:ext cx="3596640" cy="256032"/>
          </a:xfrm>
          <a:prstGeom prst="rect">
            <a:avLst/>
          </a:prstGeom>
          <a:noFill/>
          <a:ln/>
        </p:spPr>
        <p:txBody>
          <a:bodyPr wrap="square" lIns="25400" tIns="25400" rIns="25400" bIns="25400" rtlCol="0" anchor="b"/>
          <a:lstStyle/>
          <a:p>
            <a:pPr marL="0" indent="0" algn="ctr">
              <a:buNone/>
            </a:pPr>
            <a:r>
              <a:rPr lang="en-US" sz="1200" dirty="0">
                <a:solidFill>
                  <a:srgbClr val="E8ECF5"/>
                </a:solidFill>
                <a:latin typeface="Segoe UI" pitchFamily="34" charset="0"/>
                <a:ea typeface="Segoe UI" pitchFamily="34" charset="-122"/>
                <a:cs typeface="Segoe UI" pitchFamily="34" charset="-120"/>
              </a:rPr>
              <a:t>1. AuthnRequest</a:t>
            </a:r>
            <a:endParaRPr lang="en-US" sz="1200" dirty="0"/>
          </a:p>
        </p:txBody>
      </p:sp>
      <p:sp>
        <p:nvSpPr>
          <p:cNvPr id="18" name="Shape 16"/>
          <p:cNvSpPr/>
          <p:nvPr/>
        </p:nvSpPr>
        <p:spPr>
          <a:xfrm flipH="1">
            <a:off x="2392680" y="5036332"/>
            <a:ext cx="7376160" cy="0"/>
          </a:xfrm>
          <a:prstGeom prst="line">
            <a:avLst/>
          </a:prstGeom>
          <a:noFill/>
          <a:ln w="19050">
            <a:solidFill>
              <a:srgbClr val="6EE7B7"/>
            </a:solidFill>
            <a:prstDash val="dash"/>
            <a:tailEnd type="triangle"/>
          </a:ln>
        </p:spPr>
      </p:sp>
      <p:sp>
        <p:nvSpPr>
          <p:cNvPr id="19" name="Text 17"/>
          <p:cNvSpPr/>
          <p:nvPr/>
        </p:nvSpPr>
        <p:spPr>
          <a:xfrm>
            <a:off x="2438400" y="4752868"/>
            <a:ext cx="7284720" cy="256032"/>
          </a:xfrm>
          <a:prstGeom prst="rect">
            <a:avLst/>
          </a:prstGeom>
          <a:noFill/>
          <a:ln/>
        </p:spPr>
        <p:txBody>
          <a:bodyPr wrap="square" lIns="25400" tIns="25400" rIns="25400" bIns="25400" rtlCol="0" anchor="b"/>
          <a:lstStyle/>
          <a:p>
            <a:pPr marL="0" indent="0" algn="ctr">
              <a:buNone/>
            </a:pPr>
            <a:r>
              <a:rPr lang="en-US" sz="1200" dirty="0">
                <a:solidFill>
                  <a:srgbClr val="E8ECF5"/>
                </a:solidFill>
                <a:latin typeface="Segoe UI" pitchFamily="34" charset="0"/>
                <a:ea typeface="Segoe UI" pitchFamily="34" charset="-122"/>
                <a:cs typeface="Segoe UI" pitchFamily="34" charset="-120"/>
              </a:rPr>
              <a:t>2. Assertion (XML)</a:t>
            </a:r>
            <a:endParaRPr lang="en-US" sz="1200" dirty="0"/>
          </a:p>
        </p:txBody>
      </p:sp>
      <p:sp>
        <p:nvSpPr>
          <p:cNvPr id="20" name="Shape 18"/>
          <p:cNvSpPr/>
          <p:nvPr/>
        </p:nvSpPr>
        <p:spPr>
          <a:xfrm>
            <a:off x="2392680" y="5362468"/>
            <a:ext cx="3688080" cy="0"/>
          </a:xfrm>
          <a:prstGeom prst="line">
            <a:avLst/>
          </a:prstGeom>
          <a:noFill/>
          <a:ln w="19050">
            <a:solidFill>
              <a:srgbClr val="B5A5FF"/>
            </a:solidFill>
            <a:prstDash val="solid"/>
            <a:tailEnd type="triangle"/>
          </a:ln>
        </p:spPr>
      </p:sp>
      <p:sp>
        <p:nvSpPr>
          <p:cNvPr id="21" name="Text 19"/>
          <p:cNvSpPr/>
          <p:nvPr/>
        </p:nvSpPr>
        <p:spPr>
          <a:xfrm>
            <a:off x="2438400" y="5079004"/>
            <a:ext cx="3596640" cy="256032"/>
          </a:xfrm>
          <a:prstGeom prst="rect">
            <a:avLst/>
          </a:prstGeom>
          <a:noFill/>
          <a:ln/>
        </p:spPr>
        <p:txBody>
          <a:bodyPr wrap="square" lIns="25400" tIns="25400" rIns="25400" bIns="25400" rtlCol="0" anchor="b"/>
          <a:lstStyle/>
          <a:p>
            <a:pPr marL="0" indent="0" algn="ctr">
              <a:buNone/>
            </a:pPr>
            <a:r>
              <a:rPr lang="en-US" sz="1200" dirty="0">
                <a:solidFill>
                  <a:srgbClr val="E8ECF5"/>
                </a:solidFill>
                <a:latin typeface="Segoe UI" pitchFamily="34" charset="0"/>
                <a:ea typeface="Segoe UI" pitchFamily="34" charset="-122"/>
                <a:cs typeface="Segoe UI" pitchFamily="34" charset="-120"/>
              </a:rPr>
              <a:t>3. POST ACS → verify → session</a:t>
            </a:r>
            <a:endParaRPr lang="en-US" sz="1200" dirty="0"/>
          </a:p>
        </p:txBody>
      </p:sp>
      <p:sp>
        <p:nvSpPr>
          <p:cNvPr id="22" name="Text 20"/>
          <p:cNvSpPr/>
          <p:nvPr/>
        </p:nvSpPr>
        <p:spPr>
          <a:xfrm>
            <a:off x="548640" y="5623560"/>
            <a:ext cx="11064240" cy="640080"/>
          </a:xfrm>
          <a:prstGeom prst="roundRect">
            <a:avLst>
              <a:gd name="adj" fmla="val 11429"/>
            </a:avLst>
          </a:prstGeom>
          <a:solidFill>
            <a:srgbClr val="4A3420"/>
          </a:solidFill>
          <a:ln w="12700">
            <a:solidFill>
              <a:srgbClr val="F5A65B"/>
            </a:solidFill>
            <a:prstDash val="solid"/>
          </a:ln>
        </p:spPr>
        <p:txBody>
          <a:bodyPr wrap="square" lIns="152400" tIns="152400" rIns="152400" bIns="152400" rtlCol="0" anchor="ctr"/>
          <a:lstStyle/>
          <a:p>
            <a:pPr marL="0" indent="0" algn="l">
              <a:buNone/>
            </a:pPr>
            <a:r>
              <a:rPr lang="en-US" sz="1600" b="1" dirty="0">
                <a:solidFill>
                  <a:srgbClr val="E8ECF5"/>
                </a:solidFill>
                <a:latin typeface="Segoe UI" pitchFamily="34" charset="0"/>
                <a:ea typeface="Segoe UI" pitchFamily="34" charset="-122"/>
                <a:cs typeface="Segoe UI" pitchFamily="34" charset="-120"/>
              </a:rPr>
              <a:t>IdP đã có SAML → dùng SAML. App mới → ưu tiên OIDC.</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5A65B"/>
          </a:solidFill>
          <a:ln w="12700">
            <a:solidFill>
              <a:srgbClr val="F5A65B"/>
            </a:solidFill>
            <a:prstDash val="solid"/>
          </a:ln>
        </p:spPr>
      </p:sp>
      <p:sp>
        <p:nvSpPr>
          <p:cNvPr id="3" name="Text 1"/>
          <p:cNvSpPr/>
          <p:nvPr/>
        </p:nvSpPr>
        <p:spPr>
          <a:xfrm>
            <a:off x="822960" y="1828800"/>
            <a:ext cx="5486400" cy="320040"/>
          </a:xfrm>
          <a:prstGeom prst="rect">
            <a:avLst/>
          </a:prstGeom>
          <a:noFill/>
          <a:ln/>
        </p:spPr>
        <p:txBody>
          <a:bodyPr wrap="square" lIns="25400" tIns="25400" rIns="25400" bIns="25400" rtlCol="0" anchor="ctr"/>
          <a:lstStyle/>
          <a:p>
            <a:pPr marL="0" indent="0" algn="l">
              <a:buNone/>
            </a:pPr>
            <a:r>
              <a:rPr lang="en-US" sz="1400" b="1" dirty="0">
                <a:solidFill>
                  <a:srgbClr val="F5A65B"/>
                </a:solidFill>
                <a:latin typeface="Consolas" pitchFamily="34" charset="0"/>
                <a:ea typeface="Consolas" pitchFamily="34" charset="-122"/>
                <a:cs typeface="Consolas" pitchFamily="34" charset="-120"/>
              </a:rPr>
              <a:t>PHẦN 06 / 06</a:t>
            </a:r>
            <a:endParaRPr lang="en-US" sz="1400" dirty="0"/>
          </a:p>
        </p:txBody>
      </p:sp>
      <p:sp>
        <p:nvSpPr>
          <p:cNvPr id="4" name="Text 2"/>
          <p:cNvSpPr/>
          <p:nvPr/>
        </p:nvSpPr>
        <p:spPr>
          <a:xfrm>
            <a:off x="822960" y="2286000"/>
            <a:ext cx="10515600" cy="1005840"/>
          </a:xfrm>
          <a:prstGeom prst="rect">
            <a:avLst/>
          </a:prstGeom>
          <a:noFill/>
          <a:ln/>
        </p:spPr>
        <p:txBody>
          <a:bodyPr wrap="square" lIns="25400" tIns="25400" rIns="25400" bIns="25400" rtlCol="0" anchor="ctr"/>
          <a:lstStyle/>
          <a:p>
            <a:pPr marL="0" indent="0" algn="l">
              <a:buNone/>
            </a:pPr>
            <a:r>
              <a:rPr lang="en-US" sz="5400" b="1" dirty="0">
                <a:solidFill>
                  <a:srgbClr val="E8ECF5"/>
                </a:solidFill>
                <a:latin typeface="Segoe UI" pitchFamily="34" charset="0"/>
                <a:ea typeface="Segoe UI" pitchFamily="34" charset="-122"/>
                <a:cs typeface="Segoe UI" pitchFamily="34" charset="-120"/>
              </a:rPr>
              <a:t>Lựa chọn</a:t>
            </a:r>
            <a:endParaRPr lang="en-US" sz="5400" dirty="0"/>
          </a:p>
        </p:txBody>
      </p:sp>
      <p:sp>
        <p:nvSpPr>
          <p:cNvPr id="5" name="Text 3"/>
          <p:cNvSpPr/>
          <p:nvPr/>
        </p:nvSpPr>
        <p:spPr>
          <a:xfrm>
            <a:off x="822960" y="3383280"/>
            <a:ext cx="10515600" cy="548640"/>
          </a:xfrm>
          <a:prstGeom prst="rect">
            <a:avLst/>
          </a:prstGeom>
          <a:noFill/>
          <a:ln/>
        </p:spPr>
        <p:txBody>
          <a:bodyPr wrap="square" lIns="25400" tIns="25400" rIns="25400" bIns="25400" rtlCol="0" anchor="ctr"/>
          <a:lstStyle/>
          <a:p>
            <a:pPr marL="0" indent="0" algn="l">
              <a:buNone/>
            </a:pPr>
            <a:r>
              <a:rPr lang="en-US" sz="2200" i="1" dirty="0">
                <a:solidFill>
                  <a:srgbClr val="8F9BB3"/>
                </a:solidFill>
                <a:latin typeface="Segoe UI" pitchFamily="34" charset="0"/>
                <a:ea typeface="Segoe UI" pitchFamily="34" charset="-122"/>
                <a:cs typeface="Segoe UI" pitchFamily="34" charset="-120"/>
              </a:rPr>
              <a:t>DevHub nên dùng session, JWT hay IdP?</a:t>
            </a:r>
            <a:endParaRPr lang="en-US" sz="2200" dirty="0"/>
          </a:p>
        </p:txBody>
      </p:sp>
      <p:sp>
        <p:nvSpPr>
          <p:cNvPr id="6" name="Shape 4"/>
          <p:cNvSpPr/>
          <p:nvPr/>
        </p:nvSpPr>
        <p:spPr>
          <a:xfrm>
            <a:off x="822960" y="5989320"/>
            <a:ext cx="1643329" cy="64008"/>
          </a:xfrm>
          <a:prstGeom prst="rect">
            <a:avLst/>
          </a:prstGeom>
          <a:solidFill>
            <a:srgbClr val="2A3651"/>
          </a:solidFill>
          <a:ln w="12700">
            <a:solidFill>
              <a:srgbClr val="2A3651"/>
            </a:solidFill>
            <a:prstDash val="solid"/>
          </a:ln>
        </p:spPr>
      </p:sp>
      <p:sp>
        <p:nvSpPr>
          <p:cNvPr id="7" name="Text 5"/>
          <p:cNvSpPr/>
          <p:nvPr/>
        </p:nvSpPr>
        <p:spPr>
          <a:xfrm>
            <a:off x="822960"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01 AuthN ≠ AuthZ</a:t>
            </a:r>
            <a:endParaRPr lang="en-US" sz="950" dirty="0"/>
          </a:p>
        </p:txBody>
      </p:sp>
      <p:sp>
        <p:nvSpPr>
          <p:cNvPr id="8" name="Shape 6"/>
          <p:cNvSpPr/>
          <p:nvPr/>
        </p:nvSpPr>
        <p:spPr>
          <a:xfrm>
            <a:off x="2603449" y="5989320"/>
            <a:ext cx="1643329" cy="64008"/>
          </a:xfrm>
          <a:prstGeom prst="rect">
            <a:avLst/>
          </a:prstGeom>
          <a:solidFill>
            <a:srgbClr val="2A3651"/>
          </a:solidFill>
          <a:ln w="12700">
            <a:solidFill>
              <a:srgbClr val="2A3651"/>
            </a:solidFill>
            <a:prstDash val="solid"/>
          </a:ln>
        </p:spPr>
      </p:sp>
      <p:sp>
        <p:nvSpPr>
          <p:cNvPr id="9" name="Text 7"/>
          <p:cNvSpPr/>
          <p:nvPr/>
        </p:nvSpPr>
        <p:spPr>
          <a:xfrm>
            <a:off x="2603449"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02 Password</a:t>
            </a:r>
            <a:endParaRPr lang="en-US" sz="950" dirty="0"/>
          </a:p>
        </p:txBody>
      </p:sp>
      <p:sp>
        <p:nvSpPr>
          <p:cNvPr id="10" name="Shape 8"/>
          <p:cNvSpPr/>
          <p:nvPr/>
        </p:nvSpPr>
        <p:spPr>
          <a:xfrm>
            <a:off x="4383938" y="5989320"/>
            <a:ext cx="1643329" cy="64008"/>
          </a:xfrm>
          <a:prstGeom prst="rect">
            <a:avLst/>
          </a:prstGeom>
          <a:solidFill>
            <a:srgbClr val="2A3651"/>
          </a:solidFill>
          <a:ln w="12700">
            <a:solidFill>
              <a:srgbClr val="2A3651"/>
            </a:solidFill>
            <a:prstDash val="solid"/>
          </a:ln>
        </p:spPr>
      </p:sp>
      <p:sp>
        <p:nvSpPr>
          <p:cNvPr id="11" name="Text 9"/>
          <p:cNvSpPr/>
          <p:nvPr/>
        </p:nvSpPr>
        <p:spPr>
          <a:xfrm>
            <a:off x="438393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03 Session &amp; cookie</a:t>
            </a:r>
            <a:endParaRPr lang="en-US" sz="950" dirty="0"/>
          </a:p>
        </p:txBody>
      </p:sp>
      <p:sp>
        <p:nvSpPr>
          <p:cNvPr id="12" name="Shape 10"/>
          <p:cNvSpPr/>
          <p:nvPr/>
        </p:nvSpPr>
        <p:spPr>
          <a:xfrm>
            <a:off x="6164428" y="5989320"/>
            <a:ext cx="1643329" cy="64008"/>
          </a:xfrm>
          <a:prstGeom prst="rect">
            <a:avLst/>
          </a:prstGeom>
          <a:solidFill>
            <a:srgbClr val="2A3651"/>
          </a:solidFill>
          <a:ln w="12700">
            <a:solidFill>
              <a:srgbClr val="2A3651"/>
            </a:solidFill>
            <a:prstDash val="solid"/>
          </a:ln>
        </p:spPr>
      </p:sp>
      <p:sp>
        <p:nvSpPr>
          <p:cNvPr id="13" name="Text 11"/>
          <p:cNvSpPr/>
          <p:nvPr/>
        </p:nvSpPr>
        <p:spPr>
          <a:xfrm>
            <a:off x="6164428"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04 JWT &amp; tokens</a:t>
            </a:r>
            <a:endParaRPr lang="en-US" sz="950" dirty="0"/>
          </a:p>
        </p:txBody>
      </p:sp>
      <p:sp>
        <p:nvSpPr>
          <p:cNvPr id="14" name="Shape 12"/>
          <p:cNvSpPr/>
          <p:nvPr/>
        </p:nvSpPr>
        <p:spPr>
          <a:xfrm>
            <a:off x="7944917" y="5989320"/>
            <a:ext cx="1643329" cy="64008"/>
          </a:xfrm>
          <a:prstGeom prst="rect">
            <a:avLst/>
          </a:prstGeom>
          <a:solidFill>
            <a:srgbClr val="2A3651"/>
          </a:solidFill>
          <a:ln w="12700">
            <a:solidFill>
              <a:srgbClr val="2A3651"/>
            </a:solidFill>
            <a:prstDash val="solid"/>
          </a:ln>
        </p:spPr>
      </p:sp>
      <p:sp>
        <p:nvSpPr>
          <p:cNvPr id="15" name="Text 13"/>
          <p:cNvSpPr/>
          <p:nvPr/>
        </p:nvSpPr>
        <p:spPr>
          <a:xfrm>
            <a:off x="7944917" y="6108192"/>
            <a:ext cx="1643329" cy="274320"/>
          </a:xfrm>
          <a:prstGeom prst="rect">
            <a:avLst/>
          </a:prstGeom>
          <a:noFill/>
          <a:ln/>
        </p:spPr>
        <p:txBody>
          <a:bodyPr wrap="square" lIns="25400" tIns="25400" rIns="25400" bIns="25400" rtlCol="0" anchor="ctr"/>
          <a:lstStyle/>
          <a:p>
            <a:pPr marL="0" indent="0" algn="l">
              <a:buNone/>
            </a:pPr>
            <a:r>
              <a:rPr lang="en-US" sz="950" dirty="0">
                <a:solidFill>
                  <a:srgbClr val="8F9BB3"/>
                </a:solidFill>
                <a:latin typeface="Segoe UI" pitchFamily="34" charset="0"/>
                <a:ea typeface="Segoe UI" pitchFamily="34" charset="-122"/>
                <a:cs typeface="Segoe UI" pitchFamily="34" charset="-120"/>
              </a:rPr>
              <a:t>05 OAuth / OIDC</a:t>
            </a:r>
            <a:endParaRPr lang="en-US" sz="950" dirty="0"/>
          </a:p>
        </p:txBody>
      </p:sp>
      <p:sp>
        <p:nvSpPr>
          <p:cNvPr id="16" name="Shape 14"/>
          <p:cNvSpPr/>
          <p:nvPr/>
        </p:nvSpPr>
        <p:spPr>
          <a:xfrm>
            <a:off x="9725406" y="5989320"/>
            <a:ext cx="1643329" cy="64008"/>
          </a:xfrm>
          <a:prstGeom prst="rect">
            <a:avLst/>
          </a:prstGeom>
          <a:solidFill>
            <a:srgbClr val="F5A65B"/>
          </a:solidFill>
          <a:ln w="12700">
            <a:solidFill>
              <a:srgbClr val="F5A65B"/>
            </a:solidFill>
            <a:prstDash val="solid"/>
          </a:ln>
        </p:spPr>
      </p:sp>
      <p:sp>
        <p:nvSpPr>
          <p:cNvPr id="17" name="Text 15"/>
          <p:cNvSpPr/>
          <p:nvPr/>
        </p:nvSpPr>
        <p:spPr>
          <a:xfrm>
            <a:off x="9725406" y="6108192"/>
            <a:ext cx="1643329" cy="274320"/>
          </a:xfrm>
          <a:prstGeom prst="rect">
            <a:avLst/>
          </a:prstGeom>
          <a:noFill/>
          <a:ln/>
        </p:spPr>
        <p:txBody>
          <a:bodyPr wrap="square" lIns="25400" tIns="25400" rIns="25400" bIns="25400" rtlCol="0" anchor="ctr"/>
          <a:lstStyle/>
          <a:p>
            <a:pPr marL="0" indent="0" algn="l">
              <a:buNone/>
            </a:pPr>
            <a:r>
              <a:rPr lang="en-US" sz="950" b="1" dirty="0">
                <a:solidFill>
                  <a:srgbClr val="F5A65B"/>
                </a:solidFill>
                <a:latin typeface="Segoe UI" pitchFamily="34" charset="0"/>
                <a:ea typeface="Segoe UI" pitchFamily="34" charset="-122"/>
                <a:cs typeface="Segoe UI" pitchFamily="34" charset="-120"/>
              </a:rPr>
              <a:t>06 Lựa chọn</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LỰA CHỌN  ·  SLIDE 28/33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Chọn theo threat model</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Text 4"/>
          <p:cNvSpPr/>
          <p:nvPr/>
        </p:nvSpPr>
        <p:spPr>
          <a:xfrm>
            <a:off x="548640" y="1508760"/>
            <a:ext cx="4526280" cy="4023360"/>
          </a:xfrm>
          <a:prstGeom prst="rect">
            <a:avLst/>
          </a:prstGeom>
          <a:noFill/>
          <a:ln/>
        </p:spPr>
        <p:txBody>
          <a:bodyPr wrap="square" lIns="25400" tIns="25400" rIns="25400" bIns="25400" rtlCol="0" anchor="t"/>
          <a:lstStyle/>
          <a:p>
            <a:pPr marL="279400" indent="-279400" algn="l">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​Client: browser, mobile, hay service-to-service?</a:t>
            </a:r>
            <a:endParaRPr lang="en-US" sz="1600" dirty="0"/>
          </a:p>
          <a:p>
            <a:pPr marL="279400" indent="-279400" algn="l">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​Cần revoke tức thời?</a:t>
            </a:r>
            <a:endParaRPr lang="en-US" sz="1600" dirty="0"/>
          </a:p>
          <a:p>
            <a:pPr marL="279400" indent="-279400" algn="l">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​Có SSO/IdP?</a:t>
            </a:r>
            <a:endParaRPr lang="en-US" sz="1600" dirty="0"/>
          </a:p>
          <a:p>
            <a:pPr marL="279400" indent="-279400" algn="l">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​Ai giữ key, session store, token lifecycle?</a:t>
            </a:r>
            <a:endParaRPr lang="en-US" sz="1600" dirty="0"/>
          </a:p>
          <a:p>
            <a:pPr marL="279400" indent="-279400" algn="l">
              <a:spcAft>
                <a:spcPts val="1200"/>
              </a:spcAft>
              <a:buSzPct val="100000"/>
              <a:buChar char="▸"/>
            </a:pPr>
            <a:r>
              <a:rPr lang="en-US" sz="1600" dirty="0">
                <a:solidFill>
                  <a:srgbClr val="E8ECF5"/>
                </a:solidFill>
                <a:latin typeface="Segoe UI" pitchFamily="34" charset="0"/>
                <a:ea typeface="Segoe UI" pitchFamily="34" charset="-122"/>
                <a:cs typeface="Segoe UI" pitchFamily="34" charset="-120"/>
              </a:rPr>
              <a:t>​XSS/CSRF xử lý ra sao?</a:t>
            </a:r>
            <a:endParaRPr lang="en-US" sz="1600" dirty="0"/>
          </a:p>
        </p:txBody>
      </p:sp>
      <p:sp>
        <p:nvSpPr>
          <p:cNvPr id="7" name="Text 5"/>
          <p:cNvSpPr/>
          <p:nvPr/>
        </p:nvSpPr>
        <p:spPr>
          <a:xfrm>
            <a:off x="5440680" y="1463040"/>
            <a:ext cx="6263640" cy="274320"/>
          </a:xfrm>
          <a:prstGeom prst="rect">
            <a:avLst/>
          </a:prstGeom>
          <a:noFill/>
          <a:ln/>
        </p:spPr>
        <p:txBody>
          <a:bodyPr wrap="square" lIns="25400" tIns="25400" rIns="25400" bIns="25400" rtlCol="0" anchor="ctr"/>
          <a:lstStyle/>
          <a:p>
            <a:pPr marL="0" indent="0" algn="l">
              <a:buNone/>
            </a:pPr>
            <a:r>
              <a:rPr lang="en-US" sz="1050" b="1" dirty="0">
                <a:solidFill>
                  <a:srgbClr val="8F9BB3"/>
                </a:solidFill>
                <a:latin typeface="Segoe UI" pitchFamily="34" charset="0"/>
                <a:ea typeface="Segoe UI" pitchFamily="34" charset="-122"/>
                <a:cs typeface="Segoe UI" pitchFamily="34" charset="-120"/>
              </a:rPr>
              <a:t>GỢI Ý BAN ĐẦU — KHÔNG PHẢI ĐÁP ÁN</a:t>
            </a:r>
            <a:endParaRPr lang="en-US" sz="1050" dirty="0"/>
          </a:p>
        </p:txBody>
      </p:sp>
      <p:sp>
        <p:nvSpPr>
          <p:cNvPr id="8" name="Text 6"/>
          <p:cNvSpPr/>
          <p:nvPr/>
        </p:nvSpPr>
        <p:spPr>
          <a:xfrm>
            <a:off x="5440680" y="18745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50" dirty="0">
                <a:solidFill>
                  <a:srgbClr val="E8ECF5"/>
                </a:solidFill>
                <a:latin typeface="Segoe UI" pitchFamily="34" charset="0"/>
                <a:ea typeface="Segoe UI" pitchFamily="34" charset="-122"/>
                <a:cs typeface="Segoe UI" pitchFamily="34" charset="-120"/>
              </a:rPr>
              <a:t>Browser, cùng site, cần logout ngay</a:t>
            </a:r>
            <a:endParaRPr lang="en-US" sz="1150" dirty="0"/>
          </a:p>
        </p:txBody>
      </p:sp>
      <p:sp>
        <p:nvSpPr>
          <p:cNvPr id="9" name="Shape 7"/>
          <p:cNvSpPr/>
          <p:nvPr/>
        </p:nvSpPr>
        <p:spPr>
          <a:xfrm>
            <a:off x="8183880" y="2212848"/>
            <a:ext cx="548640" cy="0"/>
          </a:xfrm>
          <a:prstGeom prst="line">
            <a:avLst/>
          </a:prstGeom>
          <a:noFill/>
          <a:ln w="19050">
            <a:solidFill>
              <a:srgbClr val="6EE7B7"/>
            </a:solidFill>
            <a:prstDash val="solid"/>
            <a:tailEnd type="triangle"/>
          </a:ln>
        </p:spPr>
      </p:sp>
      <p:sp>
        <p:nvSpPr>
          <p:cNvPr id="10" name="Text 8"/>
          <p:cNvSpPr/>
          <p:nvPr/>
        </p:nvSpPr>
        <p:spPr>
          <a:xfrm>
            <a:off x="8732520" y="1874520"/>
            <a:ext cx="2971800" cy="685800"/>
          </a:xfrm>
          <a:prstGeom prst="roundRect">
            <a:avLst>
              <a:gd name="adj" fmla="val 10667"/>
            </a:avLst>
          </a:prstGeom>
          <a:solidFill>
            <a:srgbClr val="182238"/>
          </a:solidFill>
          <a:ln w="12700">
            <a:solidFill>
              <a:srgbClr val="6EE7B7"/>
            </a:solidFill>
            <a:prstDash val="solid"/>
          </a:ln>
        </p:spPr>
        <p:txBody>
          <a:bodyPr wrap="square" lIns="76200" tIns="76200" rIns="76200" bIns="76200" rtlCol="0" anchor="ctr"/>
          <a:lstStyle/>
          <a:p>
            <a:pPr marL="0" indent="0" algn="ctr">
              <a:buNone/>
            </a:pPr>
            <a:r>
              <a:rPr lang="en-US" sz="1150" b="1" dirty="0">
                <a:solidFill>
                  <a:srgbClr val="6EE7B7"/>
                </a:solidFill>
                <a:latin typeface="Segoe UI" pitchFamily="34" charset="0"/>
                <a:ea typeface="Segoe UI" pitchFamily="34" charset="-122"/>
                <a:cs typeface="Segoe UI" pitchFamily="34" charset="-120"/>
              </a:rPr>
              <a:t>Session server-side + cookie flags</a:t>
            </a:r>
            <a:endParaRPr lang="en-US" sz="1150" dirty="0"/>
          </a:p>
        </p:txBody>
      </p:sp>
      <p:sp>
        <p:nvSpPr>
          <p:cNvPr id="11" name="Text 9"/>
          <p:cNvSpPr/>
          <p:nvPr/>
        </p:nvSpPr>
        <p:spPr>
          <a:xfrm>
            <a:off x="5440680" y="27889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50" dirty="0">
                <a:solidFill>
                  <a:srgbClr val="E8ECF5"/>
                </a:solidFill>
                <a:latin typeface="Segoe UI" pitchFamily="34" charset="0"/>
                <a:ea typeface="Segoe UI" pitchFamily="34" charset="-122"/>
                <a:cs typeface="Segoe UI" pitchFamily="34" charset="-120"/>
              </a:rPr>
              <a:t>SPA + nhiều API, mobile</a:t>
            </a:r>
            <a:endParaRPr lang="en-US" sz="1150" dirty="0"/>
          </a:p>
        </p:txBody>
      </p:sp>
      <p:sp>
        <p:nvSpPr>
          <p:cNvPr id="12" name="Shape 10"/>
          <p:cNvSpPr/>
          <p:nvPr/>
        </p:nvSpPr>
        <p:spPr>
          <a:xfrm>
            <a:off x="8183880" y="3127248"/>
            <a:ext cx="548640" cy="0"/>
          </a:xfrm>
          <a:prstGeom prst="line">
            <a:avLst/>
          </a:prstGeom>
          <a:noFill/>
          <a:ln w="19050">
            <a:solidFill>
              <a:srgbClr val="B5A5FF"/>
            </a:solidFill>
            <a:prstDash val="solid"/>
            <a:tailEnd type="triangle"/>
          </a:ln>
        </p:spPr>
      </p:sp>
      <p:sp>
        <p:nvSpPr>
          <p:cNvPr id="13" name="Text 11"/>
          <p:cNvSpPr/>
          <p:nvPr/>
        </p:nvSpPr>
        <p:spPr>
          <a:xfrm>
            <a:off x="8732520" y="2788920"/>
            <a:ext cx="2971800" cy="685800"/>
          </a:xfrm>
          <a:prstGeom prst="roundRect">
            <a:avLst>
              <a:gd name="adj" fmla="val 10667"/>
            </a:avLst>
          </a:prstGeom>
          <a:solidFill>
            <a:srgbClr val="182238"/>
          </a:solidFill>
          <a:ln w="12700">
            <a:solidFill>
              <a:srgbClr val="B5A5FF"/>
            </a:solidFill>
            <a:prstDash val="solid"/>
          </a:ln>
        </p:spPr>
        <p:txBody>
          <a:bodyPr wrap="square" lIns="76200" tIns="76200" rIns="76200" bIns="76200" rtlCol="0" anchor="ctr"/>
          <a:lstStyle/>
          <a:p>
            <a:pPr marL="0" indent="0" algn="ctr">
              <a:buNone/>
            </a:pPr>
            <a:r>
              <a:rPr lang="en-US" sz="1150" b="1" dirty="0">
                <a:solidFill>
                  <a:srgbClr val="B5A5FF"/>
                </a:solidFill>
                <a:latin typeface="Segoe UI" pitchFamily="34" charset="0"/>
                <a:ea typeface="Segoe UI" pitchFamily="34" charset="-122"/>
                <a:cs typeface="Segoe UI" pitchFamily="34" charset="-120"/>
              </a:rPr>
              <a:t>Access token ngắn + refresh rotation</a:t>
            </a:r>
            <a:endParaRPr lang="en-US" sz="1150" dirty="0"/>
          </a:p>
        </p:txBody>
      </p:sp>
      <p:sp>
        <p:nvSpPr>
          <p:cNvPr id="14" name="Text 12"/>
          <p:cNvSpPr/>
          <p:nvPr/>
        </p:nvSpPr>
        <p:spPr>
          <a:xfrm>
            <a:off x="5440680" y="37033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50" dirty="0">
                <a:solidFill>
                  <a:srgbClr val="E8ECF5"/>
                </a:solidFill>
                <a:latin typeface="Segoe UI" pitchFamily="34" charset="0"/>
                <a:ea typeface="Segoe UI" pitchFamily="34" charset="-122"/>
                <a:cs typeface="Segoe UI" pitchFamily="34" charset="-120"/>
              </a:rPr>
              <a:t>Service-to-service</a:t>
            </a:r>
            <a:endParaRPr lang="en-US" sz="1150" dirty="0"/>
          </a:p>
        </p:txBody>
      </p:sp>
      <p:sp>
        <p:nvSpPr>
          <p:cNvPr id="15" name="Shape 13"/>
          <p:cNvSpPr/>
          <p:nvPr/>
        </p:nvSpPr>
        <p:spPr>
          <a:xfrm>
            <a:off x="8183880" y="4041648"/>
            <a:ext cx="548640" cy="0"/>
          </a:xfrm>
          <a:prstGeom prst="line">
            <a:avLst/>
          </a:prstGeom>
          <a:noFill/>
          <a:ln w="19050">
            <a:solidFill>
              <a:srgbClr val="7DB3FF"/>
            </a:solidFill>
            <a:prstDash val="solid"/>
            <a:tailEnd type="triangle"/>
          </a:ln>
        </p:spPr>
      </p:sp>
      <p:sp>
        <p:nvSpPr>
          <p:cNvPr id="16" name="Text 14"/>
          <p:cNvSpPr/>
          <p:nvPr/>
        </p:nvSpPr>
        <p:spPr>
          <a:xfrm>
            <a:off x="8732520" y="3703320"/>
            <a:ext cx="2971800" cy="685800"/>
          </a:xfrm>
          <a:prstGeom prst="roundRect">
            <a:avLst>
              <a:gd name="adj" fmla="val 10667"/>
            </a:avLst>
          </a:prstGeom>
          <a:solidFill>
            <a:srgbClr val="182238"/>
          </a:solidFill>
          <a:ln w="12700">
            <a:solidFill>
              <a:srgbClr val="7DB3FF"/>
            </a:solidFill>
            <a:prstDash val="solid"/>
          </a:ln>
        </p:spPr>
        <p:txBody>
          <a:bodyPr wrap="square" lIns="76200" tIns="76200" rIns="76200" bIns="76200" rtlCol="0" anchor="ctr"/>
          <a:lstStyle/>
          <a:p>
            <a:pPr marL="0" indent="0" algn="ctr">
              <a:buNone/>
            </a:pPr>
            <a:r>
              <a:rPr lang="en-US" sz="1150" b="1" dirty="0">
                <a:solidFill>
                  <a:srgbClr val="7DB3FF"/>
                </a:solidFill>
                <a:latin typeface="Segoe UI" pitchFamily="34" charset="0"/>
                <a:ea typeface="Segoe UI" pitchFamily="34" charset="-122"/>
                <a:cs typeface="Segoe UI" pitchFamily="34" charset="-120"/>
              </a:rPr>
              <a:t>Client credentials, token có aud hẹp</a:t>
            </a:r>
            <a:endParaRPr lang="en-US" sz="1150" dirty="0"/>
          </a:p>
        </p:txBody>
      </p:sp>
      <p:sp>
        <p:nvSpPr>
          <p:cNvPr id="17" name="Text 15"/>
          <p:cNvSpPr/>
          <p:nvPr/>
        </p:nvSpPr>
        <p:spPr>
          <a:xfrm>
            <a:off x="5440680" y="4617720"/>
            <a:ext cx="2743200" cy="685800"/>
          </a:xfrm>
          <a:prstGeom prst="roundRect">
            <a:avLst>
              <a:gd name="adj" fmla="val 10667"/>
            </a:avLst>
          </a:prstGeom>
          <a:solidFill>
            <a:srgbClr val="182238"/>
          </a:solidFill>
          <a:ln w="12700">
            <a:solidFill>
              <a:srgbClr val="2A3651"/>
            </a:solidFill>
            <a:prstDash val="solid"/>
          </a:ln>
        </p:spPr>
        <p:txBody>
          <a:bodyPr wrap="square" lIns="76200" tIns="76200" rIns="76200" bIns="76200" rtlCol="0" anchor="ctr"/>
          <a:lstStyle/>
          <a:p>
            <a:pPr marL="0" indent="0" algn="ctr">
              <a:buNone/>
            </a:pPr>
            <a:r>
              <a:rPr lang="en-US" sz="1150" dirty="0">
                <a:solidFill>
                  <a:srgbClr val="E8ECF5"/>
                </a:solidFill>
                <a:latin typeface="Segoe UI" pitchFamily="34" charset="0"/>
                <a:ea typeface="Segoe UI" pitchFamily="34" charset="-122"/>
                <a:cs typeface="Segoe UI" pitchFamily="34" charset="-120"/>
              </a:rPr>
              <a:t>Doanh nghiệp đã có IdP</a:t>
            </a:r>
            <a:endParaRPr lang="en-US" sz="1150" dirty="0"/>
          </a:p>
        </p:txBody>
      </p:sp>
      <p:sp>
        <p:nvSpPr>
          <p:cNvPr id="18" name="Shape 16"/>
          <p:cNvSpPr/>
          <p:nvPr/>
        </p:nvSpPr>
        <p:spPr>
          <a:xfrm>
            <a:off x="8183880" y="4956048"/>
            <a:ext cx="548640" cy="0"/>
          </a:xfrm>
          <a:prstGeom prst="line">
            <a:avLst/>
          </a:prstGeom>
          <a:noFill/>
          <a:ln w="19050">
            <a:solidFill>
              <a:srgbClr val="F5A65B"/>
            </a:solidFill>
            <a:prstDash val="solid"/>
            <a:tailEnd type="triangle"/>
          </a:ln>
        </p:spPr>
      </p:sp>
      <p:sp>
        <p:nvSpPr>
          <p:cNvPr id="19" name="Text 17"/>
          <p:cNvSpPr/>
          <p:nvPr/>
        </p:nvSpPr>
        <p:spPr>
          <a:xfrm>
            <a:off x="8732520" y="4617720"/>
            <a:ext cx="2971800" cy="685800"/>
          </a:xfrm>
          <a:prstGeom prst="roundRect">
            <a:avLst>
              <a:gd name="adj" fmla="val 10667"/>
            </a:avLst>
          </a:prstGeom>
          <a:solidFill>
            <a:srgbClr val="182238"/>
          </a:solidFill>
          <a:ln w="12700">
            <a:solidFill>
              <a:srgbClr val="F5A65B"/>
            </a:solidFill>
            <a:prstDash val="solid"/>
          </a:ln>
        </p:spPr>
        <p:txBody>
          <a:bodyPr wrap="square" lIns="76200" tIns="76200" rIns="76200" bIns="76200" rtlCol="0" anchor="ctr"/>
          <a:lstStyle/>
          <a:p>
            <a:pPr marL="0" indent="0" algn="ctr">
              <a:buNone/>
            </a:pPr>
            <a:r>
              <a:rPr lang="en-US" sz="1150" b="1" dirty="0">
                <a:solidFill>
                  <a:srgbClr val="F5A65B"/>
                </a:solidFill>
                <a:latin typeface="Segoe UI" pitchFamily="34" charset="0"/>
                <a:ea typeface="Segoe UI" pitchFamily="34" charset="-122"/>
                <a:cs typeface="Segoe UI" pitchFamily="34" charset="-120"/>
              </a:rPr>
              <a:t>OIDC / SAML, rồi session cho app</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TỔNG KẾT  ·  SLIDE 29/33</a:t>
            </a:r>
            <a:endParaRPr lang="en-US" sz="1000" dirty="0"/>
          </a:p>
        </p:txBody>
      </p:sp>
      <p:sp>
        <p:nvSpPr>
          <p:cNvPr id="4" name="Text 2"/>
          <p:cNvSpPr/>
          <p:nvPr/>
        </p:nvSpPr>
        <p:spPr>
          <a:xfrm>
            <a:off x="548640" y="502920"/>
            <a:ext cx="11094415" cy="777240"/>
          </a:xfrm>
          <a:prstGeom prst="rect">
            <a:avLst/>
          </a:prstGeom>
          <a:noFill/>
          <a:ln/>
        </p:spPr>
        <p:txBody>
          <a:bodyPr wrap="square" lIns="25400" tIns="25400" rIns="25400" bIns="25400" rtlCol="0" anchor="ctr"/>
          <a:lstStyle/>
          <a:p>
            <a:pPr marL="0" indent="0" algn="l">
              <a:buNone/>
            </a:pPr>
            <a:r>
              <a:rPr lang="en-US" sz="3000" b="1" dirty="0">
                <a:solidFill>
                  <a:srgbClr val="E8ECF5"/>
                </a:solidFill>
                <a:latin typeface="Segoe UI" pitchFamily="34" charset="0"/>
                <a:ea typeface="Segoe UI" pitchFamily="34" charset="-122"/>
                <a:cs typeface="Segoe UI" pitchFamily="34" charset="-120"/>
              </a:rPr>
              <a:t>Checklist review Auth</a:t>
            </a:r>
            <a:endParaRPr lang="en-US" sz="3000" dirty="0"/>
          </a:p>
        </p:txBody>
      </p:sp>
      <p:sp>
        <p:nvSpPr>
          <p:cNvPr id="5" name="Text 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
        <p:nvSpPr>
          <p:cNvPr id="6" name="Shape 4"/>
          <p:cNvSpPr/>
          <p:nvPr/>
        </p:nvSpPr>
        <p:spPr>
          <a:xfrm>
            <a:off x="502920" y="1371600"/>
            <a:ext cx="3611880" cy="2011680"/>
          </a:xfrm>
          <a:prstGeom prst="roundRect">
            <a:avLst>
              <a:gd name="adj" fmla="val 3636"/>
            </a:avLst>
          </a:prstGeom>
          <a:solidFill>
            <a:srgbClr val="131B2E"/>
          </a:solidFill>
          <a:ln w="12700">
            <a:solidFill>
              <a:srgbClr val="2A3651"/>
            </a:solidFill>
            <a:prstDash val="solid"/>
          </a:ln>
        </p:spPr>
      </p:sp>
      <p:sp>
        <p:nvSpPr>
          <p:cNvPr id="7" name="Text 5"/>
          <p:cNvSpPr/>
          <p:nvPr/>
        </p:nvSpPr>
        <p:spPr>
          <a:xfrm>
            <a:off x="68580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8" name="Text 6"/>
          <p:cNvSpPr/>
          <p:nvPr/>
        </p:nvSpPr>
        <p:spPr>
          <a:xfrm>
            <a:off x="1188720" y="1572768"/>
            <a:ext cx="2743200" cy="384048"/>
          </a:xfrm>
          <a:prstGeom prst="rect">
            <a:avLst/>
          </a:prstGeom>
          <a:noFill/>
          <a:ln/>
        </p:spPr>
        <p:txBody>
          <a:bodyPr wrap="square" lIns="25400" tIns="25400" rIns="25400" bIns="25400" rtlCol="0" anchor="ctr"/>
          <a:lstStyle/>
          <a:p>
            <a:pPr marL="0" indent="0" algn="l">
              <a:buNone/>
            </a:pPr>
            <a:r>
              <a:rPr lang="en-US" sz="1400" b="1" dirty="0">
                <a:solidFill>
                  <a:srgbClr val="E8ECF5"/>
                </a:solidFill>
                <a:latin typeface="Segoe UI" pitchFamily="34" charset="0"/>
                <a:ea typeface="Segoe UI" pitchFamily="34" charset="-122"/>
                <a:cs typeface="Segoe UI" pitchFamily="34" charset="-120"/>
              </a:rPr>
              <a:t>Password</a:t>
            </a:r>
            <a:endParaRPr lang="en-US" sz="1400" dirty="0"/>
          </a:p>
        </p:txBody>
      </p:sp>
      <p:sp>
        <p:nvSpPr>
          <p:cNvPr id="9" name="Text 7"/>
          <p:cNvSpPr/>
          <p:nvPr/>
        </p:nvSpPr>
        <p:spPr>
          <a:xfrm>
            <a:off x="685800" y="2103120"/>
            <a:ext cx="3246120" cy="1097280"/>
          </a:xfrm>
          <a:prstGeom prst="rect">
            <a:avLst/>
          </a:prstGeom>
          <a:noFill/>
          <a:ln/>
        </p:spPr>
        <p:txBody>
          <a:bodyPr wrap="square" lIns="25400" tIns="25400" rIns="25400" bIns="25400" rtlCol="0" anchor="t"/>
          <a:lstStyle/>
          <a:p>
            <a:pPr marL="0" indent="0" algn="l">
              <a:buNone/>
            </a:pPr>
            <a:r>
              <a:rPr lang="en-US" sz="1200" dirty="0">
                <a:solidFill>
                  <a:srgbClr val="8F9BB3"/>
                </a:solidFill>
                <a:latin typeface="Segoe UI" pitchFamily="34" charset="0"/>
                <a:ea typeface="Segoe UI" pitchFamily="34" charset="-122"/>
                <a:cs typeface="Segoe UI" pitchFamily="34" charset="-120"/>
              </a:rPr>
              <a:t>Hash chuyên dụng (bcrypt / Argon2id), cost hợp lý, rate limiting.</a:t>
            </a:r>
            <a:endParaRPr lang="en-US" sz="1200" dirty="0"/>
          </a:p>
        </p:txBody>
      </p:sp>
      <p:sp>
        <p:nvSpPr>
          <p:cNvPr id="10" name="Shape 8"/>
          <p:cNvSpPr/>
          <p:nvPr/>
        </p:nvSpPr>
        <p:spPr>
          <a:xfrm>
            <a:off x="4297680" y="1371600"/>
            <a:ext cx="3611880" cy="2011680"/>
          </a:xfrm>
          <a:prstGeom prst="roundRect">
            <a:avLst>
              <a:gd name="adj" fmla="val 3636"/>
            </a:avLst>
          </a:prstGeom>
          <a:solidFill>
            <a:srgbClr val="131B2E"/>
          </a:solidFill>
          <a:ln w="12700">
            <a:solidFill>
              <a:srgbClr val="2A3651"/>
            </a:solidFill>
            <a:prstDash val="solid"/>
          </a:ln>
        </p:spPr>
      </p:sp>
      <p:sp>
        <p:nvSpPr>
          <p:cNvPr id="11" name="Text 9"/>
          <p:cNvSpPr/>
          <p:nvPr/>
        </p:nvSpPr>
        <p:spPr>
          <a:xfrm>
            <a:off x="448056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12" name="Text 10"/>
          <p:cNvSpPr/>
          <p:nvPr/>
        </p:nvSpPr>
        <p:spPr>
          <a:xfrm>
            <a:off x="4983480" y="1572768"/>
            <a:ext cx="2743200" cy="384048"/>
          </a:xfrm>
          <a:prstGeom prst="rect">
            <a:avLst/>
          </a:prstGeom>
          <a:noFill/>
          <a:ln/>
        </p:spPr>
        <p:txBody>
          <a:bodyPr wrap="square" lIns="25400" tIns="25400" rIns="25400" bIns="25400" rtlCol="0" anchor="ctr"/>
          <a:lstStyle/>
          <a:p>
            <a:pPr marL="0" indent="0" algn="l">
              <a:buNone/>
            </a:pPr>
            <a:r>
              <a:rPr lang="en-US" sz="1400" b="1" dirty="0">
                <a:solidFill>
                  <a:srgbClr val="E8ECF5"/>
                </a:solidFill>
                <a:latin typeface="Segoe UI" pitchFamily="34" charset="0"/>
                <a:ea typeface="Segoe UI" pitchFamily="34" charset="-122"/>
                <a:cs typeface="Segoe UI" pitchFamily="34" charset="-120"/>
              </a:rPr>
              <a:t>Session &amp; cookie</a:t>
            </a:r>
            <a:endParaRPr lang="en-US" sz="1400" dirty="0"/>
          </a:p>
        </p:txBody>
      </p:sp>
      <p:sp>
        <p:nvSpPr>
          <p:cNvPr id="13" name="Text 11"/>
          <p:cNvSpPr/>
          <p:nvPr/>
        </p:nvSpPr>
        <p:spPr>
          <a:xfrm>
            <a:off x="4480560" y="2103120"/>
            <a:ext cx="3246120" cy="1097280"/>
          </a:xfrm>
          <a:prstGeom prst="rect">
            <a:avLst/>
          </a:prstGeom>
          <a:noFill/>
          <a:ln/>
        </p:spPr>
        <p:txBody>
          <a:bodyPr wrap="square" lIns="25400" tIns="25400" rIns="25400" bIns="25400" rtlCol="0" anchor="t"/>
          <a:lstStyle/>
          <a:p>
            <a:pPr marL="0" indent="0" algn="l">
              <a:buNone/>
            </a:pPr>
            <a:r>
              <a:rPr lang="en-US" sz="1200" dirty="0">
                <a:solidFill>
                  <a:srgbClr val="8F9BB3"/>
                </a:solidFill>
                <a:latin typeface="Segoe UI" pitchFamily="34" charset="0"/>
                <a:ea typeface="Segoe UI" pitchFamily="34" charset="-122"/>
                <a:cs typeface="Segoe UI" pitchFamily="34" charset="-120"/>
              </a:rPr>
              <a:t>Regenerate khi login, destroy khi logout, flags theo môi trường.</a:t>
            </a:r>
            <a:endParaRPr lang="en-US" sz="1200" dirty="0"/>
          </a:p>
        </p:txBody>
      </p:sp>
      <p:sp>
        <p:nvSpPr>
          <p:cNvPr id="14" name="Shape 12"/>
          <p:cNvSpPr/>
          <p:nvPr/>
        </p:nvSpPr>
        <p:spPr>
          <a:xfrm>
            <a:off x="8092440" y="1371600"/>
            <a:ext cx="3611880" cy="2011680"/>
          </a:xfrm>
          <a:prstGeom prst="roundRect">
            <a:avLst>
              <a:gd name="adj" fmla="val 3636"/>
            </a:avLst>
          </a:prstGeom>
          <a:solidFill>
            <a:srgbClr val="131B2E"/>
          </a:solidFill>
          <a:ln w="12700">
            <a:solidFill>
              <a:srgbClr val="2A3651"/>
            </a:solidFill>
            <a:prstDash val="solid"/>
          </a:ln>
        </p:spPr>
      </p:sp>
      <p:sp>
        <p:nvSpPr>
          <p:cNvPr id="15" name="Text 13"/>
          <p:cNvSpPr/>
          <p:nvPr/>
        </p:nvSpPr>
        <p:spPr>
          <a:xfrm>
            <a:off x="8275320" y="157276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16" name="Text 14"/>
          <p:cNvSpPr/>
          <p:nvPr/>
        </p:nvSpPr>
        <p:spPr>
          <a:xfrm>
            <a:off x="8778240" y="1572768"/>
            <a:ext cx="2743200" cy="384048"/>
          </a:xfrm>
          <a:prstGeom prst="rect">
            <a:avLst/>
          </a:prstGeom>
          <a:noFill/>
          <a:ln/>
        </p:spPr>
        <p:txBody>
          <a:bodyPr wrap="square" lIns="25400" tIns="25400" rIns="25400" bIns="25400" rtlCol="0" anchor="ctr"/>
          <a:lstStyle/>
          <a:p>
            <a:pPr marL="0" indent="0" algn="l">
              <a:buNone/>
            </a:pPr>
            <a:r>
              <a:rPr lang="en-US" sz="1400" b="1" dirty="0">
                <a:solidFill>
                  <a:srgbClr val="E8ECF5"/>
                </a:solidFill>
                <a:latin typeface="Segoe UI" pitchFamily="34" charset="0"/>
                <a:ea typeface="Segoe UI" pitchFamily="34" charset="-122"/>
                <a:cs typeface="Segoe UI" pitchFamily="34" charset="-120"/>
              </a:rPr>
              <a:t>JWT</a:t>
            </a:r>
            <a:endParaRPr lang="en-US" sz="1400" dirty="0"/>
          </a:p>
        </p:txBody>
      </p:sp>
      <p:sp>
        <p:nvSpPr>
          <p:cNvPr id="17" name="Text 15"/>
          <p:cNvSpPr/>
          <p:nvPr/>
        </p:nvSpPr>
        <p:spPr>
          <a:xfrm>
            <a:off x="8275320" y="2103120"/>
            <a:ext cx="3246120" cy="1097280"/>
          </a:xfrm>
          <a:prstGeom prst="rect">
            <a:avLst/>
          </a:prstGeom>
          <a:noFill/>
          <a:ln/>
        </p:spPr>
        <p:txBody>
          <a:bodyPr wrap="square" lIns="25400" tIns="25400" rIns="25400" bIns="25400" rtlCol="0" anchor="t"/>
          <a:lstStyle/>
          <a:p>
            <a:pPr marL="0" indent="0" algn="l">
              <a:buNone/>
            </a:pPr>
            <a:r>
              <a:rPr lang="en-US" sz="1200" dirty="0">
                <a:solidFill>
                  <a:srgbClr val="8F9BB3"/>
                </a:solidFill>
                <a:latin typeface="Segoe UI" pitchFamily="34" charset="0"/>
                <a:ea typeface="Segoe UI" pitchFamily="34" charset="-122"/>
                <a:cs typeface="Segoe UI" pitchFamily="34" charset="-120"/>
              </a:rPr>
              <a:t>Verify chữ ký, allowlist, iss / aud / exp.</a:t>
            </a:r>
            <a:endParaRPr lang="en-US" sz="1200" dirty="0"/>
          </a:p>
        </p:txBody>
      </p:sp>
      <p:sp>
        <p:nvSpPr>
          <p:cNvPr id="18" name="Shape 16"/>
          <p:cNvSpPr/>
          <p:nvPr/>
        </p:nvSpPr>
        <p:spPr>
          <a:xfrm>
            <a:off x="502920" y="3566160"/>
            <a:ext cx="3611880" cy="2011680"/>
          </a:xfrm>
          <a:prstGeom prst="roundRect">
            <a:avLst>
              <a:gd name="adj" fmla="val 3636"/>
            </a:avLst>
          </a:prstGeom>
          <a:solidFill>
            <a:srgbClr val="131B2E"/>
          </a:solidFill>
          <a:ln w="12700">
            <a:solidFill>
              <a:srgbClr val="2A3651"/>
            </a:solidFill>
            <a:prstDash val="solid"/>
          </a:ln>
        </p:spPr>
      </p:sp>
      <p:sp>
        <p:nvSpPr>
          <p:cNvPr id="19" name="Text 17"/>
          <p:cNvSpPr/>
          <p:nvPr/>
        </p:nvSpPr>
        <p:spPr>
          <a:xfrm>
            <a:off x="68580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0" name="Text 18"/>
          <p:cNvSpPr/>
          <p:nvPr/>
        </p:nvSpPr>
        <p:spPr>
          <a:xfrm>
            <a:off x="1188720" y="3767328"/>
            <a:ext cx="2743200" cy="384048"/>
          </a:xfrm>
          <a:prstGeom prst="rect">
            <a:avLst/>
          </a:prstGeom>
          <a:noFill/>
          <a:ln/>
        </p:spPr>
        <p:txBody>
          <a:bodyPr wrap="square" lIns="25400" tIns="25400" rIns="25400" bIns="25400" rtlCol="0" anchor="ctr"/>
          <a:lstStyle/>
          <a:p>
            <a:pPr marL="0" indent="0" algn="l">
              <a:buNone/>
            </a:pPr>
            <a:r>
              <a:rPr lang="en-US" sz="1400" b="1" dirty="0">
                <a:solidFill>
                  <a:srgbClr val="E8ECF5"/>
                </a:solidFill>
                <a:latin typeface="Segoe UI" pitchFamily="34" charset="0"/>
                <a:ea typeface="Segoe UI" pitchFamily="34" charset="-122"/>
                <a:cs typeface="Segoe UI" pitchFamily="34" charset="-120"/>
              </a:rPr>
              <a:t>Access / refresh</a:t>
            </a:r>
            <a:endParaRPr lang="en-US" sz="1400" dirty="0"/>
          </a:p>
        </p:txBody>
      </p:sp>
      <p:sp>
        <p:nvSpPr>
          <p:cNvPr id="21" name="Text 19"/>
          <p:cNvSpPr/>
          <p:nvPr/>
        </p:nvSpPr>
        <p:spPr>
          <a:xfrm>
            <a:off x="685800" y="4297680"/>
            <a:ext cx="3246120" cy="1097280"/>
          </a:xfrm>
          <a:prstGeom prst="rect">
            <a:avLst/>
          </a:prstGeom>
          <a:noFill/>
          <a:ln/>
        </p:spPr>
        <p:txBody>
          <a:bodyPr wrap="square" lIns="25400" tIns="25400" rIns="25400" bIns="25400" rtlCol="0" anchor="t"/>
          <a:lstStyle/>
          <a:p>
            <a:pPr marL="0" indent="0" algn="l">
              <a:buNone/>
            </a:pPr>
            <a:r>
              <a:rPr lang="en-US" sz="1200" dirty="0">
                <a:solidFill>
                  <a:srgbClr val="8F9BB3"/>
                </a:solidFill>
                <a:latin typeface="Segoe UI" pitchFamily="34" charset="0"/>
                <a:ea typeface="Segoe UI" pitchFamily="34" charset="-122"/>
                <a:cs typeface="Segoe UI" pitchFamily="34" charset="-120"/>
              </a:rPr>
              <a:t>Access ngắn hạn, rotate, reuse → thu hồi, lưu hash.</a:t>
            </a:r>
            <a:endParaRPr lang="en-US" sz="1200" dirty="0"/>
          </a:p>
        </p:txBody>
      </p:sp>
      <p:sp>
        <p:nvSpPr>
          <p:cNvPr id="22" name="Shape 20"/>
          <p:cNvSpPr/>
          <p:nvPr/>
        </p:nvSpPr>
        <p:spPr>
          <a:xfrm>
            <a:off x="4297680" y="3566160"/>
            <a:ext cx="3611880" cy="2011680"/>
          </a:xfrm>
          <a:prstGeom prst="roundRect">
            <a:avLst>
              <a:gd name="adj" fmla="val 3636"/>
            </a:avLst>
          </a:prstGeom>
          <a:solidFill>
            <a:srgbClr val="131B2E"/>
          </a:solidFill>
          <a:ln w="12700">
            <a:solidFill>
              <a:srgbClr val="2A3651"/>
            </a:solidFill>
            <a:prstDash val="solid"/>
          </a:ln>
        </p:spPr>
      </p:sp>
      <p:sp>
        <p:nvSpPr>
          <p:cNvPr id="23" name="Text 21"/>
          <p:cNvSpPr/>
          <p:nvPr/>
        </p:nvSpPr>
        <p:spPr>
          <a:xfrm>
            <a:off x="448056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4" name="Text 22"/>
          <p:cNvSpPr/>
          <p:nvPr/>
        </p:nvSpPr>
        <p:spPr>
          <a:xfrm>
            <a:off x="4983480" y="3767328"/>
            <a:ext cx="2743200" cy="384048"/>
          </a:xfrm>
          <a:prstGeom prst="rect">
            <a:avLst/>
          </a:prstGeom>
          <a:noFill/>
          <a:ln/>
        </p:spPr>
        <p:txBody>
          <a:bodyPr wrap="square" lIns="25400" tIns="25400" rIns="25400" bIns="25400" rtlCol="0" anchor="ctr"/>
          <a:lstStyle/>
          <a:p>
            <a:pPr marL="0" indent="0" algn="l">
              <a:buNone/>
            </a:pPr>
            <a:r>
              <a:rPr lang="en-US" sz="1400" b="1" dirty="0">
                <a:solidFill>
                  <a:srgbClr val="E8ECF5"/>
                </a:solidFill>
                <a:latin typeface="Segoe UI" pitchFamily="34" charset="0"/>
                <a:ea typeface="Segoe UI" pitchFamily="34" charset="-122"/>
                <a:cs typeface="Segoe UI" pitchFamily="34" charset="-120"/>
              </a:rPr>
              <a:t>OIDC callback</a:t>
            </a:r>
            <a:endParaRPr lang="en-US" sz="1400" dirty="0"/>
          </a:p>
        </p:txBody>
      </p:sp>
      <p:sp>
        <p:nvSpPr>
          <p:cNvPr id="25" name="Text 23"/>
          <p:cNvSpPr/>
          <p:nvPr/>
        </p:nvSpPr>
        <p:spPr>
          <a:xfrm>
            <a:off x="4480560" y="4297680"/>
            <a:ext cx="3246120" cy="1097280"/>
          </a:xfrm>
          <a:prstGeom prst="rect">
            <a:avLst/>
          </a:prstGeom>
          <a:noFill/>
          <a:ln/>
        </p:spPr>
        <p:txBody>
          <a:bodyPr wrap="square" lIns="25400" tIns="25400" rIns="25400" bIns="25400" rtlCol="0" anchor="t"/>
          <a:lstStyle/>
          <a:p>
            <a:pPr marL="0" indent="0" algn="l">
              <a:buNone/>
            </a:pPr>
            <a:r>
              <a:rPr lang="en-US" sz="1200" dirty="0">
                <a:solidFill>
                  <a:srgbClr val="8F9BB3"/>
                </a:solidFill>
                <a:latin typeface="Segoe UI" pitchFamily="34" charset="0"/>
                <a:ea typeface="Segoe UI" pitchFamily="34" charset="-122"/>
                <a:cs typeface="Segoe UI" pitchFamily="34" charset="-120"/>
              </a:rPr>
              <a:t>state, nonce, PKCE, redirect URI chính xác.</a:t>
            </a:r>
            <a:endParaRPr lang="en-US" sz="1200" dirty="0"/>
          </a:p>
        </p:txBody>
      </p:sp>
      <p:sp>
        <p:nvSpPr>
          <p:cNvPr id="26" name="Shape 24"/>
          <p:cNvSpPr/>
          <p:nvPr/>
        </p:nvSpPr>
        <p:spPr>
          <a:xfrm>
            <a:off x="8092440" y="3566160"/>
            <a:ext cx="3611880" cy="2011680"/>
          </a:xfrm>
          <a:prstGeom prst="roundRect">
            <a:avLst>
              <a:gd name="adj" fmla="val 3636"/>
            </a:avLst>
          </a:prstGeom>
          <a:solidFill>
            <a:srgbClr val="131B2E"/>
          </a:solidFill>
          <a:ln w="12700">
            <a:solidFill>
              <a:srgbClr val="2A3651"/>
            </a:solidFill>
            <a:prstDash val="solid"/>
          </a:ln>
        </p:spPr>
      </p:sp>
      <p:sp>
        <p:nvSpPr>
          <p:cNvPr id="27" name="Text 25"/>
          <p:cNvSpPr/>
          <p:nvPr/>
        </p:nvSpPr>
        <p:spPr>
          <a:xfrm>
            <a:off x="8275320" y="3767328"/>
            <a:ext cx="384048" cy="384048"/>
          </a:xfrm>
          <a:prstGeom prst="roundRect">
            <a:avLst>
              <a:gd name="adj" fmla="val 19048"/>
            </a:avLst>
          </a:prstGeom>
          <a:solidFill>
            <a:srgbClr val="1E4D40"/>
          </a:solidFill>
          <a:ln w="12700">
            <a:solidFill>
              <a:srgbClr val="6EE7B7"/>
            </a:solidFill>
            <a:prstDash val="solid"/>
          </a:ln>
        </p:spPr>
        <p:txBody>
          <a:bodyPr wrap="square" lIns="76200" tIns="76200" rIns="76200" bIns="76200" rtlCol="0" anchor="ctr"/>
          <a:lstStyle/>
          <a:p>
            <a:pPr marL="0" indent="0" algn="ctr">
              <a:buNone/>
            </a:pPr>
            <a:r>
              <a:rPr lang="en-US" sz="1300" b="1" dirty="0">
                <a:solidFill>
                  <a:srgbClr val="6EE7B7"/>
                </a:solidFill>
                <a:latin typeface="Segoe UI" pitchFamily="34" charset="0"/>
                <a:ea typeface="Segoe UI" pitchFamily="34" charset="-122"/>
                <a:cs typeface="Segoe UI" pitchFamily="34" charset="-120"/>
              </a:rPr>
              <a:t>✓</a:t>
            </a:r>
            <a:endParaRPr lang="en-US" sz="1300" dirty="0"/>
          </a:p>
        </p:txBody>
      </p:sp>
      <p:sp>
        <p:nvSpPr>
          <p:cNvPr id="28" name="Text 26"/>
          <p:cNvSpPr/>
          <p:nvPr/>
        </p:nvSpPr>
        <p:spPr>
          <a:xfrm>
            <a:off x="8778240" y="3767328"/>
            <a:ext cx="2743200" cy="384048"/>
          </a:xfrm>
          <a:prstGeom prst="rect">
            <a:avLst/>
          </a:prstGeom>
          <a:noFill/>
          <a:ln/>
        </p:spPr>
        <p:txBody>
          <a:bodyPr wrap="square" lIns="25400" tIns="25400" rIns="25400" bIns="25400" rtlCol="0" anchor="ctr"/>
          <a:lstStyle/>
          <a:p>
            <a:pPr marL="0" indent="0" algn="l">
              <a:buNone/>
            </a:pPr>
            <a:r>
              <a:rPr lang="en-US" sz="1400" b="1" dirty="0">
                <a:solidFill>
                  <a:srgbClr val="E8ECF5"/>
                </a:solidFill>
                <a:latin typeface="Segoe UI" pitchFamily="34" charset="0"/>
                <a:ea typeface="Segoe UI" pitchFamily="34" charset="-122"/>
                <a:cs typeface="Segoe UI" pitchFamily="34" charset="-120"/>
              </a:rPr>
              <a:t>AuthZ · tests · logs</a:t>
            </a:r>
            <a:endParaRPr lang="en-US" sz="1400" dirty="0"/>
          </a:p>
        </p:txBody>
      </p:sp>
      <p:sp>
        <p:nvSpPr>
          <p:cNvPr id="29" name="Text 27"/>
          <p:cNvSpPr/>
          <p:nvPr/>
        </p:nvSpPr>
        <p:spPr>
          <a:xfrm>
            <a:off x="8275320" y="4297680"/>
            <a:ext cx="3246120" cy="1097280"/>
          </a:xfrm>
          <a:prstGeom prst="rect">
            <a:avLst/>
          </a:prstGeom>
          <a:noFill/>
          <a:ln/>
        </p:spPr>
        <p:txBody>
          <a:bodyPr wrap="square" lIns="25400" tIns="25400" rIns="25400" bIns="25400" rtlCol="0" anchor="t"/>
          <a:lstStyle/>
          <a:p>
            <a:pPr marL="0" indent="0" algn="l">
              <a:buNone/>
            </a:pPr>
            <a:r>
              <a:rPr lang="en-US" sz="1200" dirty="0">
                <a:solidFill>
                  <a:srgbClr val="8F9BB3"/>
                </a:solidFill>
                <a:latin typeface="Segoe UI" pitchFamily="34" charset="0"/>
                <a:ea typeface="Segoe UI" pitchFamily="34" charset="-122"/>
                <a:cs typeface="Segoe UI" pitchFamily="34" charset="-120"/>
              </a:rPr>
              <a:t>Quyền ở backend, test 401/403, log không chứa credential.</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TỔNG KẾT  ·  SLIDE 30/33</a:t>
            </a:r>
            <a:endParaRPr lang="en-US" sz="1000" dirty="0"/>
          </a:p>
        </p:txBody>
      </p:sp>
      <p:sp>
        <p:nvSpPr>
          <p:cNvPr id="4" name="Text 2"/>
          <p:cNvSpPr/>
          <p:nvPr/>
        </p:nvSpPr>
        <p:spPr>
          <a:xfrm>
            <a:off x="548640" y="1005840"/>
            <a:ext cx="11094415" cy="914400"/>
          </a:xfrm>
          <a:prstGeom prst="rect">
            <a:avLst/>
          </a:prstGeom>
          <a:noFill/>
          <a:ln/>
        </p:spPr>
        <p:txBody>
          <a:bodyPr wrap="square" lIns="25400" tIns="25400" rIns="25400" bIns="25400" rtlCol="0" anchor="ctr"/>
          <a:lstStyle/>
          <a:p>
            <a:pPr marL="0" indent="0" algn="ctr">
              <a:buNone/>
            </a:pPr>
            <a:r>
              <a:rPr lang="en-US" sz="3200" b="1" dirty="0">
                <a:solidFill>
                  <a:srgbClr val="E8ECF5"/>
                </a:solidFill>
                <a:latin typeface="Segoe UI" pitchFamily="34" charset="0"/>
                <a:ea typeface="Segoe UI" pitchFamily="34" charset="-122"/>
                <a:cs typeface="Segoe UI" pitchFamily="34" charset="-120"/>
              </a:rPr>
              <a:t>Login an toàn là </a:t>
            </a:r>
            <a:r>
              <a:rPr lang="en-US" sz="3200" b="1" dirty="0">
                <a:solidFill>
                  <a:srgbClr val="B5A5FF"/>
                </a:solidFill>
                <a:latin typeface="Segoe UI" pitchFamily="34" charset="0"/>
                <a:ea typeface="Segoe UI" pitchFamily="34" charset="-122"/>
                <a:cs typeface="Segoe UI" pitchFamily="34" charset="-120"/>
              </a:rPr>
              <a:t>vòng đời</a:t>
            </a:r>
            <a:r>
              <a:rPr lang="en-US" sz="3200" b="1" dirty="0">
                <a:solidFill>
                  <a:srgbClr val="E8ECF5"/>
                </a:solidFill>
                <a:latin typeface="Segoe UI" pitchFamily="34" charset="0"/>
                <a:ea typeface="Segoe UI" pitchFamily="34" charset="-122"/>
                <a:cs typeface="Segoe UI" pitchFamily="34" charset="-120"/>
              </a:rPr>
              <a:t>, không phải nút bấm.</a:t>
            </a:r>
            <a:endParaRPr lang="en-US" sz="3200" dirty="0"/>
          </a:p>
        </p:txBody>
      </p:sp>
      <p:sp>
        <p:nvSpPr>
          <p:cNvPr id="5" name="Text 3"/>
          <p:cNvSpPr/>
          <p:nvPr/>
        </p:nvSpPr>
        <p:spPr>
          <a:xfrm>
            <a:off x="548640" y="2651760"/>
            <a:ext cx="1965960" cy="1325880"/>
          </a:xfrm>
          <a:prstGeom prst="roundRect">
            <a:avLst>
              <a:gd name="adj" fmla="val 5517"/>
            </a:avLst>
          </a:prstGeom>
          <a:solidFill>
            <a:srgbClr val="182238"/>
          </a:solidFill>
          <a:ln w="19050">
            <a:solidFill>
              <a:srgbClr val="B5A5FF"/>
            </a:solidFill>
            <a:prstDash val="solid"/>
          </a:ln>
        </p:spPr>
        <p:txBody>
          <a:bodyPr wrap="square" lIns="76200" tIns="76200" rIns="76200" bIns="76200" rtlCol="0" anchor="ctr"/>
          <a:lstStyle/>
          <a:p>
            <a:pPr marL="0" indent="0" algn="ctr">
              <a:buNone/>
            </a:pPr>
            <a:r>
              <a:rPr lang="en-US" sz="1800" b="1" dirty="0">
                <a:solidFill>
                  <a:srgbClr val="B5A5FF"/>
                </a:solidFill>
                <a:latin typeface="Segoe UI" pitchFamily="34" charset="0"/>
                <a:ea typeface="Segoe UI" pitchFamily="34" charset="-122"/>
                <a:cs typeface="Segoe UI" pitchFamily="34" charset="-120"/>
              </a:rPr>
              <a:t>Verify</a:t>
            </a:r>
            <a:endParaRPr lang="en-US" sz="1200" dirty="0"/>
          </a:p>
          <a:p>
            <a:pPr marL="0" indent="0" algn="ctr">
              <a:buNone/>
            </a:pPr>
            <a:r>
              <a:rPr lang="en-US" sz="1200" dirty="0">
                <a:solidFill>
                  <a:srgbClr val="E8ECF5"/>
                </a:solidFill>
                <a:latin typeface="Segoe UI" pitchFamily="34" charset="0"/>
                <a:ea typeface="Segoe UI" pitchFamily="34" charset="-122"/>
                <a:cs typeface="Segoe UI" pitchFamily="34" charset="-120"/>
              </a:rPr>
              <a:t>đúng</a:t>
            </a:r>
            <a:endParaRPr lang="en-US" sz="1200" dirty="0"/>
          </a:p>
        </p:txBody>
      </p:sp>
      <p:sp>
        <p:nvSpPr>
          <p:cNvPr id="6" name="Shape 4"/>
          <p:cNvSpPr/>
          <p:nvPr/>
        </p:nvSpPr>
        <p:spPr>
          <a:xfrm>
            <a:off x="2514600" y="3291840"/>
            <a:ext cx="316154" cy="0"/>
          </a:xfrm>
          <a:prstGeom prst="line">
            <a:avLst/>
          </a:prstGeom>
          <a:noFill/>
          <a:ln w="19050">
            <a:solidFill>
              <a:srgbClr val="B5A5FF"/>
            </a:solidFill>
            <a:prstDash val="solid"/>
            <a:tailEnd type="triangle"/>
          </a:ln>
        </p:spPr>
      </p:sp>
      <p:sp>
        <p:nvSpPr>
          <p:cNvPr id="7" name="Text 5"/>
          <p:cNvSpPr/>
          <p:nvPr/>
        </p:nvSpPr>
        <p:spPr>
          <a:xfrm>
            <a:off x="2830754" y="2651760"/>
            <a:ext cx="1965960" cy="1325880"/>
          </a:xfrm>
          <a:prstGeom prst="roundRect">
            <a:avLst>
              <a:gd name="adj" fmla="val 5517"/>
            </a:avLst>
          </a:prstGeom>
          <a:solidFill>
            <a:srgbClr val="182238"/>
          </a:solidFill>
          <a:ln w="19050">
            <a:solidFill>
              <a:srgbClr val="6EE7B7"/>
            </a:solidFill>
            <a:prstDash val="solid"/>
          </a:ln>
        </p:spPr>
        <p:txBody>
          <a:bodyPr wrap="square" lIns="76200" tIns="76200" rIns="76200" bIns="76200" rtlCol="0" anchor="ctr"/>
          <a:lstStyle/>
          <a:p>
            <a:pPr marL="0" indent="0" algn="ctr">
              <a:buNone/>
            </a:pPr>
            <a:r>
              <a:rPr lang="en-US" sz="1800" b="1" dirty="0">
                <a:solidFill>
                  <a:srgbClr val="6EE7B7"/>
                </a:solidFill>
                <a:latin typeface="Segoe UI" pitchFamily="34" charset="0"/>
                <a:ea typeface="Segoe UI" pitchFamily="34" charset="-122"/>
                <a:cs typeface="Segoe UI" pitchFamily="34" charset="-120"/>
              </a:rPr>
              <a:t>Store</a:t>
            </a:r>
            <a:endParaRPr lang="en-US" sz="1200" dirty="0"/>
          </a:p>
          <a:p>
            <a:pPr marL="0" indent="0" algn="ctr">
              <a:buNone/>
            </a:pPr>
            <a:r>
              <a:rPr lang="en-US" sz="1200" dirty="0">
                <a:solidFill>
                  <a:srgbClr val="E8ECF5"/>
                </a:solidFill>
                <a:latin typeface="Segoe UI" pitchFamily="34" charset="0"/>
                <a:ea typeface="Segoe UI" pitchFamily="34" charset="-122"/>
                <a:cs typeface="Segoe UI" pitchFamily="34" charset="-120"/>
              </a:rPr>
              <a:t>an toàn</a:t>
            </a:r>
            <a:endParaRPr lang="en-US" sz="1200" dirty="0"/>
          </a:p>
        </p:txBody>
      </p:sp>
      <p:sp>
        <p:nvSpPr>
          <p:cNvPr id="8" name="Shape 6"/>
          <p:cNvSpPr/>
          <p:nvPr/>
        </p:nvSpPr>
        <p:spPr>
          <a:xfrm>
            <a:off x="4796714" y="3291840"/>
            <a:ext cx="316154" cy="0"/>
          </a:xfrm>
          <a:prstGeom prst="line">
            <a:avLst/>
          </a:prstGeom>
          <a:noFill/>
          <a:ln w="19050">
            <a:solidFill>
              <a:srgbClr val="6EE7B7"/>
            </a:solidFill>
            <a:prstDash val="solid"/>
            <a:tailEnd type="triangle"/>
          </a:ln>
        </p:spPr>
      </p:sp>
      <p:sp>
        <p:nvSpPr>
          <p:cNvPr id="9" name="Text 7"/>
          <p:cNvSpPr/>
          <p:nvPr/>
        </p:nvSpPr>
        <p:spPr>
          <a:xfrm>
            <a:off x="5112868" y="2651760"/>
            <a:ext cx="1965960" cy="1325880"/>
          </a:xfrm>
          <a:prstGeom prst="roundRect">
            <a:avLst>
              <a:gd name="adj" fmla="val 5517"/>
            </a:avLst>
          </a:prstGeom>
          <a:solidFill>
            <a:srgbClr val="182238"/>
          </a:solidFill>
          <a:ln w="19050">
            <a:solidFill>
              <a:srgbClr val="7DB3FF"/>
            </a:solidFill>
            <a:prstDash val="solid"/>
          </a:ln>
        </p:spPr>
        <p:txBody>
          <a:bodyPr wrap="square" lIns="76200" tIns="76200" rIns="76200" bIns="76200" rtlCol="0" anchor="ctr"/>
          <a:lstStyle/>
          <a:p>
            <a:pPr marL="0" indent="0" algn="ctr">
              <a:buNone/>
            </a:pPr>
            <a:r>
              <a:rPr lang="en-US" sz="1800" b="1" dirty="0">
                <a:solidFill>
                  <a:srgbClr val="7DB3FF"/>
                </a:solidFill>
                <a:latin typeface="Segoe UI" pitchFamily="34" charset="0"/>
                <a:ea typeface="Segoe UI" pitchFamily="34" charset="-122"/>
                <a:cs typeface="Segoe UI" pitchFamily="34" charset="-120"/>
              </a:rPr>
              <a:t>Send</a:t>
            </a:r>
            <a:endParaRPr lang="en-US" sz="1200" dirty="0"/>
          </a:p>
          <a:p>
            <a:pPr marL="0" indent="0" algn="ctr">
              <a:buNone/>
            </a:pPr>
            <a:r>
              <a:rPr lang="en-US" sz="1200" dirty="0">
                <a:solidFill>
                  <a:srgbClr val="E8ECF5"/>
                </a:solidFill>
                <a:latin typeface="Segoe UI" pitchFamily="34" charset="0"/>
                <a:ea typeface="Segoe UI" pitchFamily="34" charset="-122"/>
                <a:cs typeface="Segoe UI" pitchFamily="34" charset="-120"/>
              </a:rPr>
              <a:t>đúng cách</a:t>
            </a:r>
            <a:endParaRPr lang="en-US" sz="1200" dirty="0"/>
          </a:p>
        </p:txBody>
      </p:sp>
      <p:sp>
        <p:nvSpPr>
          <p:cNvPr id="10" name="Shape 8"/>
          <p:cNvSpPr/>
          <p:nvPr/>
        </p:nvSpPr>
        <p:spPr>
          <a:xfrm>
            <a:off x="7078828" y="3291840"/>
            <a:ext cx="316154" cy="0"/>
          </a:xfrm>
          <a:prstGeom prst="line">
            <a:avLst/>
          </a:prstGeom>
          <a:noFill/>
          <a:ln w="19050">
            <a:solidFill>
              <a:srgbClr val="7DB3FF"/>
            </a:solidFill>
            <a:prstDash val="solid"/>
            <a:tailEnd type="triangle"/>
          </a:ln>
        </p:spPr>
      </p:sp>
      <p:sp>
        <p:nvSpPr>
          <p:cNvPr id="11" name="Text 9"/>
          <p:cNvSpPr/>
          <p:nvPr/>
        </p:nvSpPr>
        <p:spPr>
          <a:xfrm>
            <a:off x="7394981" y="2651760"/>
            <a:ext cx="1965960" cy="1325880"/>
          </a:xfrm>
          <a:prstGeom prst="roundRect">
            <a:avLst>
              <a:gd name="adj" fmla="val 5517"/>
            </a:avLst>
          </a:prstGeom>
          <a:solidFill>
            <a:srgbClr val="182238"/>
          </a:solidFill>
          <a:ln w="19050">
            <a:solidFill>
              <a:srgbClr val="F5A65B"/>
            </a:solidFill>
            <a:prstDash val="solid"/>
          </a:ln>
        </p:spPr>
        <p:txBody>
          <a:bodyPr wrap="square" lIns="76200" tIns="76200" rIns="76200" bIns="76200" rtlCol="0" anchor="ctr"/>
          <a:lstStyle/>
          <a:p>
            <a:pPr marL="0" indent="0" algn="ctr">
              <a:buNone/>
            </a:pPr>
            <a:r>
              <a:rPr lang="en-US" sz="1800" b="1" dirty="0">
                <a:solidFill>
                  <a:srgbClr val="F5A65B"/>
                </a:solidFill>
                <a:latin typeface="Segoe UI" pitchFamily="34" charset="0"/>
                <a:ea typeface="Segoe UI" pitchFamily="34" charset="-122"/>
                <a:cs typeface="Segoe UI" pitchFamily="34" charset="-120"/>
              </a:rPr>
              <a:t>Validate</a:t>
            </a:r>
            <a:endParaRPr lang="en-US" sz="1200" dirty="0"/>
          </a:p>
          <a:p>
            <a:pPr marL="0" indent="0" algn="ctr">
              <a:buNone/>
            </a:pPr>
            <a:r>
              <a:rPr lang="en-US" sz="1200" dirty="0">
                <a:solidFill>
                  <a:srgbClr val="E8ECF5"/>
                </a:solidFill>
                <a:latin typeface="Segoe UI" pitchFamily="34" charset="0"/>
                <a:ea typeface="Segoe UI" pitchFamily="34" charset="-122"/>
                <a:cs typeface="Segoe UI" pitchFamily="34" charset="-120"/>
              </a:rPr>
              <a:t>đủ</a:t>
            </a:r>
            <a:endParaRPr lang="en-US" sz="1200" dirty="0"/>
          </a:p>
        </p:txBody>
      </p:sp>
      <p:sp>
        <p:nvSpPr>
          <p:cNvPr id="12" name="Shape 10"/>
          <p:cNvSpPr/>
          <p:nvPr/>
        </p:nvSpPr>
        <p:spPr>
          <a:xfrm>
            <a:off x="9360941" y="3291840"/>
            <a:ext cx="316154" cy="0"/>
          </a:xfrm>
          <a:prstGeom prst="line">
            <a:avLst/>
          </a:prstGeom>
          <a:noFill/>
          <a:ln w="19050">
            <a:solidFill>
              <a:srgbClr val="F5A65B"/>
            </a:solidFill>
            <a:prstDash val="solid"/>
            <a:tailEnd type="triangle"/>
          </a:ln>
        </p:spPr>
      </p:sp>
      <p:sp>
        <p:nvSpPr>
          <p:cNvPr id="13" name="Text 11"/>
          <p:cNvSpPr/>
          <p:nvPr/>
        </p:nvSpPr>
        <p:spPr>
          <a:xfrm>
            <a:off x="9677095" y="2651760"/>
            <a:ext cx="1965960" cy="1325880"/>
          </a:xfrm>
          <a:prstGeom prst="roundRect">
            <a:avLst>
              <a:gd name="adj" fmla="val 5517"/>
            </a:avLst>
          </a:prstGeom>
          <a:solidFill>
            <a:srgbClr val="182238"/>
          </a:solidFill>
          <a:ln w="19050">
            <a:solidFill>
              <a:srgbClr val="F28B9A"/>
            </a:solidFill>
            <a:prstDash val="solid"/>
          </a:ln>
        </p:spPr>
        <p:txBody>
          <a:bodyPr wrap="square" lIns="76200" tIns="76200" rIns="76200" bIns="76200" rtlCol="0" anchor="ctr"/>
          <a:lstStyle/>
          <a:p>
            <a:pPr marL="0" indent="0" algn="ctr">
              <a:buNone/>
            </a:pPr>
            <a:r>
              <a:rPr lang="en-US" sz="1800" b="1" dirty="0">
                <a:solidFill>
                  <a:srgbClr val="F28B9A"/>
                </a:solidFill>
                <a:latin typeface="Segoe UI" pitchFamily="34" charset="0"/>
                <a:ea typeface="Segoe UI" pitchFamily="34" charset="-122"/>
                <a:cs typeface="Segoe UI" pitchFamily="34" charset="-120"/>
              </a:rPr>
              <a:t>Revoke</a:t>
            </a:r>
            <a:endParaRPr lang="en-US" sz="1200" dirty="0"/>
          </a:p>
          <a:p>
            <a:pPr marL="0" indent="0" algn="ctr">
              <a:buNone/>
            </a:pPr>
            <a:r>
              <a:rPr lang="en-US" sz="1200" dirty="0">
                <a:solidFill>
                  <a:srgbClr val="E8ECF5"/>
                </a:solidFill>
                <a:latin typeface="Segoe UI" pitchFamily="34" charset="0"/>
                <a:ea typeface="Segoe UI" pitchFamily="34" charset="-122"/>
                <a:cs typeface="Segoe UI" pitchFamily="34" charset="-120"/>
              </a:rPr>
              <a:t>khi cần</a:t>
            </a:r>
            <a:endParaRPr lang="en-US" sz="1200" dirty="0"/>
          </a:p>
        </p:txBody>
      </p:sp>
      <p:sp>
        <p:nvSpPr>
          <p:cNvPr id="14" name="Text 12"/>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6B63DC"/>
          </a:solidFill>
          <a:ln w="12700">
            <a:solidFill>
              <a:srgbClr val="6B63DC"/>
            </a:solidFill>
            <a:prstDash val="solid"/>
          </a:ln>
        </p:spPr>
      </p:sp>
      <p:sp>
        <p:nvSpPr>
          <p:cNvPr id="3" name="Text 1"/>
          <p:cNvSpPr/>
          <p:nvPr/>
        </p:nvSpPr>
        <p:spPr>
          <a:xfrm>
            <a:off x="54864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TỔNG KẾT  ·  SLIDE 31/33</a:t>
            </a:r>
            <a:endParaRPr lang="en-US" sz="1000" dirty="0"/>
          </a:p>
        </p:txBody>
      </p:sp>
      <p:sp>
        <p:nvSpPr>
          <p:cNvPr id="4" name="Text 2"/>
          <p:cNvSpPr/>
          <p:nvPr/>
        </p:nvSpPr>
        <p:spPr>
          <a:xfrm>
            <a:off x="548640" y="502920"/>
            <a:ext cx="10972800" cy="640080"/>
          </a:xfrm>
          <a:prstGeom prst="rect">
            <a:avLst/>
          </a:prstGeom>
          <a:noFill/>
          <a:ln/>
        </p:spPr>
        <p:txBody>
          <a:bodyPr wrap="square" lIns="25400" tIns="25400" rIns="25400" bIns="25400" rtlCol="0" anchor="ctr"/>
          <a:lstStyle/>
          <a:p>
            <a:pPr marL="0" indent="0" algn="l">
              <a:buNone/>
            </a:pPr>
            <a:r>
              <a:rPr lang="en-US" sz="3200" b="1" dirty="0">
                <a:solidFill>
                  <a:srgbClr val="E8ECF5"/>
                </a:solidFill>
                <a:latin typeface="Segoe UI" pitchFamily="34" charset="0"/>
                <a:ea typeface="Segoe UI" pitchFamily="34" charset="-122"/>
                <a:cs typeface="Segoe UI" pitchFamily="34" charset="-120"/>
              </a:rPr>
              <a:t>Tổng kết</a:t>
            </a:r>
            <a:endParaRPr lang="en-US" sz="3200" dirty="0"/>
          </a:p>
        </p:txBody>
      </p:sp>
      <p:sp>
        <p:nvSpPr>
          <p:cNvPr id="5" name="Shape 3"/>
          <p:cNvSpPr/>
          <p:nvPr/>
        </p:nvSpPr>
        <p:spPr>
          <a:xfrm>
            <a:off x="548640" y="1371600"/>
            <a:ext cx="3566160" cy="2057400"/>
          </a:xfrm>
          <a:prstGeom prst="roundRect">
            <a:avLst>
              <a:gd name="adj" fmla="val 4444"/>
            </a:avLst>
          </a:prstGeom>
          <a:solidFill>
            <a:srgbClr val="131B2E"/>
          </a:solidFill>
          <a:ln w="12700">
            <a:solidFill>
              <a:srgbClr val="2A3651"/>
            </a:solidFill>
            <a:prstDash val="solid"/>
          </a:ln>
        </p:spPr>
      </p:sp>
      <p:sp>
        <p:nvSpPr>
          <p:cNvPr id="6" name="Shape 4"/>
          <p:cNvSpPr/>
          <p:nvPr/>
        </p:nvSpPr>
        <p:spPr>
          <a:xfrm>
            <a:off x="548640" y="1371600"/>
            <a:ext cx="3566160" cy="73152"/>
          </a:xfrm>
          <a:prstGeom prst="rect">
            <a:avLst/>
          </a:prstGeom>
          <a:solidFill>
            <a:srgbClr val="B5A5FF"/>
          </a:solidFill>
          <a:ln w="12700">
            <a:solidFill>
              <a:srgbClr val="B5A5FF"/>
            </a:solidFill>
            <a:prstDash val="solid"/>
          </a:ln>
        </p:spPr>
      </p:sp>
      <p:sp>
        <p:nvSpPr>
          <p:cNvPr id="7" name="Text 5"/>
          <p:cNvSpPr/>
          <p:nvPr/>
        </p:nvSpPr>
        <p:spPr>
          <a:xfrm>
            <a:off x="777240" y="1600200"/>
            <a:ext cx="3108960" cy="274320"/>
          </a:xfrm>
          <a:prstGeom prst="rect">
            <a:avLst/>
          </a:prstGeom>
          <a:noFill/>
          <a:ln/>
        </p:spPr>
        <p:txBody>
          <a:bodyPr wrap="square" lIns="25400" tIns="25400" rIns="25400" bIns="25400" rtlCol="0" anchor="ctr"/>
          <a:lstStyle/>
          <a:p>
            <a:pPr marL="0" indent="0" algn="l">
              <a:buNone/>
            </a:pPr>
            <a:r>
              <a:rPr lang="en-US" sz="1200" b="1" dirty="0">
                <a:solidFill>
                  <a:srgbClr val="B5A5FF"/>
                </a:solidFill>
                <a:latin typeface="Consolas" pitchFamily="34" charset="0"/>
                <a:ea typeface="Consolas" pitchFamily="34" charset="-122"/>
                <a:cs typeface="Consolas" pitchFamily="34" charset="-120"/>
              </a:rPr>
              <a:t>01</a:t>
            </a:r>
            <a:endParaRPr lang="en-US" sz="1200" dirty="0"/>
          </a:p>
        </p:txBody>
      </p:sp>
      <p:sp>
        <p:nvSpPr>
          <p:cNvPr id="8" name="Text 6"/>
          <p:cNvSpPr/>
          <p:nvPr/>
        </p:nvSpPr>
        <p:spPr>
          <a:xfrm>
            <a:off x="777240" y="1965960"/>
            <a:ext cx="3108960" cy="411480"/>
          </a:xfrm>
          <a:prstGeom prst="rect">
            <a:avLst/>
          </a:prstGeom>
          <a:noFill/>
          <a:ln/>
        </p:spPr>
        <p:txBody>
          <a:bodyPr wrap="square" lIns="25400" tIns="25400" rIns="25400" bIns="25400" rtlCol="0" anchor="ctr"/>
          <a:lstStyle/>
          <a:p>
            <a:pPr marL="0" indent="0" algn="l">
              <a:buNone/>
            </a:pPr>
            <a:r>
              <a:rPr lang="en-US" sz="1800" b="1" dirty="0">
                <a:solidFill>
                  <a:srgbClr val="E8ECF5"/>
                </a:solidFill>
                <a:latin typeface="Segoe UI" pitchFamily="34" charset="0"/>
                <a:ea typeface="Segoe UI" pitchFamily="34" charset="-122"/>
                <a:cs typeface="Segoe UI" pitchFamily="34" charset="-120"/>
              </a:rPr>
              <a:t>AuthN ≠ AuthZ</a:t>
            </a:r>
            <a:endParaRPr lang="en-US" sz="1800" dirty="0"/>
          </a:p>
        </p:txBody>
      </p:sp>
      <p:sp>
        <p:nvSpPr>
          <p:cNvPr id="9" name="Text 7"/>
          <p:cNvSpPr/>
          <p:nvPr/>
        </p:nvSpPr>
        <p:spPr>
          <a:xfrm>
            <a:off x="777240" y="2514600"/>
            <a:ext cx="3108960" cy="640080"/>
          </a:xfrm>
          <a:prstGeom prst="rect">
            <a:avLst/>
          </a:prstGeom>
          <a:noFill/>
          <a:ln/>
        </p:spPr>
        <p:txBody>
          <a:bodyPr wrap="square" lIns="25400" tIns="25400" rIns="25400" bIns="25400" rtlCol="0" anchor="ctr"/>
          <a:lstStyle/>
          <a:p>
            <a:pPr marL="0" indent="0" algn="l">
              <a:buNone/>
            </a:pPr>
            <a:r>
              <a:rPr lang="en-US" sz="1400" dirty="0">
                <a:solidFill>
                  <a:srgbClr val="6EE7B7"/>
                </a:solidFill>
                <a:latin typeface="Consolas" pitchFamily="34" charset="0"/>
                <a:ea typeface="Consolas" pitchFamily="34" charset="-122"/>
                <a:cs typeface="Consolas" pitchFamily="34" charset="-120"/>
              </a:rPr>
              <a:t>401</a:t>
            </a:r>
            <a:r>
              <a:rPr lang="en-US" sz="1400" dirty="0">
                <a:solidFill>
                  <a:srgbClr val="8F9BB3"/>
                </a:solidFill>
                <a:latin typeface="Segoe UI" pitchFamily="34" charset="0"/>
                <a:ea typeface="Segoe UI" pitchFamily="34" charset="-122"/>
                <a:cs typeface="Segoe UI" pitchFamily="34" charset="-120"/>
              </a:rPr>
              <a:t> vs </a:t>
            </a:r>
            <a:r>
              <a:rPr lang="en-US" sz="1400" dirty="0">
                <a:solidFill>
                  <a:srgbClr val="6EE7B7"/>
                </a:solidFill>
                <a:latin typeface="Consolas" pitchFamily="34" charset="0"/>
                <a:ea typeface="Consolas" pitchFamily="34" charset="-122"/>
                <a:cs typeface="Consolas" pitchFamily="34" charset="-120"/>
              </a:rPr>
              <a:t>403</a:t>
            </a:r>
            <a:r>
              <a:rPr lang="en-US" sz="1400" dirty="0">
                <a:solidFill>
                  <a:srgbClr val="8F9BB3"/>
                </a:solidFill>
                <a:latin typeface="Segoe UI" pitchFamily="34" charset="0"/>
                <a:ea typeface="Segoe UI" pitchFamily="34" charset="-122"/>
                <a:cs typeface="Segoe UI" pitchFamily="34" charset="-120"/>
              </a:rPr>
              <a:t>. Quyền ở server.</a:t>
            </a:r>
            <a:endParaRPr lang="en-US" sz="1400" dirty="0"/>
          </a:p>
        </p:txBody>
      </p:sp>
      <p:sp>
        <p:nvSpPr>
          <p:cNvPr id="10" name="Shape 8"/>
          <p:cNvSpPr/>
          <p:nvPr/>
        </p:nvSpPr>
        <p:spPr>
          <a:xfrm>
            <a:off x="4297680" y="1371600"/>
            <a:ext cx="3566160" cy="2057400"/>
          </a:xfrm>
          <a:prstGeom prst="roundRect">
            <a:avLst>
              <a:gd name="adj" fmla="val 4444"/>
            </a:avLst>
          </a:prstGeom>
          <a:solidFill>
            <a:srgbClr val="131B2E"/>
          </a:solidFill>
          <a:ln w="12700">
            <a:solidFill>
              <a:srgbClr val="2A3651"/>
            </a:solidFill>
            <a:prstDash val="solid"/>
          </a:ln>
        </p:spPr>
      </p:sp>
      <p:sp>
        <p:nvSpPr>
          <p:cNvPr id="11" name="Shape 9"/>
          <p:cNvSpPr/>
          <p:nvPr/>
        </p:nvSpPr>
        <p:spPr>
          <a:xfrm>
            <a:off x="4297680" y="1371600"/>
            <a:ext cx="3566160" cy="73152"/>
          </a:xfrm>
          <a:prstGeom prst="rect">
            <a:avLst/>
          </a:prstGeom>
          <a:solidFill>
            <a:srgbClr val="F5A65B"/>
          </a:solidFill>
          <a:ln w="12700">
            <a:solidFill>
              <a:srgbClr val="F5A65B"/>
            </a:solidFill>
            <a:prstDash val="solid"/>
          </a:ln>
        </p:spPr>
      </p:sp>
      <p:sp>
        <p:nvSpPr>
          <p:cNvPr id="12" name="Text 10"/>
          <p:cNvSpPr/>
          <p:nvPr/>
        </p:nvSpPr>
        <p:spPr>
          <a:xfrm>
            <a:off x="4526280" y="1600200"/>
            <a:ext cx="3108960" cy="274320"/>
          </a:xfrm>
          <a:prstGeom prst="rect">
            <a:avLst/>
          </a:prstGeom>
          <a:noFill/>
          <a:ln/>
        </p:spPr>
        <p:txBody>
          <a:bodyPr wrap="square" lIns="25400" tIns="25400" rIns="25400" bIns="25400" rtlCol="0" anchor="ctr"/>
          <a:lstStyle/>
          <a:p>
            <a:pPr marL="0" indent="0" algn="l">
              <a:buNone/>
            </a:pPr>
            <a:r>
              <a:rPr lang="en-US" sz="1200" b="1" dirty="0">
                <a:solidFill>
                  <a:srgbClr val="F5A65B"/>
                </a:solidFill>
                <a:latin typeface="Consolas" pitchFamily="34" charset="0"/>
                <a:ea typeface="Consolas" pitchFamily="34" charset="-122"/>
                <a:cs typeface="Consolas" pitchFamily="34" charset="-120"/>
              </a:rPr>
              <a:t>02</a:t>
            </a:r>
            <a:endParaRPr lang="en-US" sz="1200" dirty="0"/>
          </a:p>
        </p:txBody>
      </p:sp>
      <p:sp>
        <p:nvSpPr>
          <p:cNvPr id="13" name="Text 11"/>
          <p:cNvSpPr/>
          <p:nvPr/>
        </p:nvSpPr>
        <p:spPr>
          <a:xfrm>
            <a:off x="4526280" y="1965960"/>
            <a:ext cx="3108960" cy="411480"/>
          </a:xfrm>
          <a:prstGeom prst="rect">
            <a:avLst/>
          </a:prstGeom>
          <a:noFill/>
          <a:ln/>
        </p:spPr>
        <p:txBody>
          <a:bodyPr wrap="square" lIns="25400" tIns="25400" rIns="25400" bIns="25400" rtlCol="0" anchor="ctr"/>
          <a:lstStyle/>
          <a:p>
            <a:pPr marL="0" indent="0" algn="l">
              <a:buNone/>
            </a:pPr>
            <a:r>
              <a:rPr lang="en-US" sz="1800" b="1" dirty="0">
                <a:solidFill>
                  <a:srgbClr val="E8ECF5"/>
                </a:solidFill>
                <a:latin typeface="Segoe UI" pitchFamily="34" charset="0"/>
                <a:ea typeface="Segoe UI" pitchFamily="34" charset="-122"/>
                <a:cs typeface="Segoe UI" pitchFamily="34" charset="-120"/>
              </a:rPr>
              <a:t>Password</a:t>
            </a:r>
            <a:endParaRPr lang="en-US" sz="1800" dirty="0"/>
          </a:p>
        </p:txBody>
      </p:sp>
      <p:sp>
        <p:nvSpPr>
          <p:cNvPr id="14" name="Text 12"/>
          <p:cNvSpPr/>
          <p:nvPr/>
        </p:nvSpPr>
        <p:spPr>
          <a:xfrm>
            <a:off x="4526280" y="2514600"/>
            <a:ext cx="3108960" cy="640080"/>
          </a:xfrm>
          <a:prstGeom prst="rect">
            <a:avLst/>
          </a:prstGeom>
          <a:noFill/>
          <a:ln/>
        </p:spPr>
        <p:txBody>
          <a:bodyPr wrap="square" lIns="25400" tIns="25400" rIns="25400" bIns="25400" rtlCol="0" anchor="ctr"/>
          <a:lstStyle/>
          <a:p>
            <a:pPr marL="0" indent="0" algn="l">
              <a:buNone/>
            </a:pPr>
            <a:r>
              <a:rPr lang="en-US" sz="1400" dirty="0">
                <a:solidFill>
                  <a:srgbClr val="8F9BB3"/>
                </a:solidFill>
                <a:latin typeface="Segoe UI" pitchFamily="34" charset="0"/>
                <a:ea typeface="Segoe UI" pitchFamily="34" charset="-122"/>
                <a:cs typeface="Segoe UI" pitchFamily="34" charset="-120"/>
              </a:rPr>
              <a:t>Hash, không encrypt.</a:t>
            </a:r>
            <a:endParaRPr lang="en-US" sz="1400" dirty="0"/>
          </a:p>
        </p:txBody>
      </p:sp>
      <p:sp>
        <p:nvSpPr>
          <p:cNvPr id="15" name="Shape 13"/>
          <p:cNvSpPr/>
          <p:nvPr/>
        </p:nvSpPr>
        <p:spPr>
          <a:xfrm>
            <a:off x="8046720" y="1371600"/>
            <a:ext cx="3566160" cy="2057400"/>
          </a:xfrm>
          <a:prstGeom prst="roundRect">
            <a:avLst>
              <a:gd name="adj" fmla="val 4444"/>
            </a:avLst>
          </a:prstGeom>
          <a:solidFill>
            <a:srgbClr val="131B2E"/>
          </a:solidFill>
          <a:ln w="12700">
            <a:solidFill>
              <a:srgbClr val="2A3651"/>
            </a:solidFill>
            <a:prstDash val="solid"/>
          </a:ln>
        </p:spPr>
      </p:sp>
      <p:sp>
        <p:nvSpPr>
          <p:cNvPr id="16" name="Shape 14"/>
          <p:cNvSpPr/>
          <p:nvPr/>
        </p:nvSpPr>
        <p:spPr>
          <a:xfrm>
            <a:off x="8046720" y="1371600"/>
            <a:ext cx="3566160" cy="73152"/>
          </a:xfrm>
          <a:prstGeom prst="rect">
            <a:avLst/>
          </a:prstGeom>
          <a:solidFill>
            <a:srgbClr val="6EE7B7"/>
          </a:solidFill>
          <a:ln w="12700">
            <a:solidFill>
              <a:srgbClr val="6EE7B7"/>
            </a:solidFill>
            <a:prstDash val="solid"/>
          </a:ln>
        </p:spPr>
      </p:sp>
      <p:sp>
        <p:nvSpPr>
          <p:cNvPr id="17" name="Text 15"/>
          <p:cNvSpPr/>
          <p:nvPr/>
        </p:nvSpPr>
        <p:spPr>
          <a:xfrm>
            <a:off x="8275320" y="1600200"/>
            <a:ext cx="3108960" cy="274320"/>
          </a:xfrm>
          <a:prstGeom prst="rect">
            <a:avLst/>
          </a:prstGeom>
          <a:noFill/>
          <a:ln/>
        </p:spPr>
        <p:txBody>
          <a:bodyPr wrap="square" lIns="25400" tIns="25400" rIns="25400" bIns="25400" rtlCol="0" anchor="ctr"/>
          <a:lstStyle/>
          <a:p>
            <a:pPr marL="0" indent="0" algn="l">
              <a:buNone/>
            </a:pPr>
            <a:r>
              <a:rPr lang="en-US" sz="1200" b="1" dirty="0">
                <a:solidFill>
                  <a:srgbClr val="6EE7B7"/>
                </a:solidFill>
                <a:latin typeface="Consolas" pitchFamily="34" charset="0"/>
                <a:ea typeface="Consolas" pitchFamily="34" charset="-122"/>
                <a:cs typeface="Consolas" pitchFamily="34" charset="-120"/>
              </a:rPr>
              <a:t>03</a:t>
            </a:r>
            <a:endParaRPr lang="en-US" sz="1200" dirty="0"/>
          </a:p>
        </p:txBody>
      </p:sp>
      <p:sp>
        <p:nvSpPr>
          <p:cNvPr id="18" name="Text 16"/>
          <p:cNvSpPr/>
          <p:nvPr/>
        </p:nvSpPr>
        <p:spPr>
          <a:xfrm>
            <a:off x="8275320" y="1965960"/>
            <a:ext cx="3108960" cy="411480"/>
          </a:xfrm>
          <a:prstGeom prst="rect">
            <a:avLst/>
          </a:prstGeom>
          <a:noFill/>
          <a:ln/>
        </p:spPr>
        <p:txBody>
          <a:bodyPr wrap="square" lIns="25400" tIns="25400" rIns="25400" bIns="25400" rtlCol="0" anchor="ctr"/>
          <a:lstStyle/>
          <a:p>
            <a:pPr marL="0" indent="0" algn="l">
              <a:buNone/>
            </a:pPr>
            <a:r>
              <a:rPr lang="en-US" sz="1800" b="1" dirty="0">
                <a:solidFill>
                  <a:srgbClr val="E8ECF5"/>
                </a:solidFill>
                <a:latin typeface="Segoe UI" pitchFamily="34" charset="0"/>
                <a:ea typeface="Segoe UI" pitchFamily="34" charset="-122"/>
                <a:cs typeface="Segoe UI" pitchFamily="34" charset="-120"/>
              </a:rPr>
              <a:t>Session &amp; cookie</a:t>
            </a:r>
            <a:endParaRPr lang="en-US" sz="1800" dirty="0"/>
          </a:p>
        </p:txBody>
      </p:sp>
      <p:sp>
        <p:nvSpPr>
          <p:cNvPr id="19" name="Text 17"/>
          <p:cNvSpPr/>
          <p:nvPr/>
        </p:nvSpPr>
        <p:spPr>
          <a:xfrm>
            <a:off x="8275320" y="2514600"/>
            <a:ext cx="3108960" cy="640080"/>
          </a:xfrm>
          <a:prstGeom prst="rect">
            <a:avLst/>
          </a:prstGeom>
          <a:noFill/>
          <a:ln/>
        </p:spPr>
        <p:txBody>
          <a:bodyPr wrap="square" lIns="25400" tIns="25400" rIns="25400" bIns="25400" rtlCol="0" anchor="ctr"/>
          <a:lstStyle/>
          <a:p>
            <a:pPr marL="0" indent="0" algn="l">
              <a:buNone/>
            </a:pPr>
            <a:r>
              <a:rPr lang="en-US" sz="1400" dirty="0">
                <a:solidFill>
                  <a:srgbClr val="8F9BB3"/>
                </a:solidFill>
                <a:latin typeface="Segoe UI" pitchFamily="34" charset="0"/>
                <a:ea typeface="Segoe UI" pitchFamily="34" charset="-122"/>
                <a:cs typeface="Segoe UI" pitchFamily="34" charset="-120"/>
              </a:rPr>
              <a:t>Cookie ≠ session.</a:t>
            </a:r>
            <a:endParaRPr lang="en-US" sz="1400" dirty="0"/>
          </a:p>
        </p:txBody>
      </p:sp>
      <p:sp>
        <p:nvSpPr>
          <p:cNvPr id="20" name="Shape 18"/>
          <p:cNvSpPr/>
          <p:nvPr/>
        </p:nvSpPr>
        <p:spPr>
          <a:xfrm>
            <a:off x="548640" y="3657600"/>
            <a:ext cx="3566160" cy="2057400"/>
          </a:xfrm>
          <a:prstGeom prst="roundRect">
            <a:avLst>
              <a:gd name="adj" fmla="val 4444"/>
            </a:avLst>
          </a:prstGeom>
          <a:solidFill>
            <a:srgbClr val="131B2E"/>
          </a:solidFill>
          <a:ln w="12700">
            <a:solidFill>
              <a:srgbClr val="2A3651"/>
            </a:solidFill>
            <a:prstDash val="solid"/>
          </a:ln>
        </p:spPr>
      </p:sp>
      <p:sp>
        <p:nvSpPr>
          <p:cNvPr id="21" name="Shape 19"/>
          <p:cNvSpPr/>
          <p:nvPr/>
        </p:nvSpPr>
        <p:spPr>
          <a:xfrm>
            <a:off x="548640" y="3657600"/>
            <a:ext cx="3566160" cy="73152"/>
          </a:xfrm>
          <a:prstGeom prst="rect">
            <a:avLst/>
          </a:prstGeom>
          <a:solidFill>
            <a:srgbClr val="7DB3FF"/>
          </a:solidFill>
          <a:ln w="12700">
            <a:solidFill>
              <a:srgbClr val="7DB3FF"/>
            </a:solidFill>
            <a:prstDash val="solid"/>
          </a:ln>
        </p:spPr>
      </p:sp>
      <p:sp>
        <p:nvSpPr>
          <p:cNvPr id="22" name="Text 20"/>
          <p:cNvSpPr/>
          <p:nvPr/>
        </p:nvSpPr>
        <p:spPr>
          <a:xfrm>
            <a:off x="777240" y="3886200"/>
            <a:ext cx="3108960" cy="274320"/>
          </a:xfrm>
          <a:prstGeom prst="rect">
            <a:avLst/>
          </a:prstGeom>
          <a:noFill/>
          <a:ln/>
        </p:spPr>
        <p:txBody>
          <a:bodyPr wrap="square" lIns="25400" tIns="25400" rIns="25400" bIns="25400" rtlCol="0" anchor="ctr"/>
          <a:lstStyle/>
          <a:p>
            <a:pPr marL="0" indent="0" algn="l">
              <a:buNone/>
            </a:pPr>
            <a:r>
              <a:rPr lang="en-US" sz="1200" b="1" dirty="0">
                <a:solidFill>
                  <a:srgbClr val="7DB3FF"/>
                </a:solidFill>
                <a:latin typeface="Consolas" pitchFamily="34" charset="0"/>
                <a:ea typeface="Consolas" pitchFamily="34" charset="-122"/>
                <a:cs typeface="Consolas" pitchFamily="34" charset="-120"/>
              </a:rPr>
              <a:t>04</a:t>
            </a:r>
            <a:endParaRPr lang="en-US" sz="1200" dirty="0"/>
          </a:p>
        </p:txBody>
      </p:sp>
      <p:sp>
        <p:nvSpPr>
          <p:cNvPr id="23" name="Text 21"/>
          <p:cNvSpPr/>
          <p:nvPr/>
        </p:nvSpPr>
        <p:spPr>
          <a:xfrm>
            <a:off x="777240" y="4251960"/>
            <a:ext cx="3108960" cy="411480"/>
          </a:xfrm>
          <a:prstGeom prst="rect">
            <a:avLst/>
          </a:prstGeom>
          <a:noFill/>
          <a:ln/>
        </p:spPr>
        <p:txBody>
          <a:bodyPr wrap="square" lIns="25400" tIns="25400" rIns="25400" bIns="25400" rtlCol="0" anchor="ctr"/>
          <a:lstStyle/>
          <a:p>
            <a:pPr marL="0" indent="0" algn="l">
              <a:buNone/>
            </a:pPr>
            <a:r>
              <a:rPr lang="en-US" sz="1800" b="1" dirty="0">
                <a:solidFill>
                  <a:srgbClr val="E8ECF5"/>
                </a:solidFill>
                <a:latin typeface="Segoe UI" pitchFamily="34" charset="0"/>
                <a:ea typeface="Segoe UI" pitchFamily="34" charset="-122"/>
                <a:cs typeface="Segoe UI" pitchFamily="34" charset="-120"/>
              </a:rPr>
              <a:t>JWT &amp; tokens</a:t>
            </a:r>
            <a:endParaRPr lang="en-US" sz="1800" dirty="0"/>
          </a:p>
        </p:txBody>
      </p:sp>
      <p:sp>
        <p:nvSpPr>
          <p:cNvPr id="24" name="Text 22"/>
          <p:cNvSpPr/>
          <p:nvPr/>
        </p:nvSpPr>
        <p:spPr>
          <a:xfrm>
            <a:off x="777240" y="4800600"/>
            <a:ext cx="3108960" cy="640080"/>
          </a:xfrm>
          <a:prstGeom prst="rect">
            <a:avLst/>
          </a:prstGeom>
          <a:noFill/>
          <a:ln/>
        </p:spPr>
        <p:txBody>
          <a:bodyPr wrap="square" lIns="25400" tIns="25400" rIns="25400" bIns="25400" rtlCol="0" anchor="ctr"/>
          <a:lstStyle/>
          <a:p>
            <a:pPr marL="0" indent="0" algn="l">
              <a:buNone/>
            </a:pPr>
            <a:r>
              <a:rPr lang="en-US" sz="1400" dirty="0">
                <a:solidFill>
                  <a:srgbClr val="8F9BB3"/>
                </a:solidFill>
                <a:latin typeface="Segoe UI" pitchFamily="34" charset="0"/>
                <a:ea typeface="Segoe UI" pitchFamily="34" charset="-122"/>
                <a:cs typeface="Segoe UI" pitchFamily="34" charset="-120"/>
              </a:rPr>
              <a:t>Decode ≠ verify.</a:t>
            </a:r>
            <a:endParaRPr lang="en-US" sz="1400" dirty="0"/>
          </a:p>
        </p:txBody>
      </p:sp>
      <p:sp>
        <p:nvSpPr>
          <p:cNvPr id="25" name="Shape 23"/>
          <p:cNvSpPr/>
          <p:nvPr/>
        </p:nvSpPr>
        <p:spPr>
          <a:xfrm>
            <a:off x="4297680" y="3657600"/>
            <a:ext cx="3566160" cy="2057400"/>
          </a:xfrm>
          <a:prstGeom prst="roundRect">
            <a:avLst>
              <a:gd name="adj" fmla="val 4444"/>
            </a:avLst>
          </a:prstGeom>
          <a:solidFill>
            <a:srgbClr val="131B2E"/>
          </a:solidFill>
          <a:ln w="12700">
            <a:solidFill>
              <a:srgbClr val="2A3651"/>
            </a:solidFill>
            <a:prstDash val="solid"/>
          </a:ln>
        </p:spPr>
      </p:sp>
      <p:sp>
        <p:nvSpPr>
          <p:cNvPr id="26" name="Shape 24"/>
          <p:cNvSpPr/>
          <p:nvPr/>
        </p:nvSpPr>
        <p:spPr>
          <a:xfrm>
            <a:off x="4297680" y="3657600"/>
            <a:ext cx="3566160" cy="73152"/>
          </a:xfrm>
          <a:prstGeom prst="rect">
            <a:avLst/>
          </a:prstGeom>
          <a:solidFill>
            <a:srgbClr val="B5A5FF"/>
          </a:solidFill>
          <a:ln w="12700">
            <a:solidFill>
              <a:srgbClr val="B5A5FF"/>
            </a:solidFill>
            <a:prstDash val="solid"/>
          </a:ln>
        </p:spPr>
      </p:sp>
      <p:sp>
        <p:nvSpPr>
          <p:cNvPr id="27" name="Text 25"/>
          <p:cNvSpPr/>
          <p:nvPr/>
        </p:nvSpPr>
        <p:spPr>
          <a:xfrm>
            <a:off x="4526280" y="3886200"/>
            <a:ext cx="3108960" cy="274320"/>
          </a:xfrm>
          <a:prstGeom prst="rect">
            <a:avLst/>
          </a:prstGeom>
          <a:noFill/>
          <a:ln/>
        </p:spPr>
        <p:txBody>
          <a:bodyPr wrap="square" lIns="25400" tIns="25400" rIns="25400" bIns="25400" rtlCol="0" anchor="ctr"/>
          <a:lstStyle/>
          <a:p>
            <a:pPr marL="0" indent="0" algn="l">
              <a:buNone/>
            </a:pPr>
            <a:r>
              <a:rPr lang="en-US" sz="1200" b="1" dirty="0">
                <a:solidFill>
                  <a:srgbClr val="B5A5FF"/>
                </a:solidFill>
                <a:latin typeface="Consolas" pitchFamily="34" charset="0"/>
                <a:ea typeface="Consolas" pitchFamily="34" charset="-122"/>
                <a:cs typeface="Consolas" pitchFamily="34" charset="-120"/>
              </a:rPr>
              <a:t>05</a:t>
            </a:r>
            <a:endParaRPr lang="en-US" sz="1200" dirty="0"/>
          </a:p>
        </p:txBody>
      </p:sp>
      <p:sp>
        <p:nvSpPr>
          <p:cNvPr id="28" name="Text 26"/>
          <p:cNvSpPr/>
          <p:nvPr/>
        </p:nvSpPr>
        <p:spPr>
          <a:xfrm>
            <a:off x="4526280" y="4251960"/>
            <a:ext cx="3108960" cy="411480"/>
          </a:xfrm>
          <a:prstGeom prst="rect">
            <a:avLst/>
          </a:prstGeom>
          <a:noFill/>
          <a:ln/>
        </p:spPr>
        <p:txBody>
          <a:bodyPr wrap="square" lIns="25400" tIns="25400" rIns="25400" bIns="25400" rtlCol="0" anchor="ctr"/>
          <a:lstStyle/>
          <a:p>
            <a:pPr marL="0" indent="0" algn="l">
              <a:buNone/>
            </a:pPr>
            <a:r>
              <a:rPr lang="en-US" sz="1800" b="1" dirty="0">
                <a:solidFill>
                  <a:srgbClr val="E8ECF5"/>
                </a:solidFill>
                <a:latin typeface="Segoe UI" pitchFamily="34" charset="0"/>
                <a:ea typeface="Segoe UI" pitchFamily="34" charset="-122"/>
                <a:cs typeface="Segoe UI" pitchFamily="34" charset="-120"/>
              </a:rPr>
              <a:t>OAuth / OIDC</a:t>
            </a:r>
            <a:endParaRPr lang="en-US" sz="1800" dirty="0"/>
          </a:p>
        </p:txBody>
      </p:sp>
      <p:sp>
        <p:nvSpPr>
          <p:cNvPr id="29" name="Text 27"/>
          <p:cNvSpPr/>
          <p:nvPr/>
        </p:nvSpPr>
        <p:spPr>
          <a:xfrm>
            <a:off x="4526280" y="4800600"/>
            <a:ext cx="3108960" cy="640080"/>
          </a:xfrm>
          <a:prstGeom prst="rect">
            <a:avLst/>
          </a:prstGeom>
          <a:noFill/>
          <a:ln/>
        </p:spPr>
        <p:txBody>
          <a:bodyPr wrap="square" lIns="25400" tIns="25400" rIns="25400" bIns="25400" rtlCol="0" anchor="ctr"/>
          <a:lstStyle/>
          <a:p>
            <a:pPr marL="0" indent="0" algn="l">
              <a:buNone/>
            </a:pPr>
            <a:r>
              <a:rPr lang="en-US" sz="1400" dirty="0">
                <a:solidFill>
                  <a:srgbClr val="8F9BB3"/>
                </a:solidFill>
                <a:latin typeface="Segoe UI" pitchFamily="34" charset="0"/>
                <a:ea typeface="Segoe UI" pitchFamily="34" charset="-122"/>
                <a:cs typeface="Segoe UI" pitchFamily="34" charset="-120"/>
              </a:rPr>
              <a:t>OAuth ≠ login.</a:t>
            </a:r>
            <a:endParaRPr lang="en-US" sz="1400" dirty="0"/>
          </a:p>
        </p:txBody>
      </p:sp>
      <p:sp>
        <p:nvSpPr>
          <p:cNvPr id="30" name="Shape 28"/>
          <p:cNvSpPr/>
          <p:nvPr/>
        </p:nvSpPr>
        <p:spPr>
          <a:xfrm>
            <a:off x="8046720" y="3657600"/>
            <a:ext cx="3566160" cy="2057400"/>
          </a:xfrm>
          <a:prstGeom prst="roundRect">
            <a:avLst>
              <a:gd name="adj" fmla="val 4444"/>
            </a:avLst>
          </a:prstGeom>
          <a:solidFill>
            <a:srgbClr val="131B2E"/>
          </a:solidFill>
          <a:ln w="12700">
            <a:solidFill>
              <a:srgbClr val="2A3651"/>
            </a:solidFill>
            <a:prstDash val="solid"/>
          </a:ln>
        </p:spPr>
      </p:sp>
      <p:sp>
        <p:nvSpPr>
          <p:cNvPr id="31" name="Shape 29"/>
          <p:cNvSpPr/>
          <p:nvPr/>
        </p:nvSpPr>
        <p:spPr>
          <a:xfrm>
            <a:off x="8046720" y="3657600"/>
            <a:ext cx="3566160" cy="73152"/>
          </a:xfrm>
          <a:prstGeom prst="rect">
            <a:avLst/>
          </a:prstGeom>
          <a:solidFill>
            <a:srgbClr val="F5A65B"/>
          </a:solidFill>
          <a:ln w="12700">
            <a:solidFill>
              <a:srgbClr val="F5A65B"/>
            </a:solidFill>
            <a:prstDash val="solid"/>
          </a:ln>
        </p:spPr>
      </p:sp>
      <p:sp>
        <p:nvSpPr>
          <p:cNvPr id="32" name="Text 30"/>
          <p:cNvSpPr/>
          <p:nvPr/>
        </p:nvSpPr>
        <p:spPr>
          <a:xfrm>
            <a:off x="8275320" y="3886200"/>
            <a:ext cx="3108960" cy="274320"/>
          </a:xfrm>
          <a:prstGeom prst="rect">
            <a:avLst/>
          </a:prstGeom>
          <a:noFill/>
          <a:ln/>
        </p:spPr>
        <p:txBody>
          <a:bodyPr wrap="square" lIns="25400" tIns="25400" rIns="25400" bIns="25400" rtlCol="0" anchor="ctr"/>
          <a:lstStyle/>
          <a:p>
            <a:pPr marL="0" indent="0" algn="l">
              <a:buNone/>
            </a:pPr>
            <a:r>
              <a:rPr lang="en-US" sz="1200" b="1" dirty="0">
                <a:solidFill>
                  <a:srgbClr val="F5A65B"/>
                </a:solidFill>
                <a:latin typeface="Consolas" pitchFamily="34" charset="0"/>
                <a:ea typeface="Consolas" pitchFamily="34" charset="-122"/>
                <a:cs typeface="Consolas" pitchFamily="34" charset="-120"/>
              </a:rPr>
              <a:t>06</a:t>
            </a:r>
            <a:endParaRPr lang="en-US" sz="1200" dirty="0"/>
          </a:p>
        </p:txBody>
      </p:sp>
      <p:sp>
        <p:nvSpPr>
          <p:cNvPr id="33" name="Text 31"/>
          <p:cNvSpPr/>
          <p:nvPr/>
        </p:nvSpPr>
        <p:spPr>
          <a:xfrm>
            <a:off x="8275320" y="4251960"/>
            <a:ext cx="3108960" cy="411480"/>
          </a:xfrm>
          <a:prstGeom prst="rect">
            <a:avLst/>
          </a:prstGeom>
          <a:noFill/>
          <a:ln/>
        </p:spPr>
        <p:txBody>
          <a:bodyPr wrap="square" lIns="25400" tIns="25400" rIns="25400" bIns="25400" rtlCol="0" anchor="ctr"/>
          <a:lstStyle/>
          <a:p>
            <a:pPr marL="0" indent="0" algn="l">
              <a:buNone/>
            </a:pPr>
            <a:r>
              <a:rPr lang="en-US" sz="1800" b="1" dirty="0">
                <a:solidFill>
                  <a:srgbClr val="E8ECF5"/>
                </a:solidFill>
                <a:latin typeface="Segoe UI" pitchFamily="34" charset="0"/>
                <a:ea typeface="Segoe UI" pitchFamily="34" charset="-122"/>
                <a:cs typeface="Segoe UI" pitchFamily="34" charset="-120"/>
              </a:rPr>
              <a:t>Lựa chọn</a:t>
            </a:r>
            <a:endParaRPr lang="en-US" sz="1800" dirty="0"/>
          </a:p>
        </p:txBody>
      </p:sp>
      <p:sp>
        <p:nvSpPr>
          <p:cNvPr id="34" name="Text 32"/>
          <p:cNvSpPr/>
          <p:nvPr/>
        </p:nvSpPr>
        <p:spPr>
          <a:xfrm>
            <a:off x="8275320" y="4800600"/>
            <a:ext cx="3108960" cy="640080"/>
          </a:xfrm>
          <a:prstGeom prst="rect">
            <a:avLst/>
          </a:prstGeom>
          <a:noFill/>
          <a:ln/>
        </p:spPr>
        <p:txBody>
          <a:bodyPr wrap="square" lIns="25400" tIns="25400" rIns="25400" bIns="25400" rtlCol="0" anchor="ctr"/>
          <a:lstStyle/>
          <a:p>
            <a:pPr marL="0" indent="0" algn="l">
              <a:buNone/>
            </a:pPr>
            <a:r>
              <a:rPr lang="en-US" sz="1400" dirty="0">
                <a:solidFill>
                  <a:srgbClr val="8F9BB3"/>
                </a:solidFill>
                <a:latin typeface="Segoe UI" pitchFamily="34" charset="0"/>
                <a:ea typeface="Segoe UI" pitchFamily="34" charset="-122"/>
                <a:cs typeface="Segoe UI" pitchFamily="34" charset="-120"/>
              </a:rPr>
              <a:t>Chọn theo threat model.</a:t>
            </a:r>
            <a:endParaRPr lang="en-US" sz="1400" dirty="0"/>
          </a:p>
        </p:txBody>
      </p:sp>
      <p:sp>
        <p:nvSpPr>
          <p:cNvPr id="35" name="Text 33"/>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B63DC"/>
          </a:solidFill>
          <a:ln w="12700">
            <a:solidFill>
              <a:srgbClr val="6B63DC"/>
            </a:solidFill>
            <a:prstDash val="solid"/>
          </a:ln>
        </p:spPr>
      </p:sp>
      <p:sp>
        <p:nvSpPr>
          <p:cNvPr id="3" name="Text 1"/>
          <p:cNvSpPr/>
          <p:nvPr/>
        </p:nvSpPr>
        <p:spPr>
          <a:xfrm>
            <a:off x="822960" y="201168"/>
            <a:ext cx="6400800" cy="274320"/>
          </a:xfrm>
          <a:prstGeom prst="rect">
            <a:avLst/>
          </a:prstGeom>
          <a:noFill/>
          <a:ln/>
        </p:spPr>
        <p:txBody>
          <a:bodyPr wrap="square" lIns="25400" tIns="25400" rIns="25400" bIns="25400" rtlCol="0" anchor="ctr"/>
          <a:lstStyle/>
          <a:p>
            <a:pPr marL="0" indent="0" algn="l">
              <a:buNone/>
            </a:pPr>
            <a:r>
              <a:rPr lang="en-US" sz="1000" dirty="0">
                <a:solidFill>
                  <a:srgbClr val="8F9BB3"/>
                </a:solidFill>
                <a:latin typeface="Consolas" pitchFamily="34" charset="0"/>
                <a:ea typeface="Consolas" pitchFamily="34" charset="-122"/>
                <a:cs typeface="Consolas" pitchFamily="34" charset="-120"/>
              </a:rPr>
              <a:t>TỔNG KẾT  ·  SLIDE 33/33</a:t>
            </a:r>
            <a:endParaRPr lang="en-US" sz="1000" dirty="0"/>
          </a:p>
        </p:txBody>
      </p:sp>
      <p:sp>
        <p:nvSpPr>
          <p:cNvPr id="4" name="Text 2"/>
          <p:cNvSpPr/>
          <p:nvPr/>
        </p:nvSpPr>
        <p:spPr>
          <a:xfrm>
            <a:off x="822960" y="1828800"/>
            <a:ext cx="10515600" cy="411480"/>
          </a:xfrm>
          <a:prstGeom prst="rect">
            <a:avLst/>
          </a:prstGeom>
          <a:noFill/>
          <a:ln/>
        </p:spPr>
        <p:txBody>
          <a:bodyPr wrap="square" lIns="25400" tIns="25400" rIns="25400" bIns="25400" rtlCol="0" anchor="ctr"/>
          <a:lstStyle/>
          <a:p>
            <a:pPr marL="0" indent="0" algn="l">
              <a:buNone/>
            </a:pPr>
            <a:r>
              <a:rPr lang="en-US" sz="2000" i="1" dirty="0">
                <a:solidFill>
                  <a:srgbClr val="8F9BB3"/>
                </a:solidFill>
                <a:latin typeface="Segoe UI" pitchFamily="34" charset="0"/>
                <a:ea typeface="Segoe UI" pitchFamily="34" charset="-122"/>
                <a:cs typeface="Segoe UI" pitchFamily="34" charset="-120"/>
              </a:rPr>
              <a:t>To be continued</a:t>
            </a:r>
            <a:endParaRPr lang="en-US" sz="2000" dirty="0"/>
          </a:p>
        </p:txBody>
      </p:sp>
      <p:sp>
        <p:nvSpPr>
          <p:cNvPr id="5" name="Text 3"/>
          <p:cNvSpPr/>
          <p:nvPr/>
        </p:nvSpPr>
        <p:spPr>
          <a:xfrm>
            <a:off x="822960" y="2286000"/>
            <a:ext cx="10515600" cy="868680"/>
          </a:xfrm>
          <a:prstGeom prst="rect">
            <a:avLst/>
          </a:prstGeom>
          <a:noFill/>
          <a:ln/>
        </p:spPr>
        <p:txBody>
          <a:bodyPr wrap="square" lIns="25400" tIns="25400" rIns="25400" bIns="25400" rtlCol="0" anchor="ctr"/>
          <a:lstStyle/>
          <a:p>
            <a:pPr marL="0" indent="0" algn="l">
              <a:buNone/>
            </a:pPr>
            <a:r>
              <a:rPr lang="en-US" sz="5200" b="1" dirty="0">
                <a:solidFill>
                  <a:srgbClr val="E8ECF5"/>
                </a:solidFill>
                <a:latin typeface="Segoe UI" pitchFamily="34" charset="0"/>
                <a:ea typeface="Segoe UI" pitchFamily="34" charset="-122"/>
                <a:cs typeface="Segoe UI" pitchFamily="34" charset="-120"/>
              </a:rPr>
              <a:t>Auth</a:t>
            </a:r>
            <a:r>
              <a:rPr lang="en-US" sz="5200" b="1" dirty="0">
                <a:solidFill>
                  <a:srgbClr val="B5A5FF"/>
                </a:solidFill>
                <a:latin typeface="Segoe UI" pitchFamily="34" charset="0"/>
                <a:ea typeface="Segoe UI" pitchFamily="34" charset="-122"/>
                <a:cs typeface="Segoe UI" pitchFamily="34" charset="-120"/>
              </a:rPr>
              <a:t>Z</a:t>
            </a:r>
            <a:endParaRPr lang="en-US" sz="5200" dirty="0"/>
          </a:p>
        </p:txBody>
      </p:sp>
      <p:sp>
        <p:nvSpPr>
          <p:cNvPr id="6" name="Shape 4"/>
          <p:cNvSpPr/>
          <p:nvPr/>
        </p:nvSpPr>
        <p:spPr>
          <a:xfrm>
            <a:off x="822960" y="3383280"/>
            <a:ext cx="6035040" cy="1417320"/>
          </a:xfrm>
          <a:prstGeom prst="roundRect">
            <a:avLst>
              <a:gd name="adj" fmla="val 6452"/>
            </a:avLst>
          </a:prstGeom>
          <a:solidFill>
            <a:srgbClr val="131B2E"/>
          </a:solidFill>
          <a:ln w="19050">
            <a:solidFill>
              <a:srgbClr val="B5A5FF"/>
            </a:solidFill>
            <a:prstDash val="solid"/>
          </a:ln>
        </p:spPr>
      </p:sp>
      <p:sp>
        <p:nvSpPr>
          <p:cNvPr id="7" name="Text 5"/>
          <p:cNvSpPr/>
          <p:nvPr/>
        </p:nvSpPr>
        <p:spPr>
          <a:xfrm>
            <a:off x="1051560" y="3566160"/>
            <a:ext cx="5577840" cy="365760"/>
          </a:xfrm>
          <a:prstGeom prst="rect">
            <a:avLst/>
          </a:prstGeom>
          <a:noFill/>
          <a:ln/>
        </p:spPr>
        <p:txBody>
          <a:bodyPr wrap="square" lIns="25400" tIns="25400" rIns="25400" bIns="25400" rtlCol="0" anchor="ctr"/>
          <a:lstStyle/>
          <a:p>
            <a:pPr marL="0" indent="0" algn="l">
              <a:buNone/>
            </a:pPr>
            <a:r>
              <a:rPr lang="en-US" sz="1600" b="1" dirty="0">
                <a:solidFill>
                  <a:srgbClr val="B5A5FF"/>
                </a:solidFill>
                <a:latin typeface="Segoe UI" pitchFamily="34" charset="0"/>
                <a:ea typeface="Segoe UI" pitchFamily="34" charset="-122"/>
                <a:cs typeface="Segoe UI" pitchFamily="34" charset="-120"/>
              </a:rPr>
              <a:t>Buổi 2 · Authorization</a:t>
            </a:r>
            <a:endParaRPr lang="en-US" sz="1600" dirty="0"/>
          </a:p>
        </p:txBody>
      </p:sp>
      <p:sp>
        <p:nvSpPr>
          <p:cNvPr id="8" name="Text 6"/>
          <p:cNvSpPr/>
          <p:nvPr/>
        </p:nvSpPr>
        <p:spPr>
          <a:xfrm>
            <a:off x="1051560" y="4023360"/>
            <a:ext cx="5577840" cy="502920"/>
          </a:xfrm>
          <a:prstGeom prst="rect">
            <a:avLst/>
          </a:prstGeom>
          <a:noFill/>
          <a:ln/>
        </p:spPr>
        <p:txBody>
          <a:bodyPr wrap="square" lIns="25400" tIns="25400" rIns="25400" bIns="25400" rtlCol="0" anchor="ctr"/>
          <a:lstStyle/>
          <a:p>
            <a:pPr marL="0" indent="0" algn="l">
              <a:buNone/>
            </a:pPr>
            <a:r>
              <a:rPr lang="en-US" sz="2200" b="1" dirty="0">
                <a:solidFill>
                  <a:srgbClr val="E8ECF5"/>
                </a:solidFill>
                <a:latin typeface="Segoe UI" pitchFamily="34" charset="0"/>
                <a:ea typeface="Segoe UI" pitchFamily="34" charset="-122"/>
                <a:cs typeface="Segoe UI" pitchFamily="34" charset="-120"/>
              </a:rPr>
              <a:t>Nguyễn Ngọc Nhiên</a:t>
            </a:r>
            <a:endParaRPr lang="en-US" sz="2200" dirty="0"/>
          </a:p>
        </p:txBody>
      </p:sp>
      <p:sp>
        <p:nvSpPr>
          <p:cNvPr id="9" name="Text 7"/>
          <p:cNvSpPr/>
          <p:nvPr/>
        </p:nvSpPr>
        <p:spPr>
          <a:xfrm>
            <a:off x="7985455" y="6473952"/>
            <a:ext cx="3657600" cy="256032"/>
          </a:xfrm>
          <a:prstGeom prst="rect">
            <a:avLst/>
          </a:prstGeom>
          <a:noFill/>
          <a:ln/>
        </p:spPr>
        <p:txBody>
          <a:bodyPr wrap="square" lIns="25400" tIns="25400" rIns="25400" bIns="25400" rtlCol="0" anchor="ctr"/>
          <a:lstStyle/>
          <a:p>
            <a:pPr marL="0" indent="0" algn="r">
              <a:buNone/>
            </a:pPr>
            <a:r>
              <a:rPr lang="en-US" sz="900" dirty="0">
                <a:solidFill>
                  <a:srgbClr val="8F9BB3"/>
                </a:solidFill>
                <a:latin typeface="Segoe UI" pitchFamily="34" charset="0"/>
                <a:ea typeface="Segoe UI" pitchFamily="34" charset="-122"/>
                <a:cs typeface="Segoe UI" pitchFamily="34" charset="-120"/>
              </a:rPr>
              <a:t>Break the Login · Authentication Core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9343</Words>
  <Application>Microsoft Office PowerPoint</Application>
  <PresentationFormat>Màn hình rộng</PresentationFormat>
  <Paragraphs>689</Paragraphs>
  <Slides>32</Slides>
  <Notes>32</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32</vt:i4>
      </vt:variant>
    </vt:vector>
  </HeadingPairs>
  <TitlesOfParts>
    <vt:vector size="36" baseType="lpstr">
      <vt:lpstr>Arial</vt:lpstr>
      <vt:lpstr>Consolas</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DevHub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 the Login — Authentication Core</dc:title>
  <dc:subject>Từ login đến credential lifecycle</dc:subject>
  <dc:creator>DevHub Fullstack Technical Sharing</dc:creator>
  <cp:lastModifiedBy>. Quân</cp:lastModifiedBy>
  <cp:revision>1</cp:revision>
  <dcterms:created xsi:type="dcterms:W3CDTF">2026-10-27T16:15:38Z</dcterms:created>
  <dcterms:modified xsi:type="dcterms:W3CDTF">2026-10-27T16:16:09Z</dcterms:modified>
</cp:coreProperties>
</file>