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 · 1 phút]
Lời dẫn: "Hôm nay chúng ta không chỉ xem cách login thành công. Chúng ta sẽ theo dõi credential từ lúc được tạo, lưu trữ, gửi qua request, xác minh cho đến khi hết hạn hoặc bị thu hồi."
Sơ đồ: Browser nói chuyện với DevHub API. Phía sau API có hai nơi giữ "sự thật" về danh tính: session store (khi dùng session) và Identity Provider (khi dùng SSO/OIDC). Cả buổi sẽ đi qua từng mũi tên trên sơ đồ này.
Demo: chưa mở demo. Trước giờ trình bày đã mở sẵn http://localhost:5173/demo và bấm "Reset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[01–03 · 2 phút]
Lời dẫn: "Buổi này đi theo vòng đời credential, không phải liệt kê mọi giao thức. Sáu phần chính trên slide — mỗi phần có ít nhất một điểm cần nhớ và hầu hết có demo chạy thật trên lab."
Đi nhanh từng ô (khoảng 15–20 giây/ô):
1. AuthN / AuthZ — phân biệt "bạn là ai" và "bạn được làm gì", đọc đúng 401 với 403.
2. Password — hash chuyên dụng, salt, và vì sao hashing không thay rate limit.
3. Session — cookie là credential; logout phải huỷ phía server.
4. JWT — decode ≠ verify; access ngắn hạn, refresh phải rotate.
5. OAuth / OIDC / SAML — ủy quyền ≠ login; Code Flow + PKCE; SAML cùng SSO khác giao thức.
6. Kiến trúc — chọn theo threat model, rồi checklist khi review PR.
Nhắc: có 7 demo gắn nút trên slide. Không cần nhớ hết chi tiết; cần biết lớp nào hỏng khi gặp ticket "bug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[03–07 · 4 phút]
Dẫn dắt trước khi chỉ ba thẻ: "Giả sử backlog DevHub tuần này có ba ticket, cả ba đều được gắn nhãn bug login. Product muốn một hotfix. Trước khi sửa, ta phải hỏi: đây có thật là lỗi login không?"
Đọc từng ticket như báo cáo từ user / QA (không đưa đáp án ngay):
1. "Tôi đã bấm Logout rồi mà API vẫn nhận request của tôi." — cookie biến mất trên browser, nhưng trạng thái phía server còn sống?
2. "Tài khoản member vào được API chỉ dành cho admin." — đã biết người dùng là ai, nhưng quyền sai?
3. "Mở JWT ra thấy role: admin, vậy là admin rồi." — đọc được payload có nghĩa token đáng tin?
Câu hỏi tương tác (30 giây): mỗi ticket thuộc lớp nào — AuthN / lifecycle, AuthZ, hay token validation?
Gợi ý đáp án (để dành cho các slide sau, chưa nói chi tiết ngay):
1 → lifecycle / revocation (session logout, refresh revoke).
2 → authorization phía server (slide AuthN≠AuthZ, Demo 1).
3 → token validation: decode ≠ verify (slide JWT).
Câu chốt: "Cả buổi sẽ trang bị cách phân lớp những ticket kiểu này, thay vì vá lung tung ở nút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[07–10 · 3 phút]
Liên hệ ticket 02 trên slide trước: member gọi được API admin — đó là AuthZ, không phải "login sai".
Lời dẫn: "Authentication xác định danh tính. Authorization quyết định danh tính đó có được thực hiện hành động đang yêu cầu hay không. Hai bước này cần được kiểm soát độc lập."
Đi theo sơ đồ: request đi vào → bước AuthN kiểm tra credential (password, session cookie, bearer token) → nếu ổn ta có một principal (id, role) → bước AuthZ so principal với policy của hành động (ví dụ: chỉ admin được gọi /api/admin).
Nhấn mạnh: AuthZ phải chạy ở mọi request, ở backend, dựa trên dữ liệu server tin được (bản ghi user/role phía server), không phải dữ liệu client gửi lên.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[10–14 · 4 phút]
Demo 1 — API Authorization (khoảng 3 phút). Mở nút "Mở API Demo ↗".
Kịch bản (trang có sẵn 6 bước, cho khán giả đoán status code trước khi bấm Gửi):
1. Gọi GET /api/me khi chưa login → kỳ vọng 401 (response có header WWW-Authenticate).
2. Login member@devhub.local → 201.
3. GET /api/me → 200.
4. GET /api/admin bằng member → 403.
5. Login admin@devhub.local → 201.
6. GET /api/admin bằng admin → 200.
Phía dưới có thêm lưới 4 người gọi bằng Bearer token (không token / hết hạn / member / admin) → 401, 401, 403, 200.
Status code do backend thật trả về (ApiController + PrincipalService), không giả lập ở frontend.
Lời kết: "Ẩn nút ở frontend không phải authorization. API phải tự kiểm tra quyền."
Nếu demo lỗi: dùng sơ đồ quyết định trên slide và nói rõ là đang giải thích bằng sơ đồ.
Link demo: http://localhost:5173/demo/authz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[14–17 · 3 phút]
Lời dẫn: "Ứng dụng không cần lấy lại password gốc từ database. Nó chỉ cần xác minh password người dùng nhập có khớp với hash được lưu hay không."
Hashing là một chiều; encryption là hai chiều (có key thì giải mã được). Nếu server giải mã được password thì attacker lấy được key cũng giải mã được.
Lưu trữ: chuỗi hash bcrypt tự chứa thuật toán, cost và salt (ví dụ $2a$10$&lt;salt 22 ký tự&gt;&lt;hash&gt;). Khi verify, thư viện đọc salt + cost từ chuỗi đã lưu, hash lại password vừa nhập và so sánh constant-time.
Không dùng MD5/SHA-1/SHA-256 "trần" cho password: chúng được thiết kế để nhanh, mà nhanh là điều attacker muốn.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[17–24 · 4 phút]
Demo 2 — Password Hashing (khoảng 3 phút). Mở nút "Mở Password Demo ↗".
Kịch bản:
1. Bấm "Hash password" rồi "Hash lại lần nữa" với cùng một password → hai chuỗi khác nhau; phần salt được tô màu.
2. So sánh hai hash: khác nhau vì salt khác nhau.
3. "Verify password đúng" → match: true.
4. "Verify password sai" → match: false.
(Nếu còn thời gian: phần "Cùng năm user, hai cách lưu trữ" cho thấy bảng SHA-256 không salt bị crack ngay bằng wordlist trong khi bcrypt chậm hơn hẳn.)
Lời kết: "Salt không phải secret. Mục tiêu là tránh việc password giống nhau luôn cho cùng một hash và tăng khả năng chống các phương pháp đoán password offline."
Phân biệt: brute-force/dictionary offline (sau khi lộ DB) → hash chậm + salt giúp. Credential stuffing online (dùng password lộ từ site khác) → hash không giúp; cần rate limit, phát hiện bất thường, MFA, kiểm tra password đã lộ.
Lưu ý: lab chưa có rate limiting — nói rõ đây là giới hạn của demo.
Link demo: http://localhost:5173/demo/password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[24–27 · 3 phút]
Lời dẫn: "Cookie không nhất thiết chứa thông tin người dùng. Với session-based authentication, cookie thường mang một session identifier để server tra cứu trạng thái phiên."
Đi theo sequence:
1. POST /session/login với email + password.
2. Server verify password, tạo (regenerate) session trong store.
3. Response: Set-Cookie: devhub.sid=&lt;id&gt;; HttpOnly; SameSite=Lax; Path=/.
4. Request sau: browser tự gắn Cookie: devhub.sid=&lt;id&gt;.
5. Server tra cứu id trong store → biết là ai → 200.
Ưu điểm: server kiểm soát hoàn toàn (logout, force logout, đổi quyền có hiệu lực ngay), cookie nhỏ. Trade-off: cần session store dùng chung khi scale ngang; cookie gắn với domain; vì browser tự gửi cookie nên phải tính đến CSRF.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[27–33 · 4 phút]
Demo 3 — Session và Cookie (khoảng 3 phút). Mở nút "Mở Session Demo ↗". Chuẩn bị sẵn DevTools → Application → Cookies.
Kịch bản:
1. Login (member@devhub.local).
2. Quan sát Set-Cookie trong Inspector của lab hoặc tab Network.
3. Gọi /api/me → 200.
4. Mở DevTools, chỉ ra các flags của devhub.sid. Bấm "Đọc bằng document.cookie" → không thấy giá trị vì HttpOnly.
(Tuỳ chọn: "Truy cập ẩn danh trước" rồi login để thấy ID được regenerate → chống session fixation.)
Lời dẫn: "Không có một bộ cookie flags đúng cho mọi môi trường. Cấu hình phải phù hợp với HTTPS, domain, frontend/backend deployment và cách ứng dụng sử dụng cookie."
Lưu ý lab: chạy http localhost nên Secure tắt (bật bằng SESSION_COOKIE_SECURE=true hoặc NODE_ENV=production). Lab không hiển thị đầy đủ session ID.
Link demo: http://localhost:5173/demo/session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[33–38 · 4 phút]
Liên hệ ticket 01 trên slide sự cố: "đã logout mà request vẫn chạy" — Demo này trả lời trực tiếp.
Demo 4 — Logout và Revocation (khoảng 3 phút). Mở nút "Mở Logout Demo ↗".
Trang có hai cột chạy song song:
- Cột trái "Chỉ xoá cookie" (/lab/session/forget-cookie): server gửi cookie hết hạn nhưng giữ session trong store.
- Cột phải "Huỷ session phía server" (/session/logout): req.session.destroy() rồi mới xoá cookie.
Kịch bản (mỗi cột):
1. Login và gọi /api/me → 200.
2. Logout.
3. Gọi /api/me lần nữa từ browser → 401 ở cả hai cột.
4. Bấm "Replay ID đã sao chép từ client khác": cột trái vẫn đăng nhập được (session còn sống), cột phải bị từ chối.
5. Giải thích: cookie là thứ ở browser; session là thứ ở server. Logout thật phải làm vô hiệu trạng thái ở server.
Session fixation: attacker cài sẵn một session ID đã biết, chờ nạn nhân login. Cách sửa: regenerate ID khi login và khi đổi quyền (lab đã làm ở /session/login).
Link demo: http://localhost:5173/demo/session/logout-lab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[38–44 · 4 phút]
Lời dẫn: "CSRF và XSS có thể cùng ảnh hưởng đến một ứng dụng dùng cookie, nhưng nguyên nhân và cách phòng vệ khác nhau. Không nên coi một cookie flag là giải pháp bảo mật toàn diện."
CSRF (trái): user đang login DevHub, mở trang evil.example. Trang đó gửi form POST tới DevHub; browser tự gắn cookie → request chạy dưới danh nghĩa user. Attacker không đọc được cookie hay response. Phòng vệ: SameSite=Lax/Strict, CSRF token, kiểm tra Origin/Referer, không dùng GET cho thao tác thay đổi dữ liệu.
XSS (phải): script của attacker chạy trong chính origin DevHub. HttpOnly chỉ chặn việc đọc cookie; script vẫn gọi API như user (cookie vẫn được gửi kèm). Phòng vệ: output encoding, không dùng innerHTML với dữ liệu người dùng, Content-Security-Policy, sanitize.
Không demo khai thác — dùng sơ đồ để giữ nhịp.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[44–47 · 3 phút]
Liên hệ ticket 03: "JWT có role admin" — đọc được payload chưa chứng minh token hợp lệ.
Lời dẫn: "JWT không tự động bí mật chỉ vì có chữ ký. Nếu chỉ là signed JWT, payload vẫn có thể đọc được."
Header: thuật toán (alg) và loại token. Payload: claims (sub, role, exp...). Signature: HMAC hoặc chữ ký số trên "header.payload" bằng key của issuer.
Hệ quả: không đặt dữ liệu nhạy cảm vào payload. Đọc được payload (decode) chỉ là bước parse; tin được payload thì phải verify chữ ký + claims bằng key và cấu hình phía server.
Liên hệ token-based flow: login → server ký token → client tự lưu và gửi qua header Authorization: Bearer &lt;token&gt; → server verify ở mỗi request mà không cần tra cứu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[47–50 · 3 phút]
Lời dẫn: "Chữ ký hợp lệ chưa chắc đã đủ. Token có thể được phát hành hợp lệ nhưng dành cho một API khác, vì vậy audience cũng phải được kiểm tra."
Trong lab: iss = devhub-auth-lab, aud = devhub-api, thuật toán chỉ cho phép HS256, exp bắt buộc. Có fixture cho từng lỗi: hết hạn, sai issuer, sai audience, chưa có hiệu lực (nbf), HS384 (ngoài allowlist), alg: none.
jti dùng khi cần nhận diện/thu hồi từng token. iat cho biết thời điểm phát hành (ví dụ để từ chối token phát hành trước lần đổi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[50–56 · 4 phút]
Demo 5 — JWT Tampering (khoảng 4 phút). Mở nút "Mở JWT Demo ↗".
Kịch bản:
1. "Cấp token member" → decode: thấy email, role: member, iss, aud, exp.
2. "Sửa payload" thành role: admin (token lab local, không phải token thật).
3. Gửi token đã sửa tới /api/me và /api/admin → 401 cả hai (chữ ký không khớp).
4. Cấp lại token member hợp lệ → /api/admin → 403 (đã xác thực, không đủ quyền).
5. (Tuỳ chọn) So sánh "Verifier chặt" (jwt.verify + allowlist + claims) với "Verifier ngây thơ" (jwt.decode rồi tin luôn) trên fixture alg: none.
Lời kết: "Backend không được lấy role từ payload chưa được xác minh."
Lưu ý: ô editor hiển thị token demo ngắn hạn do lab ký bằng secret local — không bao giờ dán token thật vào đây. Signing secret không bao giờ rời backend.
Link demo: http://localhost:5173/demo/jwt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[56–61 · 4 phút]
Demo 6 — Token Lifecycle (khoảng 4 phút). Mở nút "Mở Token Lifecycle Demo ↗". Trang ghi rõ: LUỒNG THẬT — rotation và phát hiện reuse chạy ở server, store in-memory, không dành cho production.
Kịch bản (các nút ① → ⑥):
1. Login: nhận access token (JWT, mặc định 120 giây) và refresh token (opaque).
2. ① Gọi /api/me bằng access token → 200.
   ② Dùng refresh token như access token → 401 (sai loại token).
3. ③ Refresh → access + refresh mới; refresh cũ bị đánh dấu "rotated".
4. ④ Dùng lại refresh token cũ → 401 và server thu hồi cả family (reuse-detected).
5. ⑤ Logout/thu hồi → 204; ⑥ refresh bằng token hiện tại → 401.
Bật "Access token ngắn hạn (20 giây)" nếu muốn xem access token hết hạn trong lúc nói.
Điểm cần nhấn: access token đã phát hành vẫn hợp lệ đến exp kể cả sau logout — đó là lý do access token phải ngắn hạn. Refresh token lưu dạng hash (SHA-256) phía server, không lưu plaintext.
Link demo: http://localhost:5173/demo/tokens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[61–64 · 3 phút]
Câu hỏi tương tác: "Nếu DevHub là web app nội bộ với yêu cầu logout có hiệu lực rõ ràng, bạn sẽ chọn session hay JWT? Vì sao?"
Đọc bảng theo hàng:
- State: session giữ trạng thái ở server; JWT tự chứa claims.
- Revoke: session xoá là xong; JWT cần thời hạn ngắn + denylist/rotation.
- Scale: session cần store dùng chung (Redis...); JWT verify được ở bất kỳ đâu có key.
- Rủi ro browser: cookie → CSRF; token trong JS storage → lộ khi XSS.
Không đưa đáp án tuyệt đối; hướng người nghe về yêu cầu và khả năng vận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[64–67 · 3 phút]
Lời dẫn: "OAuth 2.0 là ủy quyền truy cập, không phải màn hình login. Người mới hay lẫn hai việc này."
Định nghĩa ngay khi nói:
- OAuth 2.0: framework cho phép client nhận quyền gọi resource trong phạm vi (scope) được cấp — ví dụ cho app lịch đọc Google Calendar mà không đưa mật khẩu Google cho app đó.
- Authorization Server trên sơ đồ thường cũng là IdP (Identity Provider): nơi xác thực user và phát hành token.
Bốn vai trò trên sơ đồ:
- Resource Owner: người dùng sở hữu dữ liệu.
- Client: ứng dụng muốn truy cập thay mặt người dùng (DevHub).
- Authorization Server / IdP: xác thực user, hỏi consent, phát hành token.
- Resource Server: API giữ dữ liệu, chấp nhận access token.
Luồng rút gọn: Client xin ủy quyền → user đồng ý → Client đổi grant lấy access token → gọi API bằng access token.
Chốt: access token của OAuth không nói cho client biết "ai vừa login" theo chuẩn. Việc đó thuộc OIDC.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[67–70 · 3 phút]
Định nghĩa khi mở slide: OIDC (OpenID Connect) xây trên OAuth 2.0 và thêm ID token để client biết user là ai — đây mới là “login qua IdP” theo chuẩn.
ID token: JWT có aud = client_id, chứa sub, nonce, auth_time... Client dùng để biết ai đã đăng nhập. Không gửi ID token tới API như access token.
Access token: aud là API (resource server), chứa scope. API validate chữ ký, iss, aud, exp và scope trước khi phục vụ.
Lỗi thường gặp: API chấp nhận ID token làm bearer token; client đọc access token để lấy thông tin user (access token có thể là opaque).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[70–73 · 3 phút]
Lời dẫn: giải thích từng param khi xuất hiện trên sơ đồ — đừng đọc như danh sách thuật ngữ.
state: chuỗi ngẫu nhiên DevHub lưu trước khi redirect. Callback phải mang đúng state → chống kẻ khác “ghim” một login CSRF vào session của bạn.
nonce: chuỗi ngẫu nhiên gửi lên /authorize và phải có trong ID token. Không khớp → ID token không thuộc lần login này (chống replay).
PKCE:
- code_verifier: bí mật ngẫu nhiên, chỉ DevHub giữ, không đưa lên URL.
- code_challenge = BASE64URL(SHA256(verifier)), gửi lên /authorize.
- Khi đổi code lấy token, gửi lại verifier; IdP kiểm tra hash khớp challenge. Ai chỉ cầm code (không có verifier) thì vô dụng.
redirect_uri: phải khớp chính xác URL đã đăng ký ở IdP — tránh code bị đẩy sang domain lạ.
client_id / scope=openid: IdP biết app nào đang xin login; openid báo đây là OIDC (cần ID token).
Các bước (đi sơ đồ):
1. Sinh verifier, challenge, state, nonce — lưu phía server.
2. Redirect /authorize kèm challenge, state, nonce (không gửi verifier).
3. User xác thực tại IdP.
4. Callback: code + state → so state.
5. POST /token: code + verifier → IdP kiểm PKCE → ID token + access token.
6. Validate ID token: chữ ký, iss, aud, exp, nonce → tạo session DevHub.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[73–77 · 4 phút]
Demo 7 — OIDC (khoảng 3–4 phút). Nhắc nhanh: đây là login qua IdP — user xác thực ở IdP, DevHub tin kết quả sau khi verify.
Mở nút "Mở OIDC Demo ↗". Nhìn banner trước khi nói: chế độ do .env của API quyết định.
Nếu banner là "LIVE OIDC — REAL IDENTITY PROVIDER" (đã cấu hình IdP test):
1. Chỉ cấu hình: issuer, client_id, redirect_uri. Client secret không bao giờ hiện trên trang.
2. Bấm "Đăng nhập bằng Identity Provider". Chỉ URL: state, nonce, code_challenge, code_challenge_method=S256.
3. Đăng nhập bằng tài khoản test, quay về DevHub.
4. Đọc danh sách "DevHub đã kiểm tra": state, PKCE, chữ ký qua JWKS, iss, aud, exp, nonce.
5. "Gọi /api/me" → 200, user oidc:&lt;sub&gt;. Logout khỏi DevHub → /api/me 401; IdP vẫn còn session, nên có link logout cả ở IdP.
Nếu banner là "FLOW WALKTHROUGH — NO REAL LOGIN" (chưa cấu hình, hoặc IdP không truy cập được): nói rõ không ai thực sự đăng nhập ở đây.
1. Đi qua 9 bước trên sequence diagram (Tiếp →). Bước 1: code_verifier, code_challenge (SHA-256 thật bằng crypto.subtle), state, nonce.
2. Bước 5: bật "Giả lập callback có state không khớp" → callback bị từ chối.
3. Kết thúc ở phần "ID token ≠ Access token": so sánh aud của hai payload mẫu.
Ở walkthrough, không để người xem hiểu nhầm là đã login thật: request/response IdP trên trang là mẫu.
Link demo: http://localhost:5173/demo/oidc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[77–80 · 3 phút]
Lời dẫn — bắt đầu bằng Assertion, đừng nhảy thẳng vào acronym:
Assertion là gì?
- Một tài liệu XML do IdP ký số, nội dung cốt lõi: “User X đã xác thực lúc T, dành cho ứng dụng Y, còn hạn đến …”
- Ví dụ gần đời thường: giấy xác nhận từ công ty HR gửi sang hệ thống khác — không phải mật khẩu, mà là chứng từ đã ký.
Assertion ≈ ID token của OIDC (cùng vai trò: chứng minh danh tính sau login):
| | SAML Assertion | OIDC ID token |
|---|---|---|
| Định dạng | XML + XML Signature | JWT (JSON Base64 + chữ ký) |
| Ai đọc | Service Provider (SP / DevHub) | OIDC client (DevHub) |
| Mang gì | Subject, Audience, điều kiện thời hạn | sub, aud, exp, nonce… |
| Đường về app | Browser POST SAML Response tới ACS URL | Redirect?code → client đổi lấy token ở /token |
| Sau khi tin | Tạo session cục bộ của app | Tạo session cục bộ của app |
SSO = mục tiêu (login một lần, nhiều app). SAML và OIDC = hai cách làm. Không phải “XML cũ / JWT mới nên JWT đúng hơn”.
Luồng SAML SP-initiated (đi sơ đồ):
1. User mở SP → SP redirect kèm AuthnRequest tới IdP.
2. User xác thực tại IdP.
3. IdP đưa Assertion (trong SAML Response) về ACS của SP qua browser.
4. SP verify chữ ký / Audience / Destination / NotOnOrAfter / InResponseTo → tạo session riêng.
Rủi ro: verify sai phần tử XML (signature wrapping), sai Audience, hết hạn. Dùng thư viện SAML được maintain.
Câu hỏi (30 giây): khách bắt buộc SAML vì IdP chỉ có SAML — có nên ép OIDC? Thường không: compatibility quan trọng hơn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[80–83 · 3 phút]
Tương tác: yêu cầu người nghe chọn session hoặc JWT cho DevHub và đưa ra ít nhất hai lý do (1 phút thảo luận theo cặp).
Gợi ý hướng phân tích:
- Browser-only, cùng site → session cookie thường đơn giản và revoke tốt.
- Mobile / nhiều API / service-to-service → access token ngắn hạn + refresh rotation, hoặc OIDC.
- Có IdP doanh nghiệp → OIDC/SAML cho login, sau đó vẫn cần session hoặc token cho app.
- Ai xoay key? Ai giám sát reuse? Log thế nào mà không lộ credential?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[83–85 · 2 phút]
Câu hỏi: "Bạn sẽ lựa chọn kiến trúc nào? Trade-off nào quan trọng nhất?"
Để bảng dấu ? trên slide. Cho khán giả thảo luận 1–2 phút (theo cặp hoặc cả phòng). Không đưa đáp án ngay.
Khi thảo luận xong: click sang slide tiếp theo để hiện gợi ý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[85–86 · 1 phút]
Đây là gợi ý sau thảo luận, không phải đáp án duy nhất.
Hướng hợp lý cho DevHub: SSO qua OIDC với IdP công ty → DevHub tạo session server-side (cookie HttpOnly, Secure, SameSite) → authorization theo role ở mọi endpoint → logout huỷ session + (tuỳ chọn) RP-initiated logout ở IdP → audit log không chứa credential.
Nhấn: bảng so sánh giúp chọn theo yêu cầu (logout, vận hành), không theo "cái nào hiện đại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[86–88 · 2 phút]
Lời dẫn: "Đây là checklist có thể áp dụng ngay khi review một PR authentication."
Câu hỏi khi review:
- Password: thuật toán chuyên dụng? cost hợp lý? có rate limit/lockout mềm?
- Session: regenerate khi login? destroy khi logout? cookie flags theo môi trường?
- JWT: verify với allowlist thuật toán? kiểm tra iss/aud/exp? không lấy quyền từ payload chưa verify?
- Refresh: rotation? phát hiện reuse? lưu dạng hash? thu hồi khi logout?
- OIDC: state, nonce, PKCE, redirect URI chính xác?
- Authorization ở backend cho mọi endpoint? Có test 401/403?
- Log có che password, cookie, Authorization header, token không?
Bản đầy đủ: docs/01-authentication-core.md, mục Security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[88–89 · 1 phút]
Cho khán giả khoảng 1 phút trả lời (giơ tay hoặc chat). Ba câu này quay lại đúng ba ticket mở đầu.
Đáp án mong đợi:
1. 403, nếu credential hợp lệ nhưng không đủ quyền.
2. Không. Decode chỉ là đọc Base64URL; hợp lệ cần verify chữ ký và claims.
3. Vì session hoặc refresh token phía server có thể còn hiệu lực (như cột "Chỉ xoá cookie" trong Demo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[89–90 · 1 phút]
Lời kết: "Authentication không kết thúc ở thời điểm login thành công. Chúng ta phải kiểm soát toàn bộ vòng đời của credential."
Quay lại câu mở đầu: ba ticket "bug login" thực ra nằm ở ba lớp khác nhau — giờ khán giả đã có khung để phân lớp trước khi vá.
Tài liệu và lab: thư mục docs/ và devhub-auth-lab/ trong repository. Lab chỉ chạy local, dùng tài khoản giả lập.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localhost:5173/demo/authz"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localhost:5173/demo/password"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localhost:5173/demo/session"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localhost:5173/demo/session/logout-lab"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localhost:5173/demo/jwt"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localhost:5173/demo/tokens"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localhost:5173/demo/oidc"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B63DC"/>
          </a:solidFill>
          <a:ln w="12700">
            <a:solidFill>
              <a:srgbClr val="6B63DC"/>
            </a:solidFill>
            <a:prstDash val="solid"/>
          </a:ln>
        </p:spPr>
      </p:sp>
      <p:sp>
        <p:nvSpPr>
          <p:cNvPr id="3" name="Text 1"/>
          <p:cNvSpPr/>
          <p:nvPr/>
        </p:nvSpPr>
        <p:spPr>
          <a:xfrm>
            <a:off x="731520" y="1097280"/>
            <a:ext cx="5486400" cy="320040"/>
          </a:xfrm>
          <a:prstGeom prst="rect">
            <a:avLst/>
          </a:prstGeom>
          <a:noFill/>
          <a:ln/>
        </p:spPr>
        <p:txBody>
          <a:bodyPr wrap="square" lIns="25400" tIns="25400" rIns="25400" bIns="25400" rtlCol="0" anchor="ctr"/>
          <a:lstStyle/>
          <a:p>
            <a:pPr algn="l" indent="0" marL="0">
              <a:buNone/>
            </a:pPr>
            <a:r>
              <a:rPr lang="en-US" sz="1200" dirty="0">
                <a:solidFill>
                  <a:srgbClr val="6EE7B7"/>
                </a:solidFill>
                <a:latin typeface="Consolas" pitchFamily="34" charset="0"/>
                <a:ea typeface="Consolas" pitchFamily="34" charset="-122"/>
                <a:cs typeface="Consolas" pitchFamily="34" charset="-120"/>
              </a:rPr>
              <a:t>AUTHENTICATION CORE</a:t>
            </a:r>
            <a:endParaRPr lang="en-US" sz="1200" dirty="0"/>
          </a:p>
        </p:txBody>
      </p:sp>
      <p:sp>
        <p:nvSpPr>
          <p:cNvPr id="4" name="Text 2"/>
          <p:cNvSpPr/>
          <p:nvPr/>
        </p:nvSpPr>
        <p:spPr>
          <a:xfrm>
            <a:off x="731520" y="1554480"/>
            <a:ext cx="5669280" cy="1188720"/>
          </a:xfrm>
          <a:prstGeom prst="rect">
            <a:avLst/>
          </a:prstGeom>
          <a:noFill/>
          <a:ln/>
        </p:spPr>
        <p:txBody>
          <a:bodyPr wrap="square" lIns="25400" tIns="25400" rIns="25400" bIns="25400" rtlCol="0" anchor="ctr"/>
          <a:lstStyle/>
          <a:p>
            <a:pPr algn="l" indent="0" marL="0">
              <a:buNone/>
            </a:pPr>
            <a:r>
              <a:rPr lang="en-US" sz="5400" b="1" dirty="0">
                <a:solidFill>
                  <a:srgbClr val="E8ECF5"/>
                </a:solidFill>
                <a:latin typeface="Segoe UI" pitchFamily="34" charset="0"/>
                <a:ea typeface="Segoe UI" pitchFamily="34" charset="-122"/>
                <a:cs typeface="Segoe UI" pitchFamily="34" charset="-120"/>
              </a:rPr>
              <a:t>Break the </a:t>
            </a:r>
            <a:r>
              <a:rPr lang="en-US" sz="5400" b="1" dirty="0">
                <a:solidFill>
                  <a:srgbClr val="B5A5FF"/>
                </a:solidFill>
                <a:latin typeface="Segoe UI" pitchFamily="34" charset="0"/>
                <a:ea typeface="Segoe UI" pitchFamily="34" charset="-122"/>
                <a:cs typeface="Segoe UI" pitchFamily="34" charset="-120"/>
              </a:rPr>
              <a:t>Login.</a:t>
            </a:r>
            <a:endParaRPr lang="en-US" sz="5400" dirty="0"/>
          </a:p>
        </p:txBody>
      </p:sp>
      <p:sp>
        <p:nvSpPr>
          <p:cNvPr id="5" name="Text 3"/>
          <p:cNvSpPr/>
          <p:nvPr/>
        </p:nvSpPr>
        <p:spPr>
          <a:xfrm>
            <a:off x="731520" y="2788920"/>
            <a:ext cx="5486400" cy="457200"/>
          </a:xfrm>
          <a:prstGeom prst="rect">
            <a:avLst/>
          </a:prstGeom>
          <a:noFill/>
          <a:ln/>
        </p:spPr>
        <p:txBody>
          <a:bodyPr wrap="square" lIns="25400" tIns="25400" rIns="25400" bIns="25400" rtlCol="0" anchor="ctr"/>
          <a:lstStyle/>
          <a:p>
            <a:pPr algn="l" indent="0" marL="0">
              <a:buNone/>
            </a:pPr>
            <a:r>
              <a:rPr lang="en-US" sz="2000" dirty="0">
                <a:solidFill>
                  <a:srgbClr val="E8ECF5"/>
                </a:solidFill>
                <a:latin typeface="Segoe UI" pitchFamily="34" charset="0"/>
                <a:ea typeface="Segoe UI" pitchFamily="34" charset="-122"/>
                <a:cs typeface="Segoe UI" pitchFamily="34" charset="-120"/>
              </a:rPr>
              <a:t>Từ login đến credential lifecycle</a:t>
            </a:r>
            <a:endParaRPr lang="en-US" sz="2000" dirty="0"/>
          </a:p>
        </p:txBody>
      </p:sp>
      <p:sp>
        <p:nvSpPr>
          <p:cNvPr id="6" name="Text 4"/>
          <p:cNvSpPr/>
          <p:nvPr/>
        </p:nvSpPr>
        <p:spPr>
          <a:xfrm>
            <a:off x="731520" y="3291840"/>
            <a:ext cx="5486400" cy="365760"/>
          </a:xfrm>
          <a:prstGeom prst="rect">
            <a:avLst/>
          </a:prstGeom>
          <a:noFill/>
          <a:ln/>
        </p:spPr>
        <p:txBody>
          <a:bodyPr wrap="square" lIns="25400" tIns="25400" rIns="25400" bIns="25400" rtlCol="0" anchor="ctr"/>
          <a:lstStyle/>
          <a:p>
            <a:pPr algn="l" indent="0" marL="0">
              <a:buNone/>
            </a:pPr>
            <a:r>
              <a:rPr lang="en-US" sz="1400" dirty="0">
                <a:solidFill>
                  <a:srgbClr val="8F9BB3"/>
                </a:solidFill>
                <a:latin typeface="Segoe UI" pitchFamily="34" charset="0"/>
                <a:ea typeface="Segoe UI" pitchFamily="34" charset="-122"/>
                <a:cs typeface="Segoe UI" pitchFamily="34" charset="-120"/>
              </a:rPr>
              <a:t>DevHub · Fullstack Technical Sharing</a:t>
            </a:r>
            <a:endParaRPr lang="en-US" sz="1400" dirty="0"/>
          </a:p>
        </p:txBody>
      </p:sp>
      <p:sp>
        <p:nvSpPr>
          <p:cNvPr id="7" name="Text 5"/>
          <p:cNvSpPr/>
          <p:nvPr/>
        </p:nvSpPr>
        <p:spPr>
          <a:xfrm>
            <a:off x="5577840" y="2971800"/>
            <a:ext cx="1554480" cy="731520"/>
          </a:xfrm>
          <a:prstGeom prst="roundRect">
            <a:avLst>
              <a:gd name="adj" fmla="val 10000"/>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400" b="1" dirty="0">
                <a:solidFill>
                  <a:srgbClr val="E8ECF5"/>
                </a:solidFill>
                <a:latin typeface="Segoe UI" pitchFamily="34" charset="0"/>
                <a:ea typeface="Segoe UI" pitchFamily="34" charset="-122"/>
                <a:cs typeface="Segoe UI" pitchFamily="34" charset="-120"/>
              </a:rPr>
              <a:t>Browser</a:t>
            </a:r>
            <a:endParaRPr lang="en-US" sz="1400" dirty="0"/>
          </a:p>
        </p:txBody>
      </p:sp>
      <p:sp>
        <p:nvSpPr>
          <p:cNvPr id="8" name="Text 6"/>
          <p:cNvSpPr/>
          <p:nvPr/>
        </p:nvSpPr>
        <p:spPr>
          <a:xfrm>
            <a:off x="7909560" y="2880360"/>
            <a:ext cx="1737360" cy="914400"/>
          </a:xfrm>
          <a:prstGeom prst="roundRect">
            <a:avLst>
              <a:gd name="adj" fmla="val 8000"/>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1400" b="1" dirty="0">
                <a:solidFill>
                  <a:srgbClr val="E8ECF5"/>
                </a:solidFill>
                <a:latin typeface="Segoe UI" pitchFamily="34" charset="0"/>
                <a:ea typeface="Segoe UI" pitchFamily="34" charset="-122"/>
                <a:cs typeface="Segoe UI" pitchFamily="34" charset="-120"/>
              </a:rPr>
              <a:t>DevHub API</a:t>
            </a:r>
            <a:endParaRPr lang="en-US" sz="1400" dirty="0"/>
          </a:p>
          <a:p>
            <a:pPr algn="ctr" indent="0" marL="0">
              <a:buNone/>
            </a:pPr>
            <a:r>
              <a:rPr lang="en-US" sz="1400" b="1" dirty="0">
                <a:solidFill>
                  <a:srgbClr val="E8ECF5"/>
                </a:solidFill>
                <a:latin typeface="Segoe UI" pitchFamily="34" charset="0"/>
                <a:ea typeface="Segoe UI" pitchFamily="34" charset="-122"/>
                <a:cs typeface="Segoe UI" pitchFamily="34" charset="-120"/>
              </a:rPr>
              <a:t>NestJS</a:t>
            </a:r>
            <a:endParaRPr lang="en-US" sz="1400" dirty="0"/>
          </a:p>
        </p:txBody>
      </p:sp>
      <p:sp>
        <p:nvSpPr>
          <p:cNvPr id="9" name="Text 7"/>
          <p:cNvSpPr/>
          <p:nvPr/>
        </p:nvSpPr>
        <p:spPr>
          <a:xfrm>
            <a:off x="10378440" y="2057400"/>
            <a:ext cx="1554480" cy="731520"/>
          </a:xfrm>
          <a:prstGeom prst="roundRect">
            <a:avLst>
              <a:gd name="adj" fmla="val 10000"/>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200" dirty="0">
                <a:solidFill>
                  <a:srgbClr val="E8ECF5"/>
                </a:solidFill>
                <a:latin typeface="Segoe UI" pitchFamily="34" charset="0"/>
                <a:ea typeface="Segoe UI" pitchFamily="34" charset="-122"/>
                <a:cs typeface="Segoe UI" pitchFamily="34" charset="-120"/>
              </a:rPr>
              <a:t>Session Store</a:t>
            </a:r>
            <a:endParaRPr lang="en-US" sz="1200" dirty="0"/>
          </a:p>
        </p:txBody>
      </p:sp>
      <p:sp>
        <p:nvSpPr>
          <p:cNvPr id="10" name="Text 8"/>
          <p:cNvSpPr/>
          <p:nvPr/>
        </p:nvSpPr>
        <p:spPr>
          <a:xfrm>
            <a:off x="10378440" y="3886200"/>
            <a:ext cx="1554480" cy="731520"/>
          </a:xfrm>
          <a:prstGeom prst="roundRect">
            <a:avLst>
              <a:gd name="adj" fmla="val 10000"/>
            </a:avLst>
          </a:prstGeom>
          <a:solidFill>
            <a:srgbClr val="182238"/>
          </a:solidFill>
          <a:ln w="12700">
            <a:solidFill>
              <a:srgbClr val="F5A65B"/>
            </a:solidFill>
            <a:prstDash val="solid"/>
          </a:ln>
        </p:spPr>
        <p:txBody>
          <a:bodyPr wrap="square" lIns="76200" tIns="76200" rIns="76200" bIns="76200" rtlCol="0" anchor="ctr"/>
          <a:lstStyle/>
          <a:p>
            <a:pPr algn="ctr" indent="0" marL="0">
              <a:buNone/>
            </a:pPr>
            <a:r>
              <a:rPr lang="en-US" sz="1200" dirty="0">
                <a:solidFill>
                  <a:srgbClr val="E8ECF5"/>
                </a:solidFill>
                <a:latin typeface="Segoe UI" pitchFamily="34" charset="0"/>
                <a:ea typeface="Segoe UI" pitchFamily="34" charset="-122"/>
                <a:cs typeface="Segoe UI" pitchFamily="34" charset="-120"/>
              </a:rPr>
              <a:t>Identity Provider</a:t>
            </a:r>
            <a:endParaRPr lang="en-US" sz="1200" dirty="0"/>
          </a:p>
        </p:txBody>
      </p:sp>
      <p:sp>
        <p:nvSpPr>
          <p:cNvPr id="11" name="Shape 9"/>
          <p:cNvSpPr/>
          <p:nvPr/>
        </p:nvSpPr>
        <p:spPr>
          <a:xfrm>
            <a:off x="7132320" y="3337560"/>
            <a:ext cx="777240" cy="0"/>
          </a:xfrm>
          <a:prstGeom prst="line">
            <a:avLst/>
          </a:prstGeom>
          <a:noFill/>
          <a:ln w="19050">
            <a:solidFill>
              <a:srgbClr val="B5A5FF"/>
            </a:solidFill>
            <a:prstDash val="solid"/>
            <a:headEnd type="triangle"/>
            <a:tailEnd type="triangle"/>
          </a:ln>
        </p:spPr>
      </p:sp>
      <p:sp>
        <p:nvSpPr>
          <p:cNvPr id="12" name="Shape 10"/>
          <p:cNvSpPr/>
          <p:nvPr/>
        </p:nvSpPr>
        <p:spPr>
          <a:xfrm flipV="1">
            <a:off x="9646920" y="2423160"/>
            <a:ext cx="731520" cy="731520"/>
          </a:xfrm>
          <a:prstGeom prst="line">
            <a:avLst/>
          </a:prstGeom>
          <a:noFill/>
          <a:ln w="19050">
            <a:solidFill>
              <a:srgbClr val="6EE7B7"/>
            </a:solidFill>
            <a:prstDash val="solid"/>
            <a:headEnd type="triangle"/>
            <a:tailEnd type="triangle"/>
          </a:ln>
        </p:spPr>
      </p:sp>
      <p:sp>
        <p:nvSpPr>
          <p:cNvPr id="13" name="Shape 11"/>
          <p:cNvSpPr/>
          <p:nvPr/>
        </p:nvSpPr>
        <p:spPr>
          <a:xfrm>
            <a:off x="9646920" y="3520440"/>
            <a:ext cx="731520" cy="731520"/>
          </a:xfrm>
          <a:prstGeom prst="line">
            <a:avLst/>
          </a:prstGeom>
          <a:noFill/>
          <a:ln w="19050">
            <a:solidFill>
              <a:srgbClr val="F5A65B"/>
            </a:solidFill>
            <a:prstDash val="solid"/>
            <a:headEnd type="triangle"/>
            <a:tailEnd type="triangle"/>
          </a:ln>
        </p:spPr>
      </p:sp>
      <p:sp>
        <p:nvSpPr>
          <p:cNvPr id="14" name="Text 12"/>
          <p:cNvSpPr/>
          <p:nvPr/>
        </p:nvSpPr>
        <p:spPr>
          <a:xfrm>
            <a:off x="7059168" y="2944368"/>
            <a:ext cx="914400" cy="274320"/>
          </a:xfrm>
          <a:prstGeom prst="rect">
            <a:avLst/>
          </a:prstGeom>
          <a:noFill/>
          <a:ln/>
        </p:spPr>
        <p:txBody>
          <a:bodyPr wrap="square" lIns="25400" tIns="25400" rIns="25400" bIns="25400" rtlCol="0" anchor="ctr"/>
          <a:lstStyle/>
          <a:p>
            <a:pPr algn="ctr" indent="0" marL="0">
              <a:buNone/>
            </a:pPr>
            <a:r>
              <a:rPr lang="en-US" sz="1000" dirty="0">
                <a:solidFill>
                  <a:srgbClr val="8F9BB3"/>
                </a:solidFill>
                <a:latin typeface="Segoe UI" pitchFamily="34" charset="0"/>
                <a:ea typeface="Segoe UI" pitchFamily="34" charset="-122"/>
                <a:cs typeface="Segoe UI" pitchFamily="34" charset="-120"/>
              </a:rPr>
              <a:t>credential</a:t>
            </a:r>
            <a:endParaRPr lang="en-US" sz="1000" dirty="0"/>
          </a:p>
        </p:txBody>
      </p:sp>
      <p:sp>
        <p:nvSpPr>
          <p:cNvPr id="15" name="Text 13"/>
          <p:cNvSpPr/>
          <p:nvPr/>
        </p:nvSpPr>
        <p:spPr>
          <a:xfrm>
            <a:off x="5577840" y="4983480"/>
            <a:ext cx="6355080" cy="365760"/>
          </a:xfrm>
          <a:prstGeom prst="rect">
            <a:avLst/>
          </a:prstGeom>
          <a:noFill/>
          <a:ln/>
        </p:spPr>
        <p:txBody>
          <a:bodyPr wrap="square" lIns="25400" tIns="25400" rIns="25400" bIns="25400" rtlCol="0" anchor="ctr"/>
          <a:lstStyle/>
          <a:p>
            <a:pPr algn="ctr" indent="0" marL="0">
              <a:buNone/>
            </a:pPr>
            <a:r>
              <a:rPr lang="en-US" sz="1300" i="1" dirty="0">
                <a:solidFill>
                  <a:srgbClr val="8F9BB3"/>
                </a:solidFill>
                <a:latin typeface="Segoe UI" pitchFamily="34" charset="0"/>
                <a:ea typeface="Segoe UI" pitchFamily="34" charset="-122"/>
                <a:cs typeface="Segoe UI" pitchFamily="34" charset="-120"/>
              </a:rPr>
              <a:t>tạo · lưu · gửi · verify · thu hồi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MỞ ĐẦU  ·  SLIDE 2/27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Hôm nay chúng ta đi qua những phần nào?</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Shape 4"/>
          <p:cNvSpPr/>
          <p:nvPr/>
        </p:nvSpPr>
        <p:spPr>
          <a:xfrm>
            <a:off x="548640" y="1554480"/>
            <a:ext cx="3566160" cy="1920240"/>
          </a:xfrm>
          <a:prstGeom prst="roundRect">
            <a:avLst>
              <a:gd name="adj" fmla="val 4762"/>
            </a:avLst>
          </a:prstGeom>
          <a:solidFill>
            <a:srgbClr val="131B2E"/>
          </a:solidFill>
          <a:ln w="12700">
            <a:solidFill>
              <a:srgbClr val="2A3651"/>
            </a:solidFill>
            <a:prstDash val="solid"/>
          </a:ln>
        </p:spPr>
      </p:sp>
      <p:sp>
        <p:nvSpPr>
          <p:cNvPr id="7" name="Shape 5"/>
          <p:cNvSpPr/>
          <p:nvPr/>
        </p:nvSpPr>
        <p:spPr>
          <a:xfrm>
            <a:off x="548640" y="1554480"/>
            <a:ext cx="3566160" cy="73152"/>
          </a:xfrm>
          <a:prstGeom prst="rect">
            <a:avLst/>
          </a:prstGeom>
          <a:solidFill>
            <a:srgbClr val="B5A5FF"/>
          </a:solidFill>
          <a:ln w="12700">
            <a:solidFill>
              <a:srgbClr val="B5A5FF"/>
            </a:solidFill>
            <a:prstDash val="solid"/>
          </a:ln>
        </p:spPr>
      </p:sp>
      <p:sp>
        <p:nvSpPr>
          <p:cNvPr id="8" name="Text 6"/>
          <p:cNvSpPr/>
          <p:nvPr/>
        </p:nvSpPr>
        <p:spPr>
          <a:xfrm>
            <a:off x="777240" y="1783080"/>
            <a:ext cx="3108960" cy="320040"/>
          </a:xfrm>
          <a:prstGeom prst="rect">
            <a:avLst/>
          </a:prstGeom>
          <a:noFill/>
          <a:ln/>
        </p:spPr>
        <p:txBody>
          <a:bodyPr wrap="square" lIns="25400" tIns="25400" rIns="25400" bIns="25400" rtlCol="0" anchor="ctr"/>
          <a:lstStyle/>
          <a:p>
            <a:pPr algn="l" indent="0" marL="0">
              <a:buNone/>
            </a:pPr>
            <a:r>
              <a:rPr lang="en-US" sz="1200" b="1" dirty="0">
                <a:solidFill>
                  <a:srgbClr val="B5A5FF"/>
                </a:solidFill>
                <a:latin typeface="Consolas" pitchFamily="34" charset="0"/>
                <a:ea typeface="Consolas" pitchFamily="34" charset="-122"/>
                <a:cs typeface="Consolas" pitchFamily="34" charset="-120"/>
              </a:rPr>
              <a:t>01</a:t>
            </a:r>
            <a:endParaRPr lang="en-US" sz="1200" dirty="0"/>
          </a:p>
        </p:txBody>
      </p:sp>
      <p:sp>
        <p:nvSpPr>
          <p:cNvPr id="9" name="Text 7"/>
          <p:cNvSpPr/>
          <p:nvPr/>
        </p:nvSpPr>
        <p:spPr>
          <a:xfrm>
            <a:off x="777240" y="2194560"/>
            <a:ext cx="3108960" cy="457200"/>
          </a:xfrm>
          <a:prstGeom prst="rect">
            <a:avLst/>
          </a:prstGeom>
          <a:noFill/>
          <a:ln/>
        </p:spPr>
        <p:txBody>
          <a:bodyPr wrap="square" lIns="25400" tIns="25400" rIns="25400" bIns="25400" rtlCol="0" anchor="ctr"/>
          <a:lstStyle/>
          <a:p>
            <a:pPr algn="l" indent="0" marL="0">
              <a:buNone/>
            </a:pPr>
            <a:r>
              <a:rPr lang="en-US" sz="2000" b="1" dirty="0">
                <a:solidFill>
                  <a:srgbClr val="E8ECF5"/>
                </a:solidFill>
                <a:latin typeface="Segoe UI" pitchFamily="34" charset="0"/>
                <a:ea typeface="Segoe UI" pitchFamily="34" charset="-122"/>
                <a:cs typeface="Segoe UI" pitchFamily="34" charset="-120"/>
              </a:rPr>
              <a:t>AuthN ≠ AuthZ</a:t>
            </a:r>
            <a:endParaRPr lang="en-US" sz="2000" dirty="0"/>
          </a:p>
        </p:txBody>
      </p:sp>
      <p:sp>
        <p:nvSpPr>
          <p:cNvPr id="10" name="Text 8"/>
          <p:cNvSpPr/>
          <p:nvPr/>
        </p:nvSpPr>
        <p:spPr>
          <a:xfrm>
            <a:off x="777240" y="2743200"/>
            <a:ext cx="3108960" cy="457200"/>
          </a:xfrm>
          <a:prstGeom prst="rect">
            <a:avLst/>
          </a:prstGeom>
          <a:noFill/>
          <a:ln/>
        </p:spPr>
        <p:txBody>
          <a:bodyPr wrap="square" lIns="25400" tIns="25400" rIns="25400" bIns="25400" rtlCol="0" anchor="ctr"/>
          <a:lstStyle/>
          <a:p>
            <a:pPr algn="l" indent="0" marL="0">
              <a:buNone/>
            </a:pPr>
            <a:r>
              <a:rPr lang="en-US" sz="1300" dirty="0">
                <a:solidFill>
                  <a:srgbClr val="8F9BB3"/>
                </a:solidFill>
                <a:latin typeface="Segoe UI" pitchFamily="34" charset="0"/>
                <a:ea typeface="Segoe UI" pitchFamily="34" charset="-122"/>
                <a:cs typeface="Segoe UI" pitchFamily="34" charset="-120"/>
              </a:rPr>
              <a:t>401 / 403 · quyền phía server</a:t>
            </a:r>
            <a:endParaRPr lang="en-US" sz="1300" dirty="0"/>
          </a:p>
        </p:txBody>
      </p:sp>
      <p:sp>
        <p:nvSpPr>
          <p:cNvPr id="11" name="Shape 9"/>
          <p:cNvSpPr/>
          <p:nvPr/>
        </p:nvSpPr>
        <p:spPr>
          <a:xfrm>
            <a:off x="4297680" y="1554480"/>
            <a:ext cx="3566160" cy="1920240"/>
          </a:xfrm>
          <a:prstGeom prst="roundRect">
            <a:avLst>
              <a:gd name="adj" fmla="val 4762"/>
            </a:avLst>
          </a:prstGeom>
          <a:solidFill>
            <a:srgbClr val="131B2E"/>
          </a:solidFill>
          <a:ln w="12700">
            <a:solidFill>
              <a:srgbClr val="2A3651"/>
            </a:solidFill>
            <a:prstDash val="solid"/>
          </a:ln>
        </p:spPr>
      </p:sp>
      <p:sp>
        <p:nvSpPr>
          <p:cNvPr id="12" name="Shape 10"/>
          <p:cNvSpPr/>
          <p:nvPr/>
        </p:nvSpPr>
        <p:spPr>
          <a:xfrm>
            <a:off x="4297680" y="1554480"/>
            <a:ext cx="3566160" cy="73152"/>
          </a:xfrm>
          <a:prstGeom prst="rect">
            <a:avLst/>
          </a:prstGeom>
          <a:solidFill>
            <a:srgbClr val="F5A65B"/>
          </a:solidFill>
          <a:ln w="12700">
            <a:solidFill>
              <a:srgbClr val="F5A65B"/>
            </a:solidFill>
            <a:prstDash val="solid"/>
          </a:ln>
        </p:spPr>
      </p:sp>
      <p:sp>
        <p:nvSpPr>
          <p:cNvPr id="13" name="Text 11"/>
          <p:cNvSpPr/>
          <p:nvPr/>
        </p:nvSpPr>
        <p:spPr>
          <a:xfrm>
            <a:off x="4526280" y="1783080"/>
            <a:ext cx="3108960" cy="320040"/>
          </a:xfrm>
          <a:prstGeom prst="rect">
            <a:avLst/>
          </a:prstGeom>
          <a:noFill/>
          <a:ln/>
        </p:spPr>
        <p:txBody>
          <a:bodyPr wrap="square" lIns="25400" tIns="25400" rIns="25400" bIns="25400" rtlCol="0" anchor="ctr"/>
          <a:lstStyle/>
          <a:p>
            <a:pPr algn="l" indent="0" marL="0">
              <a:buNone/>
            </a:pPr>
            <a:r>
              <a:rPr lang="en-US" sz="1200" b="1" dirty="0">
                <a:solidFill>
                  <a:srgbClr val="F5A65B"/>
                </a:solidFill>
                <a:latin typeface="Consolas" pitchFamily="34" charset="0"/>
                <a:ea typeface="Consolas" pitchFamily="34" charset="-122"/>
                <a:cs typeface="Consolas" pitchFamily="34" charset="-120"/>
              </a:rPr>
              <a:t>02</a:t>
            </a:r>
            <a:endParaRPr lang="en-US" sz="1200" dirty="0"/>
          </a:p>
        </p:txBody>
      </p:sp>
      <p:sp>
        <p:nvSpPr>
          <p:cNvPr id="14" name="Text 12"/>
          <p:cNvSpPr/>
          <p:nvPr/>
        </p:nvSpPr>
        <p:spPr>
          <a:xfrm>
            <a:off x="4526280" y="2194560"/>
            <a:ext cx="3108960" cy="457200"/>
          </a:xfrm>
          <a:prstGeom prst="rect">
            <a:avLst/>
          </a:prstGeom>
          <a:noFill/>
          <a:ln/>
        </p:spPr>
        <p:txBody>
          <a:bodyPr wrap="square" lIns="25400" tIns="25400" rIns="25400" bIns="25400" rtlCol="0" anchor="ctr"/>
          <a:lstStyle/>
          <a:p>
            <a:pPr algn="l" indent="0" marL="0">
              <a:buNone/>
            </a:pPr>
            <a:r>
              <a:rPr lang="en-US" sz="2000" b="1" dirty="0">
                <a:solidFill>
                  <a:srgbClr val="E8ECF5"/>
                </a:solidFill>
                <a:latin typeface="Segoe UI" pitchFamily="34" charset="0"/>
                <a:ea typeface="Segoe UI" pitchFamily="34" charset="-122"/>
                <a:cs typeface="Segoe UI" pitchFamily="34" charset="-120"/>
              </a:rPr>
              <a:t>Password</a:t>
            </a:r>
            <a:endParaRPr lang="en-US" sz="2000" dirty="0"/>
          </a:p>
        </p:txBody>
      </p:sp>
      <p:sp>
        <p:nvSpPr>
          <p:cNvPr id="15" name="Text 13"/>
          <p:cNvSpPr/>
          <p:nvPr/>
        </p:nvSpPr>
        <p:spPr>
          <a:xfrm>
            <a:off x="4526280" y="2743200"/>
            <a:ext cx="3108960" cy="457200"/>
          </a:xfrm>
          <a:prstGeom prst="rect">
            <a:avLst/>
          </a:prstGeom>
          <a:noFill/>
          <a:ln/>
        </p:spPr>
        <p:txBody>
          <a:bodyPr wrap="square" lIns="25400" tIns="25400" rIns="25400" bIns="25400" rtlCol="0" anchor="ctr"/>
          <a:lstStyle/>
          <a:p>
            <a:pPr algn="l" indent="0" marL="0">
              <a:buNone/>
            </a:pPr>
            <a:r>
              <a:rPr lang="en-US" sz="1300" dirty="0">
                <a:solidFill>
                  <a:srgbClr val="8F9BB3"/>
                </a:solidFill>
                <a:latin typeface="Segoe UI" pitchFamily="34" charset="0"/>
                <a:ea typeface="Segoe UI" pitchFamily="34" charset="-122"/>
                <a:cs typeface="Segoe UI" pitchFamily="34" charset="-120"/>
              </a:rPr>
              <a:t>Hash · salt · stuffing</a:t>
            </a:r>
            <a:endParaRPr lang="en-US" sz="1300" dirty="0"/>
          </a:p>
        </p:txBody>
      </p:sp>
      <p:sp>
        <p:nvSpPr>
          <p:cNvPr id="16" name="Shape 14"/>
          <p:cNvSpPr/>
          <p:nvPr/>
        </p:nvSpPr>
        <p:spPr>
          <a:xfrm>
            <a:off x="8046720" y="1554480"/>
            <a:ext cx="3566160" cy="1920240"/>
          </a:xfrm>
          <a:prstGeom prst="roundRect">
            <a:avLst>
              <a:gd name="adj" fmla="val 4762"/>
            </a:avLst>
          </a:prstGeom>
          <a:solidFill>
            <a:srgbClr val="131B2E"/>
          </a:solidFill>
          <a:ln w="12700">
            <a:solidFill>
              <a:srgbClr val="2A3651"/>
            </a:solidFill>
            <a:prstDash val="solid"/>
          </a:ln>
        </p:spPr>
      </p:sp>
      <p:sp>
        <p:nvSpPr>
          <p:cNvPr id="17" name="Shape 15"/>
          <p:cNvSpPr/>
          <p:nvPr/>
        </p:nvSpPr>
        <p:spPr>
          <a:xfrm>
            <a:off x="8046720" y="1554480"/>
            <a:ext cx="3566160" cy="73152"/>
          </a:xfrm>
          <a:prstGeom prst="rect">
            <a:avLst/>
          </a:prstGeom>
          <a:solidFill>
            <a:srgbClr val="6EE7B7"/>
          </a:solidFill>
          <a:ln w="12700">
            <a:solidFill>
              <a:srgbClr val="6EE7B7"/>
            </a:solidFill>
            <a:prstDash val="solid"/>
          </a:ln>
        </p:spPr>
      </p:sp>
      <p:sp>
        <p:nvSpPr>
          <p:cNvPr id="18" name="Text 16"/>
          <p:cNvSpPr/>
          <p:nvPr/>
        </p:nvSpPr>
        <p:spPr>
          <a:xfrm>
            <a:off x="8275320" y="1783080"/>
            <a:ext cx="3108960" cy="320040"/>
          </a:xfrm>
          <a:prstGeom prst="rect">
            <a:avLst/>
          </a:prstGeom>
          <a:noFill/>
          <a:ln/>
        </p:spPr>
        <p:txBody>
          <a:bodyPr wrap="square" lIns="25400" tIns="25400" rIns="25400" bIns="25400" rtlCol="0" anchor="ctr"/>
          <a:lstStyle/>
          <a:p>
            <a:pPr algn="l" indent="0" marL="0">
              <a:buNone/>
            </a:pPr>
            <a:r>
              <a:rPr lang="en-US" sz="1200" b="1" dirty="0">
                <a:solidFill>
                  <a:srgbClr val="6EE7B7"/>
                </a:solidFill>
                <a:latin typeface="Consolas" pitchFamily="34" charset="0"/>
                <a:ea typeface="Consolas" pitchFamily="34" charset="-122"/>
                <a:cs typeface="Consolas" pitchFamily="34" charset="-120"/>
              </a:rPr>
              <a:t>03</a:t>
            </a:r>
            <a:endParaRPr lang="en-US" sz="1200" dirty="0"/>
          </a:p>
        </p:txBody>
      </p:sp>
      <p:sp>
        <p:nvSpPr>
          <p:cNvPr id="19" name="Text 17"/>
          <p:cNvSpPr/>
          <p:nvPr/>
        </p:nvSpPr>
        <p:spPr>
          <a:xfrm>
            <a:off x="8275320" y="2194560"/>
            <a:ext cx="3108960" cy="457200"/>
          </a:xfrm>
          <a:prstGeom prst="rect">
            <a:avLst/>
          </a:prstGeom>
          <a:noFill/>
          <a:ln/>
        </p:spPr>
        <p:txBody>
          <a:bodyPr wrap="square" lIns="25400" tIns="25400" rIns="25400" bIns="25400" rtlCol="0" anchor="ctr"/>
          <a:lstStyle/>
          <a:p>
            <a:pPr algn="l" indent="0" marL="0">
              <a:buNone/>
            </a:pPr>
            <a:r>
              <a:rPr lang="en-US" sz="2000" b="1" dirty="0">
                <a:solidFill>
                  <a:srgbClr val="E8ECF5"/>
                </a:solidFill>
                <a:latin typeface="Segoe UI" pitchFamily="34" charset="0"/>
                <a:ea typeface="Segoe UI" pitchFamily="34" charset="-122"/>
                <a:cs typeface="Segoe UI" pitchFamily="34" charset="-120"/>
              </a:rPr>
              <a:t>Session &amp; cookie</a:t>
            </a:r>
            <a:endParaRPr lang="en-US" sz="2000" dirty="0"/>
          </a:p>
        </p:txBody>
      </p:sp>
      <p:sp>
        <p:nvSpPr>
          <p:cNvPr id="20" name="Text 18"/>
          <p:cNvSpPr/>
          <p:nvPr/>
        </p:nvSpPr>
        <p:spPr>
          <a:xfrm>
            <a:off x="8275320" y="2743200"/>
            <a:ext cx="3108960" cy="457200"/>
          </a:xfrm>
          <a:prstGeom prst="rect">
            <a:avLst/>
          </a:prstGeom>
          <a:noFill/>
          <a:ln/>
        </p:spPr>
        <p:txBody>
          <a:bodyPr wrap="square" lIns="25400" tIns="25400" rIns="25400" bIns="25400" rtlCol="0" anchor="ctr"/>
          <a:lstStyle/>
          <a:p>
            <a:pPr algn="l" indent="0" marL="0">
              <a:buNone/>
            </a:pPr>
            <a:r>
              <a:rPr lang="en-US" sz="1300" dirty="0">
                <a:solidFill>
                  <a:srgbClr val="8F9BB3"/>
                </a:solidFill>
                <a:latin typeface="Segoe UI" pitchFamily="34" charset="0"/>
                <a:ea typeface="Segoe UI" pitchFamily="34" charset="-122"/>
                <a:cs typeface="Segoe UI" pitchFamily="34" charset="-120"/>
              </a:rPr>
              <a:t>Lifecycle · logout · CSRF/XSS</a:t>
            </a:r>
            <a:endParaRPr lang="en-US" sz="1300" dirty="0"/>
          </a:p>
        </p:txBody>
      </p:sp>
      <p:sp>
        <p:nvSpPr>
          <p:cNvPr id="21" name="Shape 19"/>
          <p:cNvSpPr/>
          <p:nvPr/>
        </p:nvSpPr>
        <p:spPr>
          <a:xfrm>
            <a:off x="548640" y="3703320"/>
            <a:ext cx="3566160" cy="1920240"/>
          </a:xfrm>
          <a:prstGeom prst="roundRect">
            <a:avLst>
              <a:gd name="adj" fmla="val 4762"/>
            </a:avLst>
          </a:prstGeom>
          <a:solidFill>
            <a:srgbClr val="131B2E"/>
          </a:solidFill>
          <a:ln w="12700">
            <a:solidFill>
              <a:srgbClr val="2A3651"/>
            </a:solidFill>
            <a:prstDash val="solid"/>
          </a:ln>
        </p:spPr>
      </p:sp>
      <p:sp>
        <p:nvSpPr>
          <p:cNvPr id="22" name="Shape 20"/>
          <p:cNvSpPr/>
          <p:nvPr/>
        </p:nvSpPr>
        <p:spPr>
          <a:xfrm>
            <a:off x="548640" y="3703320"/>
            <a:ext cx="3566160" cy="73152"/>
          </a:xfrm>
          <a:prstGeom prst="rect">
            <a:avLst/>
          </a:prstGeom>
          <a:solidFill>
            <a:srgbClr val="7DB3FF"/>
          </a:solidFill>
          <a:ln w="12700">
            <a:solidFill>
              <a:srgbClr val="7DB3FF"/>
            </a:solidFill>
            <a:prstDash val="solid"/>
          </a:ln>
        </p:spPr>
      </p:sp>
      <p:sp>
        <p:nvSpPr>
          <p:cNvPr id="23" name="Text 21"/>
          <p:cNvSpPr/>
          <p:nvPr/>
        </p:nvSpPr>
        <p:spPr>
          <a:xfrm>
            <a:off x="777240" y="3931920"/>
            <a:ext cx="3108960" cy="320040"/>
          </a:xfrm>
          <a:prstGeom prst="rect">
            <a:avLst/>
          </a:prstGeom>
          <a:noFill/>
          <a:ln/>
        </p:spPr>
        <p:txBody>
          <a:bodyPr wrap="square" lIns="25400" tIns="25400" rIns="25400" bIns="25400" rtlCol="0" anchor="ctr"/>
          <a:lstStyle/>
          <a:p>
            <a:pPr algn="l" indent="0" marL="0">
              <a:buNone/>
            </a:pPr>
            <a:r>
              <a:rPr lang="en-US" sz="1200" b="1" dirty="0">
                <a:solidFill>
                  <a:srgbClr val="7DB3FF"/>
                </a:solidFill>
                <a:latin typeface="Consolas" pitchFamily="34" charset="0"/>
                <a:ea typeface="Consolas" pitchFamily="34" charset="-122"/>
                <a:cs typeface="Consolas" pitchFamily="34" charset="-120"/>
              </a:rPr>
              <a:t>04</a:t>
            </a:r>
            <a:endParaRPr lang="en-US" sz="1200" dirty="0"/>
          </a:p>
        </p:txBody>
      </p:sp>
      <p:sp>
        <p:nvSpPr>
          <p:cNvPr id="24" name="Text 22"/>
          <p:cNvSpPr/>
          <p:nvPr/>
        </p:nvSpPr>
        <p:spPr>
          <a:xfrm>
            <a:off x="777240" y="4343400"/>
            <a:ext cx="3108960" cy="457200"/>
          </a:xfrm>
          <a:prstGeom prst="rect">
            <a:avLst/>
          </a:prstGeom>
          <a:noFill/>
          <a:ln/>
        </p:spPr>
        <p:txBody>
          <a:bodyPr wrap="square" lIns="25400" tIns="25400" rIns="25400" bIns="25400" rtlCol="0" anchor="ctr"/>
          <a:lstStyle/>
          <a:p>
            <a:pPr algn="l" indent="0" marL="0">
              <a:buNone/>
            </a:pPr>
            <a:r>
              <a:rPr lang="en-US" sz="2000" b="1" dirty="0">
                <a:solidFill>
                  <a:srgbClr val="E8ECF5"/>
                </a:solidFill>
                <a:latin typeface="Segoe UI" pitchFamily="34" charset="0"/>
                <a:ea typeface="Segoe UI" pitchFamily="34" charset="-122"/>
                <a:cs typeface="Segoe UI" pitchFamily="34" charset="-120"/>
              </a:rPr>
              <a:t>JWT &amp; tokens</a:t>
            </a:r>
            <a:endParaRPr lang="en-US" sz="2000" dirty="0"/>
          </a:p>
        </p:txBody>
      </p:sp>
      <p:sp>
        <p:nvSpPr>
          <p:cNvPr id="25" name="Text 23"/>
          <p:cNvSpPr/>
          <p:nvPr/>
        </p:nvSpPr>
        <p:spPr>
          <a:xfrm>
            <a:off x="777240" y="4892040"/>
            <a:ext cx="3108960" cy="457200"/>
          </a:xfrm>
          <a:prstGeom prst="rect">
            <a:avLst/>
          </a:prstGeom>
          <a:noFill/>
          <a:ln/>
        </p:spPr>
        <p:txBody>
          <a:bodyPr wrap="square" lIns="25400" tIns="25400" rIns="25400" bIns="25400" rtlCol="0" anchor="ctr"/>
          <a:lstStyle/>
          <a:p>
            <a:pPr algn="l" indent="0" marL="0">
              <a:buNone/>
            </a:pPr>
            <a:r>
              <a:rPr lang="en-US" sz="1300" dirty="0">
                <a:solidFill>
                  <a:srgbClr val="8F9BB3"/>
                </a:solidFill>
                <a:latin typeface="Segoe UI" pitchFamily="34" charset="0"/>
                <a:ea typeface="Segoe UI" pitchFamily="34" charset="-122"/>
                <a:cs typeface="Segoe UI" pitchFamily="34" charset="-120"/>
              </a:rPr>
              <a:t>Decode ≠ verify · refresh</a:t>
            </a:r>
            <a:endParaRPr lang="en-US" sz="1300" dirty="0"/>
          </a:p>
        </p:txBody>
      </p:sp>
      <p:sp>
        <p:nvSpPr>
          <p:cNvPr id="26" name="Shape 24"/>
          <p:cNvSpPr/>
          <p:nvPr/>
        </p:nvSpPr>
        <p:spPr>
          <a:xfrm>
            <a:off x="4297680" y="3703320"/>
            <a:ext cx="3566160" cy="1920240"/>
          </a:xfrm>
          <a:prstGeom prst="roundRect">
            <a:avLst>
              <a:gd name="adj" fmla="val 4762"/>
            </a:avLst>
          </a:prstGeom>
          <a:solidFill>
            <a:srgbClr val="131B2E"/>
          </a:solidFill>
          <a:ln w="12700">
            <a:solidFill>
              <a:srgbClr val="2A3651"/>
            </a:solidFill>
            <a:prstDash val="solid"/>
          </a:ln>
        </p:spPr>
      </p:sp>
      <p:sp>
        <p:nvSpPr>
          <p:cNvPr id="27" name="Shape 25"/>
          <p:cNvSpPr/>
          <p:nvPr/>
        </p:nvSpPr>
        <p:spPr>
          <a:xfrm>
            <a:off x="4297680" y="3703320"/>
            <a:ext cx="3566160" cy="73152"/>
          </a:xfrm>
          <a:prstGeom prst="rect">
            <a:avLst/>
          </a:prstGeom>
          <a:solidFill>
            <a:srgbClr val="B5A5FF"/>
          </a:solidFill>
          <a:ln w="12700">
            <a:solidFill>
              <a:srgbClr val="B5A5FF"/>
            </a:solidFill>
            <a:prstDash val="solid"/>
          </a:ln>
        </p:spPr>
      </p:sp>
      <p:sp>
        <p:nvSpPr>
          <p:cNvPr id="28" name="Text 26"/>
          <p:cNvSpPr/>
          <p:nvPr/>
        </p:nvSpPr>
        <p:spPr>
          <a:xfrm>
            <a:off x="4526280" y="3931920"/>
            <a:ext cx="3108960" cy="320040"/>
          </a:xfrm>
          <a:prstGeom prst="rect">
            <a:avLst/>
          </a:prstGeom>
          <a:noFill/>
          <a:ln/>
        </p:spPr>
        <p:txBody>
          <a:bodyPr wrap="square" lIns="25400" tIns="25400" rIns="25400" bIns="25400" rtlCol="0" anchor="ctr"/>
          <a:lstStyle/>
          <a:p>
            <a:pPr algn="l" indent="0" marL="0">
              <a:buNone/>
            </a:pPr>
            <a:r>
              <a:rPr lang="en-US" sz="1200" b="1" dirty="0">
                <a:solidFill>
                  <a:srgbClr val="B5A5FF"/>
                </a:solidFill>
                <a:latin typeface="Consolas" pitchFamily="34" charset="0"/>
                <a:ea typeface="Consolas" pitchFamily="34" charset="-122"/>
                <a:cs typeface="Consolas" pitchFamily="34" charset="-120"/>
              </a:rPr>
              <a:t>05</a:t>
            </a:r>
            <a:endParaRPr lang="en-US" sz="1200" dirty="0"/>
          </a:p>
        </p:txBody>
      </p:sp>
      <p:sp>
        <p:nvSpPr>
          <p:cNvPr id="29" name="Text 27"/>
          <p:cNvSpPr/>
          <p:nvPr/>
        </p:nvSpPr>
        <p:spPr>
          <a:xfrm>
            <a:off x="4526280" y="4343400"/>
            <a:ext cx="3108960" cy="457200"/>
          </a:xfrm>
          <a:prstGeom prst="rect">
            <a:avLst/>
          </a:prstGeom>
          <a:noFill/>
          <a:ln/>
        </p:spPr>
        <p:txBody>
          <a:bodyPr wrap="square" lIns="25400" tIns="25400" rIns="25400" bIns="25400" rtlCol="0" anchor="ctr"/>
          <a:lstStyle/>
          <a:p>
            <a:pPr algn="l" indent="0" marL="0">
              <a:buNone/>
            </a:pPr>
            <a:r>
              <a:rPr lang="en-US" sz="2000" b="1" dirty="0">
                <a:solidFill>
                  <a:srgbClr val="E8ECF5"/>
                </a:solidFill>
                <a:latin typeface="Segoe UI" pitchFamily="34" charset="0"/>
                <a:ea typeface="Segoe UI" pitchFamily="34" charset="-122"/>
                <a:cs typeface="Segoe UI" pitchFamily="34" charset="-120"/>
              </a:rPr>
              <a:t>OAuth / OIDC</a:t>
            </a:r>
            <a:endParaRPr lang="en-US" sz="2000" dirty="0"/>
          </a:p>
        </p:txBody>
      </p:sp>
      <p:sp>
        <p:nvSpPr>
          <p:cNvPr id="30" name="Text 28"/>
          <p:cNvSpPr/>
          <p:nvPr/>
        </p:nvSpPr>
        <p:spPr>
          <a:xfrm>
            <a:off x="4526280" y="4892040"/>
            <a:ext cx="3108960" cy="457200"/>
          </a:xfrm>
          <a:prstGeom prst="rect">
            <a:avLst/>
          </a:prstGeom>
          <a:noFill/>
          <a:ln/>
        </p:spPr>
        <p:txBody>
          <a:bodyPr wrap="square" lIns="25400" tIns="25400" rIns="25400" bIns="25400" rtlCol="0" anchor="ctr"/>
          <a:lstStyle/>
          <a:p>
            <a:pPr algn="l" indent="0" marL="0">
              <a:buNone/>
            </a:pPr>
            <a:r>
              <a:rPr lang="en-US" sz="1300" dirty="0">
                <a:solidFill>
                  <a:srgbClr val="8F9BB3"/>
                </a:solidFill>
                <a:latin typeface="Segoe UI" pitchFamily="34" charset="0"/>
                <a:ea typeface="Segoe UI" pitchFamily="34" charset="-122"/>
                <a:cs typeface="Segoe UI" pitchFamily="34" charset="-120"/>
              </a:rPr>
              <a:t>Code Flow + PKCE · SAML</a:t>
            </a:r>
            <a:endParaRPr lang="en-US" sz="1300" dirty="0"/>
          </a:p>
        </p:txBody>
      </p:sp>
      <p:sp>
        <p:nvSpPr>
          <p:cNvPr id="31" name="Shape 29"/>
          <p:cNvSpPr/>
          <p:nvPr/>
        </p:nvSpPr>
        <p:spPr>
          <a:xfrm>
            <a:off x="8046720" y="3703320"/>
            <a:ext cx="3566160" cy="1920240"/>
          </a:xfrm>
          <a:prstGeom prst="roundRect">
            <a:avLst>
              <a:gd name="adj" fmla="val 4762"/>
            </a:avLst>
          </a:prstGeom>
          <a:solidFill>
            <a:srgbClr val="131B2E"/>
          </a:solidFill>
          <a:ln w="12700">
            <a:solidFill>
              <a:srgbClr val="2A3651"/>
            </a:solidFill>
            <a:prstDash val="solid"/>
          </a:ln>
        </p:spPr>
      </p:sp>
      <p:sp>
        <p:nvSpPr>
          <p:cNvPr id="32" name="Shape 30"/>
          <p:cNvSpPr/>
          <p:nvPr/>
        </p:nvSpPr>
        <p:spPr>
          <a:xfrm>
            <a:off x="8046720" y="3703320"/>
            <a:ext cx="3566160" cy="73152"/>
          </a:xfrm>
          <a:prstGeom prst="rect">
            <a:avLst/>
          </a:prstGeom>
          <a:solidFill>
            <a:srgbClr val="F5A65B"/>
          </a:solidFill>
          <a:ln w="12700">
            <a:solidFill>
              <a:srgbClr val="F5A65B"/>
            </a:solidFill>
            <a:prstDash val="solid"/>
          </a:ln>
        </p:spPr>
      </p:sp>
      <p:sp>
        <p:nvSpPr>
          <p:cNvPr id="33" name="Text 31"/>
          <p:cNvSpPr/>
          <p:nvPr/>
        </p:nvSpPr>
        <p:spPr>
          <a:xfrm>
            <a:off x="8275320" y="3931920"/>
            <a:ext cx="3108960" cy="320040"/>
          </a:xfrm>
          <a:prstGeom prst="rect">
            <a:avLst/>
          </a:prstGeom>
          <a:noFill/>
          <a:ln/>
        </p:spPr>
        <p:txBody>
          <a:bodyPr wrap="square" lIns="25400" tIns="25400" rIns="25400" bIns="25400" rtlCol="0" anchor="ctr"/>
          <a:lstStyle/>
          <a:p>
            <a:pPr algn="l" indent="0" marL="0">
              <a:buNone/>
            </a:pPr>
            <a:r>
              <a:rPr lang="en-US" sz="1200" b="1" dirty="0">
                <a:solidFill>
                  <a:srgbClr val="F5A65B"/>
                </a:solidFill>
                <a:latin typeface="Consolas" pitchFamily="34" charset="0"/>
                <a:ea typeface="Consolas" pitchFamily="34" charset="-122"/>
                <a:cs typeface="Consolas" pitchFamily="34" charset="-120"/>
              </a:rPr>
              <a:t>06</a:t>
            </a:r>
            <a:endParaRPr lang="en-US" sz="1200" dirty="0"/>
          </a:p>
        </p:txBody>
      </p:sp>
      <p:sp>
        <p:nvSpPr>
          <p:cNvPr id="34" name="Text 32"/>
          <p:cNvSpPr/>
          <p:nvPr/>
        </p:nvSpPr>
        <p:spPr>
          <a:xfrm>
            <a:off x="8275320" y="4343400"/>
            <a:ext cx="3108960" cy="457200"/>
          </a:xfrm>
          <a:prstGeom prst="rect">
            <a:avLst/>
          </a:prstGeom>
          <a:noFill/>
          <a:ln/>
        </p:spPr>
        <p:txBody>
          <a:bodyPr wrap="square" lIns="25400" tIns="25400" rIns="25400" bIns="25400" rtlCol="0" anchor="ctr"/>
          <a:lstStyle/>
          <a:p>
            <a:pPr algn="l" indent="0" marL="0">
              <a:buNone/>
            </a:pPr>
            <a:r>
              <a:rPr lang="en-US" sz="2000" b="1" dirty="0">
                <a:solidFill>
                  <a:srgbClr val="E8ECF5"/>
                </a:solidFill>
                <a:latin typeface="Segoe UI" pitchFamily="34" charset="0"/>
                <a:ea typeface="Segoe UI" pitchFamily="34" charset="-122"/>
                <a:cs typeface="Segoe UI" pitchFamily="34" charset="-120"/>
              </a:rPr>
              <a:t>Kiến trúc</a:t>
            </a:r>
            <a:endParaRPr lang="en-US" sz="2000" dirty="0"/>
          </a:p>
        </p:txBody>
      </p:sp>
      <p:sp>
        <p:nvSpPr>
          <p:cNvPr id="35" name="Text 33"/>
          <p:cNvSpPr/>
          <p:nvPr/>
        </p:nvSpPr>
        <p:spPr>
          <a:xfrm>
            <a:off x="8275320" y="4892040"/>
            <a:ext cx="3108960" cy="457200"/>
          </a:xfrm>
          <a:prstGeom prst="rect">
            <a:avLst/>
          </a:prstGeom>
          <a:noFill/>
          <a:ln/>
        </p:spPr>
        <p:txBody>
          <a:bodyPr wrap="square" lIns="25400" tIns="25400" rIns="25400" bIns="25400" rtlCol="0" anchor="ctr"/>
          <a:lstStyle/>
          <a:p>
            <a:pPr algn="l" indent="0" marL="0">
              <a:buNone/>
            </a:pPr>
            <a:r>
              <a:rPr lang="en-US" sz="1300" dirty="0">
                <a:solidFill>
                  <a:srgbClr val="8F9BB3"/>
                </a:solidFill>
                <a:latin typeface="Segoe UI" pitchFamily="34" charset="0"/>
                <a:ea typeface="Segoe UI" pitchFamily="34" charset="-122"/>
                <a:cs typeface="Segoe UI" pitchFamily="34" charset="-120"/>
              </a:rPr>
              <a:t>Threat model · checklist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MỞ ĐẦU  ·  SLIDE 3/27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Ba ticket, cùng nhãn "bug login"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371600"/>
            <a:ext cx="11064240" cy="365760"/>
          </a:xfrm>
          <a:prstGeom prst="rect">
            <a:avLst/>
          </a:prstGeom>
          <a:noFill/>
          <a:ln/>
        </p:spPr>
        <p:txBody>
          <a:bodyPr wrap="square" lIns="25400" tIns="25400" rIns="25400" bIns="25400" rtlCol="0" anchor="ctr"/>
          <a:lstStyle/>
          <a:p>
            <a:pPr algn="l" indent="0" marL="0">
              <a:buNone/>
            </a:pPr>
            <a:r>
              <a:rPr lang="en-US" sz="1600" i="1" dirty="0">
                <a:solidFill>
                  <a:srgbClr val="8F9BB3"/>
                </a:solidFill>
                <a:latin typeface="Segoe UI" pitchFamily="34" charset="0"/>
                <a:ea typeface="Segoe UI" pitchFamily="34" charset="-122"/>
                <a:cs typeface="Segoe UI" pitchFamily="34" charset="-120"/>
              </a:rPr>
              <a:t>Backlog DevHub tuần này: ba ticket được gắn cùng một nhãn — bug login.</a:t>
            </a:r>
            <a:endParaRPr lang="en-US" sz="1600" dirty="0"/>
          </a:p>
        </p:txBody>
      </p:sp>
      <p:sp>
        <p:nvSpPr>
          <p:cNvPr id="7" name="Shape 5"/>
          <p:cNvSpPr/>
          <p:nvPr/>
        </p:nvSpPr>
        <p:spPr>
          <a:xfrm>
            <a:off x="548640" y="1874520"/>
            <a:ext cx="3520440" cy="3246120"/>
          </a:xfrm>
          <a:prstGeom prst="roundRect">
            <a:avLst>
              <a:gd name="adj" fmla="val 2817"/>
            </a:avLst>
          </a:prstGeom>
          <a:solidFill>
            <a:srgbClr val="131B2E"/>
          </a:solidFill>
          <a:ln w="12700">
            <a:solidFill>
              <a:srgbClr val="2A3651"/>
            </a:solidFill>
            <a:prstDash val="solid"/>
          </a:ln>
        </p:spPr>
      </p:sp>
      <p:sp>
        <p:nvSpPr>
          <p:cNvPr id="8" name="Shape 6"/>
          <p:cNvSpPr/>
          <p:nvPr/>
        </p:nvSpPr>
        <p:spPr>
          <a:xfrm>
            <a:off x="548640" y="1874520"/>
            <a:ext cx="3520440" cy="73152"/>
          </a:xfrm>
          <a:prstGeom prst="rect">
            <a:avLst/>
          </a:prstGeom>
          <a:solidFill>
            <a:srgbClr val="F5A65B"/>
          </a:solidFill>
          <a:ln w="12700">
            <a:solidFill>
              <a:srgbClr val="F5A65B"/>
            </a:solidFill>
            <a:prstDash val="solid"/>
          </a:ln>
        </p:spPr>
      </p:sp>
      <p:sp>
        <p:nvSpPr>
          <p:cNvPr id="9" name="Text 7"/>
          <p:cNvSpPr/>
          <p:nvPr/>
        </p:nvSpPr>
        <p:spPr>
          <a:xfrm>
            <a:off x="777240" y="2057400"/>
            <a:ext cx="3063240" cy="274320"/>
          </a:xfrm>
          <a:prstGeom prst="rect">
            <a:avLst/>
          </a:prstGeom>
          <a:noFill/>
          <a:ln/>
        </p:spPr>
        <p:txBody>
          <a:bodyPr wrap="square" lIns="25400" tIns="25400" rIns="25400" bIns="25400" rtlCol="0" anchor="ctr"/>
          <a:lstStyle/>
          <a:p>
            <a:pPr algn="l" indent="0" marL="0">
              <a:buNone/>
            </a:pPr>
            <a:r>
              <a:rPr lang="en-US" sz="1100" b="1" dirty="0">
                <a:solidFill>
                  <a:srgbClr val="F5A65B"/>
                </a:solidFill>
                <a:latin typeface="Consolas" pitchFamily="34" charset="0"/>
                <a:ea typeface="Consolas" pitchFamily="34" charset="-122"/>
                <a:cs typeface="Consolas" pitchFamily="34" charset="-120"/>
              </a:rPr>
              <a:t>TICKET 01</a:t>
            </a:r>
            <a:endParaRPr lang="en-US" sz="1100" dirty="0"/>
          </a:p>
        </p:txBody>
      </p:sp>
      <p:sp>
        <p:nvSpPr>
          <p:cNvPr id="10" name="Text 8"/>
          <p:cNvSpPr/>
          <p:nvPr/>
        </p:nvSpPr>
        <p:spPr>
          <a:xfrm>
            <a:off x="777240" y="2377440"/>
            <a:ext cx="3063240" cy="502920"/>
          </a:xfrm>
          <a:prstGeom prst="rect">
            <a:avLst/>
          </a:prstGeom>
          <a:noFill/>
          <a:ln/>
        </p:spPr>
        <p:txBody>
          <a:bodyPr wrap="square" lIns="25400" tIns="25400" rIns="25400" bIns="25400" rtlCol="0" anchor="t"/>
          <a:lstStyle/>
          <a:p>
            <a:pPr algn="l" indent="0" marL="0">
              <a:buNone/>
            </a:pPr>
            <a:r>
              <a:rPr lang="en-US" sz="1700" b="1" dirty="0">
                <a:solidFill>
                  <a:srgbClr val="E8ECF5"/>
                </a:solidFill>
                <a:latin typeface="Segoe UI" pitchFamily="34" charset="0"/>
                <a:ea typeface="Segoe UI" pitchFamily="34" charset="-122"/>
                <a:cs typeface="Segoe UI" pitchFamily="34" charset="-120"/>
              </a:rPr>
              <a:t>“Tôi đã logout rồi”</a:t>
            </a:r>
            <a:endParaRPr lang="en-US" sz="1700" dirty="0"/>
          </a:p>
        </p:txBody>
      </p:sp>
      <p:sp>
        <p:nvSpPr>
          <p:cNvPr id="11" name="Text 9"/>
          <p:cNvSpPr/>
          <p:nvPr/>
        </p:nvSpPr>
        <p:spPr>
          <a:xfrm>
            <a:off x="777240" y="2971800"/>
            <a:ext cx="3063240" cy="1051560"/>
          </a:xfrm>
          <a:prstGeom prst="rect">
            <a:avLst/>
          </a:prstGeom>
          <a:noFill/>
          <a:ln/>
        </p:spPr>
        <p:txBody>
          <a:bodyPr wrap="square" lIns="25400" tIns="25400" rIns="25400" bIns="25400" rtlCol="0" anchor="t"/>
          <a:lstStyle/>
          <a:p>
            <a:pPr algn="l" indent="0" marL="0">
              <a:buNone/>
            </a:pPr>
            <a:r>
              <a:rPr lang="en-US" sz="1350" dirty="0">
                <a:solidFill>
                  <a:srgbClr val="E8ECF5"/>
                </a:solidFill>
                <a:latin typeface="Segoe UI" pitchFamily="34" charset="0"/>
                <a:ea typeface="Segoe UI" pitchFamily="34" charset="-122"/>
                <a:cs typeface="Segoe UI" pitchFamily="34" charset="-120"/>
              </a:rPr>
              <a:t>User bấm Logout, nhưng API vẫn nhận request của họ.</a:t>
            </a:r>
            <a:endParaRPr lang="en-US" sz="1350" dirty="0"/>
          </a:p>
        </p:txBody>
      </p:sp>
      <p:sp>
        <p:nvSpPr>
          <p:cNvPr id="12" name="Text 10"/>
          <p:cNvSpPr/>
          <p:nvPr/>
        </p:nvSpPr>
        <p:spPr>
          <a:xfrm>
            <a:off x="777240" y="4160520"/>
            <a:ext cx="3063240" cy="685800"/>
          </a:xfrm>
          <a:prstGeom prst="roundRect">
            <a:avLst>
              <a:gd name="adj" fmla="val 10667"/>
            </a:avLst>
          </a:prstGeom>
          <a:solidFill>
            <a:srgbClr val="182238"/>
          </a:solidFill>
          <a:ln w="12700">
            <a:solidFill>
              <a:srgbClr val="2A3651"/>
            </a:solidFill>
            <a:prstDash val="dash"/>
          </a:ln>
        </p:spPr>
        <p:txBody>
          <a:bodyPr wrap="square" lIns="76200" tIns="76200" rIns="76200" bIns="76200" rtlCol="0" anchor="ctr"/>
          <a:lstStyle/>
          <a:p>
            <a:pPr algn="ctr" indent="0" marL="0">
              <a:buNone/>
            </a:pPr>
            <a:r>
              <a:rPr lang="en-US" sz="1200" dirty="0">
                <a:solidFill>
                  <a:srgbClr val="8F9BB3"/>
                </a:solidFill>
                <a:latin typeface="Segoe UI" pitchFamily="34" charset="0"/>
                <a:ea typeface="Segoe UI" pitchFamily="34" charset="-122"/>
                <a:cs typeface="Segoe UI" pitchFamily="34" charset="-120"/>
              </a:rPr>
              <a:t>Lifecycle?</a:t>
            </a:r>
            <a:endParaRPr lang="en-US" sz="1200" dirty="0"/>
          </a:p>
          <a:p>
            <a:pPr algn="ctr" indent="0" marL="0">
              <a:buNone/>
            </a:pPr>
            <a:r>
              <a:rPr lang="en-US" sz="1200" dirty="0">
                <a:solidFill>
                  <a:srgbClr val="8F9BB3"/>
                </a:solidFill>
                <a:latin typeface="Segoe UI" pitchFamily="34" charset="0"/>
                <a:ea typeface="Segoe UI" pitchFamily="34" charset="-122"/>
                <a:cs typeface="Segoe UI" pitchFamily="34" charset="-120"/>
              </a:rPr>
              <a:t>AuthN?</a:t>
            </a:r>
            <a:endParaRPr lang="en-US" sz="1200" dirty="0"/>
          </a:p>
        </p:txBody>
      </p:sp>
      <p:sp>
        <p:nvSpPr>
          <p:cNvPr id="13" name="Shape 11"/>
          <p:cNvSpPr/>
          <p:nvPr/>
        </p:nvSpPr>
        <p:spPr>
          <a:xfrm>
            <a:off x="4297680" y="1874520"/>
            <a:ext cx="3520440" cy="3246120"/>
          </a:xfrm>
          <a:prstGeom prst="roundRect">
            <a:avLst>
              <a:gd name="adj" fmla="val 2817"/>
            </a:avLst>
          </a:prstGeom>
          <a:solidFill>
            <a:srgbClr val="131B2E"/>
          </a:solidFill>
          <a:ln w="12700">
            <a:solidFill>
              <a:srgbClr val="2A3651"/>
            </a:solidFill>
            <a:prstDash val="solid"/>
          </a:ln>
        </p:spPr>
      </p:sp>
      <p:sp>
        <p:nvSpPr>
          <p:cNvPr id="14" name="Shape 12"/>
          <p:cNvSpPr/>
          <p:nvPr/>
        </p:nvSpPr>
        <p:spPr>
          <a:xfrm>
            <a:off x="4297680" y="1874520"/>
            <a:ext cx="3520440" cy="73152"/>
          </a:xfrm>
          <a:prstGeom prst="rect">
            <a:avLst/>
          </a:prstGeom>
          <a:solidFill>
            <a:srgbClr val="F28B9A"/>
          </a:solidFill>
          <a:ln w="12700">
            <a:solidFill>
              <a:srgbClr val="F28B9A"/>
            </a:solidFill>
            <a:prstDash val="solid"/>
          </a:ln>
        </p:spPr>
      </p:sp>
      <p:sp>
        <p:nvSpPr>
          <p:cNvPr id="15" name="Text 13"/>
          <p:cNvSpPr/>
          <p:nvPr/>
        </p:nvSpPr>
        <p:spPr>
          <a:xfrm>
            <a:off x="4526280" y="2057400"/>
            <a:ext cx="3063240" cy="274320"/>
          </a:xfrm>
          <a:prstGeom prst="rect">
            <a:avLst/>
          </a:prstGeom>
          <a:noFill/>
          <a:ln/>
        </p:spPr>
        <p:txBody>
          <a:bodyPr wrap="square" lIns="25400" tIns="25400" rIns="25400" bIns="25400" rtlCol="0" anchor="ctr"/>
          <a:lstStyle/>
          <a:p>
            <a:pPr algn="l" indent="0" marL="0">
              <a:buNone/>
            </a:pPr>
            <a:r>
              <a:rPr lang="en-US" sz="1100" b="1" dirty="0">
                <a:solidFill>
                  <a:srgbClr val="F28B9A"/>
                </a:solidFill>
                <a:latin typeface="Consolas" pitchFamily="34" charset="0"/>
                <a:ea typeface="Consolas" pitchFamily="34" charset="-122"/>
                <a:cs typeface="Consolas" pitchFamily="34" charset="-120"/>
              </a:rPr>
              <a:t>TICKET 02</a:t>
            </a:r>
            <a:endParaRPr lang="en-US" sz="1100" dirty="0"/>
          </a:p>
        </p:txBody>
      </p:sp>
      <p:sp>
        <p:nvSpPr>
          <p:cNvPr id="16" name="Text 14"/>
          <p:cNvSpPr/>
          <p:nvPr/>
        </p:nvSpPr>
        <p:spPr>
          <a:xfrm>
            <a:off x="4526280" y="2377440"/>
            <a:ext cx="3063240" cy="502920"/>
          </a:xfrm>
          <a:prstGeom prst="rect">
            <a:avLst/>
          </a:prstGeom>
          <a:noFill/>
          <a:ln/>
        </p:spPr>
        <p:txBody>
          <a:bodyPr wrap="square" lIns="25400" tIns="25400" rIns="25400" bIns="25400" rtlCol="0" anchor="t"/>
          <a:lstStyle/>
          <a:p>
            <a:pPr algn="l" indent="0" marL="0">
              <a:buNone/>
            </a:pPr>
            <a:r>
              <a:rPr lang="en-US" sz="1700" b="1" dirty="0">
                <a:solidFill>
                  <a:srgbClr val="E8ECF5"/>
                </a:solidFill>
                <a:latin typeface="Segoe UI" pitchFamily="34" charset="0"/>
                <a:ea typeface="Segoe UI" pitchFamily="34" charset="-122"/>
                <a:cs typeface="Segoe UI" pitchFamily="34" charset="-120"/>
              </a:rPr>
              <a:t>“Member vào được admin”</a:t>
            </a:r>
            <a:endParaRPr lang="en-US" sz="1700" dirty="0"/>
          </a:p>
        </p:txBody>
      </p:sp>
      <p:sp>
        <p:nvSpPr>
          <p:cNvPr id="17" name="Text 15"/>
          <p:cNvSpPr/>
          <p:nvPr/>
        </p:nvSpPr>
        <p:spPr>
          <a:xfrm>
            <a:off x="4526280" y="2971800"/>
            <a:ext cx="3063240" cy="1051560"/>
          </a:xfrm>
          <a:prstGeom prst="rect">
            <a:avLst/>
          </a:prstGeom>
          <a:noFill/>
          <a:ln/>
        </p:spPr>
        <p:txBody>
          <a:bodyPr wrap="square" lIns="25400" tIns="25400" rIns="25400" bIns="25400" rtlCol="0" anchor="t"/>
          <a:lstStyle/>
          <a:p>
            <a:pPr algn="l" indent="0" marL="0">
              <a:buNone/>
            </a:pPr>
            <a:r>
              <a:rPr lang="en-US" sz="1350" dirty="0">
                <a:solidFill>
                  <a:srgbClr val="E8ECF5"/>
                </a:solidFill>
                <a:latin typeface="Segoe UI" pitchFamily="34" charset="0"/>
                <a:ea typeface="Segoe UI" pitchFamily="34" charset="-122"/>
                <a:cs typeface="Segoe UI" pitchFamily="34" charset="-120"/>
              </a:rPr>
              <a:t>Tài khoản member gọi được API chỉ dành cho admin.</a:t>
            </a:r>
            <a:endParaRPr lang="en-US" sz="1350" dirty="0"/>
          </a:p>
        </p:txBody>
      </p:sp>
      <p:sp>
        <p:nvSpPr>
          <p:cNvPr id="18" name="Text 16"/>
          <p:cNvSpPr/>
          <p:nvPr/>
        </p:nvSpPr>
        <p:spPr>
          <a:xfrm>
            <a:off x="4526280" y="4160520"/>
            <a:ext cx="3063240" cy="685800"/>
          </a:xfrm>
          <a:prstGeom prst="roundRect">
            <a:avLst>
              <a:gd name="adj" fmla="val 10667"/>
            </a:avLst>
          </a:prstGeom>
          <a:solidFill>
            <a:srgbClr val="182238"/>
          </a:solidFill>
          <a:ln w="12700">
            <a:solidFill>
              <a:srgbClr val="2A3651"/>
            </a:solidFill>
            <a:prstDash val="dash"/>
          </a:ln>
        </p:spPr>
        <p:txBody>
          <a:bodyPr wrap="square" lIns="76200" tIns="76200" rIns="76200" bIns="76200" rtlCol="0" anchor="ctr"/>
          <a:lstStyle/>
          <a:p>
            <a:pPr algn="ctr" indent="0" marL="0">
              <a:buNone/>
            </a:pPr>
            <a:r>
              <a:rPr lang="en-US" sz="1200" dirty="0">
                <a:solidFill>
                  <a:srgbClr val="8F9BB3"/>
                </a:solidFill>
                <a:latin typeface="Segoe UI" pitchFamily="34" charset="0"/>
                <a:ea typeface="Segoe UI" pitchFamily="34" charset="-122"/>
                <a:cs typeface="Segoe UI" pitchFamily="34" charset="-120"/>
              </a:rPr>
              <a:t>AuthZ?</a:t>
            </a:r>
            <a:endParaRPr lang="en-US" sz="1200" dirty="0"/>
          </a:p>
          <a:p>
            <a:pPr algn="ctr" indent="0" marL="0">
              <a:buNone/>
            </a:pPr>
            <a:r>
              <a:rPr lang="en-US" sz="1200" dirty="0">
                <a:solidFill>
                  <a:srgbClr val="8F9BB3"/>
                </a:solidFill>
                <a:latin typeface="Segoe UI" pitchFamily="34" charset="0"/>
                <a:ea typeface="Segoe UI" pitchFamily="34" charset="-122"/>
                <a:cs typeface="Segoe UI" pitchFamily="34" charset="-120"/>
              </a:rPr>
              <a:t>Backend?</a:t>
            </a:r>
            <a:endParaRPr lang="en-US" sz="1200" dirty="0"/>
          </a:p>
        </p:txBody>
      </p:sp>
      <p:sp>
        <p:nvSpPr>
          <p:cNvPr id="19" name="Shape 17"/>
          <p:cNvSpPr/>
          <p:nvPr/>
        </p:nvSpPr>
        <p:spPr>
          <a:xfrm>
            <a:off x="8046720" y="1874520"/>
            <a:ext cx="3520440" cy="3246120"/>
          </a:xfrm>
          <a:prstGeom prst="roundRect">
            <a:avLst>
              <a:gd name="adj" fmla="val 2817"/>
            </a:avLst>
          </a:prstGeom>
          <a:solidFill>
            <a:srgbClr val="131B2E"/>
          </a:solidFill>
          <a:ln w="12700">
            <a:solidFill>
              <a:srgbClr val="2A3651"/>
            </a:solidFill>
            <a:prstDash val="solid"/>
          </a:ln>
        </p:spPr>
      </p:sp>
      <p:sp>
        <p:nvSpPr>
          <p:cNvPr id="20" name="Shape 18"/>
          <p:cNvSpPr/>
          <p:nvPr/>
        </p:nvSpPr>
        <p:spPr>
          <a:xfrm>
            <a:off x="8046720" y="1874520"/>
            <a:ext cx="3520440" cy="73152"/>
          </a:xfrm>
          <a:prstGeom prst="rect">
            <a:avLst/>
          </a:prstGeom>
          <a:solidFill>
            <a:srgbClr val="B5A5FF"/>
          </a:solidFill>
          <a:ln w="12700">
            <a:solidFill>
              <a:srgbClr val="B5A5FF"/>
            </a:solidFill>
            <a:prstDash val="solid"/>
          </a:ln>
        </p:spPr>
      </p:sp>
      <p:sp>
        <p:nvSpPr>
          <p:cNvPr id="21" name="Text 19"/>
          <p:cNvSpPr/>
          <p:nvPr/>
        </p:nvSpPr>
        <p:spPr>
          <a:xfrm>
            <a:off x="8275320" y="2057400"/>
            <a:ext cx="3063240" cy="274320"/>
          </a:xfrm>
          <a:prstGeom prst="rect">
            <a:avLst/>
          </a:prstGeom>
          <a:noFill/>
          <a:ln/>
        </p:spPr>
        <p:txBody>
          <a:bodyPr wrap="square" lIns="25400" tIns="25400" rIns="25400" bIns="25400" rtlCol="0" anchor="ctr"/>
          <a:lstStyle/>
          <a:p>
            <a:pPr algn="l" indent="0" marL="0">
              <a:buNone/>
            </a:pPr>
            <a:r>
              <a:rPr lang="en-US" sz="1100" b="1" dirty="0">
                <a:solidFill>
                  <a:srgbClr val="B5A5FF"/>
                </a:solidFill>
                <a:latin typeface="Consolas" pitchFamily="34" charset="0"/>
                <a:ea typeface="Consolas" pitchFamily="34" charset="-122"/>
                <a:cs typeface="Consolas" pitchFamily="34" charset="-120"/>
              </a:rPr>
              <a:t>TICKET 03</a:t>
            </a:r>
            <a:endParaRPr lang="en-US" sz="1100" dirty="0"/>
          </a:p>
        </p:txBody>
      </p:sp>
      <p:sp>
        <p:nvSpPr>
          <p:cNvPr id="22" name="Text 20"/>
          <p:cNvSpPr/>
          <p:nvPr/>
        </p:nvSpPr>
        <p:spPr>
          <a:xfrm>
            <a:off x="8275320" y="2377440"/>
            <a:ext cx="3063240" cy="502920"/>
          </a:xfrm>
          <a:prstGeom prst="rect">
            <a:avLst/>
          </a:prstGeom>
          <a:noFill/>
          <a:ln/>
        </p:spPr>
        <p:txBody>
          <a:bodyPr wrap="square" lIns="25400" tIns="25400" rIns="25400" bIns="25400" rtlCol="0" anchor="t"/>
          <a:lstStyle/>
          <a:p>
            <a:pPr algn="l" indent="0" marL="0">
              <a:buNone/>
            </a:pPr>
            <a:r>
              <a:rPr lang="en-US" sz="1700" b="1" dirty="0">
                <a:solidFill>
                  <a:srgbClr val="E8ECF5"/>
                </a:solidFill>
                <a:latin typeface="Segoe UI" pitchFamily="34" charset="0"/>
                <a:ea typeface="Segoe UI" pitchFamily="34" charset="-122"/>
                <a:cs typeface="Segoe UI" pitchFamily="34" charset="-120"/>
              </a:rPr>
              <a:t>“JWT có role: admin”</a:t>
            </a:r>
            <a:endParaRPr lang="en-US" sz="1700" dirty="0"/>
          </a:p>
        </p:txBody>
      </p:sp>
      <p:sp>
        <p:nvSpPr>
          <p:cNvPr id="23" name="Text 21"/>
          <p:cNvSpPr/>
          <p:nvPr/>
        </p:nvSpPr>
        <p:spPr>
          <a:xfrm>
            <a:off x="8275320" y="2971800"/>
            <a:ext cx="3063240" cy="1051560"/>
          </a:xfrm>
          <a:prstGeom prst="rect">
            <a:avLst/>
          </a:prstGeom>
          <a:noFill/>
          <a:ln/>
        </p:spPr>
        <p:txBody>
          <a:bodyPr wrap="square" lIns="25400" tIns="25400" rIns="25400" bIns="25400" rtlCol="0" anchor="t"/>
          <a:lstStyle/>
          <a:p>
            <a:pPr algn="l" indent="0" marL="0">
              <a:buNone/>
            </a:pPr>
            <a:r>
              <a:rPr lang="en-US" sz="1350" dirty="0">
                <a:solidFill>
                  <a:srgbClr val="E8ECF5"/>
                </a:solidFill>
                <a:latin typeface="Segoe UI" pitchFamily="34" charset="0"/>
                <a:ea typeface="Segoe UI" pitchFamily="34" charset="-122"/>
                <a:cs typeface="Segoe UI" pitchFamily="34" charset="-120"/>
              </a:rPr>
              <a:t>Mở payload ra thấy role admin — vậy là admin?</a:t>
            </a:r>
            <a:endParaRPr lang="en-US" sz="1350" dirty="0"/>
          </a:p>
        </p:txBody>
      </p:sp>
      <p:sp>
        <p:nvSpPr>
          <p:cNvPr id="24" name="Text 22"/>
          <p:cNvSpPr/>
          <p:nvPr/>
        </p:nvSpPr>
        <p:spPr>
          <a:xfrm>
            <a:off x="8275320" y="4160520"/>
            <a:ext cx="3063240" cy="685800"/>
          </a:xfrm>
          <a:prstGeom prst="roundRect">
            <a:avLst>
              <a:gd name="adj" fmla="val 10667"/>
            </a:avLst>
          </a:prstGeom>
          <a:solidFill>
            <a:srgbClr val="182238"/>
          </a:solidFill>
          <a:ln w="12700">
            <a:solidFill>
              <a:srgbClr val="2A3651"/>
            </a:solidFill>
            <a:prstDash val="dash"/>
          </a:ln>
        </p:spPr>
        <p:txBody>
          <a:bodyPr wrap="square" lIns="76200" tIns="76200" rIns="76200" bIns="76200" rtlCol="0" anchor="ctr"/>
          <a:lstStyle/>
          <a:p>
            <a:pPr algn="ctr" indent="0" marL="0">
              <a:buNone/>
            </a:pPr>
            <a:r>
              <a:rPr lang="en-US" sz="1200" dirty="0">
                <a:solidFill>
                  <a:srgbClr val="8F9BB3"/>
                </a:solidFill>
                <a:latin typeface="Segoe UI" pitchFamily="34" charset="0"/>
                <a:ea typeface="Segoe UI" pitchFamily="34" charset="-122"/>
                <a:cs typeface="Segoe UI" pitchFamily="34" charset="-120"/>
              </a:rPr>
              <a:t>Decode?</a:t>
            </a:r>
            <a:endParaRPr lang="en-US" sz="1200" dirty="0"/>
          </a:p>
          <a:p>
            <a:pPr algn="ctr" indent="0" marL="0">
              <a:buNone/>
            </a:pPr>
            <a:r>
              <a:rPr lang="en-US" sz="1200" dirty="0">
                <a:solidFill>
                  <a:srgbClr val="8F9BB3"/>
                </a:solidFill>
                <a:latin typeface="Segoe UI" pitchFamily="34" charset="0"/>
                <a:ea typeface="Segoe UI" pitchFamily="34" charset="-122"/>
                <a:cs typeface="Segoe UI" pitchFamily="34" charset="-120"/>
              </a:rPr>
              <a:t>Verify?</a:t>
            </a:r>
            <a:endParaRPr lang="en-US" sz="1200" dirty="0"/>
          </a:p>
        </p:txBody>
      </p:sp>
      <p:sp>
        <p:nvSpPr>
          <p:cNvPr id="25" name="Text 23"/>
          <p:cNvSpPr/>
          <p:nvPr/>
        </p:nvSpPr>
        <p:spPr>
          <a:xfrm>
            <a:off x="548640" y="5303520"/>
            <a:ext cx="11064240" cy="365760"/>
          </a:xfrm>
          <a:prstGeom prst="rect">
            <a:avLst/>
          </a:prstGeom>
          <a:noFill/>
          <a:ln/>
        </p:spPr>
        <p:txBody>
          <a:bodyPr wrap="square" lIns="25400" tIns="25400" rIns="25400" bIns="25400" rtlCol="0" anchor="ctr"/>
          <a:lstStyle/>
          <a:p>
            <a:pPr algn="l" indent="0" marL="0">
              <a:buNone/>
            </a:pPr>
            <a:r>
              <a:rPr lang="en-US" sz="1500" i="1" dirty="0">
                <a:solidFill>
                  <a:srgbClr val="8F9BB3"/>
                </a:solidFill>
                <a:latin typeface="Segoe UI" pitchFamily="34" charset="0"/>
                <a:ea typeface="Segoe UI" pitchFamily="34" charset="-122"/>
                <a:cs typeface="Segoe UI" pitchFamily="34" charset="-120"/>
              </a:rPr>
              <a:t>Cùng triệu chứng — khác lớp nguyên nhân. Phân lớp trước khi vá nút Login.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AUTHN &amp; AUTHZ  ·  SLIDE 4/27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Authentication ≠ Authorization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AuthN — Who are you?</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AuthZ — What can you do?</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Login thành công không đồng nghĩa có mọi quyền.</a:t>
            </a:r>
            <a:endParaRPr lang="en-US" sz="1800" dirty="0"/>
          </a:p>
        </p:txBody>
      </p:sp>
      <p:sp>
        <p:nvSpPr>
          <p:cNvPr id="7" name="Text 5"/>
          <p:cNvSpPr/>
          <p:nvPr/>
        </p:nvSpPr>
        <p:spPr>
          <a:xfrm>
            <a:off x="5440680" y="2377440"/>
            <a:ext cx="1280160" cy="914400"/>
          </a:xfrm>
          <a:prstGeom prst="roundRect">
            <a:avLst>
              <a:gd name="adj" fmla="val 8000"/>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300" b="1" dirty="0">
                <a:solidFill>
                  <a:srgbClr val="E8ECF5"/>
                </a:solidFill>
                <a:latin typeface="Segoe UI" pitchFamily="34" charset="0"/>
                <a:ea typeface="Segoe UI" pitchFamily="34" charset="-122"/>
                <a:cs typeface="Segoe UI" pitchFamily="34" charset="-120"/>
              </a:rPr>
              <a:t>Request</a:t>
            </a:r>
            <a:endParaRPr lang="en-US" sz="1300" dirty="0"/>
          </a:p>
        </p:txBody>
      </p:sp>
      <p:sp>
        <p:nvSpPr>
          <p:cNvPr id="8" name="Text 6"/>
          <p:cNvSpPr/>
          <p:nvPr/>
        </p:nvSpPr>
        <p:spPr>
          <a:xfrm>
            <a:off x="7101840" y="2377440"/>
            <a:ext cx="1280160" cy="914400"/>
          </a:xfrm>
          <a:prstGeom prst="roundRect">
            <a:avLst>
              <a:gd name="adj" fmla="val 8000"/>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AuthN</a:t>
            </a:r>
            <a:endParaRPr lang="en-US" sz="1200" dirty="0"/>
          </a:p>
          <a:p>
            <a:pPr algn="ctr" indent="0" marL="0">
              <a:buNone/>
            </a:pPr>
            <a:r>
              <a:rPr lang="en-US" sz="1200" b="1" dirty="0">
                <a:solidFill>
                  <a:srgbClr val="E8ECF5"/>
                </a:solidFill>
                <a:latin typeface="Segoe UI" pitchFamily="34" charset="0"/>
                <a:ea typeface="Segoe UI" pitchFamily="34" charset="-122"/>
                <a:cs typeface="Segoe UI" pitchFamily="34" charset="-120"/>
              </a:rPr>
              <a:t>Who are you?</a:t>
            </a:r>
            <a:endParaRPr lang="en-US" sz="1200" dirty="0"/>
          </a:p>
        </p:txBody>
      </p:sp>
      <p:sp>
        <p:nvSpPr>
          <p:cNvPr id="9" name="Text 7"/>
          <p:cNvSpPr/>
          <p:nvPr/>
        </p:nvSpPr>
        <p:spPr>
          <a:xfrm>
            <a:off x="8763000" y="2377440"/>
            <a:ext cx="1280160" cy="914400"/>
          </a:xfrm>
          <a:prstGeom prst="roundRect">
            <a:avLst>
              <a:gd name="adj" fmla="val 8000"/>
            </a:avLst>
          </a:prstGeom>
          <a:solidFill>
            <a:srgbClr val="182238"/>
          </a:solidFill>
          <a:ln w="12700">
            <a:solidFill>
              <a:srgbClr val="7DB3FF"/>
            </a:solidFill>
            <a:prstDash val="solid"/>
          </a:ln>
        </p:spPr>
        <p:txBody>
          <a:bodyPr wrap="square" lIns="76200" tIns="76200" rIns="76200" bIns="76200"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AuthZ</a:t>
            </a:r>
            <a:endParaRPr lang="en-US" sz="1200" dirty="0"/>
          </a:p>
          <a:p>
            <a:pPr algn="ctr" indent="0" marL="0">
              <a:buNone/>
            </a:pPr>
            <a:r>
              <a:rPr lang="en-US" sz="1200" b="1" dirty="0">
                <a:solidFill>
                  <a:srgbClr val="E8ECF5"/>
                </a:solidFill>
                <a:latin typeface="Segoe UI" pitchFamily="34" charset="0"/>
                <a:ea typeface="Segoe UI" pitchFamily="34" charset="-122"/>
                <a:cs typeface="Segoe UI" pitchFamily="34" charset="-120"/>
              </a:rPr>
              <a:t>What can you do?</a:t>
            </a:r>
            <a:endParaRPr lang="en-US" sz="1200" dirty="0"/>
          </a:p>
        </p:txBody>
      </p:sp>
      <p:sp>
        <p:nvSpPr>
          <p:cNvPr id="10" name="Text 8"/>
          <p:cNvSpPr/>
          <p:nvPr/>
        </p:nvSpPr>
        <p:spPr>
          <a:xfrm>
            <a:off x="10424160" y="2377440"/>
            <a:ext cx="1280160" cy="914400"/>
          </a:xfrm>
          <a:prstGeom prst="roundRect">
            <a:avLst>
              <a:gd name="adj" fmla="val 8000"/>
            </a:avLst>
          </a:prstGeom>
          <a:solidFill>
            <a:srgbClr val="1E4D40"/>
          </a:solidFill>
          <a:ln w="12700">
            <a:solidFill>
              <a:srgbClr val="6EE7B7"/>
            </a:solidFill>
            <a:prstDash val="solid"/>
          </a:ln>
        </p:spPr>
        <p:txBody>
          <a:bodyPr wrap="square" lIns="76200" tIns="76200" rIns="76200" bIns="76200" rtlCol="0" anchor="ctr"/>
          <a:lstStyle/>
          <a:p>
            <a:pPr algn="ctr" indent="0" marL="0">
              <a:buNone/>
            </a:pPr>
            <a:r>
              <a:rPr lang="en-US" sz="1500" b="1" dirty="0">
                <a:solidFill>
                  <a:srgbClr val="6EE7B7"/>
                </a:solidFill>
                <a:latin typeface="Segoe UI" pitchFamily="34" charset="0"/>
                <a:ea typeface="Segoe UI" pitchFamily="34" charset="-122"/>
                <a:cs typeface="Segoe UI" pitchFamily="34" charset="-120"/>
              </a:rPr>
              <a:t>200 OK</a:t>
            </a:r>
            <a:endParaRPr lang="en-US" sz="1500" dirty="0"/>
          </a:p>
        </p:txBody>
      </p:sp>
      <p:sp>
        <p:nvSpPr>
          <p:cNvPr id="11" name="Shape 9"/>
          <p:cNvSpPr/>
          <p:nvPr/>
        </p:nvSpPr>
        <p:spPr>
          <a:xfrm>
            <a:off x="6720840" y="2834640"/>
            <a:ext cx="381000" cy="0"/>
          </a:xfrm>
          <a:prstGeom prst="line">
            <a:avLst/>
          </a:prstGeom>
          <a:noFill/>
          <a:ln w="19050">
            <a:solidFill>
              <a:srgbClr val="B5A5FF"/>
            </a:solidFill>
            <a:prstDash val="solid"/>
            <a:tailEnd type="triangle"/>
          </a:ln>
        </p:spPr>
      </p:sp>
      <p:sp>
        <p:nvSpPr>
          <p:cNvPr id="12" name="Shape 10"/>
          <p:cNvSpPr/>
          <p:nvPr/>
        </p:nvSpPr>
        <p:spPr>
          <a:xfrm>
            <a:off x="8382000" y="2834640"/>
            <a:ext cx="381000" cy="0"/>
          </a:xfrm>
          <a:prstGeom prst="line">
            <a:avLst/>
          </a:prstGeom>
          <a:noFill/>
          <a:ln w="19050">
            <a:solidFill>
              <a:srgbClr val="B5A5FF"/>
            </a:solidFill>
            <a:prstDash val="solid"/>
            <a:tailEnd type="triangle"/>
          </a:ln>
        </p:spPr>
      </p:sp>
      <p:sp>
        <p:nvSpPr>
          <p:cNvPr id="13" name="Shape 11"/>
          <p:cNvSpPr/>
          <p:nvPr/>
        </p:nvSpPr>
        <p:spPr>
          <a:xfrm>
            <a:off x="10043160" y="2834640"/>
            <a:ext cx="381000" cy="0"/>
          </a:xfrm>
          <a:prstGeom prst="line">
            <a:avLst/>
          </a:prstGeom>
          <a:noFill/>
          <a:ln w="19050">
            <a:solidFill>
              <a:srgbClr val="B5A5FF"/>
            </a:solidFill>
            <a:prstDash val="solid"/>
            <a:tailEnd type="triangle"/>
          </a:ln>
        </p:spPr>
      </p:sp>
      <p:sp>
        <p:nvSpPr>
          <p:cNvPr id="14" name="Text 12"/>
          <p:cNvSpPr/>
          <p:nvPr/>
        </p:nvSpPr>
        <p:spPr>
          <a:xfrm>
            <a:off x="7376160" y="1965960"/>
            <a:ext cx="2392680" cy="320040"/>
          </a:xfrm>
          <a:prstGeom prst="rect">
            <a:avLst/>
          </a:prstGeom>
          <a:noFill/>
          <a:ln/>
        </p:spPr>
        <p:txBody>
          <a:bodyPr wrap="square" lIns="25400" tIns="25400" rIns="25400" bIns="25400" rtlCol="0" anchor="ctr"/>
          <a:lstStyle/>
          <a:p>
            <a:pPr algn="ctr" indent="0" marL="0">
              <a:buNone/>
            </a:pPr>
            <a:r>
              <a:rPr lang="en-US" sz="1000" dirty="0">
                <a:solidFill>
                  <a:srgbClr val="8F9BB3"/>
                </a:solidFill>
                <a:latin typeface="Consolas" pitchFamily="34" charset="0"/>
                <a:ea typeface="Consolas" pitchFamily="34" charset="-122"/>
                <a:cs typeface="Consolas" pitchFamily="34" charset="-120"/>
              </a:rPr>
              <a:t>principal { id, role }</a:t>
            </a:r>
            <a:endParaRPr lang="en-US" sz="1000" dirty="0"/>
          </a:p>
        </p:txBody>
      </p:sp>
      <p:sp>
        <p:nvSpPr>
          <p:cNvPr id="15" name="Text 13"/>
          <p:cNvSpPr/>
          <p:nvPr/>
        </p:nvSpPr>
        <p:spPr>
          <a:xfrm>
            <a:off x="7284720" y="4206240"/>
            <a:ext cx="914400" cy="566928"/>
          </a:xfrm>
          <a:prstGeom prst="roundRect">
            <a:avLst>
              <a:gd name="adj" fmla="val 12903"/>
            </a:avLst>
          </a:prstGeom>
          <a:solidFill>
            <a:srgbClr val="4A3420"/>
          </a:solidFill>
          <a:ln w="12700">
            <a:solidFill>
              <a:srgbClr val="F5A65B"/>
            </a:solidFill>
            <a:prstDash val="solid"/>
          </a:ln>
        </p:spPr>
        <p:txBody>
          <a:bodyPr wrap="square" lIns="76200" tIns="76200" rIns="76200" bIns="76200" rtlCol="0" anchor="ctr"/>
          <a:lstStyle/>
          <a:p>
            <a:pPr algn="ctr" indent="0" marL="0">
              <a:buNone/>
            </a:pPr>
            <a:r>
              <a:rPr lang="en-US" sz="1800" b="1" dirty="0">
                <a:solidFill>
                  <a:srgbClr val="F5A65B"/>
                </a:solidFill>
                <a:latin typeface="Segoe UI" pitchFamily="34" charset="0"/>
                <a:ea typeface="Segoe UI" pitchFamily="34" charset="-122"/>
                <a:cs typeface="Segoe UI" pitchFamily="34" charset="-120"/>
              </a:rPr>
              <a:t>401</a:t>
            </a:r>
            <a:endParaRPr lang="en-US" sz="1800" dirty="0"/>
          </a:p>
        </p:txBody>
      </p:sp>
      <p:sp>
        <p:nvSpPr>
          <p:cNvPr id="16" name="Text 14"/>
          <p:cNvSpPr/>
          <p:nvPr/>
        </p:nvSpPr>
        <p:spPr>
          <a:xfrm>
            <a:off x="8945880" y="4206240"/>
            <a:ext cx="914400" cy="566928"/>
          </a:xfrm>
          <a:prstGeom prst="roundRect">
            <a:avLst>
              <a:gd name="adj" fmla="val 12903"/>
            </a:avLst>
          </a:prstGeom>
          <a:solidFill>
            <a:srgbClr val="4D2530"/>
          </a:solidFill>
          <a:ln w="12700">
            <a:solidFill>
              <a:srgbClr val="F28B9A"/>
            </a:solidFill>
            <a:prstDash val="solid"/>
          </a:ln>
        </p:spPr>
        <p:txBody>
          <a:bodyPr wrap="square" lIns="76200" tIns="76200" rIns="76200" bIns="76200" rtlCol="0" anchor="ctr"/>
          <a:lstStyle/>
          <a:p>
            <a:pPr algn="ctr" indent="0" marL="0">
              <a:buNone/>
            </a:pPr>
            <a:r>
              <a:rPr lang="en-US" sz="1800" b="1" dirty="0">
                <a:solidFill>
                  <a:srgbClr val="F28B9A"/>
                </a:solidFill>
                <a:latin typeface="Segoe UI" pitchFamily="34" charset="0"/>
                <a:ea typeface="Segoe UI" pitchFamily="34" charset="-122"/>
                <a:cs typeface="Segoe UI" pitchFamily="34" charset="-120"/>
              </a:rPr>
              <a:t>403</a:t>
            </a:r>
            <a:endParaRPr lang="en-US" sz="1800" dirty="0"/>
          </a:p>
        </p:txBody>
      </p:sp>
      <p:sp>
        <p:nvSpPr>
          <p:cNvPr id="17" name="Shape 15"/>
          <p:cNvSpPr/>
          <p:nvPr/>
        </p:nvSpPr>
        <p:spPr>
          <a:xfrm>
            <a:off x="7741920" y="3291840"/>
            <a:ext cx="0" cy="914400"/>
          </a:xfrm>
          <a:prstGeom prst="line">
            <a:avLst/>
          </a:prstGeom>
          <a:noFill/>
          <a:ln w="19050">
            <a:solidFill>
              <a:srgbClr val="F5A65B"/>
            </a:solidFill>
            <a:prstDash val="solid"/>
            <a:tailEnd type="triangle"/>
          </a:ln>
        </p:spPr>
      </p:sp>
      <p:sp>
        <p:nvSpPr>
          <p:cNvPr id="18" name="Shape 16"/>
          <p:cNvSpPr/>
          <p:nvPr/>
        </p:nvSpPr>
        <p:spPr>
          <a:xfrm>
            <a:off x="9403080" y="3291840"/>
            <a:ext cx="0" cy="914400"/>
          </a:xfrm>
          <a:prstGeom prst="line">
            <a:avLst/>
          </a:prstGeom>
          <a:noFill/>
          <a:ln w="19050">
            <a:solidFill>
              <a:srgbClr val="F28B9A"/>
            </a:solidFill>
            <a:prstDash val="solid"/>
            <a:tailEnd type="triangle"/>
          </a:ln>
        </p:spPr>
      </p:sp>
      <p:sp>
        <p:nvSpPr>
          <p:cNvPr id="19" name="Text 17"/>
          <p:cNvSpPr/>
          <p:nvPr/>
        </p:nvSpPr>
        <p:spPr>
          <a:xfrm>
            <a:off x="6873240" y="4828032"/>
            <a:ext cx="1737360" cy="320040"/>
          </a:xfrm>
          <a:prstGeom prst="rect">
            <a:avLst/>
          </a:prstGeom>
          <a:noFill/>
          <a:ln/>
        </p:spPr>
        <p:txBody>
          <a:bodyPr wrap="square" lIns="25400" tIns="25400" rIns="25400" bIns="25400" rtlCol="0" anchor="ctr"/>
          <a:lstStyle/>
          <a:p>
            <a:pPr algn="ctr" indent="0" marL="0">
              <a:buNone/>
            </a:pPr>
            <a:r>
              <a:rPr lang="en-US" sz="1000" dirty="0">
                <a:solidFill>
                  <a:srgbClr val="8F9BB3"/>
                </a:solidFill>
                <a:latin typeface="Segoe UI" pitchFamily="34" charset="0"/>
                <a:ea typeface="Segoe UI" pitchFamily="34" charset="-122"/>
                <a:cs typeface="Segoe UI" pitchFamily="34" charset="-120"/>
              </a:rPr>
              <a:t>credential thiếu / sai</a:t>
            </a:r>
            <a:endParaRPr lang="en-US" sz="1000" dirty="0"/>
          </a:p>
        </p:txBody>
      </p:sp>
      <p:sp>
        <p:nvSpPr>
          <p:cNvPr id="20" name="Text 18"/>
          <p:cNvSpPr/>
          <p:nvPr/>
        </p:nvSpPr>
        <p:spPr>
          <a:xfrm>
            <a:off x="8488680" y="4828032"/>
            <a:ext cx="1828800" cy="320040"/>
          </a:xfrm>
          <a:prstGeom prst="rect">
            <a:avLst/>
          </a:prstGeom>
          <a:noFill/>
          <a:ln/>
        </p:spPr>
        <p:txBody>
          <a:bodyPr wrap="square" lIns="25400" tIns="25400" rIns="25400" bIns="25400" rtlCol="0" anchor="ctr"/>
          <a:lstStyle/>
          <a:p>
            <a:pPr algn="ctr" indent="0" marL="0">
              <a:buNone/>
            </a:pPr>
            <a:r>
              <a:rPr lang="en-US" sz="1000" dirty="0">
                <a:solidFill>
                  <a:srgbClr val="8F9BB3"/>
                </a:solidFill>
                <a:latin typeface="Segoe UI" pitchFamily="34" charset="0"/>
                <a:ea typeface="Segoe UI" pitchFamily="34" charset="-122"/>
                <a:cs typeface="Segoe UI" pitchFamily="34" charset="-120"/>
              </a:rPr>
              <a:t>đã biết là ai, không đủ quyền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AUTHN &amp; AUTHZ  ·  SLIDE 5/27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401 hay 403?</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401</a:t>
            </a:r>
            <a:r>
              <a:rPr lang="en-US" sz="1800" dirty="0">
                <a:solidFill>
                  <a:srgbClr val="E8ECF5"/>
                </a:solidFill>
                <a:latin typeface="Segoe UI" pitchFamily="34" charset="0"/>
                <a:ea typeface="Segoe UI" pitchFamily="34" charset="-122"/>
                <a:cs typeface="Segoe UI" pitchFamily="34" charset="-120"/>
              </a:rPr>
              <a:t> — credential thiếu hoặc không hợp lệ.</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403</a:t>
            </a:r>
            <a:r>
              <a:rPr lang="en-US" sz="1800" dirty="0">
                <a:solidFill>
                  <a:srgbClr val="E8ECF5"/>
                </a:solidFill>
                <a:latin typeface="Segoe UI" pitchFamily="34" charset="0"/>
                <a:ea typeface="Segoe UI" pitchFamily="34" charset="-122"/>
                <a:cs typeface="Segoe UI" pitchFamily="34" charset="-120"/>
              </a:rPr>
              <a:t> — đã xác thực nhưng không đủ quyền trong ngữ cảnh hiện tại.</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Backend phải enforce quyền.</a:t>
            </a:r>
            <a:endParaRPr lang="en-US" sz="1800" dirty="0"/>
          </a:p>
        </p:txBody>
      </p:sp>
      <p:sp>
        <p:nvSpPr>
          <p:cNvPr id="7" name="Text 5"/>
          <p:cNvSpPr/>
          <p:nvPr/>
        </p:nvSpPr>
        <p:spPr>
          <a:xfrm>
            <a:off x="6446520" y="1463040"/>
            <a:ext cx="2194560" cy="457200"/>
          </a:xfrm>
          <a:prstGeom prst="roundRect">
            <a:avLst>
              <a:gd name="adj" fmla="val 16000"/>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200" b="1" dirty="0">
                <a:solidFill>
                  <a:srgbClr val="E8ECF5"/>
                </a:solidFill>
                <a:latin typeface="Consolas" pitchFamily="34" charset="0"/>
                <a:ea typeface="Consolas" pitchFamily="34" charset="-122"/>
                <a:cs typeface="Consolas" pitchFamily="34" charset="-120"/>
              </a:rPr>
              <a:t>GET /api/admin</a:t>
            </a:r>
            <a:endParaRPr lang="en-US" sz="1200" dirty="0"/>
          </a:p>
        </p:txBody>
      </p:sp>
      <p:sp>
        <p:nvSpPr>
          <p:cNvPr id="8" name="Text 6"/>
          <p:cNvSpPr/>
          <p:nvPr/>
        </p:nvSpPr>
        <p:spPr>
          <a:xfrm>
            <a:off x="6355080" y="2240280"/>
            <a:ext cx="2377440" cy="960120"/>
          </a:xfrm>
          <a:prstGeom prst="diamond">
            <a:avLst/>
          </a:prstGeom>
          <a:solidFill>
            <a:srgbClr val="182238"/>
          </a:solidFill>
          <a:ln w="15875">
            <a:solidFill>
              <a:srgbClr val="B5A5FF"/>
            </a:solidFill>
          </a:ln>
        </p:spPr>
        <p:txBody>
          <a:bodyPr wrap="square"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Credential</a:t>
            </a:r>
            <a:endParaRPr lang="en-US" sz="1200" dirty="0"/>
          </a:p>
          <a:p>
            <a:pPr algn="ctr" indent="0" marL="0">
              <a:buNone/>
            </a:pPr>
            <a:r>
              <a:rPr lang="en-US" sz="1200" b="1" dirty="0">
                <a:solidFill>
                  <a:srgbClr val="E8ECF5"/>
                </a:solidFill>
                <a:latin typeface="Segoe UI" pitchFamily="34" charset="0"/>
                <a:ea typeface="Segoe UI" pitchFamily="34" charset="-122"/>
                <a:cs typeface="Segoe UI" pitchFamily="34" charset="-120"/>
              </a:rPr>
              <a:t>hợp lệ?</a:t>
            </a:r>
            <a:endParaRPr lang="en-US" sz="1200" dirty="0"/>
          </a:p>
        </p:txBody>
      </p:sp>
      <p:sp>
        <p:nvSpPr>
          <p:cNvPr id="9" name="Text 7"/>
          <p:cNvSpPr/>
          <p:nvPr/>
        </p:nvSpPr>
        <p:spPr>
          <a:xfrm>
            <a:off x="6355080" y="3611880"/>
            <a:ext cx="2377440" cy="960120"/>
          </a:xfrm>
          <a:prstGeom prst="diamond">
            <a:avLst/>
          </a:prstGeom>
          <a:solidFill>
            <a:srgbClr val="182238"/>
          </a:solidFill>
          <a:ln w="15875">
            <a:solidFill>
              <a:srgbClr val="7DB3FF"/>
            </a:solidFill>
          </a:ln>
        </p:spPr>
        <p:txBody>
          <a:bodyPr wrap="square"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Role đủ</a:t>
            </a:r>
            <a:endParaRPr lang="en-US" sz="1200" dirty="0"/>
          </a:p>
          <a:p>
            <a:pPr algn="ctr" indent="0" marL="0">
              <a:buNone/>
            </a:pPr>
            <a:r>
              <a:rPr lang="en-US" sz="1200" b="1" dirty="0">
                <a:solidFill>
                  <a:srgbClr val="E8ECF5"/>
                </a:solidFill>
                <a:latin typeface="Segoe UI" pitchFamily="34" charset="0"/>
                <a:ea typeface="Segoe UI" pitchFamily="34" charset="-122"/>
                <a:cs typeface="Segoe UI" pitchFamily="34" charset="-120"/>
              </a:rPr>
              <a:t>quyền?</a:t>
            </a:r>
            <a:endParaRPr lang="en-US" sz="1200" dirty="0"/>
          </a:p>
        </p:txBody>
      </p:sp>
      <p:sp>
        <p:nvSpPr>
          <p:cNvPr id="10" name="Text 8"/>
          <p:cNvSpPr/>
          <p:nvPr/>
        </p:nvSpPr>
        <p:spPr>
          <a:xfrm>
            <a:off x="6766560" y="5029200"/>
            <a:ext cx="1554480" cy="548640"/>
          </a:xfrm>
          <a:prstGeom prst="roundRect">
            <a:avLst>
              <a:gd name="adj" fmla="val 13333"/>
            </a:avLst>
          </a:prstGeom>
          <a:solidFill>
            <a:srgbClr val="1E4D40"/>
          </a:solidFill>
          <a:ln w="12700">
            <a:solidFill>
              <a:srgbClr val="6EE7B7"/>
            </a:solidFill>
            <a:prstDash val="solid"/>
          </a:ln>
        </p:spPr>
        <p:txBody>
          <a:bodyPr wrap="square" lIns="76200" tIns="76200" rIns="76200" bIns="76200" rtlCol="0" anchor="ctr"/>
          <a:lstStyle/>
          <a:p>
            <a:pPr algn="ctr" indent="0" marL="0">
              <a:buNone/>
            </a:pPr>
            <a:r>
              <a:rPr lang="en-US" sz="1600" b="1" dirty="0">
                <a:solidFill>
                  <a:srgbClr val="6EE7B7"/>
                </a:solidFill>
                <a:latin typeface="Segoe UI" pitchFamily="34" charset="0"/>
                <a:ea typeface="Segoe UI" pitchFamily="34" charset="-122"/>
                <a:cs typeface="Segoe UI" pitchFamily="34" charset="-120"/>
              </a:rPr>
              <a:t>200 OK</a:t>
            </a:r>
            <a:endParaRPr lang="en-US" sz="1600" dirty="0"/>
          </a:p>
        </p:txBody>
      </p:sp>
      <p:sp>
        <p:nvSpPr>
          <p:cNvPr id="11" name="Text 9"/>
          <p:cNvSpPr/>
          <p:nvPr/>
        </p:nvSpPr>
        <p:spPr>
          <a:xfrm>
            <a:off x="9646920" y="2423160"/>
            <a:ext cx="2103120" cy="594360"/>
          </a:xfrm>
          <a:prstGeom prst="roundRect">
            <a:avLst>
              <a:gd name="adj" fmla="val 12308"/>
            </a:avLst>
          </a:prstGeom>
          <a:solidFill>
            <a:srgbClr val="4A3420"/>
          </a:solidFill>
          <a:ln w="12700">
            <a:solidFill>
              <a:srgbClr val="F5A65B"/>
            </a:solidFill>
            <a:prstDash val="solid"/>
          </a:ln>
        </p:spPr>
        <p:txBody>
          <a:bodyPr wrap="square" lIns="76200" tIns="76200" rIns="76200" bIns="76200" rtlCol="0" anchor="ctr"/>
          <a:lstStyle/>
          <a:p>
            <a:pPr algn="ctr" indent="0" marL="0">
              <a:buNone/>
            </a:pPr>
            <a:r>
              <a:rPr lang="en-US" sz="1100" b="1" dirty="0">
                <a:solidFill>
                  <a:srgbClr val="F5A65B"/>
                </a:solidFill>
                <a:latin typeface="Segoe UI" pitchFamily="34" charset="0"/>
                <a:ea typeface="Segoe UI" pitchFamily="34" charset="-122"/>
                <a:cs typeface="Segoe UI" pitchFamily="34" charset="-120"/>
              </a:rPr>
              <a:t>401 Unauthorized</a:t>
            </a:r>
            <a:endParaRPr lang="en-US" sz="1100" dirty="0"/>
          </a:p>
          <a:p>
            <a:pPr algn="ctr" indent="0" marL="0">
              <a:buNone/>
            </a:pPr>
            <a:r>
              <a:rPr lang="en-US" sz="1100" b="1" dirty="0">
                <a:solidFill>
                  <a:srgbClr val="F5A65B"/>
                </a:solidFill>
                <a:latin typeface="Segoe UI" pitchFamily="34" charset="0"/>
                <a:ea typeface="Segoe UI" pitchFamily="34" charset="-122"/>
                <a:cs typeface="Segoe UI" pitchFamily="34" charset="-120"/>
              </a:rPr>
              <a:t>+ WWW-Authenticate</a:t>
            </a:r>
            <a:endParaRPr lang="en-US" sz="1100" dirty="0"/>
          </a:p>
        </p:txBody>
      </p:sp>
      <p:sp>
        <p:nvSpPr>
          <p:cNvPr id="12" name="Text 10"/>
          <p:cNvSpPr/>
          <p:nvPr/>
        </p:nvSpPr>
        <p:spPr>
          <a:xfrm>
            <a:off x="9646920" y="3794760"/>
            <a:ext cx="2103120" cy="594360"/>
          </a:xfrm>
          <a:prstGeom prst="roundRect">
            <a:avLst>
              <a:gd name="adj" fmla="val 12308"/>
            </a:avLst>
          </a:prstGeom>
          <a:solidFill>
            <a:srgbClr val="4D2530"/>
          </a:solidFill>
          <a:ln w="12700">
            <a:solidFill>
              <a:srgbClr val="F28B9A"/>
            </a:solidFill>
            <a:prstDash val="solid"/>
          </a:ln>
        </p:spPr>
        <p:txBody>
          <a:bodyPr wrap="square" lIns="76200" tIns="76200" rIns="76200" bIns="76200" rtlCol="0" anchor="ctr"/>
          <a:lstStyle/>
          <a:p>
            <a:pPr algn="ctr" indent="0" marL="0">
              <a:buNone/>
            </a:pPr>
            <a:r>
              <a:rPr lang="en-US" sz="1300" b="1" dirty="0">
                <a:solidFill>
                  <a:srgbClr val="F28B9A"/>
                </a:solidFill>
                <a:latin typeface="Segoe UI" pitchFamily="34" charset="0"/>
                <a:ea typeface="Segoe UI" pitchFamily="34" charset="-122"/>
                <a:cs typeface="Segoe UI" pitchFamily="34" charset="-120"/>
              </a:rPr>
              <a:t>403 Forbidden</a:t>
            </a:r>
            <a:endParaRPr lang="en-US" sz="1300" dirty="0"/>
          </a:p>
        </p:txBody>
      </p:sp>
      <p:sp>
        <p:nvSpPr>
          <p:cNvPr id="13" name="Shape 11"/>
          <p:cNvSpPr/>
          <p:nvPr/>
        </p:nvSpPr>
        <p:spPr>
          <a:xfrm>
            <a:off x="7543800" y="1920240"/>
            <a:ext cx="0" cy="320040"/>
          </a:xfrm>
          <a:prstGeom prst="line">
            <a:avLst/>
          </a:prstGeom>
          <a:noFill/>
          <a:ln w="19050">
            <a:solidFill>
              <a:srgbClr val="8F9BB3"/>
            </a:solidFill>
            <a:prstDash val="solid"/>
            <a:tailEnd type="triangle"/>
          </a:ln>
        </p:spPr>
      </p:sp>
      <p:sp>
        <p:nvSpPr>
          <p:cNvPr id="14" name="Shape 12"/>
          <p:cNvSpPr/>
          <p:nvPr/>
        </p:nvSpPr>
        <p:spPr>
          <a:xfrm>
            <a:off x="7543800" y="3200400"/>
            <a:ext cx="0" cy="411480"/>
          </a:xfrm>
          <a:prstGeom prst="line">
            <a:avLst/>
          </a:prstGeom>
          <a:noFill/>
          <a:ln w="19050">
            <a:solidFill>
              <a:srgbClr val="6EE7B7"/>
            </a:solidFill>
            <a:prstDash val="solid"/>
            <a:tailEnd type="triangle"/>
          </a:ln>
        </p:spPr>
      </p:sp>
      <p:sp>
        <p:nvSpPr>
          <p:cNvPr id="15" name="Shape 13"/>
          <p:cNvSpPr/>
          <p:nvPr/>
        </p:nvSpPr>
        <p:spPr>
          <a:xfrm>
            <a:off x="7543800" y="4572000"/>
            <a:ext cx="0" cy="457200"/>
          </a:xfrm>
          <a:prstGeom prst="line">
            <a:avLst/>
          </a:prstGeom>
          <a:noFill/>
          <a:ln w="19050">
            <a:solidFill>
              <a:srgbClr val="6EE7B7"/>
            </a:solidFill>
            <a:prstDash val="solid"/>
            <a:tailEnd type="triangle"/>
          </a:ln>
        </p:spPr>
      </p:sp>
      <p:sp>
        <p:nvSpPr>
          <p:cNvPr id="16" name="Shape 14"/>
          <p:cNvSpPr/>
          <p:nvPr/>
        </p:nvSpPr>
        <p:spPr>
          <a:xfrm>
            <a:off x="8732520" y="2720340"/>
            <a:ext cx="914400" cy="0"/>
          </a:xfrm>
          <a:prstGeom prst="line">
            <a:avLst/>
          </a:prstGeom>
          <a:noFill/>
          <a:ln w="19050">
            <a:solidFill>
              <a:srgbClr val="F5A65B"/>
            </a:solidFill>
            <a:prstDash val="solid"/>
            <a:tailEnd type="triangle"/>
          </a:ln>
        </p:spPr>
      </p:sp>
      <p:sp>
        <p:nvSpPr>
          <p:cNvPr id="17" name="Shape 15"/>
          <p:cNvSpPr/>
          <p:nvPr/>
        </p:nvSpPr>
        <p:spPr>
          <a:xfrm>
            <a:off x="8732520" y="4091940"/>
            <a:ext cx="914400" cy="0"/>
          </a:xfrm>
          <a:prstGeom prst="line">
            <a:avLst/>
          </a:prstGeom>
          <a:noFill/>
          <a:ln w="19050">
            <a:solidFill>
              <a:srgbClr val="F28B9A"/>
            </a:solidFill>
            <a:prstDash val="solid"/>
            <a:tailEnd type="triangle"/>
          </a:ln>
        </p:spPr>
      </p:sp>
      <p:sp>
        <p:nvSpPr>
          <p:cNvPr id="18" name="Text 16"/>
          <p:cNvSpPr/>
          <p:nvPr/>
        </p:nvSpPr>
        <p:spPr>
          <a:xfrm>
            <a:off x="8732520" y="2423160"/>
            <a:ext cx="914400" cy="274320"/>
          </a:xfrm>
          <a:prstGeom prst="rect">
            <a:avLst/>
          </a:prstGeom>
          <a:noFill/>
          <a:ln/>
        </p:spPr>
        <p:txBody>
          <a:bodyPr wrap="square" lIns="25400" tIns="25400" rIns="25400" bIns="25400" rtlCol="0" anchor="ctr"/>
          <a:lstStyle/>
          <a:p>
            <a:pPr algn="ctr" indent="0" marL="0">
              <a:buNone/>
            </a:pPr>
            <a:r>
              <a:rPr lang="en-US" sz="1000" dirty="0">
                <a:solidFill>
                  <a:srgbClr val="F5A65B"/>
                </a:solidFill>
                <a:latin typeface="Segoe UI" pitchFamily="34" charset="0"/>
                <a:ea typeface="Segoe UI" pitchFamily="34" charset="-122"/>
                <a:cs typeface="Segoe UI" pitchFamily="34" charset="-120"/>
              </a:rPr>
              <a:t>không</a:t>
            </a:r>
            <a:endParaRPr lang="en-US" sz="1000" dirty="0"/>
          </a:p>
        </p:txBody>
      </p:sp>
      <p:sp>
        <p:nvSpPr>
          <p:cNvPr id="19" name="Text 17"/>
          <p:cNvSpPr/>
          <p:nvPr/>
        </p:nvSpPr>
        <p:spPr>
          <a:xfrm>
            <a:off x="8732520" y="3794760"/>
            <a:ext cx="914400" cy="274320"/>
          </a:xfrm>
          <a:prstGeom prst="rect">
            <a:avLst/>
          </a:prstGeom>
          <a:noFill/>
          <a:ln/>
        </p:spPr>
        <p:txBody>
          <a:bodyPr wrap="square" lIns="25400" tIns="25400" rIns="25400" bIns="25400" rtlCol="0" anchor="ctr"/>
          <a:lstStyle/>
          <a:p>
            <a:pPr algn="ctr" indent="0" marL="0">
              <a:buNone/>
            </a:pPr>
            <a:r>
              <a:rPr lang="en-US" sz="1000" dirty="0">
                <a:solidFill>
                  <a:srgbClr val="F28B9A"/>
                </a:solidFill>
                <a:latin typeface="Segoe UI" pitchFamily="34" charset="0"/>
                <a:ea typeface="Segoe UI" pitchFamily="34" charset="-122"/>
                <a:cs typeface="Segoe UI" pitchFamily="34" charset="-120"/>
              </a:rPr>
              <a:t>không</a:t>
            </a:r>
            <a:endParaRPr lang="en-US" sz="1000" dirty="0"/>
          </a:p>
        </p:txBody>
      </p:sp>
      <p:sp>
        <p:nvSpPr>
          <p:cNvPr id="20" name="Text 18"/>
          <p:cNvSpPr/>
          <p:nvPr/>
        </p:nvSpPr>
        <p:spPr>
          <a:xfrm>
            <a:off x="7616952" y="3273552"/>
            <a:ext cx="457200" cy="274320"/>
          </a:xfrm>
          <a:prstGeom prst="rect">
            <a:avLst/>
          </a:prstGeom>
          <a:noFill/>
          <a:ln/>
        </p:spPr>
        <p:txBody>
          <a:bodyPr wrap="square" lIns="25400" tIns="25400" rIns="25400" bIns="25400" rtlCol="0" anchor="ctr"/>
          <a:lstStyle/>
          <a:p>
            <a:pPr algn="l" indent="0" marL="0">
              <a:buNone/>
            </a:pPr>
            <a:r>
              <a:rPr lang="en-US" sz="1000" dirty="0">
                <a:solidFill>
                  <a:srgbClr val="6EE7B7"/>
                </a:solidFill>
                <a:latin typeface="Segoe UI" pitchFamily="34" charset="0"/>
                <a:ea typeface="Segoe UI" pitchFamily="34" charset="-122"/>
                <a:cs typeface="Segoe UI" pitchFamily="34" charset="-120"/>
              </a:rPr>
              <a:t>có</a:t>
            </a:r>
            <a:endParaRPr lang="en-US" sz="1000" dirty="0"/>
          </a:p>
        </p:txBody>
      </p:sp>
      <p:sp>
        <p:nvSpPr>
          <p:cNvPr id="21" name="Text 19"/>
          <p:cNvSpPr/>
          <p:nvPr/>
        </p:nvSpPr>
        <p:spPr>
          <a:xfrm>
            <a:off x="7616952" y="4645152"/>
            <a:ext cx="457200" cy="274320"/>
          </a:xfrm>
          <a:prstGeom prst="rect">
            <a:avLst/>
          </a:prstGeom>
          <a:noFill/>
          <a:ln/>
        </p:spPr>
        <p:txBody>
          <a:bodyPr wrap="square" lIns="25400" tIns="25400" rIns="25400" bIns="25400" rtlCol="0" anchor="ctr"/>
          <a:lstStyle/>
          <a:p>
            <a:pPr algn="l" indent="0" marL="0">
              <a:buNone/>
            </a:pPr>
            <a:r>
              <a:rPr lang="en-US" sz="1000" dirty="0">
                <a:solidFill>
                  <a:srgbClr val="6EE7B7"/>
                </a:solidFill>
                <a:latin typeface="Segoe UI" pitchFamily="34" charset="0"/>
                <a:ea typeface="Segoe UI" pitchFamily="34" charset="-122"/>
                <a:cs typeface="Segoe UI" pitchFamily="34" charset="-120"/>
              </a:rPr>
              <a:t>có</a:t>
            </a:r>
            <a:endParaRPr lang="en-US" sz="1000" dirty="0"/>
          </a:p>
        </p:txBody>
      </p:sp>
      <p:sp>
        <p:nvSpPr>
          <p:cNvPr id="22" name="Text 20"/>
          <p:cNvSpPr/>
          <p:nvPr/>
        </p:nvSpPr>
        <p:spPr>
          <a:xfrm>
            <a:off x="548640" y="5760720"/>
            <a:ext cx="3566160" cy="566928"/>
          </a:xfrm>
          <a:prstGeom prst="roundRect">
            <a:avLst>
              <a:gd name="adj" fmla="val 12903"/>
            </a:avLst>
          </a:prstGeom>
          <a:solidFill>
            <a:srgbClr val="B5A5FF"/>
          </a:solidFill>
          <a:ln w="12700">
            <a:solidFill>
              <a:srgbClr val="B5A5FF"/>
            </a:solidFill>
          </a:ln>
        </p:spPr>
        <p:txBody>
          <a:bodyPr wrap="square" rtlCol="0" anchor="ctr"/>
          <a:lstStyle/>
          <a:p>
            <a:pPr algn="ctr" indent="0" marL="0">
              <a:buNone/>
            </a:pPr>
            <a:r>
              <a:rPr lang="en-US" sz="1500" b="1" u="sng" dirty="0">
                <a:solidFill>
                  <a:srgbClr val="111329"/>
                </a:solidFill>
                <a:latin typeface="Segoe UI" pitchFamily="34" charset="0"/>
                <a:ea typeface="Segoe UI" pitchFamily="34" charset="-122"/>
                <a:cs typeface="Segoe UI" pitchFamily="34" charset="-120"/>
                <a:hlinkClick r:id="rId1" invalidUrl="" action="" tgtFrame="" tooltip="http://localhost:5173/demo/authz" history="1" highlightClick="0" endSnd="0">
                  <a:extLst>
                    <a:ext uri="{A12FA001-AC4F-418D-AE19-62706E023703}">
                      <ahyp:hlinkClr xmlns:ahyp="http://schemas.microsoft.com/office/drawing/2018/hyperlinkcolor" val="tx"/>
                    </a:ext>
                  </a:extLst>
                </a:hlinkClick>
              </a:rPr>
              <a:t>Mở API Demo ↗</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PASSWORD  ·  SLIDE 6/27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Password không phải dữ liệu để đọc lại</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Không lưu plaintext.</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Hashing khác encryption.</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Verify thay vì giải mã.</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Dùng password hashing chuyên dụng (Argon2id, bcrypt, scrypt).</a:t>
            </a:r>
            <a:endParaRPr lang="en-US" sz="1800" dirty="0"/>
          </a:p>
        </p:txBody>
      </p:sp>
      <p:sp>
        <p:nvSpPr>
          <p:cNvPr id="7" name="Text 5"/>
          <p:cNvSpPr/>
          <p:nvPr/>
        </p:nvSpPr>
        <p:spPr>
          <a:xfrm>
            <a:off x="5440680" y="146304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LƯU (lúc đăng ký / đổi password)</a:t>
            </a:r>
            <a:endParaRPr lang="en-US" sz="1050" dirty="0"/>
          </a:p>
        </p:txBody>
      </p:sp>
      <p:sp>
        <p:nvSpPr>
          <p:cNvPr id="8" name="Text 6"/>
          <p:cNvSpPr/>
          <p:nvPr/>
        </p:nvSpPr>
        <p:spPr>
          <a:xfrm>
            <a:off x="5440680" y="1874520"/>
            <a:ext cx="1371600" cy="640080"/>
          </a:xfrm>
          <a:prstGeom prst="roundRect">
            <a:avLst>
              <a:gd name="adj" fmla="val 11429"/>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200" dirty="0">
                <a:solidFill>
                  <a:srgbClr val="E8ECF5"/>
                </a:solidFill>
                <a:latin typeface="Consolas" pitchFamily="34" charset="0"/>
                <a:ea typeface="Consolas" pitchFamily="34" charset="-122"/>
                <a:cs typeface="Consolas" pitchFamily="34" charset="-120"/>
              </a:rPr>
              <a:t>password</a:t>
            </a:r>
            <a:endParaRPr lang="en-US" sz="1200" dirty="0"/>
          </a:p>
        </p:txBody>
      </p:sp>
      <p:sp>
        <p:nvSpPr>
          <p:cNvPr id="9" name="Text 7"/>
          <p:cNvSpPr/>
          <p:nvPr/>
        </p:nvSpPr>
        <p:spPr>
          <a:xfrm>
            <a:off x="7360920" y="1828800"/>
            <a:ext cx="1828800" cy="731520"/>
          </a:xfrm>
          <a:prstGeom prst="roundRect">
            <a:avLst>
              <a:gd name="adj" fmla="val 10000"/>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bcrypt</a:t>
            </a:r>
            <a:endParaRPr lang="en-US" sz="1100" dirty="0"/>
          </a:p>
          <a:p>
            <a:pPr algn="ctr" indent="0" marL="0">
              <a:buNone/>
            </a:pPr>
            <a:r>
              <a:rPr lang="en-US" sz="1100" b="1" dirty="0">
                <a:solidFill>
                  <a:srgbClr val="E8ECF5"/>
                </a:solidFill>
                <a:latin typeface="Segoe UI" pitchFamily="34" charset="0"/>
                <a:ea typeface="Segoe UI" pitchFamily="34" charset="-122"/>
                <a:cs typeface="Segoe UI" pitchFamily="34" charset="-120"/>
              </a:rPr>
              <a:t>cost + salt ngẫu nhiên</a:t>
            </a:r>
            <a:endParaRPr lang="en-US" sz="1100" dirty="0"/>
          </a:p>
        </p:txBody>
      </p:sp>
      <p:sp>
        <p:nvSpPr>
          <p:cNvPr id="10" name="Text 8"/>
          <p:cNvSpPr/>
          <p:nvPr/>
        </p:nvSpPr>
        <p:spPr>
          <a:xfrm>
            <a:off x="9738360" y="1874520"/>
            <a:ext cx="2057400" cy="640080"/>
          </a:xfrm>
          <a:prstGeom prst="roundRect">
            <a:avLst>
              <a:gd name="adj" fmla="val 11429"/>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100" dirty="0">
                <a:solidFill>
                  <a:srgbClr val="6EE7B7"/>
                </a:solidFill>
                <a:latin typeface="Consolas" pitchFamily="34" charset="0"/>
                <a:ea typeface="Consolas" pitchFamily="34" charset="-122"/>
                <a:cs typeface="Consolas" pitchFamily="34" charset="-120"/>
              </a:rPr>
              <a:t>$2a$10$&lt;salt&gt;&lt;hash&gt;</a:t>
            </a:r>
            <a:endParaRPr lang="en-US" sz="1100" dirty="0"/>
          </a:p>
        </p:txBody>
      </p:sp>
      <p:sp>
        <p:nvSpPr>
          <p:cNvPr id="11" name="Shape 9"/>
          <p:cNvSpPr/>
          <p:nvPr/>
        </p:nvSpPr>
        <p:spPr>
          <a:xfrm>
            <a:off x="6812280" y="2194560"/>
            <a:ext cx="548640" cy="0"/>
          </a:xfrm>
          <a:prstGeom prst="line">
            <a:avLst/>
          </a:prstGeom>
          <a:noFill/>
          <a:ln w="19050">
            <a:solidFill>
              <a:srgbClr val="B5A5FF"/>
            </a:solidFill>
            <a:prstDash val="solid"/>
            <a:tailEnd type="triangle"/>
          </a:ln>
        </p:spPr>
      </p:sp>
      <p:sp>
        <p:nvSpPr>
          <p:cNvPr id="12" name="Shape 10"/>
          <p:cNvSpPr/>
          <p:nvPr/>
        </p:nvSpPr>
        <p:spPr>
          <a:xfrm>
            <a:off x="9189720" y="2194560"/>
            <a:ext cx="548640" cy="0"/>
          </a:xfrm>
          <a:prstGeom prst="line">
            <a:avLst/>
          </a:prstGeom>
          <a:noFill/>
          <a:ln w="19050">
            <a:solidFill>
              <a:srgbClr val="B5A5FF"/>
            </a:solidFill>
            <a:prstDash val="solid"/>
            <a:tailEnd type="triangle"/>
          </a:ln>
        </p:spPr>
      </p:sp>
      <p:sp>
        <p:nvSpPr>
          <p:cNvPr id="13" name="Text 11"/>
          <p:cNvSpPr/>
          <p:nvPr/>
        </p:nvSpPr>
        <p:spPr>
          <a:xfrm>
            <a:off x="9738360" y="2560320"/>
            <a:ext cx="2057400" cy="274320"/>
          </a:xfrm>
          <a:prstGeom prst="rect">
            <a:avLst/>
          </a:prstGeom>
          <a:noFill/>
          <a:ln/>
        </p:spPr>
        <p:txBody>
          <a:bodyPr wrap="square" lIns="25400" tIns="25400" rIns="25400" bIns="25400" rtlCol="0" anchor="ctr"/>
          <a:lstStyle/>
          <a:p>
            <a:pPr algn="ctr" indent="0" marL="0">
              <a:buNone/>
            </a:pPr>
            <a:r>
              <a:rPr lang="en-US" sz="950" dirty="0">
                <a:solidFill>
                  <a:srgbClr val="8F9BB3"/>
                </a:solidFill>
                <a:latin typeface="Segoe UI" pitchFamily="34" charset="0"/>
                <a:ea typeface="Segoe UI" pitchFamily="34" charset="-122"/>
                <a:cs typeface="Segoe UI" pitchFamily="34" charset="-120"/>
              </a:rPr>
              <a:t>DB chỉ giữ chuỗi này</a:t>
            </a:r>
            <a:endParaRPr lang="en-US" sz="950" dirty="0"/>
          </a:p>
        </p:txBody>
      </p:sp>
      <p:sp>
        <p:nvSpPr>
          <p:cNvPr id="14" name="Text 12"/>
          <p:cNvSpPr/>
          <p:nvPr/>
        </p:nvSpPr>
        <p:spPr>
          <a:xfrm>
            <a:off x="5440680" y="329184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VERIFY (lúc login)</a:t>
            </a:r>
            <a:endParaRPr lang="en-US" sz="1050" dirty="0"/>
          </a:p>
        </p:txBody>
      </p:sp>
      <p:sp>
        <p:nvSpPr>
          <p:cNvPr id="15" name="Text 13"/>
          <p:cNvSpPr/>
          <p:nvPr/>
        </p:nvSpPr>
        <p:spPr>
          <a:xfrm>
            <a:off x="5440680" y="3703320"/>
            <a:ext cx="1371600" cy="640080"/>
          </a:xfrm>
          <a:prstGeom prst="roundRect">
            <a:avLst>
              <a:gd name="adj" fmla="val 11429"/>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dirty="0">
                <a:solidFill>
                  <a:srgbClr val="E8ECF5"/>
                </a:solidFill>
                <a:latin typeface="Consolas" pitchFamily="34" charset="0"/>
                <a:ea typeface="Consolas" pitchFamily="34" charset="-122"/>
                <a:cs typeface="Consolas" pitchFamily="34" charset="-120"/>
              </a:rPr>
              <a:t>password nhập</a:t>
            </a:r>
            <a:endParaRPr lang="en-US" sz="1100" dirty="0"/>
          </a:p>
        </p:txBody>
      </p:sp>
      <p:sp>
        <p:nvSpPr>
          <p:cNvPr id="16" name="Text 14"/>
          <p:cNvSpPr/>
          <p:nvPr/>
        </p:nvSpPr>
        <p:spPr>
          <a:xfrm>
            <a:off x="5440680" y="4526280"/>
            <a:ext cx="1371600" cy="640080"/>
          </a:xfrm>
          <a:prstGeom prst="roundRect">
            <a:avLst>
              <a:gd name="adj" fmla="val 11429"/>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100" dirty="0">
                <a:solidFill>
                  <a:srgbClr val="E8ECF5"/>
                </a:solidFill>
                <a:latin typeface="Consolas" pitchFamily="34" charset="0"/>
                <a:ea typeface="Consolas" pitchFamily="34" charset="-122"/>
                <a:cs typeface="Consolas" pitchFamily="34" charset="-120"/>
              </a:rPr>
              <a:t>hash đã lưu</a:t>
            </a:r>
            <a:endParaRPr lang="en-US" sz="1100" dirty="0"/>
          </a:p>
        </p:txBody>
      </p:sp>
      <p:sp>
        <p:nvSpPr>
          <p:cNvPr id="17" name="Text 15"/>
          <p:cNvSpPr/>
          <p:nvPr/>
        </p:nvSpPr>
        <p:spPr>
          <a:xfrm>
            <a:off x="7360920" y="4023360"/>
            <a:ext cx="1828800" cy="822960"/>
          </a:xfrm>
          <a:prstGeom prst="roundRect">
            <a:avLst>
              <a:gd name="adj" fmla="val 8889"/>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bcrypt.compare</a:t>
            </a:r>
            <a:endParaRPr lang="en-US" sz="1100" dirty="0"/>
          </a:p>
          <a:p>
            <a:pPr algn="ctr" indent="0" marL="0">
              <a:buNone/>
            </a:pPr>
            <a:r>
              <a:rPr lang="en-US" sz="1100" b="1" dirty="0">
                <a:solidFill>
                  <a:srgbClr val="E8ECF5"/>
                </a:solidFill>
                <a:latin typeface="Segoe UI" pitchFamily="34" charset="0"/>
                <a:ea typeface="Segoe UI" pitchFamily="34" charset="-122"/>
                <a:cs typeface="Segoe UI" pitchFamily="34" charset="-120"/>
              </a:rPr>
              <a:t>đọc salt + cost từ hash</a:t>
            </a:r>
            <a:endParaRPr lang="en-US" sz="1100" dirty="0"/>
          </a:p>
        </p:txBody>
      </p:sp>
      <p:sp>
        <p:nvSpPr>
          <p:cNvPr id="18" name="Text 16"/>
          <p:cNvSpPr/>
          <p:nvPr/>
        </p:nvSpPr>
        <p:spPr>
          <a:xfrm>
            <a:off x="9738360" y="4114800"/>
            <a:ext cx="2057400" cy="640080"/>
          </a:xfrm>
          <a:prstGeom prst="roundRect">
            <a:avLst>
              <a:gd name="adj" fmla="val 11429"/>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200" dirty="0">
                <a:solidFill>
                  <a:srgbClr val="E8ECF5"/>
                </a:solidFill>
                <a:latin typeface="Consolas" pitchFamily="34" charset="0"/>
                <a:ea typeface="Consolas" pitchFamily="34" charset="-122"/>
                <a:cs typeface="Consolas" pitchFamily="34" charset="-120"/>
              </a:rPr>
              <a:t>match: true / false</a:t>
            </a:r>
            <a:endParaRPr lang="en-US" sz="1200" dirty="0"/>
          </a:p>
        </p:txBody>
      </p:sp>
      <p:sp>
        <p:nvSpPr>
          <p:cNvPr id="19" name="Shape 17"/>
          <p:cNvSpPr/>
          <p:nvPr/>
        </p:nvSpPr>
        <p:spPr>
          <a:xfrm>
            <a:off x="6812280" y="4023360"/>
            <a:ext cx="548640" cy="228600"/>
          </a:xfrm>
          <a:prstGeom prst="line">
            <a:avLst/>
          </a:prstGeom>
          <a:noFill/>
          <a:ln w="19050">
            <a:solidFill>
              <a:srgbClr val="B5A5FF"/>
            </a:solidFill>
            <a:prstDash val="solid"/>
            <a:tailEnd type="triangle"/>
          </a:ln>
        </p:spPr>
      </p:sp>
      <p:sp>
        <p:nvSpPr>
          <p:cNvPr id="20" name="Shape 18"/>
          <p:cNvSpPr/>
          <p:nvPr/>
        </p:nvSpPr>
        <p:spPr>
          <a:xfrm flipV="1">
            <a:off x="6812280" y="4617720"/>
            <a:ext cx="548640" cy="228600"/>
          </a:xfrm>
          <a:prstGeom prst="line">
            <a:avLst/>
          </a:prstGeom>
          <a:noFill/>
          <a:ln w="19050">
            <a:solidFill>
              <a:srgbClr val="6EE7B7"/>
            </a:solidFill>
            <a:prstDash val="solid"/>
            <a:tailEnd type="triangle"/>
          </a:ln>
        </p:spPr>
      </p:sp>
      <p:sp>
        <p:nvSpPr>
          <p:cNvPr id="21" name="Shape 19"/>
          <p:cNvSpPr/>
          <p:nvPr/>
        </p:nvSpPr>
        <p:spPr>
          <a:xfrm>
            <a:off x="9189720" y="4434840"/>
            <a:ext cx="548640" cy="0"/>
          </a:xfrm>
          <a:prstGeom prst="line">
            <a:avLst/>
          </a:prstGeom>
          <a:noFill/>
          <a:ln w="19050">
            <a:solidFill>
              <a:srgbClr val="B5A5FF"/>
            </a:solidFill>
            <a:prstDash val="solid"/>
            <a:tailEnd type="triangle"/>
          </a:ln>
        </p:spPr>
      </p:sp>
      <p:sp>
        <p:nvSpPr>
          <p:cNvPr id="22" name="Text 20"/>
          <p:cNvSpPr/>
          <p:nvPr/>
        </p:nvSpPr>
        <p:spPr>
          <a:xfrm>
            <a:off x="5440680" y="5349240"/>
            <a:ext cx="6263640" cy="320040"/>
          </a:xfrm>
          <a:prstGeom prst="rect">
            <a:avLst/>
          </a:prstGeom>
          <a:noFill/>
          <a:ln/>
        </p:spPr>
        <p:txBody>
          <a:bodyPr wrap="square" lIns="25400" tIns="25400" rIns="25400" bIns="25400" rtlCol="0" anchor="ctr"/>
          <a:lstStyle/>
          <a:p>
            <a:pPr algn="ctr" indent="0" marL="0">
              <a:buNone/>
            </a:pPr>
            <a:r>
              <a:rPr lang="en-US" sz="1200" i="1" dirty="0">
                <a:solidFill>
                  <a:srgbClr val="F5A65B"/>
                </a:solidFill>
                <a:latin typeface="Segoe UI" pitchFamily="34" charset="0"/>
                <a:ea typeface="Segoe UI" pitchFamily="34" charset="-122"/>
                <a:cs typeface="Segoe UI" pitchFamily="34" charset="-120"/>
              </a:rPr>
              <a:t>Không có bước "giải mã" nào.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PASSWORD  ·  SLIDE 7/27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Salt, brute-force và credential stuffing</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Salt ngẫu nhiên cho mỗi hash — không phải secret.</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Hash chậm làm tăng chi phí đoán offline.</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Rate limit, monitoring và MFA bổ sung cho hashing.</a:t>
            </a:r>
            <a:endParaRPr lang="en-US" sz="1800" dirty="0"/>
          </a:p>
        </p:txBody>
      </p:sp>
      <p:sp>
        <p:nvSpPr>
          <p:cNvPr id="7" name="Text 5"/>
          <p:cNvSpPr/>
          <p:nvPr/>
        </p:nvSpPr>
        <p:spPr>
          <a:xfrm>
            <a:off x="5440680" y="146304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CÙNG PASSWORD, KHÁC HASH</a:t>
            </a:r>
            <a:endParaRPr lang="en-US" sz="1050" dirty="0"/>
          </a:p>
        </p:txBody>
      </p:sp>
      <p:sp>
        <p:nvSpPr>
          <p:cNvPr id="8" name="Text 6"/>
          <p:cNvSpPr/>
          <p:nvPr/>
        </p:nvSpPr>
        <p:spPr>
          <a:xfrm>
            <a:off x="5440680" y="2057400"/>
            <a:ext cx="1828800" cy="640080"/>
          </a:xfrm>
          <a:prstGeom prst="roundRect">
            <a:avLst>
              <a:gd name="adj" fmla="val 11429"/>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50" dirty="0">
                <a:solidFill>
                  <a:srgbClr val="E8ECF5"/>
                </a:solidFill>
                <a:latin typeface="Consolas" pitchFamily="34" charset="0"/>
                <a:ea typeface="Consolas" pitchFamily="34" charset="-122"/>
                <a:cs typeface="Consolas" pitchFamily="34" charset="-120"/>
              </a:rPr>
              <a:t>correct-horse-battery</a:t>
            </a:r>
            <a:endParaRPr lang="en-US" sz="1050" dirty="0"/>
          </a:p>
        </p:txBody>
      </p:sp>
      <p:sp>
        <p:nvSpPr>
          <p:cNvPr id="9" name="Text 7"/>
          <p:cNvSpPr/>
          <p:nvPr/>
        </p:nvSpPr>
        <p:spPr>
          <a:xfrm>
            <a:off x="7818120" y="1783080"/>
            <a:ext cx="397764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algn="l" indent="0" marL="0">
              <a:buNone/>
            </a:pPr>
            <a:r>
              <a:rPr lang="en-US" sz="1050" dirty="0">
                <a:solidFill>
                  <a:srgbClr val="B5A5FF"/>
                </a:solidFill>
                <a:latin typeface="Consolas" pitchFamily="34" charset="0"/>
                <a:ea typeface="Consolas" pitchFamily="34" charset="-122"/>
                <a:cs typeface="Consolas" pitchFamily="34" charset="-120"/>
              </a:rPr>
              <a:t>$2a$10$</a:t>
            </a:r>
            <a:r>
              <a:rPr lang="en-US" sz="1050" dirty="0">
                <a:solidFill>
                  <a:srgbClr val="111329"/>
                </a:solidFill>
                <a:highlight>
                  <a:srgbClr val="B6F0D8"/>
                </a:highlight>
                <a:latin typeface="Consolas" pitchFamily="34" charset="0"/>
                <a:ea typeface="Consolas" pitchFamily="34" charset="-122"/>
                <a:cs typeface="Consolas" pitchFamily="34" charset="-120"/>
              </a:rPr>
              <a:t>FkqD0yEg8sfPXOaDf6yClO</a:t>
            </a:r>
            <a:r>
              <a:rPr lang="en-US" sz="1050" dirty="0">
                <a:solidFill>
                  <a:srgbClr val="E8ECF5"/>
                </a:solidFill>
                <a:latin typeface="Consolas" pitchFamily="34" charset="0"/>
                <a:ea typeface="Consolas" pitchFamily="34" charset="-122"/>
                <a:cs typeface="Consolas" pitchFamily="34" charset="-120"/>
              </a:rPr>
              <a:t>iEYuAowt…</a:t>
            </a:r>
            <a:endParaRPr lang="en-US" sz="1050" dirty="0"/>
          </a:p>
        </p:txBody>
      </p:sp>
      <p:sp>
        <p:nvSpPr>
          <p:cNvPr id="10" name="Text 8"/>
          <p:cNvSpPr/>
          <p:nvPr/>
        </p:nvSpPr>
        <p:spPr>
          <a:xfrm>
            <a:off x="7818120" y="2468880"/>
            <a:ext cx="397764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algn="l" indent="0" marL="0">
              <a:buNone/>
            </a:pPr>
            <a:r>
              <a:rPr lang="en-US" sz="1050" dirty="0">
                <a:solidFill>
                  <a:srgbClr val="B5A5FF"/>
                </a:solidFill>
                <a:latin typeface="Consolas" pitchFamily="34" charset="0"/>
                <a:ea typeface="Consolas" pitchFamily="34" charset="-122"/>
                <a:cs typeface="Consolas" pitchFamily="34" charset="-120"/>
              </a:rPr>
              <a:t>$2a$10$</a:t>
            </a:r>
            <a:r>
              <a:rPr lang="en-US" sz="1050" dirty="0">
                <a:solidFill>
                  <a:srgbClr val="111329"/>
                </a:solidFill>
                <a:highlight>
                  <a:srgbClr val="B6F0D8"/>
                </a:highlight>
                <a:latin typeface="Consolas" pitchFamily="34" charset="0"/>
                <a:ea typeface="Consolas" pitchFamily="34" charset="-122"/>
                <a:cs typeface="Consolas" pitchFamily="34" charset="-120"/>
              </a:rPr>
              <a:t>GwdFYBs00xRxy3exlqlI5e</a:t>
            </a:r>
            <a:r>
              <a:rPr lang="en-US" sz="1050" dirty="0">
                <a:solidFill>
                  <a:srgbClr val="E8ECF5"/>
                </a:solidFill>
                <a:latin typeface="Consolas" pitchFamily="34" charset="0"/>
                <a:ea typeface="Consolas" pitchFamily="34" charset="-122"/>
                <a:cs typeface="Consolas" pitchFamily="34" charset="-120"/>
              </a:rPr>
              <a:t>GIzhiFPP…</a:t>
            </a:r>
            <a:endParaRPr lang="en-US" sz="1050" dirty="0"/>
          </a:p>
        </p:txBody>
      </p:sp>
      <p:sp>
        <p:nvSpPr>
          <p:cNvPr id="11" name="Shape 9"/>
          <p:cNvSpPr/>
          <p:nvPr/>
        </p:nvSpPr>
        <p:spPr>
          <a:xfrm flipV="1">
            <a:off x="7269480" y="2029968"/>
            <a:ext cx="548640" cy="347472"/>
          </a:xfrm>
          <a:prstGeom prst="line">
            <a:avLst/>
          </a:prstGeom>
          <a:noFill/>
          <a:ln w="19050">
            <a:solidFill>
              <a:srgbClr val="B5A5FF"/>
            </a:solidFill>
            <a:prstDash val="solid"/>
            <a:tailEnd type="triangle"/>
          </a:ln>
        </p:spPr>
      </p:sp>
      <p:sp>
        <p:nvSpPr>
          <p:cNvPr id="12" name="Shape 10"/>
          <p:cNvSpPr/>
          <p:nvPr/>
        </p:nvSpPr>
        <p:spPr>
          <a:xfrm>
            <a:off x="7269480" y="2377440"/>
            <a:ext cx="548640" cy="347472"/>
          </a:xfrm>
          <a:prstGeom prst="line">
            <a:avLst/>
          </a:prstGeom>
          <a:noFill/>
          <a:ln w="19050">
            <a:solidFill>
              <a:srgbClr val="B5A5FF"/>
            </a:solidFill>
            <a:prstDash val="solid"/>
            <a:tailEnd type="triangle"/>
          </a:ln>
        </p:spPr>
      </p:sp>
      <p:sp>
        <p:nvSpPr>
          <p:cNvPr id="13" name="Text 11"/>
          <p:cNvSpPr/>
          <p:nvPr/>
        </p:nvSpPr>
        <p:spPr>
          <a:xfrm>
            <a:off x="7818120" y="3017520"/>
            <a:ext cx="3977640" cy="274320"/>
          </a:xfrm>
          <a:prstGeom prst="rect">
            <a:avLst/>
          </a:prstGeom>
          <a:noFill/>
          <a:ln/>
        </p:spPr>
        <p:txBody>
          <a:bodyPr wrap="square" lIns="25400" tIns="25400" rIns="25400" bIns="25400" rtlCol="0" anchor="ctr"/>
          <a:lstStyle/>
          <a:p>
            <a:pPr algn="l" indent="0" marL="0">
              <a:buNone/>
            </a:pPr>
            <a:r>
              <a:rPr lang="en-US" sz="950" dirty="0">
                <a:solidFill>
                  <a:srgbClr val="6EE7B7"/>
                </a:solidFill>
                <a:latin typeface="Segoe UI" pitchFamily="34" charset="0"/>
                <a:ea typeface="Segoe UI" pitchFamily="34" charset="-122"/>
                <a:cs typeface="Segoe UI" pitchFamily="34" charset="-120"/>
              </a:rPr>
              <a:t>salt (22 ký tự, không bí mật)</a:t>
            </a:r>
            <a:endParaRPr lang="en-US" sz="950" dirty="0"/>
          </a:p>
        </p:txBody>
      </p:sp>
      <p:sp>
        <p:nvSpPr>
          <p:cNvPr id="14" name="Text 12"/>
          <p:cNvSpPr/>
          <p:nvPr/>
        </p:nvSpPr>
        <p:spPr>
          <a:xfrm>
            <a:off x="5440680" y="356616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MỖI LỚP CHẶN MỘT KIỂU TẤN CÔNG</a:t>
            </a:r>
            <a:endParaRPr lang="en-US" sz="1050" dirty="0"/>
          </a:p>
        </p:txBody>
      </p:sp>
      <p:sp>
        <p:nvSpPr>
          <p:cNvPr id="15" name="Text 13"/>
          <p:cNvSpPr/>
          <p:nvPr/>
        </p:nvSpPr>
        <p:spPr>
          <a:xfrm>
            <a:off x="5440680" y="3931920"/>
            <a:ext cx="3040380" cy="1371600"/>
          </a:xfrm>
          <a:prstGeom prst="roundRect">
            <a:avLst>
              <a:gd name="adj" fmla="val 5333"/>
            </a:avLst>
          </a:prstGeom>
          <a:solidFill>
            <a:srgbClr val="182238"/>
          </a:solidFill>
          <a:ln w="12700">
            <a:solidFill>
              <a:srgbClr val="2A3651"/>
            </a:solidFill>
            <a:prstDash val="solid"/>
          </a:ln>
        </p:spPr>
        <p:txBody>
          <a:bodyPr wrap="square" lIns="76200" tIns="76200" rIns="76200" bIns="76200" rtlCol="0" anchor="ctr"/>
          <a:lstStyle/>
          <a:p>
            <a:pPr algn="l" indent="0" marL="0">
              <a:buNone/>
            </a:pPr>
            <a:r>
              <a:rPr lang="en-US" sz="1200" b="1" dirty="0">
                <a:solidFill>
                  <a:srgbClr val="B5A5FF"/>
                </a:solidFill>
                <a:latin typeface="Segoe UI" pitchFamily="34" charset="0"/>
                <a:ea typeface="Segoe UI" pitchFamily="34" charset="-122"/>
                <a:cs typeface="Segoe UI" pitchFamily="34" charset="-120"/>
              </a:rPr>
              <a:t>Offline — DB bị lộ</a:t>
            </a:r>
            <a:endParaRPr lang="en-US" sz="1200" dirty="0"/>
          </a:p>
          <a:p>
            <a:pPr algn="l" indent="0" marL="0">
              <a:buNone/>
            </a:pPr>
            <a:r>
              <a:rPr lang="en-US" sz="1100" dirty="0">
                <a:solidFill>
                  <a:srgbClr val="E8ECF5"/>
                </a:solidFill>
                <a:latin typeface="Segoe UI" pitchFamily="34" charset="0"/>
                <a:ea typeface="Segoe UI" pitchFamily="34" charset="-122"/>
                <a:cs typeface="Segoe UI" pitchFamily="34" charset="-120"/>
              </a:rPr>
              <a:t>Salt: không dùng được bảng tra sẵn</a:t>
            </a:r>
            <a:endParaRPr lang="en-US" sz="1200" dirty="0"/>
          </a:p>
          <a:p>
            <a:pPr algn="l" indent="0" marL="0">
              <a:buNone/>
            </a:pPr>
            <a:r>
              <a:rPr lang="en-US" sz="1100" dirty="0">
                <a:solidFill>
                  <a:srgbClr val="E8ECF5"/>
                </a:solidFill>
                <a:latin typeface="Segoe UI" pitchFamily="34" charset="0"/>
                <a:ea typeface="Segoe UI" pitchFamily="34" charset="-122"/>
                <a:cs typeface="Segoe UI" pitchFamily="34" charset="-120"/>
              </a:rPr>
              <a:t>Hash chậm: mỗi lần đoán tốn kém</a:t>
            </a:r>
            <a:endParaRPr lang="en-US" sz="1200" dirty="0"/>
          </a:p>
        </p:txBody>
      </p:sp>
      <p:sp>
        <p:nvSpPr>
          <p:cNvPr id="16" name="Text 14"/>
          <p:cNvSpPr/>
          <p:nvPr/>
        </p:nvSpPr>
        <p:spPr>
          <a:xfrm>
            <a:off x="8663940" y="3931920"/>
            <a:ext cx="3040380" cy="1371600"/>
          </a:xfrm>
          <a:prstGeom prst="roundRect">
            <a:avLst>
              <a:gd name="adj" fmla="val 5333"/>
            </a:avLst>
          </a:prstGeom>
          <a:solidFill>
            <a:srgbClr val="182238"/>
          </a:solidFill>
          <a:ln w="12700">
            <a:solidFill>
              <a:srgbClr val="F5A65B"/>
            </a:solidFill>
            <a:prstDash val="solid"/>
          </a:ln>
        </p:spPr>
        <p:txBody>
          <a:bodyPr wrap="square" lIns="76200" tIns="76200" rIns="76200" bIns="76200" rtlCol="0" anchor="ctr"/>
          <a:lstStyle/>
          <a:p>
            <a:pPr algn="l" indent="0" marL="0">
              <a:buNone/>
            </a:pPr>
            <a:r>
              <a:rPr lang="en-US" sz="1200" b="1" dirty="0">
                <a:solidFill>
                  <a:srgbClr val="F5A65B"/>
                </a:solidFill>
                <a:latin typeface="Segoe UI" pitchFamily="34" charset="0"/>
                <a:ea typeface="Segoe UI" pitchFamily="34" charset="-122"/>
                <a:cs typeface="Segoe UI" pitchFamily="34" charset="-120"/>
              </a:rPr>
              <a:t>Online — credential stuffing</a:t>
            </a:r>
            <a:endParaRPr lang="en-US" sz="1200" dirty="0"/>
          </a:p>
          <a:p>
            <a:pPr algn="l" indent="0" marL="0">
              <a:buNone/>
            </a:pPr>
            <a:r>
              <a:rPr lang="en-US" sz="1100" dirty="0">
                <a:solidFill>
                  <a:srgbClr val="E8ECF5"/>
                </a:solidFill>
                <a:latin typeface="Segoe UI" pitchFamily="34" charset="0"/>
                <a:ea typeface="Segoe UI" pitchFamily="34" charset="-122"/>
                <a:cs typeface="Segoe UI" pitchFamily="34" charset="-120"/>
              </a:rPr>
              <a:t>Hash không giúp được</a:t>
            </a:r>
            <a:endParaRPr lang="en-US" sz="1200" dirty="0"/>
          </a:p>
          <a:p>
            <a:pPr algn="l" indent="0" marL="0">
              <a:buNone/>
            </a:pPr>
            <a:r>
              <a:rPr lang="en-US" sz="1100" dirty="0">
                <a:solidFill>
                  <a:srgbClr val="E8ECF5"/>
                </a:solidFill>
                <a:latin typeface="Segoe UI" pitchFamily="34" charset="0"/>
                <a:ea typeface="Segoe UI" pitchFamily="34" charset="-122"/>
                <a:cs typeface="Segoe UI" pitchFamily="34" charset="-120"/>
              </a:rPr>
              <a:t>Rate limit · monitoring · MFA</a:t>
            </a:r>
            <a:endParaRPr lang="en-US" sz="1200" dirty="0"/>
          </a:p>
        </p:txBody>
      </p:sp>
      <p:sp>
        <p:nvSpPr>
          <p:cNvPr id="17" name="Text 15"/>
          <p:cNvSpPr/>
          <p:nvPr/>
        </p:nvSpPr>
        <p:spPr>
          <a:xfrm>
            <a:off x="548640" y="5760720"/>
            <a:ext cx="3566160" cy="566928"/>
          </a:xfrm>
          <a:prstGeom prst="roundRect">
            <a:avLst>
              <a:gd name="adj" fmla="val 12903"/>
            </a:avLst>
          </a:prstGeom>
          <a:solidFill>
            <a:srgbClr val="B5A5FF"/>
          </a:solidFill>
          <a:ln w="12700">
            <a:solidFill>
              <a:srgbClr val="B5A5FF"/>
            </a:solidFill>
          </a:ln>
        </p:spPr>
        <p:txBody>
          <a:bodyPr wrap="square" rtlCol="0" anchor="ctr"/>
          <a:lstStyle/>
          <a:p>
            <a:pPr algn="ctr" indent="0" marL="0">
              <a:buNone/>
            </a:pPr>
            <a:r>
              <a:rPr lang="en-US" sz="1500" b="1" u="sng" dirty="0">
                <a:solidFill>
                  <a:srgbClr val="111329"/>
                </a:solidFill>
                <a:latin typeface="Segoe UI" pitchFamily="34" charset="0"/>
                <a:ea typeface="Segoe UI" pitchFamily="34" charset="-122"/>
                <a:cs typeface="Segoe UI" pitchFamily="34" charset="-120"/>
                <a:hlinkClick r:id="rId1" invalidUrl="" action="" tgtFrame="" tooltip="http://localhost:5173/demo/password" history="1" highlightClick="0" endSnd="0">
                  <a:extLst>
                    <a:ext uri="{A12FA001-AC4F-418D-AE19-62706E023703}">
                      <ahyp:hlinkClr xmlns:ahyp="http://schemas.microsoft.com/office/drawing/2018/hyperlinkcolor" val="tx"/>
                    </a:ext>
                  </a:extLst>
                </a:hlinkClick>
              </a:rPr>
              <a:t>Mở Password Demo ↗</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SESSION  ·  SLIDE 8/27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Session-based Authentication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Server xác minh credential.</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Server tạo session (trạng thái nằm ở server).</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Browser giữ session ID qua cookie.</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Server tra cứu session ở request tiếp theo.</a:t>
            </a:r>
            <a:endParaRPr lang="en-US" sz="1800" dirty="0"/>
          </a:p>
        </p:txBody>
      </p:sp>
      <p:sp>
        <p:nvSpPr>
          <p:cNvPr id="7" name="Text 5"/>
          <p:cNvSpPr/>
          <p:nvPr/>
        </p:nvSpPr>
        <p:spPr>
          <a:xfrm>
            <a:off x="5495544" y="1463040"/>
            <a:ext cx="19781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Browser</a:t>
            </a:r>
            <a:endParaRPr lang="en-US" sz="1100" dirty="0"/>
          </a:p>
        </p:txBody>
      </p:sp>
      <p:sp>
        <p:nvSpPr>
          <p:cNvPr id="8" name="Shape 6"/>
          <p:cNvSpPr/>
          <p:nvPr/>
        </p:nvSpPr>
        <p:spPr>
          <a:xfrm>
            <a:off x="6484620" y="1883664"/>
            <a:ext cx="0" cy="3694176"/>
          </a:xfrm>
          <a:prstGeom prst="line">
            <a:avLst/>
          </a:prstGeom>
          <a:noFill/>
          <a:ln w="12700">
            <a:solidFill>
              <a:srgbClr val="2A3651"/>
            </a:solidFill>
            <a:prstDash val="dash"/>
          </a:ln>
        </p:spPr>
      </p:sp>
      <p:sp>
        <p:nvSpPr>
          <p:cNvPr id="9" name="Text 7"/>
          <p:cNvSpPr/>
          <p:nvPr/>
        </p:nvSpPr>
        <p:spPr>
          <a:xfrm>
            <a:off x="7583424" y="1463040"/>
            <a:ext cx="19781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DevHub API</a:t>
            </a:r>
            <a:endParaRPr lang="en-US" sz="1100" dirty="0"/>
          </a:p>
        </p:txBody>
      </p:sp>
      <p:sp>
        <p:nvSpPr>
          <p:cNvPr id="10" name="Shape 8"/>
          <p:cNvSpPr/>
          <p:nvPr/>
        </p:nvSpPr>
        <p:spPr>
          <a:xfrm>
            <a:off x="8572500" y="1883664"/>
            <a:ext cx="0" cy="3694176"/>
          </a:xfrm>
          <a:prstGeom prst="line">
            <a:avLst/>
          </a:prstGeom>
          <a:noFill/>
          <a:ln w="12700">
            <a:solidFill>
              <a:srgbClr val="2A3651"/>
            </a:solidFill>
            <a:prstDash val="dash"/>
          </a:ln>
        </p:spPr>
      </p:sp>
      <p:sp>
        <p:nvSpPr>
          <p:cNvPr id="11" name="Text 9"/>
          <p:cNvSpPr/>
          <p:nvPr/>
        </p:nvSpPr>
        <p:spPr>
          <a:xfrm>
            <a:off x="9671304" y="1463040"/>
            <a:ext cx="19781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Session Store</a:t>
            </a:r>
            <a:endParaRPr lang="en-US" sz="1100" dirty="0"/>
          </a:p>
        </p:txBody>
      </p:sp>
      <p:sp>
        <p:nvSpPr>
          <p:cNvPr id="12" name="Shape 10"/>
          <p:cNvSpPr/>
          <p:nvPr/>
        </p:nvSpPr>
        <p:spPr>
          <a:xfrm>
            <a:off x="10660380" y="1883664"/>
            <a:ext cx="0" cy="3694176"/>
          </a:xfrm>
          <a:prstGeom prst="line">
            <a:avLst/>
          </a:prstGeom>
          <a:noFill/>
          <a:ln w="12700">
            <a:solidFill>
              <a:srgbClr val="2A3651"/>
            </a:solidFill>
            <a:prstDash val="dash"/>
          </a:ln>
        </p:spPr>
      </p:sp>
      <p:sp>
        <p:nvSpPr>
          <p:cNvPr id="13" name="Shape 11"/>
          <p:cNvSpPr/>
          <p:nvPr/>
        </p:nvSpPr>
        <p:spPr>
          <a:xfrm>
            <a:off x="6484620" y="2310872"/>
            <a:ext cx="2087880" cy="0"/>
          </a:xfrm>
          <a:prstGeom prst="line">
            <a:avLst/>
          </a:prstGeom>
          <a:noFill/>
          <a:ln w="19050">
            <a:solidFill>
              <a:srgbClr val="B5A5FF"/>
            </a:solidFill>
            <a:prstDash val="solid"/>
            <a:tailEnd type="triangle"/>
          </a:ln>
        </p:spPr>
      </p:sp>
      <p:sp>
        <p:nvSpPr>
          <p:cNvPr id="14" name="Text 12"/>
          <p:cNvSpPr/>
          <p:nvPr/>
        </p:nvSpPr>
        <p:spPr>
          <a:xfrm>
            <a:off x="6530340" y="2027408"/>
            <a:ext cx="1996440" cy="256032"/>
          </a:xfrm>
          <a:prstGeom prst="rect">
            <a:avLst/>
          </a:prstGeom>
          <a:noFill/>
          <a:ln/>
        </p:spPr>
        <p:txBody>
          <a:bodyPr wrap="square" lIns="25400" tIns="25400" rIns="25400" bIns="25400" rtlCol="0" anchor="b"/>
          <a:lstStyle/>
          <a:p>
            <a:pPr algn="ctr" indent="0" marL="0">
              <a:buNone/>
            </a:pPr>
            <a:r>
              <a:rPr lang="en-US" sz="1050" dirty="0">
                <a:solidFill>
                  <a:srgbClr val="E8ECF5"/>
                </a:solidFill>
                <a:latin typeface="Segoe UI" pitchFamily="34" charset="0"/>
                <a:ea typeface="Segoe UI" pitchFamily="34" charset="-122"/>
                <a:cs typeface="Segoe UI" pitchFamily="34" charset="-120"/>
              </a:rPr>
              <a:t>1. POST /login</a:t>
            </a:r>
            <a:endParaRPr lang="en-US" sz="1050" dirty="0"/>
          </a:p>
        </p:txBody>
      </p:sp>
      <p:sp>
        <p:nvSpPr>
          <p:cNvPr id="15" name="Text 13"/>
          <p:cNvSpPr/>
          <p:nvPr/>
        </p:nvSpPr>
        <p:spPr>
          <a:xfrm>
            <a:off x="7620000" y="2667488"/>
            <a:ext cx="1905000" cy="310896"/>
          </a:xfrm>
          <a:prstGeom prst="roundRect">
            <a:avLst>
              <a:gd name="adj" fmla="val 23529"/>
            </a:avLst>
          </a:prstGeom>
          <a:solidFill>
            <a:srgbClr val="131B2E"/>
          </a:solidFill>
          <a:ln w="12700">
            <a:solidFill>
              <a:srgbClr val="B5A5FF"/>
            </a:solidFill>
            <a:prstDash val="dash"/>
          </a:ln>
        </p:spPr>
        <p:txBody>
          <a:bodyPr wrap="square" lIns="38100" tIns="38100" rIns="38100" bIns="38100" rtlCol="0" anchor="ctr"/>
          <a:lstStyle/>
          <a:p>
            <a:pPr algn="ctr" indent="0" marL="0">
              <a:buNone/>
            </a:pPr>
            <a:r>
              <a:rPr lang="en-US" sz="950" dirty="0">
                <a:solidFill>
                  <a:srgbClr val="E8ECF5"/>
                </a:solidFill>
                <a:latin typeface="Segoe UI" pitchFamily="34" charset="0"/>
                <a:ea typeface="Segoe UI" pitchFamily="34" charset="-122"/>
                <a:cs typeface="Segoe UI" pitchFamily="34" charset="-120"/>
              </a:rPr>
              <a:t>2. verify password</a:t>
            </a:r>
            <a:endParaRPr lang="en-US" sz="950" dirty="0"/>
          </a:p>
        </p:txBody>
      </p:sp>
      <p:sp>
        <p:nvSpPr>
          <p:cNvPr id="16" name="Shape 14"/>
          <p:cNvSpPr/>
          <p:nvPr/>
        </p:nvSpPr>
        <p:spPr>
          <a:xfrm>
            <a:off x="8572500" y="3335000"/>
            <a:ext cx="2087880" cy="0"/>
          </a:xfrm>
          <a:prstGeom prst="line">
            <a:avLst/>
          </a:prstGeom>
          <a:noFill/>
          <a:ln w="19050">
            <a:solidFill>
              <a:srgbClr val="B5A5FF"/>
            </a:solidFill>
            <a:prstDash val="solid"/>
            <a:tailEnd type="triangle"/>
          </a:ln>
        </p:spPr>
      </p:sp>
      <p:sp>
        <p:nvSpPr>
          <p:cNvPr id="17" name="Text 15"/>
          <p:cNvSpPr/>
          <p:nvPr/>
        </p:nvSpPr>
        <p:spPr>
          <a:xfrm>
            <a:off x="8618220" y="3051536"/>
            <a:ext cx="1996440" cy="256032"/>
          </a:xfrm>
          <a:prstGeom prst="rect">
            <a:avLst/>
          </a:prstGeom>
          <a:noFill/>
          <a:ln/>
        </p:spPr>
        <p:txBody>
          <a:bodyPr wrap="square" lIns="25400" tIns="25400" rIns="25400" bIns="25400" rtlCol="0" anchor="b"/>
          <a:lstStyle/>
          <a:p>
            <a:pPr algn="ctr" indent="0" marL="0">
              <a:buNone/>
            </a:pPr>
            <a:r>
              <a:rPr lang="en-US" sz="1050" dirty="0">
                <a:solidFill>
                  <a:srgbClr val="E8ECF5"/>
                </a:solidFill>
                <a:latin typeface="Segoe UI" pitchFamily="34" charset="0"/>
                <a:ea typeface="Segoe UI" pitchFamily="34" charset="-122"/>
                <a:cs typeface="Segoe UI" pitchFamily="34" charset="-120"/>
              </a:rPr>
              <a:t>3. regenerate + lưu session</a:t>
            </a:r>
            <a:endParaRPr lang="en-US" sz="1050" dirty="0"/>
          </a:p>
        </p:txBody>
      </p:sp>
      <p:sp>
        <p:nvSpPr>
          <p:cNvPr id="18" name="Shape 16"/>
          <p:cNvSpPr/>
          <p:nvPr/>
        </p:nvSpPr>
        <p:spPr>
          <a:xfrm flipH="1">
            <a:off x="6484620" y="3847064"/>
            <a:ext cx="2087880" cy="0"/>
          </a:xfrm>
          <a:prstGeom prst="line">
            <a:avLst/>
          </a:prstGeom>
          <a:noFill/>
          <a:ln w="19050">
            <a:solidFill>
              <a:srgbClr val="6EE7B7"/>
            </a:solidFill>
            <a:prstDash val="dash"/>
            <a:tailEnd type="triangle"/>
          </a:ln>
        </p:spPr>
      </p:sp>
      <p:sp>
        <p:nvSpPr>
          <p:cNvPr id="19" name="Text 17"/>
          <p:cNvSpPr/>
          <p:nvPr/>
        </p:nvSpPr>
        <p:spPr>
          <a:xfrm>
            <a:off x="6530340" y="3563600"/>
            <a:ext cx="1996440" cy="256032"/>
          </a:xfrm>
          <a:prstGeom prst="rect">
            <a:avLst/>
          </a:prstGeom>
          <a:noFill/>
          <a:ln/>
        </p:spPr>
        <p:txBody>
          <a:bodyPr wrap="square" lIns="25400" tIns="25400" rIns="25400" bIns="25400" rtlCol="0" anchor="b"/>
          <a:lstStyle/>
          <a:p>
            <a:pPr algn="ctr" indent="0" marL="0">
              <a:buNone/>
            </a:pPr>
            <a:r>
              <a:rPr lang="en-US" sz="1050" dirty="0">
                <a:solidFill>
                  <a:srgbClr val="E8ECF5"/>
                </a:solidFill>
                <a:latin typeface="Segoe UI" pitchFamily="34" charset="0"/>
                <a:ea typeface="Segoe UI" pitchFamily="34" charset="-122"/>
                <a:cs typeface="Segoe UI" pitchFamily="34" charset="-120"/>
              </a:rPr>
              <a:t>4. Set-Cookie: sid=…</a:t>
            </a:r>
            <a:endParaRPr lang="en-US" sz="1050" dirty="0"/>
          </a:p>
        </p:txBody>
      </p:sp>
      <p:sp>
        <p:nvSpPr>
          <p:cNvPr id="20" name="Shape 18"/>
          <p:cNvSpPr/>
          <p:nvPr/>
        </p:nvSpPr>
        <p:spPr>
          <a:xfrm>
            <a:off x="6484620" y="4359128"/>
            <a:ext cx="2087880" cy="0"/>
          </a:xfrm>
          <a:prstGeom prst="line">
            <a:avLst/>
          </a:prstGeom>
          <a:noFill/>
          <a:ln w="19050">
            <a:solidFill>
              <a:srgbClr val="B5A5FF"/>
            </a:solidFill>
            <a:prstDash val="solid"/>
            <a:tailEnd type="triangle"/>
          </a:ln>
        </p:spPr>
      </p:sp>
      <p:sp>
        <p:nvSpPr>
          <p:cNvPr id="21" name="Text 19"/>
          <p:cNvSpPr/>
          <p:nvPr/>
        </p:nvSpPr>
        <p:spPr>
          <a:xfrm>
            <a:off x="6530340" y="4075664"/>
            <a:ext cx="1996440" cy="256032"/>
          </a:xfrm>
          <a:prstGeom prst="rect">
            <a:avLst/>
          </a:prstGeom>
          <a:noFill/>
          <a:ln/>
        </p:spPr>
        <p:txBody>
          <a:bodyPr wrap="square" lIns="25400" tIns="25400" rIns="25400" bIns="25400" rtlCol="0" anchor="b"/>
          <a:lstStyle/>
          <a:p>
            <a:pPr algn="ctr" indent="0" marL="0">
              <a:buNone/>
            </a:pPr>
            <a:r>
              <a:rPr lang="en-US" sz="1050" dirty="0">
                <a:solidFill>
                  <a:srgbClr val="E8ECF5"/>
                </a:solidFill>
                <a:latin typeface="Segoe UI" pitchFamily="34" charset="0"/>
                <a:ea typeface="Segoe UI" pitchFamily="34" charset="-122"/>
                <a:cs typeface="Segoe UI" pitchFamily="34" charset="-120"/>
              </a:rPr>
              <a:t>5. GET /api/me + Cookie</a:t>
            </a:r>
            <a:endParaRPr lang="en-US" sz="1050" dirty="0"/>
          </a:p>
        </p:txBody>
      </p:sp>
      <p:sp>
        <p:nvSpPr>
          <p:cNvPr id="22" name="Shape 20"/>
          <p:cNvSpPr/>
          <p:nvPr/>
        </p:nvSpPr>
        <p:spPr>
          <a:xfrm>
            <a:off x="8572500" y="4871192"/>
            <a:ext cx="2087880" cy="0"/>
          </a:xfrm>
          <a:prstGeom prst="line">
            <a:avLst/>
          </a:prstGeom>
          <a:noFill/>
          <a:ln w="19050">
            <a:solidFill>
              <a:srgbClr val="B5A5FF"/>
            </a:solidFill>
            <a:prstDash val="solid"/>
            <a:tailEnd type="triangle"/>
          </a:ln>
        </p:spPr>
      </p:sp>
      <p:sp>
        <p:nvSpPr>
          <p:cNvPr id="23" name="Text 21"/>
          <p:cNvSpPr/>
          <p:nvPr/>
        </p:nvSpPr>
        <p:spPr>
          <a:xfrm>
            <a:off x="8618220" y="4587728"/>
            <a:ext cx="1996440" cy="256032"/>
          </a:xfrm>
          <a:prstGeom prst="rect">
            <a:avLst/>
          </a:prstGeom>
          <a:noFill/>
          <a:ln/>
        </p:spPr>
        <p:txBody>
          <a:bodyPr wrap="square" lIns="25400" tIns="25400" rIns="25400" bIns="25400" rtlCol="0" anchor="b"/>
          <a:lstStyle/>
          <a:p>
            <a:pPr algn="ctr" indent="0" marL="0">
              <a:buNone/>
            </a:pPr>
            <a:r>
              <a:rPr lang="en-US" sz="1050" dirty="0">
                <a:solidFill>
                  <a:srgbClr val="E8ECF5"/>
                </a:solidFill>
                <a:latin typeface="Segoe UI" pitchFamily="34" charset="0"/>
                <a:ea typeface="Segoe UI" pitchFamily="34" charset="-122"/>
                <a:cs typeface="Segoe UI" pitchFamily="34" charset="-120"/>
              </a:rPr>
              <a:t>6. tra cứu sid</a:t>
            </a:r>
            <a:endParaRPr lang="en-US" sz="1050" dirty="0"/>
          </a:p>
        </p:txBody>
      </p:sp>
      <p:sp>
        <p:nvSpPr>
          <p:cNvPr id="24" name="Shape 22"/>
          <p:cNvSpPr/>
          <p:nvPr/>
        </p:nvSpPr>
        <p:spPr>
          <a:xfrm flipH="1">
            <a:off x="6484620" y="5383256"/>
            <a:ext cx="2087880" cy="0"/>
          </a:xfrm>
          <a:prstGeom prst="line">
            <a:avLst/>
          </a:prstGeom>
          <a:noFill/>
          <a:ln w="19050">
            <a:solidFill>
              <a:srgbClr val="6EE7B7"/>
            </a:solidFill>
            <a:prstDash val="dash"/>
            <a:tailEnd type="triangle"/>
          </a:ln>
        </p:spPr>
      </p:sp>
      <p:sp>
        <p:nvSpPr>
          <p:cNvPr id="25" name="Text 23"/>
          <p:cNvSpPr/>
          <p:nvPr/>
        </p:nvSpPr>
        <p:spPr>
          <a:xfrm>
            <a:off x="6530340" y="5099792"/>
            <a:ext cx="1996440" cy="256032"/>
          </a:xfrm>
          <a:prstGeom prst="rect">
            <a:avLst/>
          </a:prstGeom>
          <a:noFill/>
          <a:ln/>
        </p:spPr>
        <p:txBody>
          <a:bodyPr wrap="square" lIns="25400" tIns="25400" rIns="25400" bIns="25400" rtlCol="0" anchor="b"/>
          <a:lstStyle/>
          <a:p>
            <a:pPr algn="ctr" indent="0" marL="0">
              <a:buNone/>
            </a:pPr>
            <a:r>
              <a:rPr lang="en-US" sz="1050" dirty="0">
                <a:solidFill>
                  <a:srgbClr val="E8ECF5"/>
                </a:solidFill>
                <a:latin typeface="Segoe UI" pitchFamily="34" charset="0"/>
                <a:ea typeface="Segoe UI" pitchFamily="34" charset="-122"/>
                <a:cs typeface="Segoe UI" pitchFamily="34" charset="-120"/>
              </a:rPr>
              <a:t>7. 200 { user }</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SESSION  ·  SLIDE 9/27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Cookie là credential</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HttpOnly</a:t>
            </a:r>
            <a:r>
              <a:rPr lang="en-US" sz="1800" dirty="0">
                <a:solidFill>
                  <a:srgbClr val="E8ECF5"/>
                </a:solidFill>
                <a:latin typeface="Segoe UI" pitchFamily="34" charset="0"/>
                <a:ea typeface="Segoe UI" pitchFamily="34" charset="-122"/>
                <a:cs typeface="Segoe UI" pitchFamily="34" charset="-120"/>
              </a:rPr>
              <a:t> — JavaScript không đọc được.</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Secure</a:t>
            </a:r>
            <a:r>
              <a:rPr lang="en-US" sz="1800" dirty="0">
                <a:solidFill>
                  <a:srgbClr val="E8ECF5"/>
                </a:solidFill>
                <a:latin typeface="Segoe UI" pitchFamily="34" charset="0"/>
                <a:ea typeface="Segoe UI" pitchFamily="34" charset="-122"/>
                <a:cs typeface="Segoe UI" pitchFamily="34" charset="-120"/>
              </a:rPr>
              <a:t> — chỉ gửi qua HTTPS.</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SameSite</a:t>
            </a:r>
            <a:r>
              <a:rPr lang="en-US" sz="1800" dirty="0">
                <a:solidFill>
                  <a:srgbClr val="E8ECF5"/>
                </a:solidFill>
                <a:latin typeface="Segoe UI" pitchFamily="34" charset="0"/>
                <a:ea typeface="Segoe UI" pitchFamily="34" charset="-122"/>
                <a:cs typeface="Segoe UI" pitchFamily="34" charset="-120"/>
              </a:rPr>
              <a:t> — hạn chế gửi kèm request cross-site.</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Path</a:t>
            </a:r>
            <a:r>
              <a:rPr lang="en-US" sz="1800" dirty="0">
                <a:solidFill>
                  <a:srgbClr val="E8ECF5"/>
                </a:solidFill>
                <a:latin typeface="Segoe UI" pitchFamily="34" charset="0"/>
                <a:ea typeface="Segoe UI" pitchFamily="34" charset="-122"/>
                <a:cs typeface="Segoe UI" pitchFamily="34" charset="-120"/>
              </a:rPr>
              <a:t>, </a:t>
            </a:r>
            <a:r>
              <a:rPr lang="en-US" sz="1800" dirty="0">
                <a:solidFill>
                  <a:srgbClr val="B5A5FF"/>
                </a:solidFill>
                <a:latin typeface="Consolas" pitchFamily="34" charset="0"/>
                <a:ea typeface="Consolas" pitchFamily="34" charset="-122"/>
                <a:cs typeface="Consolas" pitchFamily="34" charset="-120"/>
              </a:rPr>
              <a:t>Domain</a:t>
            </a:r>
            <a:r>
              <a:rPr lang="en-US" sz="1800" dirty="0">
                <a:solidFill>
                  <a:srgbClr val="E8ECF5"/>
                </a:solidFill>
                <a:latin typeface="Segoe UI" pitchFamily="34" charset="0"/>
                <a:ea typeface="Segoe UI" pitchFamily="34" charset="-122"/>
                <a:cs typeface="Segoe UI" pitchFamily="34" charset="-120"/>
              </a:rPr>
              <a:t>, </a:t>
            </a:r>
            <a:r>
              <a:rPr lang="en-US" sz="1800" dirty="0">
                <a:solidFill>
                  <a:srgbClr val="B5A5FF"/>
                </a:solidFill>
                <a:latin typeface="Consolas" pitchFamily="34" charset="0"/>
                <a:ea typeface="Consolas" pitchFamily="34" charset="-122"/>
                <a:cs typeface="Consolas" pitchFamily="34" charset="-120"/>
              </a:rPr>
              <a:t>Max-Age</a:t>
            </a:r>
            <a:r>
              <a:rPr lang="en-US" sz="1800" dirty="0">
                <a:solidFill>
                  <a:srgbClr val="E8ECF5"/>
                </a:solidFill>
                <a:latin typeface="Segoe UI" pitchFamily="34" charset="0"/>
                <a:ea typeface="Segoe UI" pitchFamily="34" charset="-122"/>
                <a:cs typeface="Segoe UI" pitchFamily="34" charset="-120"/>
              </a:rPr>
              <a:t> — phạm vi và thời hạn.</a:t>
            </a:r>
            <a:endParaRPr lang="en-US" sz="1800" dirty="0"/>
          </a:p>
        </p:txBody>
      </p:sp>
      <p:sp>
        <p:nvSpPr>
          <p:cNvPr id="7" name="Text 5"/>
          <p:cNvSpPr/>
          <p:nvPr/>
        </p:nvSpPr>
        <p:spPr>
          <a:xfrm>
            <a:off x="5440680" y="1463040"/>
            <a:ext cx="6263640" cy="566928"/>
          </a:xfrm>
          <a:prstGeom prst="roundRect">
            <a:avLst>
              <a:gd name="adj" fmla="val 12903"/>
            </a:avLst>
          </a:prstGeom>
          <a:solidFill>
            <a:srgbClr val="131B2E"/>
          </a:solidFill>
          <a:ln w="12700">
            <a:solidFill>
              <a:srgbClr val="2A3651"/>
            </a:solidFill>
            <a:prstDash val="solid"/>
          </a:ln>
        </p:spPr>
        <p:txBody>
          <a:bodyPr wrap="square" lIns="76200" tIns="76200" rIns="76200" bIns="76200" rtlCol="0" anchor="ctr"/>
          <a:lstStyle/>
          <a:p>
            <a:pPr algn="l" indent="0" marL="0">
              <a:buNone/>
            </a:pPr>
            <a:r>
              <a:rPr lang="en-US" sz="1150" dirty="0">
                <a:solidFill>
                  <a:srgbClr val="8F9BB3"/>
                </a:solidFill>
                <a:latin typeface="Consolas" pitchFamily="34" charset="0"/>
                <a:ea typeface="Consolas" pitchFamily="34" charset="-122"/>
                <a:cs typeface="Consolas" pitchFamily="34" charset="-120"/>
              </a:rPr>
              <a:t>Set-Cookie: </a:t>
            </a:r>
            <a:r>
              <a:rPr lang="en-US" sz="1150" dirty="0">
                <a:solidFill>
                  <a:srgbClr val="E8ECF5"/>
                </a:solidFill>
                <a:latin typeface="Consolas" pitchFamily="34" charset="0"/>
                <a:ea typeface="Consolas" pitchFamily="34" charset="-122"/>
                <a:cs typeface="Consolas" pitchFamily="34" charset="-120"/>
              </a:rPr>
              <a:t>sid=…; </a:t>
            </a:r>
            <a:r>
              <a:rPr lang="en-US" sz="1150" dirty="0">
                <a:solidFill>
                  <a:srgbClr val="6EE7B7"/>
                </a:solidFill>
                <a:latin typeface="Consolas" pitchFamily="34" charset="0"/>
                <a:ea typeface="Consolas" pitchFamily="34" charset="-122"/>
                <a:cs typeface="Consolas" pitchFamily="34" charset="-120"/>
              </a:rPr>
              <a:t>HttpOnly; Secure; SameSite=Lax; Path=/; Max-Age=900</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40680" y="2240280"/>
          <a:ext cx="6263640" cy="914400"/>
        </p:xfrm>
        <a:graphic>
          <a:graphicData uri="http://schemas.openxmlformats.org/drawingml/2006/table">
            <a:tbl>
              <a:tblPr/>
              <a:tblGrid>
                <a:gridCol w="1600200"/>
                <a:gridCol w="2377440"/>
                <a:gridCol w="2377440"/>
              </a:tblGrid>
              <a:tr h="457200">
                <a:tc>
                  <a:txBody>
                    <a:bodyPr/>
                    <a:lstStyle/>
                    <a:p>
                      <a:pPr indent="0" marL="0">
                        <a:buNone/>
                      </a:pPr>
                      <a:r>
                        <a:rPr lang="en-US" sz="1100" b="1" dirty="0">
                          <a:solidFill>
                            <a:srgbClr val="B5A5FF"/>
                          </a:solidFill>
                          <a:latin typeface="Segoe UI" pitchFamily="34" charset="0"/>
                          <a:ea typeface="Segoe UI" pitchFamily="34" charset="-122"/>
                          <a:cs typeface="Segoe UI" pitchFamily="34" charset="-120"/>
                        </a:rPr>
                        <a:t>Thuộc tính</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100" b="1" dirty="0">
                          <a:solidFill>
                            <a:srgbClr val="B5A5FF"/>
                          </a:solidFill>
                          <a:latin typeface="Segoe UI" pitchFamily="34" charset="0"/>
                          <a:ea typeface="Segoe UI" pitchFamily="34" charset="-122"/>
                          <a:cs typeface="Segoe UI" pitchFamily="34" charset="-120"/>
                        </a:rPr>
                        <a:t>Chống lại</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100" b="1" dirty="0">
                          <a:solidFill>
                            <a:srgbClr val="B5A5FF"/>
                          </a:solidFill>
                          <a:latin typeface="Segoe UI" pitchFamily="34" charset="0"/>
                          <a:ea typeface="Segoe UI" pitchFamily="34" charset="-122"/>
                          <a:cs typeface="Segoe UI" pitchFamily="34" charset="-120"/>
                        </a:rPr>
                        <a:t>Không chống được</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r>
              <a:tr h="457200">
                <a:tc>
                  <a:txBody>
                    <a:bodyPr/>
                    <a:lstStyle/>
                    <a:p>
                      <a:pPr indent="0" marL="0">
                        <a:buNone/>
                      </a:pPr>
                      <a:r>
                        <a:rPr lang="en-US" sz="1100" b="1" dirty="0">
                          <a:solidFill>
                            <a:srgbClr val="6EE7B7"/>
                          </a:solidFill>
                          <a:latin typeface="Consolas" pitchFamily="34" charset="0"/>
                          <a:ea typeface="Consolas" pitchFamily="34" charset="-122"/>
                          <a:cs typeface="Consolas" pitchFamily="34" charset="-120"/>
                        </a:rPr>
                        <a:t>HttpOnly</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00" dirty="0">
                          <a:solidFill>
                            <a:srgbClr val="8F9BB3"/>
                          </a:solidFill>
                          <a:latin typeface="Segoe UI" pitchFamily="34" charset="0"/>
                          <a:ea typeface="Segoe UI" pitchFamily="34" charset="-122"/>
                          <a:cs typeface="Segoe UI" pitchFamily="34" charset="-120"/>
                        </a:rPr>
                        <a:t>JavaScript đọc cookie</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00" dirty="0">
                          <a:solidFill>
                            <a:srgbClr val="8F9BB3"/>
                          </a:solidFill>
                          <a:latin typeface="Segoe UI" pitchFamily="34" charset="0"/>
                          <a:ea typeface="Segoe UI" pitchFamily="34" charset="-122"/>
                          <a:cs typeface="Segoe UI" pitchFamily="34" charset="-120"/>
                        </a:rPr>
                        <a:t>XSS gọi API thay user</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57200">
                <a:tc>
                  <a:txBody>
                    <a:bodyPr/>
                    <a:lstStyle/>
                    <a:p>
                      <a:pPr indent="0" marL="0">
                        <a:buNone/>
                      </a:pPr>
                      <a:r>
                        <a:rPr lang="en-US" sz="1100" b="1" dirty="0">
                          <a:solidFill>
                            <a:srgbClr val="6EE7B7"/>
                          </a:solidFill>
                          <a:latin typeface="Consolas" pitchFamily="34" charset="0"/>
                          <a:ea typeface="Consolas" pitchFamily="34" charset="-122"/>
                          <a:cs typeface="Consolas" pitchFamily="34" charset="-120"/>
                        </a:rPr>
                        <a:t>Secure</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00" dirty="0">
                          <a:solidFill>
                            <a:srgbClr val="8F9BB3"/>
                          </a:solidFill>
                          <a:latin typeface="Segoe UI" pitchFamily="34" charset="0"/>
                          <a:ea typeface="Segoe UI" pitchFamily="34" charset="-122"/>
                          <a:cs typeface="Segoe UI" pitchFamily="34" charset="-120"/>
                        </a:rPr>
                        <a:t>Lộ qua HTTP thường</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00" dirty="0">
                          <a:solidFill>
                            <a:srgbClr val="8F9BB3"/>
                          </a:solidFill>
                          <a:latin typeface="Segoe UI" pitchFamily="34" charset="0"/>
                          <a:ea typeface="Segoe UI" pitchFamily="34" charset="-122"/>
                          <a:cs typeface="Segoe UI" pitchFamily="34" charset="-120"/>
                        </a:rPr>
                        <a:t>Lộ ở log / máy user</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57200">
                <a:tc>
                  <a:txBody>
                    <a:bodyPr/>
                    <a:lstStyle/>
                    <a:p>
                      <a:pPr indent="0" marL="0">
                        <a:buNone/>
                      </a:pPr>
                      <a:r>
                        <a:rPr lang="en-US" sz="1100" b="1" dirty="0">
                          <a:solidFill>
                            <a:srgbClr val="6EE7B7"/>
                          </a:solidFill>
                          <a:latin typeface="Consolas" pitchFamily="34" charset="0"/>
                          <a:ea typeface="Consolas" pitchFamily="34" charset="-122"/>
                          <a:cs typeface="Consolas" pitchFamily="34" charset="-120"/>
                        </a:rPr>
                        <a:t>SameSite=Lax</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00" dirty="0">
                          <a:solidFill>
                            <a:srgbClr val="8F9BB3"/>
                          </a:solidFill>
                          <a:latin typeface="Segoe UI" pitchFamily="34" charset="0"/>
                          <a:ea typeface="Segoe UI" pitchFamily="34" charset="-122"/>
                          <a:cs typeface="Segoe UI" pitchFamily="34" charset="-120"/>
                        </a:rPr>
                        <a:t>Phần lớn request cross-site</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00" dirty="0">
                          <a:solidFill>
                            <a:srgbClr val="8F9BB3"/>
                          </a:solidFill>
                          <a:latin typeface="Segoe UI" pitchFamily="34" charset="0"/>
                          <a:ea typeface="Segoe UI" pitchFamily="34" charset="-122"/>
                          <a:cs typeface="Segoe UI" pitchFamily="34" charset="-120"/>
                        </a:rPr>
                        <a:t>Mọi kịch bản CSRF</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57200">
                <a:tc>
                  <a:txBody>
                    <a:bodyPr/>
                    <a:lstStyle/>
                    <a:p>
                      <a:pPr indent="0" marL="0">
                        <a:buNone/>
                      </a:pPr>
                      <a:r>
                        <a:rPr lang="en-US" sz="1100" b="1" dirty="0">
                          <a:solidFill>
                            <a:srgbClr val="6EE7B7"/>
                          </a:solidFill>
                          <a:latin typeface="Consolas" pitchFamily="34" charset="0"/>
                          <a:ea typeface="Consolas" pitchFamily="34" charset="-122"/>
                          <a:cs typeface="Consolas" pitchFamily="34" charset="-120"/>
                        </a:rPr>
                        <a:t>Path</a:t>
                      </a:r>
                      <a:r>
                        <a:rPr lang="en-US" sz="1100" b="1" dirty="0">
                          <a:solidFill>
                            <a:srgbClr val="E8ECF5"/>
                          </a:solidFill>
                          <a:latin typeface="Segoe UI" pitchFamily="34" charset="0"/>
                          <a:ea typeface="Segoe UI" pitchFamily="34" charset="-122"/>
                          <a:cs typeface="Segoe UI" pitchFamily="34" charset="-120"/>
                        </a:rPr>
                        <a:t> / </a:t>
                      </a:r>
                      <a:r>
                        <a:rPr lang="en-US" sz="1100" b="1" dirty="0">
                          <a:solidFill>
                            <a:srgbClr val="6EE7B7"/>
                          </a:solidFill>
                          <a:latin typeface="Consolas" pitchFamily="34" charset="0"/>
                          <a:ea typeface="Consolas" pitchFamily="34" charset="-122"/>
                          <a:cs typeface="Consolas" pitchFamily="34" charset="-120"/>
                        </a:rPr>
                        <a:t>Domain</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00" dirty="0">
                          <a:solidFill>
                            <a:srgbClr val="8F9BB3"/>
                          </a:solidFill>
                          <a:latin typeface="Segoe UI" pitchFamily="34" charset="0"/>
                          <a:ea typeface="Segoe UI" pitchFamily="34" charset="-122"/>
                          <a:cs typeface="Segoe UI" pitchFamily="34" charset="-120"/>
                        </a:rPr>
                        <a:t>Gửi cookie ra ngoài phạm vi</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00" dirty="0">
                          <a:solidFill>
                            <a:srgbClr val="8F9BB3"/>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57200">
                <a:tc>
                  <a:txBody>
                    <a:bodyPr/>
                    <a:lstStyle/>
                    <a:p>
                      <a:pPr indent="0" marL="0">
                        <a:buNone/>
                      </a:pPr>
                      <a:r>
                        <a:rPr lang="en-US" sz="1100" b="1" dirty="0">
                          <a:solidFill>
                            <a:srgbClr val="6EE7B7"/>
                          </a:solidFill>
                          <a:latin typeface="Consolas" pitchFamily="34" charset="0"/>
                          <a:ea typeface="Consolas" pitchFamily="34" charset="-122"/>
                          <a:cs typeface="Consolas" pitchFamily="34" charset="-120"/>
                        </a:rPr>
                        <a:t>Max-Age</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00" dirty="0">
                          <a:solidFill>
                            <a:srgbClr val="8F9BB3"/>
                          </a:solidFill>
                          <a:latin typeface="Segoe UI" pitchFamily="34" charset="0"/>
                          <a:ea typeface="Segoe UI" pitchFamily="34" charset="-122"/>
                          <a:cs typeface="Segoe UI" pitchFamily="34" charset="-120"/>
                        </a:rPr>
                        <a:t>Session sống vô thời hạn</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00" dirty="0">
                          <a:solidFill>
                            <a:srgbClr val="8F9BB3"/>
                          </a:solidFill>
                          <a:latin typeface="Segoe UI" pitchFamily="34" charset="0"/>
                          <a:ea typeface="Segoe UI" pitchFamily="34" charset="-122"/>
                          <a:cs typeface="Segoe UI" pitchFamily="34" charset="-120"/>
                        </a:rPr>
                        <a:t>Revoke trước hạn</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bl>
          </a:graphicData>
        </a:graphic>
      </p:graphicFrame>
      <p:sp>
        <p:nvSpPr>
          <p:cNvPr id="9" name="Text 6"/>
          <p:cNvSpPr/>
          <p:nvPr/>
        </p:nvSpPr>
        <p:spPr>
          <a:xfrm>
            <a:off x="548640" y="5760720"/>
            <a:ext cx="3566160" cy="566928"/>
          </a:xfrm>
          <a:prstGeom prst="roundRect">
            <a:avLst>
              <a:gd name="adj" fmla="val 12903"/>
            </a:avLst>
          </a:prstGeom>
          <a:solidFill>
            <a:srgbClr val="B5A5FF"/>
          </a:solidFill>
          <a:ln w="12700">
            <a:solidFill>
              <a:srgbClr val="B5A5FF"/>
            </a:solidFill>
          </a:ln>
        </p:spPr>
        <p:txBody>
          <a:bodyPr wrap="square" rtlCol="0" anchor="ctr"/>
          <a:lstStyle/>
          <a:p>
            <a:pPr algn="ctr" indent="0" marL="0">
              <a:buNone/>
            </a:pPr>
            <a:r>
              <a:rPr lang="en-US" sz="1500" b="1" u="sng" dirty="0">
                <a:solidFill>
                  <a:srgbClr val="111329"/>
                </a:solidFill>
                <a:latin typeface="Segoe UI" pitchFamily="34" charset="0"/>
                <a:ea typeface="Segoe UI" pitchFamily="34" charset="-122"/>
                <a:cs typeface="Segoe UI" pitchFamily="34" charset="-120"/>
                <a:hlinkClick r:id="rId1" invalidUrl="" action="" tgtFrame="" tooltip="http://localhost:5173/demo/session" history="1" highlightClick="0" endSnd="0">
                  <a:extLst>
                    <a:ext uri="{A12FA001-AC4F-418D-AE19-62706E023703}">
                      <ahyp:hlinkClr xmlns:ahyp="http://schemas.microsoft.com/office/drawing/2018/hyperlinkcolor" val="tx"/>
                    </a:ext>
                  </a:extLst>
                </a:hlinkClick>
              </a:rPr>
              <a:t>Mở Session Demo ↗</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SESSION  ·  SLIDE 10/27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Session lifecycle và fixation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Login → create/regenerate → use → expire/revoke.</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Regenerate session ID sau khi xác thực.</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Logout cần invalidate session phía server.</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Xoá cookie không nhất thiết revoke session.</a:t>
            </a:r>
            <a:endParaRPr lang="en-US" sz="1800" dirty="0"/>
          </a:p>
        </p:txBody>
      </p:sp>
      <p:sp>
        <p:nvSpPr>
          <p:cNvPr id="7" name="Text 5"/>
          <p:cNvSpPr/>
          <p:nvPr/>
        </p:nvSpPr>
        <p:spPr>
          <a:xfrm>
            <a:off x="5440680" y="1463040"/>
            <a:ext cx="1417320" cy="640080"/>
          </a:xfrm>
          <a:prstGeom prst="roundRect">
            <a:avLst>
              <a:gd name="adj" fmla="val 11429"/>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Login</a:t>
            </a:r>
            <a:endParaRPr lang="en-US" sz="1200" dirty="0"/>
          </a:p>
        </p:txBody>
      </p:sp>
      <p:sp>
        <p:nvSpPr>
          <p:cNvPr id="8" name="Shape 6"/>
          <p:cNvSpPr/>
          <p:nvPr/>
        </p:nvSpPr>
        <p:spPr>
          <a:xfrm>
            <a:off x="6858000" y="1783080"/>
            <a:ext cx="198120" cy="0"/>
          </a:xfrm>
          <a:prstGeom prst="line">
            <a:avLst/>
          </a:prstGeom>
          <a:noFill/>
          <a:ln w="19050">
            <a:solidFill>
              <a:srgbClr val="B5A5FF"/>
            </a:solidFill>
            <a:prstDash val="solid"/>
            <a:tailEnd type="triangle"/>
          </a:ln>
        </p:spPr>
      </p:sp>
      <p:sp>
        <p:nvSpPr>
          <p:cNvPr id="9" name="Text 7"/>
          <p:cNvSpPr/>
          <p:nvPr/>
        </p:nvSpPr>
        <p:spPr>
          <a:xfrm>
            <a:off x="7056120" y="1463040"/>
            <a:ext cx="1417320" cy="640080"/>
          </a:xfrm>
          <a:prstGeom prst="roundRect">
            <a:avLst>
              <a:gd name="adj" fmla="val 11429"/>
            </a:avLst>
          </a:prstGeom>
          <a:solidFill>
            <a:srgbClr val="182238"/>
          </a:solidFill>
          <a:ln w="12700">
            <a:solidFill>
              <a:srgbClr val="7DB3FF"/>
            </a:solidFill>
            <a:prstDash val="solid"/>
          </a:ln>
        </p:spPr>
        <p:txBody>
          <a:bodyPr wrap="square" lIns="76200" tIns="76200" rIns="76200" bIns="76200"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Regenerate ID</a:t>
            </a:r>
            <a:endParaRPr lang="en-US" sz="1200" dirty="0"/>
          </a:p>
        </p:txBody>
      </p:sp>
      <p:sp>
        <p:nvSpPr>
          <p:cNvPr id="10" name="Shape 8"/>
          <p:cNvSpPr/>
          <p:nvPr/>
        </p:nvSpPr>
        <p:spPr>
          <a:xfrm>
            <a:off x="8473440" y="1783080"/>
            <a:ext cx="198120" cy="0"/>
          </a:xfrm>
          <a:prstGeom prst="line">
            <a:avLst/>
          </a:prstGeom>
          <a:noFill/>
          <a:ln w="19050">
            <a:solidFill>
              <a:srgbClr val="7DB3FF"/>
            </a:solidFill>
            <a:prstDash val="solid"/>
            <a:tailEnd type="triangle"/>
          </a:ln>
        </p:spPr>
      </p:sp>
      <p:sp>
        <p:nvSpPr>
          <p:cNvPr id="11" name="Text 9"/>
          <p:cNvSpPr/>
          <p:nvPr/>
        </p:nvSpPr>
        <p:spPr>
          <a:xfrm>
            <a:off x="8671560" y="1463040"/>
            <a:ext cx="1417320" cy="640080"/>
          </a:xfrm>
          <a:prstGeom prst="roundRect">
            <a:avLst>
              <a:gd name="adj" fmla="val 11429"/>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Use</a:t>
            </a:r>
            <a:endParaRPr lang="en-US" sz="1200" dirty="0"/>
          </a:p>
        </p:txBody>
      </p:sp>
      <p:sp>
        <p:nvSpPr>
          <p:cNvPr id="12" name="Shape 10"/>
          <p:cNvSpPr/>
          <p:nvPr/>
        </p:nvSpPr>
        <p:spPr>
          <a:xfrm>
            <a:off x="10088880" y="1783080"/>
            <a:ext cx="198120" cy="0"/>
          </a:xfrm>
          <a:prstGeom prst="line">
            <a:avLst/>
          </a:prstGeom>
          <a:noFill/>
          <a:ln w="19050">
            <a:solidFill>
              <a:srgbClr val="6EE7B7"/>
            </a:solidFill>
            <a:prstDash val="solid"/>
            <a:tailEnd type="triangle"/>
          </a:ln>
        </p:spPr>
      </p:sp>
      <p:sp>
        <p:nvSpPr>
          <p:cNvPr id="13" name="Text 11"/>
          <p:cNvSpPr/>
          <p:nvPr/>
        </p:nvSpPr>
        <p:spPr>
          <a:xfrm>
            <a:off x="10287000" y="1463040"/>
            <a:ext cx="1417320" cy="640080"/>
          </a:xfrm>
          <a:prstGeom prst="roundRect">
            <a:avLst>
              <a:gd name="adj" fmla="val 11429"/>
            </a:avLst>
          </a:prstGeom>
          <a:solidFill>
            <a:srgbClr val="182238"/>
          </a:solidFill>
          <a:ln w="12700">
            <a:solidFill>
              <a:srgbClr val="F5A65B"/>
            </a:solidFill>
            <a:prstDash val="solid"/>
          </a:ln>
        </p:spPr>
        <p:txBody>
          <a:bodyPr wrap="square" lIns="76200" tIns="76200" rIns="76200" bIns="76200"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Expire / Revoke</a:t>
            </a:r>
            <a:endParaRPr lang="en-US" sz="1200" dirty="0"/>
          </a:p>
        </p:txBody>
      </p:sp>
      <p:sp>
        <p:nvSpPr>
          <p:cNvPr id="14" name="Shape 12"/>
          <p:cNvSpPr/>
          <p:nvPr/>
        </p:nvSpPr>
        <p:spPr>
          <a:xfrm>
            <a:off x="5440680" y="2651760"/>
            <a:ext cx="3017520" cy="2743200"/>
          </a:xfrm>
          <a:prstGeom prst="roundRect">
            <a:avLst>
              <a:gd name="adj" fmla="val 2667"/>
            </a:avLst>
          </a:prstGeom>
          <a:solidFill>
            <a:srgbClr val="131B2E"/>
          </a:solidFill>
          <a:ln w="15875">
            <a:solidFill>
              <a:srgbClr val="F28B9A"/>
            </a:solidFill>
            <a:prstDash val="solid"/>
          </a:ln>
        </p:spPr>
      </p:sp>
      <p:sp>
        <p:nvSpPr>
          <p:cNvPr id="15" name="Text 13"/>
          <p:cNvSpPr/>
          <p:nvPr/>
        </p:nvSpPr>
        <p:spPr>
          <a:xfrm>
            <a:off x="5623560" y="2761488"/>
            <a:ext cx="2651760" cy="365760"/>
          </a:xfrm>
          <a:prstGeom prst="rect">
            <a:avLst/>
          </a:prstGeom>
          <a:noFill/>
          <a:ln/>
        </p:spPr>
        <p:txBody>
          <a:bodyPr wrap="square" lIns="25400" tIns="25400" rIns="25400" bIns="25400" rtlCol="0" anchor="ctr"/>
          <a:lstStyle/>
          <a:p>
            <a:pPr algn="l" indent="0" marL="0">
              <a:buNone/>
            </a:pPr>
            <a:r>
              <a:rPr lang="en-US" sz="1300" b="1" dirty="0">
                <a:solidFill>
                  <a:srgbClr val="F28B9A"/>
                </a:solidFill>
                <a:latin typeface="Segoe UI" pitchFamily="34" charset="0"/>
                <a:ea typeface="Segoe UI" pitchFamily="34" charset="-122"/>
                <a:cs typeface="Segoe UI" pitchFamily="34" charset="-120"/>
              </a:rPr>
              <a:t>Chỉ xoá cookie</a:t>
            </a:r>
            <a:endParaRPr lang="en-US" sz="1300" dirty="0"/>
          </a:p>
        </p:txBody>
      </p:sp>
      <p:sp>
        <p:nvSpPr>
          <p:cNvPr id="16" name="Text 14"/>
          <p:cNvSpPr/>
          <p:nvPr/>
        </p:nvSpPr>
        <p:spPr>
          <a:xfrm>
            <a:off x="5623560" y="3246120"/>
            <a:ext cx="2651760" cy="457200"/>
          </a:xfrm>
          <a:prstGeom prst="roundRect">
            <a:avLst>
              <a:gd name="adj" fmla="val 16000"/>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dirty="0">
                <a:solidFill>
                  <a:srgbClr val="8F9BB3"/>
                </a:solidFill>
                <a:latin typeface="Segoe UI" pitchFamily="34" charset="0"/>
                <a:ea typeface="Segoe UI" pitchFamily="34" charset="-122"/>
                <a:cs typeface="Segoe UI" pitchFamily="34" charset="-120"/>
              </a:rPr>
              <a:t>Browser cookie</a:t>
            </a:r>
            <a:endParaRPr lang="en-US" sz="1100" dirty="0"/>
          </a:p>
        </p:txBody>
      </p:sp>
      <p:sp>
        <p:nvSpPr>
          <p:cNvPr id="17" name="Text 15"/>
          <p:cNvSpPr/>
          <p:nvPr/>
        </p:nvSpPr>
        <p:spPr>
          <a:xfrm>
            <a:off x="5623560" y="3840480"/>
            <a:ext cx="2651760" cy="502920"/>
          </a:xfrm>
          <a:prstGeom prst="roundRect">
            <a:avLst>
              <a:gd name="adj" fmla="val 14545"/>
            </a:avLst>
          </a:prstGeom>
          <a:solidFill>
            <a:srgbClr val="4D2530"/>
          </a:solidFill>
          <a:ln w="12700">
            <a:solidFill>
              <a:srgbClr val="F28B9A"/>
            </a:solidFill>
            <a:prstDash val="solid"/>
          </a:ln>
        </p:spPr>
        <p:txBody>
          <a:bodyPr wrap="square" lIns="76200" tIns="76200" rIns="76200" bIns="76200" rtlCol="0" anchor="ctr"/>
          <a:lstStyle/>
          <a:p>
            <a:pPr algn="ctr" indent="0" marL="0">
              <a:buNone/>
            </a:pPr>
            <a:r>
              <a:rPr lang="en-US" sz="1100" dirty="0">
                <a:solidFill>
                  <a:srgbClr val="F28B9A"/>
                </a:solidFill>
                <a:latin typeface="Segoe UI" pitchFamily="34" charset="0"/>
                <a:ea typeface="Segoe UI" pitchFamily="34" charset="-122"/>
                <a:cs typeface="Segoe UI" pitchFamily="34" charset="-120"/>
              </a:rPr>
              <a:t>Session store: CÒN SỐNG</a:t>
            </a:r>
            <a:endParaRPr lang="en-US" sz="1100" dirty="0"/>
          </a:p>
        </p:txBody>
      </p:sp>
      <p:sp>
        <p:nvSpPr>
          <p:cNvPr id="18" name="Text 16"/>
          <p:cNvSpPr/>
          <p:nvPr/>
        </p:nvSpPr>
        <p:spPr>
          <a:xfrm>
            <a:off x="5623560" y="4434840"/>
            <a:ext cx="2651760" cy="868680"/>
          </a:xfrm>
          <a:prstGeom prst="rect">
            <a:avLst/>
          </a:prstGeom>
          <a:noFill/>
          <a:ln/>
        </p:spPr>
        <p:txBody>
          <a:bodyPr wrap="square" lIns="25400" tIns="25400" rIns="25400" bIns="25400" rtlCol="0" anchor="t"/>
          <a:lstStyle/>
          <a:p>
            <a:pPr algn="l" indent="0" marL="0">
              <a:buNone/>
            </a:pPr>
            <a:r>
              <a:rPr lang="en-US" sz="1100" dirty="0">
                <a:solidFill>
                  <a:srgbClr val="E8ECF5"/>
                </a:solidFill>
                <a:latin typeface="Segoe UI" pitchFamily="34" charset="0"/>
                <a:ea typeface="Segoe UI" pitchFamily="34" charset="-122"/>
                <a:cs typeface="Segoe UI" pitchFamily="34" charset="-120"/>
              </a:rPr>
              <a:t>Browser trông như đã logout, nhưng bản sao session ID vẫn dùng được.</a:t>
            </a:r>
            <a:endParaRPr lang="en-US" sz="1100" dirty="0"/>
          </a:p>
        </p:txBody>
      </p:sp>
      <p:sp>
        <p:nvSpPr>
          <p:cNvPr id="19" name="Shape 17"/>
          <p:cNvSpPr/>
          <p:nvPr/>
        </p:nvSpPr>
        <p:spPr>
          <a:xfrm>
            <a:off x="8686800" y="2651760"/>
            <a:ext cx="3017520" cy="2743200"/>
          </a:xfrm>
          <a:prstGeom prst="roundRect">
            <a:avLst>
              <a:gd name="adj" fmla="val 2667"/>
            </a:avLst>
          </a:prstGeom>
          <a:solidFill>
            <a:srgbClr val="131B2E"/>
          </a:solidFill>
          <a:ln w="15875">
            <a:solidFill>
              <a:srgbClr val="6EE7B7"/>
            </a:solidFill>
            <a:prstDash val="solid"/>
          </a:ln>
        </p:spPr>
      </p:sp>
      <p:sp>
        <p:nvSpPr>
          <p:cNvPr id="20" name="Text 18"/>
          <p:cNvSpPr/>
          <p:nvPr/>
        </p:nvSpPr>
        <p:spPr>
          <a:xfrm>
            <a:off x="8869680" y="2761488"/>
            <a:ext cx="2651760" cy="365760"/>
          </a:xfrm>
          <a:prstGeom prst="rect">
            <a:avLst/>
          </a:prstGeom>
          <a:noFill/>
          <a:ln/>
        </p:spPr>
        <p:txBody>
          <a:bodyPr wrap="square" lIns="25400" tIns="25400" rIns="25400" bIns="25400" rtlCol="0" anchor="ctr"/>
          <a:lstStyle/>
          <a:p>
            <a:pPr algn="l" indent="0" marL="0">
              <a:buNone/>
            </a:pPr>
            <a:r>
              <a:rPr lang="en-US" sz="1300" b="1" dirty="0">
                <a:solidFill>
                  <a:srgbClr val="6EE7B7"/>
                </a:solidFill>
                <a:latin typeface="Segoe UI" pitchFamily="34" charset="0"/>
                <a:ea typeface="Segoe UI" pitchFamily="34" charset="-122"/>
                <a:cs typeface="Segoe UI" pitchFamily="34" charset="-120"/>
              </a:rPr>
              <a:t>Destroy session ở server</a:t>
            </a:r>
            <a:endParaRPr lang="en-US" sz="1300" dirty="0"/>
          </a:p>
        </p:txBody>
      </p:sp>
      <p:sp>
        <p:nvSpPr>
          <p:cNvPr id="21" name="Text 19"/>
          <p:cNvSpPr/>
          <p:nvPr/>
        </p:nvSpPr>
        <p:spPr>
          <a:xfrm>
            <a:off x="8869680" y="3246120"/>
            <a:ext cx="2651760" cy="457200"/>
          </a:xfrm>
          <a:prstGeom prst="roundRect">
            <a:avLst>
              <a:gd name="adj" fmla="val 16000"/>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dirty="0">
                <a:solidFill>
                  <a:srgbClr val="8F9BB3"/>
                </a:solidFill>
                <a:latin typeface="Segoe UI" pitchFamily="34" charset="0"/>
                <a:ea typeface="Segoe UI" pitchFamily="34" charset="-122"/>
                <a:cs typeface="Segoe UI" pitchFamily="34" charset="-120"/>
              </a:rPr>
              <a:t>Browser cookie</a:t>
            </a:r>
            <a:endParaRPr lang="en-US" sz="1100" dirty="0"/>
          </a:p>
        </p:txBody>
      </p:sp>
      <p:sp>
        <p:nvSpPr>
          <p:cNvPr id="22" name="Text 20"/>
          <p:cNvSpPr/>
          <p:nvPr/>
        </p:nvSpPr>
        <p:spPr>
          <a:xfrm>
            <a:off x="8869680" y="3840480"/>
            <a:ext cx="2651760" cy="502920"/>
          </a:xfrm>
          <a:prstGeom prst="roundRect">
            <a:avLst>
              <a:gd name="adj" fmla="val 14545"/>
            </a:avLst>
          </a:prstGeom>
          <a:solidFill>
            <a:srgbClr val="1E4D40"/>
          </a:solidFill>
          <a:ln w="12700">
            <a:solidFill>
              <a:srgbClr val="6EE7B7"/>
            </a:solidFill>
            <a:prstDash val="solid"/>
          </a:ln>
        </p:spPr>
        <p:txBody>
          <a:bodyPr wrap="square" lIns="76200" tIns="76200" rIns="76200" bIns="76200" rtlCol="0" anchor="ctr"/>
          <a:lstStyle/>
          <a:p>
            <a:pPr algn="ctr" indent="0" marL="0">
              <a:buNone/>
            </a:pPr>
            <a:r>
              <a:rPr lang="en-US" sz="1100" dirty="0">
                <a:solidFill>
                  <a:srgbClr val="6EE7B7"/>
                </a:solidFill>
                <a:latin typeface="Segoe UI" pitchFamily="34" charset="0"/>
                <a:ea typeface="Segoe UI" pitchFamily="34" charset="-122"/>
                <a:cs typeface="Segoe UI" pitchFamily="34" charset="-120"/>
              </a:rPr>
              <a:t>Session store: ĐÃ XOÁ</a:t>
            </a:r>
            <a:endParaRPr lang="en-US" sz="1100" dirty="0"/>
          </a:p>
        </p:txBody>
      </p:sp>
      <p:sp>
        <p:nvSpPr>
          <p:cNvPr id="23" name="Text 21"/>
          <p:cNvSpPr/>
          <p:nvPr/>
        </p:nvSpPr>
        <p:spPr>
          <a:xfrm>
            <a:off x="8869680" y="4434840"/>
            <a:ext cx="2651760" cy="868680"/>
          </a:xfrm>
          <a:prstGeom prst="rect">
            <a:avLst/>
          </a:prstGeom>
          <a:noFill/>
          <a:ln/>
        </p:spPr>
        <p:txBody>
          <a:bodyPr wrap="square" lIns="25400" tIns="25400" rIns="25400" bIns="25400" rtlCol="0" anchor="t"/>
          <a:lstStyle/>
          <a:p>
            <a:pPr algn="l" indent="0" marL="0">
              <a:buNone/>
            </a:pPr>
            <a:r>
              <a:rPr lang="en-US" sz="1100" dirty="0">
                <a:solidFill>
                  <a:srgbClr val="E8ECF5"/>
                </a:solidFill>
                <a:latin typeface="Segoe UI" pitchFamily="34" charset="0"/>
                <a:ea typeface="Segoe UI" pitchFamily="34" charset="-122"/>
                <a:cs typeface="Segoe UI" pitchFamily="34" charset="-120"/>
              </a:rPr>
              <a:t>Mọi bản sao session ID đều vô giá trị → 401.</a:t>
            </a:r>
            <a:endParaRPr lang="en-US" sz="1100" dirty="0"/>
          </a:p>
        </p:txBody>
      </p:sp>
      <p:sp>
        <p:nvSpPr>
          <p:cNvPr id="24" name="Text 22"/>
          <p:cNvSpPr/>
          <p:nvPr/>
        </p:nvSpPr>
        <p:spPr>
          <a:xfrm>
            <a:off x="548640" y="5760720"/>
            <a:ext cx="3566160" cy="566928"/>
          </a:xfrm>
          <a:prstGeom prst="roundRect">
            <a:avLst>
              <a:gd name="adj" fmla="val 12903"/>
            </a:avLst>
          </a:prstGeom>
          <a:solidFill>
            <a:srgbClr val="B5A5FF"/>
          </a:solidFill>
          <a:ln w="12700">
            <a:solidFill>
              <a:srgbClr val="B5A5FF"/>
            </a:solidFill>
          </a:ln>
        </p:spPr>
        <p:txBody>
          <a:bodyPr wrap="square" rtlCol="0" anchor="ctr"/>
          <a:lstStyle/>
          <a:p>
            <a:pPr algn="ctr" indent="0" marL="0">
              <a:buNone/>
            </a:pPr>
            <a:r>
              <a:rPr lang="en-US" sz="1500" b="1" u="sng" dirty="0">
                <a:solidFill>
                  <a:srgbClr val="111329"/>
                </a:solidFill>
                <a:latin typeface="Segoe UI" pitchFamily="34" charset="0"/>
                <a:ea typeface="Segoe UI" pitchFamily="34" charset="-122"/>
                <a:cs typeface="Segoe UI" pitchFamily="34" charset="-120"/>
                <a:hlinkClick r:id="rId1" invalidUrl="" action="" tgtFrame="" tooltip="http://localhost:5173/demo/session/logout-lab" history="1" highlightClick="0" endSnd="0">
                  <a:extLst>
                    <a:ext uri="{A12FA001-AC4F-418D-AE19-62706E023703}">
                      <ahyp:hlinkClr xmlns:ahyp="http://schemas.microsoft.com/office/drawing/2018/hyperlinkcolor" val="tx"/>
                    </a:ext>
                  </a:extLst>
                </a:hlinkClick>
              </a:rPr>
              <a:t>Mở Logout Demo ↗</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SESSION  ·  SLIDE 11/27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CSRF và XSS không giống nhau</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CSRF: browser gửi credential ngoài ý muốn.</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XSS: script độc hại chạy trong origin ứng dụng.</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HttpOnly</a:t>
            </a:r>
            <a:r>
              <a:rPr lang="en-US" sz="1800" dirty="0">
                <a:solidFill>
                  <a:srgbClr val="E8ECF5"/>
                </a:solidFill>
                <a:latin typeface="Segoe UI" pitchFamily="34" charset="0"/>
                <a:ea typeface="Segoe UI" pitchFamily="34" charset="-122"/>
                <a:cs typeface="Segoe UI" pitchFamily="34" charset="-120"/>
              </a:rPr>
              <a:t> không ngăn mọi tác động của XSS.</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SameSite</a:t>
            </a:r>
            <a:r>
              <a:rPr lang="en-US" sz="1800" dirty="0">
                <a:solidFill>
                  <a:srgbClr val="E8ECF5"/>
                </a:solidFill>
                <a:latin typeface="Segoe UI" pitchFamily="34" charset="0"/>
                <a:ea typeface="Segoe UI" pitchFamily="34" charset="-122"/>
                <a:cs typeface="Segoe UI" pitchFamily="34" charset="-120"/>
              </a:rPr>
              <a:t> không thay thế toàn bộ CSRF protection.</a:t>
            </a:r>
            <a:endParaRPr lang="en-US" sz="1800" dirty="0"/>
          </a:p>
        </p:txBody>
      </p:sp>
      <p:sp>
        <p:nvSpPr>
          <p:cNvPr id="7" name="Shape 5"/>
          <p:cNvSpPr/>
          <p:nvPr/>
        </p:nvSpPr>
        <p:spPr>
          <a:xfrm>
            <a:off x="5440680" y="1463040"/>
            <a:ext cx="2994660" cy="4114800"/>
          </a:xfrm>
          <a:prstGeom prst="roundRect">
            <a:avLst>
              <a:gd name="adj" fmla="val 2443"/>
            </a:avLst>
          </a:prstGeom>
          <a:solidFill>
            <a:srgbClr val="131B2E"/>
          </a:solidFill>
          <a:ln w="15875">
            <a:solidFill>
              <a:srgbClr val="F5A65B"/>
            </a:solidFill>
            <a:prstDash val="solid"/>
          </a:ln>
        </p:spPr>
      </p:sp>
      <p:sp>
        <p:nvSpPr>
          <p:cNvPr id="8" name="Text 6"/>
          <p:cNvSpPr/>
          <p:nvPr/>
        </p:nvSpPr>
        <p:spPr>
          <a:xfrm>
            <a:off x="5623560" y="1554480"/>
            <a:ext cx="2628900" cy="411480"/>
          </a:xfrm>
          <a:prstGeom prst="rect">
            <a:avLst/>
          </a:prstGeom>
          <a:noFill/>
          <a:ln/>
        </p:spPr>
        <p:txBody>
          <a:bodyPr wrap="square" lIns="25400" tIns="25400" rIns="25400" bIns="25400" rtlCol="0" anchor="ctr"/>
          <a:lstStyle/>
          <a:p>
            <a:pPr algn="l" indent="0" marL="0">
              <a:buNone/>
            </a:pPr>
            <a:r>
              <a:rPr lang="en-US" sz="1500" b="1" dirty="0">
                <a:solidFill>
                  <a:srgbClr val="F5A65B"/>
                </a:solidFill>
                <a:latin typeface="Segoe UI" pitchFamily="34" charset="0"/>
                <a:ea typeface="Segoe UI" pitchFamily="34" charset="-122"/>
                <a:cs typeface="Segoe UI" pitchFamily="34" charset="-120"/>
              </a:rPr>
              <a:t>CSRF</a:t>
            </a:r>
            <a:endParaRPr lang="en-US" sz="1500" dirty="0"/>
          </a:p>
        </p:txBody>
      </p:sp>
      <p:sp>
        <p:nvSpPr>
          <p:cNvPr id="9" name="Text 7"/>
          <p:cNvSpPr/>
          <p:nvPr/>
        </p:nvSpPr>
        <p:spPr>
          <a:xfrm>
            <a:off x="5715000" y="2103120"/>
            <a:ext cx="244602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dirty="0">
                <a:solidFill>
                  <a:srgbClr val="E8ECF5"/>
                </a:solidFill>
                <a:latin typeface="Segoe UI" pitchFamily="34" charset="0"/>
                <a:ea typeface="Segoe UI" pitchFamily="34" charset="-122"/>
                <a:cs typeface="Segoe UI" pitchFamily="34" charset="-120"/>
              </a:rPr>
              <a:t>evil.example</a:t>
            </a:r>
            <a:endParaRPr lang="en-US" sz="1100" dirty="0"/>
          </a:p>
        </p:txBody>
      </p:sp>
      <p:sp>
        <p:nvSpPr>
          <p:cNvPr id="10" name="Shape 8"/>
          <p:cNvSpPr/>
          <p:nvPr/>
        </p:nvSpPr>
        <p:spPr>
          <a:xfrm>
            <a:off x="6938010" y="2606040"/>
            <a:ext cx="0" cy="457200"/>
          </a:xfrm>
          <a:prstGeom prst="line">
            <a:avLst/>
          </a:prstGeom>
          <a:noFill/>
          <a:ln w="19050">
            <a:solidFill>
              <a:srgbClr val="F5A65B"/>
            </a:solidFill>
            <a:prstDash val="solid"/>
            <a:tailEnd type="triangle"/>
          </a:ln>
        </p:spPr>
      </p:sp>
      <p:sp>
        <p:nvSpPr>
          <p:cNvPr id="11" name="Text 9"/>
          <p:cNvSpPr/>
          <p:nvPr/>
        </p:nvSpPr>
        <p:spPr>
          <a:xfrm>
            <a:off x="7011162" y="2651760"/>
            <a:ext cx="1314450" cy="365760"/>
          </a:xfrm>
          <a:prstGeom prst="rect">
            <a:avLst/>
          </a:prstGeom>
          <a:noFill/>
          <a:ln/>
        </p:spPr>
        <p:txBody>
          <a:bodyPr wrap="square" lIns="25400" tIns="25400" rIns="25400" bIns="25400" rtlCol="0" anchor="ctr"/>
          <a:lstStyle/>
          <a:p>
            <a:pPr algn="l" indent="0" marL="0">
              <a:buNone/>
            </a:pPr>
            <a:r>
              <a:rPr lang="en-US" sz="950" dirty="0">
                <a:solidFill>
                  <a:srgbClr val="8F9BB3"/>
                </a:solidFill>
                <a:latin typeface="Segoe UI" pitchFamily="34" charset="0"/>
                <a:ea typeface="Segoe UI" pitchFamily="34" charset="-122"/>
                <a:cs typeface="Segoe UI" pitchFamily="34" charset="-120"/>
              </a:rPr>
              <a:t>form POST tự động</a:t>
            </a:r>
            <a:endParaRPr lang="en-US" sz="950" dirty="0"/>
          </a:p>
        </p:txBody>
      </p:sp>
      <p:sp>
        <p:nvSpPr>
          <p:cNvPr id="12" name="Text 10"/>
          <p:cNvSpPr/>
          <p:nvPr/>
        </p:nvSpPr>
        <p:spPr>
          <a:xfrm>
            <a:off x="5715000" y="3063240"/>
            <a:ext cx="244602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dirty="0">
                <a:solidFill>
                  <a:srgbClr val="E8ECF5"/>
                </a:solidFill>
                <a:latin typeface="Segoe UI" pitchFamily="34" charset="0"/>
                <a:ea typeface="Segoe UI" pitchFamily="34" charset="-122"/>
                <a:cs typeface="Segoe UI" pitchFamily="34" charset="-120"/>
              </a:rPr>
              <a:t>Browser (đang login DevHub)</a:t>
            </a:r>
            <a:endParaRPr lang="en-US" sz="1100" dirty="0"/>
          </a:p>
        </p:txBody>
      </p:sp>
      <p:sp>
        <p:nvSpPr>
          <p:cNvPr id="13" name="Shape 11"/>
          <p:cNvSpPr/>
          <p:nvPr/>
        </p:nvSpPr>
        <p:spPr>
          <a:xfrm>
            <a:off x="6938010" y="3566160"/>
            <a:ext cx="0" cy="457200"/>
          </a:xfrm>
          <a:prstGeom prst="line">
            <a:avLst/>
          </a:prstGeom>
          <a:noFill/>
          <a:ln w="19050">
            <a:solidFill>
              <a:srgbClr val="F5A65B"/>
            </a:solidFill>
            <a:prstDash val="solid"/>
            <a:tailEnd type="triangle"/>
          </a:ln>
        </p:spPr>
      </p:sp>
      <p:sp>
        <p:nvSpPr>
          <p:cNvPr id="14" name="Text 12"/>
          <p:cNvSpPr/>
          <p:nvPr/>
        </p:nvSpPr>
        <p:spPr>
          <a:xfrm>
            <a:off x="7011162" y="3611880"/>
            <a:ext cx="1314450" cy="365760"/>
          </a:xfrm>
          <a:prstGeom prst="rect">
            <a:avLst/>
          </a:prstGeom>
          <a:noFill/>
          <a:ln/>
        </p:spPr>
        <p:txBody>
          <a:bodyPr wrap="square" lIns="25400" tIns="25400" rIns="25400" bIns="25400" rtlCol="0" anchor="ctr"/>
          <a:lstStyle/>
          <a:p>
            <a:pPr algn="l" indent="0" marL="0">
              <a:buNone/>
            </a:pPr>
            <a:r>
              <a:rPr lang="en-US" sz="950" dirty="0">
                <a:solidFill>
                  <a:srgbClr val="8F9BB3"/>
                </a:solidFill>
                <a:latin typeface="Segoe UI" pitchFamily="34" charset="0"/>
                <a:ea typeface="Segoe UI" pitchFamily="34" charset="-122"/>
                <a:cs typeface="Segoe UI" pitchFamily="34" charset="-120"/>
              </a:rPr>
              <a:t>cookie tự gửi kèm</a:t>
            </a:r>
            <a:endParaRPr lang="en-US" sz="950" dirty="0"/>
          </a:p>
        </p:txBody>
      </p:sp>
      <p:sp>
        <p:nvSpPr>
          <p:cNvPr id="15" name="Text 13"/>
          <p:cNvSpPr/>
          <p:nvPr/>
        </p:nvSpPr>
        <p:spPr>
          <a:xfrm>
            <a:off x="5715000" y="4023360"/>
            <a:ext cx="244602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DevHub API thực thi</a:t>
            </a:r>
            <a:endParaRPr lang="en-US" sz="1100" dirty="0"/>
          </a:p>
        </p:txBody>
      </p:sp>
      <p:sp>
        <p:nvSpPr>
          <p:cNvPr id="16" name="Text 14"/>
          <p:cNvSpPr/>
          <p:nvPr/>
        </p:nvSpPr>
        <p:spPr>
          <a:xfrm>
            <a:off x="5623560" y="4617720"/>
            <a:ext cx="2628900" cy="868680"/>
          </a:xfrm>
          <a:prstGeom prst="rect">
            <a:avLst/>
          </a:prstGeom>
          <a:noFill/>
          <a:ln/>
        </p:spPr>
        <p:txBody>
          <a:bodyPr wrap="square" lIns="25400" tIns="25400" rIns="25400" bIns="25400" rtlCol="0" anchor="t"/>
          <a:lstStyle/>
          <a:p>
            <a:pPr algn="l" indent="0" marL="0">
              <a:buNone/>
            </a:pPr>
            <a:r>
              <a:rPr lang="en-US" sz="1000" dirty="0">
                <a:solidFill>
                  <a:srgbClr val="E8ECF5"/>
                </a:solidFill>
                <a:latin typeface="Segoe UI" pitchFamily="34" charset="0"/>
                <a:ea typeface="Segoe UI" pitchFamily="34" charset="-122"/>
                <a:cs typeface="Segoe UI" pitchFamily="34" charset="-120"/>
              </a:rPr>
              <a:t>Attacker không thấy cookie.</a:t>
            </a:r>
            <a:endParaRPr lang="en-US" sz="1000" dirty="0"/>
          </a:p>
          <a:p>
            <a:pPr algn="l" indent="0" marL="0">
              <a:buNone/>
            </a:pPr>
            <a:r>
              <a:rPr lang="en-US" sz="1000" dirty="0">
                <a:solidFill>
                  <a:srgbClr val="E8ECF5"/>
                </a:solidFill>
                <a:latin typeface="Segoe UI" pitchFamily="34" charset="0"/>
                <a:ea typeface="Segoe UI" pitchFamily="34" charset="-122"/>
                <a:cs typeface="Segoe UI" pitchFamily="34" charset="-120"/>
              </a:rPr>
              <a:t>Phòng vệ: SameSite, CSRF token, kiểm tra Origin.</a:t>
            </a:r>
            <a:endParaRPr lang="en-US" sz="1000" dirty="0"/>
          </a:p>
        </p:txBody>
      </p:sp>
      <p:sp>
        <p:nvSpPr>
          <p:cNvPr id="17" name="Shape 15"/>
          <p:cNvSpPr/>
          <p:nvPr/>
        </p:nvSpPr>
        <p:spPr>
          <a:xfrm>
            <a:off x="8709660" y="1463040"/>
            <a:ext cx="2994660" cy="4114800"/>
          </a:xfrm>
          <a:prstGeom prst="roundRect">
            <a:avLst>
              <a:gd name="adj" fmla="val 2443"/>
            </a:avLst>
          </a:prstGeom>
          <a:solidFill>
            <a:srgbClr val="131B2E"/>
          </a:solidFill>
          <a:ln w="15875">
            <a:solidFill>
              <a:srgbClr val="F28B9A"/>
            </a:solidFill>
            <a:prstDash val="solid"/>
          </a:ln>
        </p:spPr>
      </p:sp>
      <p:sp>
        <p:nvSpPr>
          <p:cNvPr id="18" name="Text 16"/>
          <p:cNvSpPr/>
          <p:nvPr/>
        </p:nvSpPr>
        <p:spPr>
          <a:xfrm>
            <a:off x="8892540" y="1554480"/>
            <a:ext cx="2628900" cy="411480"/>
          </a:xfrm>
          <a:prstGeom prst="rect">
            <a:avLst/>
          </a:prstGeom>
          <a:noFill/>
          <a:ln/>
        </p:spPr>
        <p:txBody>
          <a:bodyPr wrap="square" lIns="25400" tIns="25400" rIns="25400" bIns="25400" rtlCol="0" anchor="ctr"/>
          <a:lstStyle/>
          <a:p>
            <a:pPr algn="l" indent="0" marL="0">
              <a:buNone/>
            </a:pPr>
            <a:r>
              <a:rPr lang="en-US" sz="1500" b="1" dirty="0">
                <a:solidFill>
                  <a:srgbClr val="F28B9A"/>
                </a:solidFill>
                <a:latin typeface="Segoe UI" pitchFamily="34" charset="0"/>
                <a:ea typeface="Segoe UI" pitchFamily="34" charset="-122"/>
                <a:cs typeface="Segoe UI" pitchFamily="34" charset="-120"/>
              </a:rPr>
              <a:t>XSS</a:t>
            </a:r>
            <a:endParaRPr lang="en-US" sz="1500" dirty="0"/>
          </a:p>
        </p:txBody>
      </p:sp>
      <p:sp>
        <p:nvSpPr>
          <p:cNvPr id="19" name="Text 17"/>
          <p:cNvSpPr/>
          <p:nvPr/>
        </p:nvSpPr>
        <p:spPr>
          <a:xfrm>
            <a:off x="8983980" y="2103120"/>
            <a:ext cx="244602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dirty="0">
                <a:solidFill>
                  <a:srgbClr val="E8ECF5"/>
                </a:solidFill>
                <a:latin typeface="Segoe UI" pitchFamily="34" charset="0"/>
                <a:ea typeface="Segoe UI" pitchFamily="34" charset="-122"/>
                <a:cs typeface="Segoe UI" pitchFamily="34" charset="-120"/>
              </a:rPr>
              <a:t>Script độc trong origin DevHub</a:t>
            </a:r>
            <a:endParaRPr lang="en-US" sz="1100" dirty="0"/>
          </a:p>
        </p:txBody>
      </p:sp>
      <p:sp>
        <p:nvSpPr>
          <p:cNvPr id="20" name="Shape 18"/>
          <p:cNvSpPr/>
          <p:nvPr/>
        </p:nvSpPr>
        <p:spPr>
          <a:xfrm>
            <a:off x="10206990" y="2606040"/>
            <a:ext cx="0" cy="457200"/>
          </a:xfrm>
          <a:prstGeom prst="line">
            <a:avLst/>
          </a:prstGeom>
          <a:noFill/>
          <a:ln w="19050">
            <a:solidFill>
              <a:srgbClr val="F28B9A"/>
            </a:solidFill>
            <a:prstDash val="solid"/>
            <a:tailEnd type="triangle"/>
          </a:ln>
        </p:spPr>
      </p:sp>
      <p:sp>
        <p:nvSpPr>
          <p:cNvPr id="21" name="Text 19"/>
          <p:cNvSpPr/>
          <p:nvPr/>
        </p:nvSpPr>
        <p:spPr>
          <a:xfrm>
            <a:off x="10280142" y="2651760"/>
            <a:ext cx="1314450" cy="365760"/>
          </a:xfrm>
          <a:prstGeom prst="rect">
            <a:avLst/>
          </a:prstGeom>
          <a:noFill/>
          <a:ln/>
        </p:spPr>
        <p:txBody>
          <a:bodyPr wrap="square" lIns="25400" tIns="25400" rIns="25400" bIns="25400" rtlCol="0" anchor="ctr"/>
          <a:lstStyle/>
          <a:p>
            <a:pPr algn="l" indent="0" marL="0">
              <a:buNone/>
            </a:pPr>
            <a:r>
              <a:rPr lang="en-US" sz="950" dirty="0">
                <a:solidFill>
                  <a:srgbClr val="8F9BB3"/>
                </a:solidFill>
                <a:latin typeface="Segoe UI" pitchFamily="34" charset="0"/>
                <a:ea typeface="Segoe UI" pitchFamily="34" charset="-122"/>
                <a:cs typeface="Segoe UI" pitchFamily="34" charset="-120"/>
              </a:rPr>
              <a:t>chạy với quyền trang</a:t>
            </a:r>
            <a:endParaRPr lang="en-US" sz="950" dirty="0"/>
          </a:p>
        </p:txBody>
      </p:sp>
      <p:sp>
        <p:nvSpPr>
          <p:cNvPr id="22" name="Text 20"/>
          <p:cNvSpPr/>
          <p:nvPr/>
        </p:nvSpPr>
        <p:spPr>
          <a:xfrm>
            <a:off x="8983980" y="3063240"/>
            <a:ext cx="244602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dirty="0">
                <a:solidFill>
                  <a:srgbClr val="E8ECF5"/>
                </a:solidFill>
                <a:latin typeface="Segoe UI" pitchFamily="34" charset="0"/>
                <a:ea typeface="Segoe UI" pitchFamily="34" charset="-122"/>
                <a:cs typeface="Segoe UI" pitchFamily="34" charset="-120"/>
              </a:rPr>
              <a:t>fetch("/api/…") như user</a:t>
            </a:r>
            <a:endParaRPr lang="en-US" sz="1100" dirty="0"/>
          </a:p>
        </p:txBody>
      </p:sp>
      <p:sp>
        <p:nvSpPr>
          <p:cNvPr id="23" name="Shape 21"/>
          <p:cNvSpPr/>
          <p:nvPr/>
        </p:nvSpPr>
        <p:spPr>
          <a:xfrm>
            <a:off x="10206990" y="3566160"/>
            <a:ext cx="0" cy="457200"/>
          </a:xfrm>
          <a:prstGeom prst="line">
            <a:avLst/>
          </a:prstGeom>
          <a:noFill/>
          <a:ln w="19050">
            <a:solidFill>
              <a:srgbClr val="F28B9A"/>
            </a:solidFill>
            <a:prstDash val="solid"/>
            <a:tailEnd type="triangle"/>
          </a:ln>
        </p:spPr>
      </p:sp>
      <p:sp>
        <p:nvSpPr>
          <p:cNvPr id="24" name="Text 22"/>
          <p:cNvSpPr/>
          <p:nvPr/>
        </p:nvSpPr>
        <p:spPr>
          <a:xfrm>
            <a:off x="10280142" y="3611880"/>
            <a:ext cx="1314450" cy="365760"/>
          </a:xfrm>
          <a:prstGeom prst="rect">
            <a:avLst/>
          </a:prstGeom>
          <a:noFill/>
          <a:ln/>
        </p:spPr>
        <p:txBody>
          <a:bodyPr wrap="square" lIns="25400" tIns="25400" rIns="25400" bIns="25400" rtlCol="0" anchor="ctr"/>
          <a:lstStyle/>
          <a:p>
            <a:pPr algn="l" indent="0" marL="0">
              <a:buNone/>
            </a:pPr>
            <a:r>
              <a:rPr lang="en-US" sz="950" dirty="0">
                <a:solidFill>
                  <a:srgbClr val="8F9BB3"/>
                </a:solidFill>
                <a:latin typeface="Segoe UI" pitchFamily="34" charset="0"/>
                <a:ea typeface="Segoe UI" pitchFamily="34" charset="-122"/>
                <a:cs typeface="Segoe UI" pitchFamily="34" charset="-120"/>
              </a:rPr>
              <a:t>cookie vẫn được gửi</a:t>
            </a:r>
            <a:endParaRPr lang="en-US" sz="950" dirty="0"/>
          </a:p>
        </p:txBody>
      </p:sp>
      <p:sp>
        <p:nvSpPr>
          <p:cNvPr id="25" name="Text 23"/>
          <p:cNvSpPr/>
          <p:nvPr/>
        </p:nvSpPr>
        <p:spPr>
          <a:xfrm>
            <a:off x="8983980" y="4023360"/>
            <a:ext cx="244602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DevHub API thực thi</a:t>
            </a:r>
            <a:endParaRPr lang="en-US" sz="1100" dirty="0"/>
          </a:p>
        </p:txBody>
      </p:sp>
      <p:sp>
        <p:nvSpPr>
          <p:cNvPr id="26" name="Text 24"/>
          <p:cNvSpPr/>
          <p:nvPr/>
        </p:nvSpPr>
        <p:spPr>
          <a:xfrm>
            <a:off x="8892540" y="4617720"/>
            <a:ext cx="2628900" cy="868680"/>
          </a:xfrm>
          <a:prstGeom prst="rect">
            <a:avLst/>
          </a:prstGeom>
          <a:noFill/>
          <a:ln/>
        </p:spPr>
        <p:txBody>
          <a:bodyPr wrap="square" lIns="25400" tIns="25400" rIns="25400" bIns="25400" rtlCol="0" anchor="t"/>
          <a:lstStyle/>
          <a:p>
            <a:pPr algn="l" indent="0" marL="0">
              <a:buNone/>
            </a:pPr>
            <a:r>
              <a:rPr lang="en-US" sz="1000" dirty="0">
                <a:solidFill>
                  <a:srgbClr val="E8ECF5"/>
                </a:solidFill>
                <a:latin typeface="Segoe UI" pitchFamily="34" charset="0"/>
                <a:ea typeface="Segoe UI" pitchFamily="34" charset="-122"/>
                <a:cs typeface="Segoe UI" pitchFamily="34" charset="-120"/>
              </a:rPr>
              <a:t>HttpOnly chỉ chặn đọc cookie.</a:t>
            </a:r>
            <a:endParaRPr lang="en-US" sz="1000" dirty="0"/>
          </a:p>
          <a:p>
            <a:pPr algn="l" indent="0" marL="0">
              <a:buNone/>
            </a:pPr>
            <a:r>
              <a:rPr lang="en-US" sz="1000" dirty="0">
                <a:solidFill>
                  <a:srgbClr val="E8ECF5"/>
                </a:solidFill>
                <a:latin typeface="Segoe UI" pitchFamily="34" charset="0"/>
                <a:ea typeface="Segoe UI" pitchFamily="34" charset="-122"/>
                <a:cs typeface="Segoe UI" pitchFamily="34" charset="-120"/>
              </a:rPr>
              <a:t>Phòng vệ: output encoding, CSP, sanitize.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JWT  ·  SLIDE 12/27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JWT: ba phần, ba ý nghĩa</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header.payload.signature</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Payload chỉ được encode (Base64URL), ai cũng đọc được.</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Decode không đồng nghĩa verify.</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Signature giúp phát hiện token bị sửa — khi được kiểm tra đúng.</a:t>
            </a:r>
            <a:endParaRPr lang="en-US" sz="1800" dirty="0"/>
          </a:p>
        </p:txBody>
      </p:sp>
      <p:sp>
        <p:nvSpPr>
          <p:cNvPr id="7" name="Text 5"/>
          <p:cNvSpPr/>
          <p:nvPr/>
        </p:nvSpPr>
        <p:spPr>
          <a:xfrm>
            <a:off x="5440680" y="1463040"/>
            <a:ext cx="1996440" cy="274320"/>
          </a:xfrm>
          <a:prstGeom prst="rect">
            <a:avLst/>
          </a:prstGeom>
          <a:noFill/>
          <a:ln/>
        </p:spPr>
        <p:txBody>
          <a:bodyPr wrap="square" lIns="25400" tIns="25400" rIns="25400" bIns="25400" rtlCol="0" anchor="ctr"/>
          <a:lstStyle/>
          <a:p>
            <a:pPr algn="ctr" indent="0" marL="0">
              <a:buNone/>
            </a:pPr>
            <a:r>
              <a:rPr lang="en-US" sz="1050" b="1" dirty="0">
                <a:solidFill>
                  <a:srgbClr val="B5A5FF"/>
                </a:solidFill>
                <a:latin typeface="Segoe UI" pitchFamily="34" charset="0"/>
                <a:ea typeface="Segoe UI" pitchFamily="34" charset="-122"/>
                <a:cs typeface="Segoe UI" pitchFamily="34" charset="-120"/>
              </a:rPr>
              <a:t>HEADER</a:t>
            </a:r>
            <a:endParaRPr lang="en-US" sz="1050" dirty="0"/>
          </a:p>
        </p:txBody>
      </p:sp>
      <p:sp>
        <p:nvSpPr>
          <p:cNvPr id="8" name="Text 6"/>
          <p:cNvSpPr/>
          <p:nvPr/>
        </p:nvSpPr>
        <p:spPr>
          <a:xfrm>
            <a:off x="5440680" y="1783080"/>
            <a:ext cx="1996440" cy="502920"/>
          </a:xfrm>
          <a:prstGeom prst="roundRect">
            <a:avLst>
              <a:gd name="adj" fmla="val 14545"/>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1200" dirty="0">
                <a:solidFill>
                  <a:srgbClr val="B5A5FF"/>
                </a:solidFill>
                <a:latin typeface="Consolas" pitchFamily="34" charset="0"/>
                <a:ea typeface="Consolas" pitchFamily="34" charset="-122"/>
                <a:cs typeface="Consolas" pitchFamily="34" charset="-120"/>
              </a:rPr>
              <a:t>eyJhbGciOi…</a:t>
            </a:r>
            <a:endParaRPr lang="en-US" sz="1200" dirty="0"/>
          </a:p>
        </p:txBody>
      </p:sp>
      <p:sp>
        <p:nvSpPr>
          <p:cNvPr id="9" name="Text 7"/>
          <p:cNvSpPr/>
          <p:nvPr/>
        </p:nvSpPr>
        <p:spPr>
          <a:xfrm>
            <a:off x="5440680" y="2423160"/>
            <a:ext cx="1996440" cy="1143000"/>
          </a:xfrm>
          <a:prstGeom prst="roundRect">
            <a:avLst>
              <a:gd name="adj" fmla="val 6400"/>
            </a:avLst>
          </a:prstGeom>
          <a:solidFill>
            <a:srgbClr val="131B2E"/>
          </a:solidFill>
          <a:ln w="12700">
            <a:solidFill>
              <a:srgbClr val="2A3651"/>
            </a:solidFill>
            <a:prstDash val="solid"/>
          </a:ln>
        </p:spPr>
        <p:txBody>
          <a:bodyPr wrap="square" lIns="76200" tIns="76200" rIns="76200" bIns="76200" rtlCol="0" anchor="ctr"/>
          <a:lstStyle/>
          <a:p>
            <a:pPr algn="l" indent="0" marL="0">
              <a:buNone/>
            </a:pPr>
            <a:r>
              <a:rPr lang="en-US" sz="1000" dirty="0">
                <a:solidFill>
                  <a:srgbClr val="E8ECF5"/>
                </a:solidFill>
                <a:latin typeface="Consolas" pitchFamily="34" charset="0"/>
                <a:ea typeface="Consolas" pitchFamily="34" charset="-122"/>
                <a:cs typeface="Consolas" pitchFamily="34" charset="-120"/>
              </a:rPr>
              <a:t>{ "alg": "HS256",</a:t>
            </a:r>
            <a:endParaRPr lang="en-US" sz="1000" dirty="0"/>
          </a:p>
          <a:p>
            <a:pPr algn="l" indent="0" marL="0">
              <a:buNone/>
            </a:pPr>
            <a:r>
              <a:rPr lang="en-US" sz="1000" dirty="0">
                <a:solidFill>
                  <a:srgbClr val="E8ECF5"/>
                </a:solidFill>
                <a:latin typeface="Consolas" pitchFamily="34" charset="0"/>
                <a:ea typeface="Consolas" pitchFamily="34" charset="-122"/>
                <a:cs typeface="Consolas" pitchFamily="34" charset="-120"/>
              </a:rPr>
              <a:t>  "typ": "JWT" }</a:t>
            </a:r>
            <a:endParaRPr lang="en-US" sz="1000" dirty="0"/>
          </a:p>
        </p:txBody>
      </p:sp>
      <p:sp>
        <p:nvSpPr>
          <p:cNvPr id="10" name="Text 8"/>
          <p:cNvSpPr/>
          <p:nvPr/>
        </p:nvSpPr>
        <p:spPr>
          <a:xfrm>
            <a:off x="7418832" y="1783080"/>
            <a:ext cx="173736" cy="502920"/>
          </a:xfrm>
          <a:prstGeom prst="rect">
            <a:avLst/>
          </a:prstGeom>
          <a:noFill/>
          <a:ln/>
        </p:spPr>
        <p:txBody>
          <a:bodyPr wrap="square" lIns="25400" tIns="25400" rIns="25400" bIns="25400" rtlCol="0" anchor="ctr"/>
          <a:lstStyle/>
          <a:p>
            <a:pPr algn="ctr" indent="0" marL="0">
              <a:buNone/>
            </a:pPr>
            <a:r>
              <a:rPr lang="en-US" sz="2200" b="1" dirty="0">
                <a:solidFill>
                  <a:srgbClr val="E8ECF5"/>
                </a:solidFill>
                <a:latin typeface="Segoe UI" pitchFamily="34" charset="0"/>
                <a:ea typeface="Segoe UI" pitchFamily="34" charset="-122"/>
                <a:cs typeface="Segoe UI" pitchFamily="34" charset="-120"/>
              </a:rPr>
              <a:t>.</a:t>
            </a:r>
            <a:endParaRPr lang="en-US" sz="2200" dirty="0"/>
          </a:p>
        </p:txBody>
      </p:sp>
      <p:sp>
        <p:nvSpPr>
          <p:cNvPr id="11" name="Text 9"/>
          <p:cNvSpPr/>
          <p:nvPr/>
        </p:nvSpPr>
        <p:spPr>
          <a:xfrm>
            <a:off x="7574280" y="1463040"/>
            <a:ext cx="1996440" cy="274320"/>
          </a:xfrm>
          <a:prstGeom prst="rect">
            <a:avLst/>
          </a:prstGeom>
          <a:noFill/>
          <a:ln/>
        </p:spPr>
        <p:txBody>
          <a:bodyPr wrap="square" lIns="25400" tIns="25400" rIns="25400" bIns="25400" rtlCol="0" anchor="ctr"/>
          <a:lstStyle/>
          <a:p>
            <a:pPr algn="ctr" indent="0" marL="0">
              <a:buNone/>
            </a:pPr>
            <a:r>
              <a:rPr lang="en-US" sz="1050" b="1" dirty="0">
                <a:solidFill>
                  <a:srgbClr val="6EE7B7"/>
                </a:solidFill>
                <a:latin typeface="Segoe UI" pitchFamily="34" charset="0"/>
                <a:ea typeface="Segoe UI" pitchFamily="34" charset="-122"/>
                <a:cs typeface="Segoe UI" pitchFamily="34" charset="-120"/>
              </a:rPr>
              <a:t>PAYLOAD</a:t>
            </a:r>
            <a:endParaRPr lang="en-US" sz="1050" dirty="0"/>
          </a:p>
        </p:txBody>
      </p:sp>
      <p:sp>
        <p:nvSpPr>
          <p:cNvPr id="12" name="Text 10"/>
          <p:cNvSpPr/>
          <p:nvPr/>
        </p:nvSpPr>
        <p:spPr>
          <a:xfrm>
            <a:off x="7574280" y="1783080"/>
            <a:ext cx="1996440"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200" dirty="0">
                <a:solidFill>
                  <a:srgbClr val="6EE7B7"/>
                </a:solidFill>
                <a:latin typeface="Consolas" pitchFamily="34" charset="0"/>
                <a:ea typeface="Consolas" pitchFamily="34" charset="-122"/>
                <a:cs typeface="Consolas" pitchFamily="34" charset="-120"/>
              </a:rPr>
              <a:t>eyJzdWIiOi…</a:t>
            </a:r>
            <a:endParaRPr lang="en-US" sz="1200" dirty="0"/>
          </a:p>
        </p:txBody>
      </p:sp>
      <p:sp>
        <p:nvSpPr>
          <p:cNvPr id="13" name="Text 11"/>
          <p:cNvSpPr/>
          <p:nvPr/>
        </p:nvSpPr>
        <p:spPr>
          <a:xfrm>
            <a:off x="7574280" y="2423160"/>
            <a:ext cx="1996440" cy="1143000"/>
          </a:xfrm>
          <a:prstGeom prst="roundRect">
            <a:avLst>
              <a:gd name="adj" fmla="val 6400"/>
            </a:avLst>
          </a:prstGeom>
          <a:solidFill>
            <a:srgbClr val="131B2E"/>
          </a:solidFill>
          <a:ln w="12700">
            <a:solidFill>
              <a:srgbClr val="2A3651"/>
            </a:solidFill>
            <a:prstDash val="solid"/>
          </a:ln>
        </p:spPr>
        <p:txBody>
          <a:bodyPr wrap="square" lIns="76200" tIns="76200" rIns="76200" bIns="76200" rtlCol="0" anchor="ctr"/>
          <a:lstStyle/>
          <a:p>
            <a:pPr algn="l" indent="0" marL="0">
              <a:buNone/>
            </a:pPr>
            <a:r>
              <a:rPr lang="en-US" sz="1000" dirty="0">
                <a:solidFill>
                  <a:srgbClr val="E8ECF5"/>
                </a:solidFill>
                <a:latin typeface="Consolas" pitchFamily="34" charset="0"/>
                <a:ea typeface="Consolas" pitchFamily="34" charset="-122"/>
                <a:cs typeface="Consolas" pitchFamily="34" charset="-120"/>
              </a:rPr>
              <a:t>{ "sub": "user-123",</a:t>
            </a:r>
            <a:endParaRPr lang="en-US" sz="1000" dirty="0"/>
          </a:p>
          <a:p>
            <a:pPr algn="l" indent="0" marL="0">
              <a:buNone/>
            </a:pPr>
            <a:r>
              <a:rPr lang="en-US" sz="1000" dirty="0">
                <a:solidFill>
                  <a:srgbClr val="E8ECF5"/>
                </a:solidFill>
                <a:latin typeface="Consolas" pitchFamily="34" charset="0"/>
                <a:ea typeface="Consolas" pitchFamily="34" charset="-122"/>
                <a:cs typeface="Consolas" pitchFamily="34" charset="-120"/>
              </a:rPr>
              <a:t>  "role": "member",</a:t>
            </a:r>
            <a:endParaRPr lang="en-US" sz="1000" dirty="0"/>
          </a:p>
          <a:p>
            <a:pPr algn="l" indent="0" marL="0">
              <a:buNone/>
            </a:pPr>
            <a:r>
              <a:rPr lang="en-US" sz="1000" dirty="0">
                <a:solidFill>
                  <a:srgbClr val="E8ECF5"/>
                </a:solidFill>
                <a:latin typeface="Consolas" pitchFamily="34" charset="0"/>
                <a:ea typeface="Consolas" pitchFamily="34" charset="-122"/>
                <a:cs typeface="Consolas" pitchFamily="34" charset="-120"/>
              </a:rPr>
              <a:t>  "exp": 1792209470 }</a:t>
            </a:r>
            <a:endParaRPr lang="en-US" sz="1000" dirty="0"/>
          </a:p>
        </p:txBody>
      </p:sp>
      <p:sp>
        <p:nvSpPr>
          <p:cNvPr id="14" name="Text 12"/>
          <p:cNvSpPr/>
          <p:nvPr/>
        </p:nvSpPr>
        <p:spPr>
          <a:xfrm>
            <a:off x="9552432" y="1783080"/>
            <a:ext cx="173736" cy="502920"/>
          </a:xfrm>
          <a:prstGeom prst="rect">
            <a:avLst/>
          </a:prstGeom>
          <a:noFill/>
          <a:ln/>
        </p:spPr>
        <p:txBody>
          <a:bodyPr wrap="square" lIns="25400" tIns="25400" rIns="25400" bIns="25400" rtlCol="0" anchor="ctr"/>
          <a:lstStyle/>
          <a:p>
            <a:pPr algn="ctr" indent="0" marL="0">
              <a:buNone/>
            </a:pPr>
            <a:r>
              <a:rPr lang="en-US" sz="2200" b="1" dirty="0">
                <a:solidFill>
                  <a:srgbClr val="E8ECF5"/>
                </a:solidFill>
                <a:latin typeface="Segoe UI" pitchFamily="34" charset="0"/>
                <a:ea typeface="Segoe UI" pitchFamily="34" charset="-122"/>
                <a:cs typeface="Segoe UI" pitchFamily="34" charset="-120"/>
              </a:rPr>
              <a:t>.</a:t>
            </a:r>
            <a:endParaRPr lang="en-US" sz="2200" dirty="0"/>
          </a:p>
        </p:txBody>
      </p:sp>
      <p:sp>
        <p:nvSpPr>
          <p:cNvPr id="15" name="Text 13"/>
          <p:cNvSpPr/>
          <p:nvPr/>
        </p:nvSpPr>
        <p:spPr>
          <a:xfrm>
            <a:off x="9707880" y="1463040"/>
            <a:ext cx="1996440" cy="274320"/>
          </a:xfrm>
          <a:prstGeom prst="rect">
            <a:avLst/>
          </a:prstGeom>
          <a:noFill/>
          <a:ln/>
        </p:spPr>
        <p:txBody>
          <a:bodyPr wrap="square" lIns="25400" tIns="25400" rIns="25400" bIns="25400" rtlCol="0" anchor="ctr"/>
          <a:lstStyle/>
          <a:p>
            <a:pPr algn="ctr" indent="0" marL="0">
              <a:buNone/>
            </a:pPr>
            <a:r>
              <a:rPr lang="en-US" sz="1050" b="1" dirty="0">
                <a:solidFill>
                  <a:srgbClr val="F5A65B"/>
                </a:solidFill>
                <a:latin typeface="Segoe UI" pitchFamily="34" charset="0"/>
                <a:ea typeface="Segoe UI" pitchFamily="34" charset="-122"/>
                <a:cs typeface="Segoe UI" pitchFamily="34" charset="-120"/>
              </a:rPr>
              <a:t>SIGNATURE</a:t>
            </a:r>
            <a:endParaRPr lang="en-US" sz="1050" dirty="0"/>
          </a:p>
        </p:txBody>
      </p:sp>
      <p:sp>
        <p:nvSpPr>
          <p:cNvPr id="16" name="Text 14"/>
          <p:cNvSpPr/>
          <p:nvPr/>
        </p:nvSpPr>
        <p:spPr>
          <a:xfrm>
            <a:off x="9707880" y="1783080"/>
            <a:ext cx="1996440" cy="502920"/>
          </a:xfrm>
          <a:prstGeom prst="roundRect">
            <a:avLst>
              <a:gd name="adj" fmla="val 14545"/>
            </a:avLst>
          </a:prstGeom>
          <a:solidFill>
            <a:srgbClr val="182238"/>
          </a:solidFill>
          <a:ln w="12700">
            <a:solidFill>
              <a:srgbClr val="F5A65B"/>
            </a:solidFill>
            <a:prstDash val="solid"/>
          </a:ln>
        </p:spPr>
        <p:txBody>
          <a:bodyPr wrap="square" lIns="76200" tIns="76200" rIns="76200" bIns="76200" rtlCol="0" anchor="ctr"/>
          <a:lstStyle/>
          <a:p>
            <a:pPr algn="ctr" indent="0" marL="0">
              <a:buNone/>
            </a:pPr>
            <a:r>
              <a:rPr lang="en-US" sz="1200" dirty="0">
                <a:solidFill>
                  <a:srgbClr val="F5A65B"/>
                </a:solidFill>
                <a:latin typeface="Consolas" pitchFamily="34" charset="0"/>
                <a:ea typeface="Consolas" pitchFamily="34" charset="-122"/>
                <a:cs typeface="Consolas" pitchFamily="34" charset="-120"/>
              </a:rPr>
              <a:t>xq_x9oky…</a:t>
            </a:r>
            <a:endParaRPr lang="en-US" sz="1200" dirty="0"/>
          </a:p>
        </p:txBody>
      </p:sp>
      <p:sp>
        <p:nvSpPr>
          <p:cNvPr id="17" name="Text 15"/>
          <p:cNvSpPr/>
          <p:nvPr/>
        </p:nvSpPr>
        <p:spPr>
          <a:xfrm>
            <a:off x="9707880" y="2423160"/>
            <a:ext cx="1996440" cy="1143000"/>
          </a:xfrm>
          <a:prstGeom prst="roundRect">
            <a:avLst>
              <a:gd name="adj" fmla="val 6400"/>
            </a:avLst>
          </a:prstGeom>
          <a:solidFill>
            <a:srgbClr val="131B2E"/>
          </a:solidFill>
          <a:ln w="12700">
            <a:solidFill>
              <a:srgbClr val="2A3651"/>
            </a:solidFill>
            <a:prstDash val="solid"/>
          </a:ln>
        </p:spPr>
        <p:txBody>
          <a:bodyPr wrap="square" lIns="76200" tIns="76200" rIns="76200" bIns="76200" rtlCol="0" anchor="ctr"/>
          <a:lstStyle/>
          <a:p>
            <a:pPr algn="l" indent="0" marL="0">
              <a:buNone/>
            </a:pPr>
            <a:r>
              <a:rPr lang="en-US" sz="1000" dirty="0">
                <a:solidFill>
                  <a:srgbClr val="E8ECF5"/>
                </a:solidFill>
                <a:latin typeface="Consolas" pitchFamily="34" charset="0"/>
                <a:ea typeface="Consolas" pitchFamily="34" charset="-122"/>
                <a:cs typeface="Consolas" pitchFamily="34" charset="-120"/>
              </a:rPr>
              <a:t>HMAC-SHA256(</a:t>
            </a:r>
            <a:endParaRPr lang="en-US" sz="1000" dirty="0"/>
          </a:p>
          <a:p>
            <a:pPr algn="l" indent="0" marL="0">
              <a:buNone/>
            </a:pPr>
            <a:r>
              <a:rPr lang="en-US" sz="1000" dirty="0">
                <a:solidFill>
                  <a:srgbClr val="E8ECF5"/>
                </a:solidFill>
                <a:latin typeface="Consolas" pitchFamily="34" charset="0"/>
                <a:ea typeface="Consolas" pitchFamily="34" charset="-122"/>
                <a:cs typeface="Consolas" pitchFamily="34" charset="-120"/>
              </a:rPr>
              <a:t>  header.payload,</a:t>
            </a:r>
            <a:endParaRPr lang="en-US" sz="1000" dirty="0"/>
          </a:p>
          <a:p>
            <a:pPr algn="l" indent="0" marL="0">
              <a:buNone/>
            </a:pPr>
            <a:r>
              <a:rPr lang="en-US" sz="1000" dirty="0">
                <a:solidFill>
                  <a:srgbClr val="E8ECF5"/>
                </a:solidFill>
                <a:latin typeface="Consolas" pitchFamily="34" charset="0"/>
                <a:ea typeface="Consolas" pitchFamily="34" charset="-122"/>
                <a:cs typeface="Consolas" pitchFamily="34" charset="-120"/>
              </a:rPr>
              <a:t>  secret)</a:t>
            </a:r>
            <a:endParaRPr lang="en-US" sz="1000" dirty="0"/>
          </a:p>
        </p:txBody>
      </p:sp>
      <p:sp>
        <p:nvSpPr>
          <p:cNvPr id="18" name="Text 16"/>
          <p:cNvSpPr/>
          <p:nvPr/>
        </p:nvSpPr>
        <p:spPr>
          <a:xfrm>
            <a:off x="5440680" y="3611880"/>
            <a:ext cx="4130040" cy="274320"/>
          </a:xfrm>
          <a:prstGeom prst="rect">
            <a:avLst/>
          </a:prstGeom>
          <a:noFill/>
          <a:ln/>
        </p:spPr>
        <p:txBody>
          <a:bodyPr wrap="square" lIns="25400" tIns="25400" rIns="25400" bIns="25400" rtlCol="0" anchor="ctr"/>
          <a:lstStyle/>
          <a:p>
            <a:pPr algn="ctr" indent="0" marL="0">
              <a:buNone/>
            </a:pPr>
            <a:r>
              <a:rPr lang="en-US" sz="1000" i="1" dirty="0">
                <a:solidFill>
                  <a:srgbClr val="8F9BB3"/>
                </a:solidFill>
                <a:latin typeface="Segoe UI" pitchFamily="34" charset="0"/>
                <a:ea typeface="Segoe UI" pitchFamily="34" charset="-122"/>
                <a:cs typeface="Segoe UI" pitchFamily="34" charset="-120"/>
              </a:rPr>
              <a:t>Base64URL — ai cũng decode được</a:t>
            </a:r>
            <a:endParaRPr lang="en-US" sz="1000" dirty="0"/>
          </a:p>
        </p:txBody>
      </p:sp>
      <p:sp>
        <p:nvSpPr>
          <p:cNvPr id="19" name="Text 17"/>
          <p:cNvSpPr/>
          <p:nvPr/>
        </p:nvSpPr>
        <p:spPr>
          <a:xfrm>
            <a:off x="9707880" y="3611880"/>
            <a:ext cx="1996440" cy="274320"/>
          </a:xfrm>
          <a:prstGeom prst="rect">
            <a:avLst/>
          </a:prstGeom>
          <a:noFill/>
          <a:ln/>
        </p:spPr>
        <p:txBody>
          <a:bodyPr wrap="square" lIns="25400" tIns="25400" rIns="25400" bIns="25400" rtlCol="0" anchor="ctr"/>
          <a:lstStyle/>
          <a:p>
            <a:pPr algn="ctr" indent="0" marL="0">
              <a:buNone/>
            </a:pPr>
            <a:r>
              <a:rPr lang="en-US" sz="1000" i="1" dirty="0">
                <a:solidFill>
                  <a:srgbClr val="8F9BB3"/>
                </a:solidFill>
                <a:latin typeface="Segoe UI" pitchFamily="34" charset="0"/>
                <a:ea typeface="Segoe UI" pitchFamily="34" charset="-122"/>
                <a:cs typeface="Segoe UI" pitchFamily="34" charset="-120"/>
              </a:rPr>
              <a:t>cần secret/key để kiểm tra</a:t>
            </a:r>
            <a:endParaRPr lang="en-US" sz="1000" dirty="0"/>
          </a:p>
        </p:txBody>
      </p:sp>
      <p:sp>
        <p:nvSpPr>
          <p:cNvPr id="20" name="Text 18"/>
          <p:cNvSpPr/>
          <p:nvPr/>
        </p:nvSpPr>
        <p:spPr>
          <a:xfrm>
            <a:off x="5440680" y="411480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TOKEN-BASED FLOW</a:t>
            </a:r>
            <a:endParaRPr lang="en-US" sz="1050" dirty="0"/>
          </a:p>
        </p:txBody>
      </p:sp>
      <p:sp>
        <p:nvSpPr>
          <p:cNvPr id="21" name="Text 19"/>
          <p:cNvSpPr/>
          <p:nvPr/>
        </p:nvSpPr>
        <p:spPr>
          <a:xfrm>
            <a:off x="5440680" y="4480560"/>
            <a:ext cx="1097280" cy="731520"/>
          </a:xfrm>
          <a:prstGeom prst="roundRect">
            <a:avLst>
              <a:gd name="adj" fmla="val 10000"/>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Segoe UI" pitchFamily="34" charset="0"/>
                <a:ea typeface="Segoe UI" pitchFamily="34" charset="-122"/>
                <a:cs typeface="Segoe UI" pitchFamily="34" charset="-120"/>
              </a:rPr>
              <a:t>Login</a:t>
            </a:r>
            <a:endParaRPr lang="en-US" sz="1000" dirty="0"/>
          </a:p>
        </p:txBody>
      </p:sp>
      <p:sp>
        <p:nvSpPr>
          <p:cNvPr id="22" name="Shape 20"/>
          <p:cNvSpPr/>
          <p:nvPr/>
        </p:nvSpPr>
        <p:spPr>
          <a:xfrm>
            <a:off x="6537960" y="4846320"/>
            <a:ext cx="194310" cy="0"/>
          </a:xfrm>
          <a:prstGeom prst="line">
            <a:avLst/>
          </a:prstGeom>
          <a:noFill/>
          <a:ln w="19050">
            <a:solidFill>
              <a:srgbClr val="B5A5FF"/>
            </a:solidFill>
            <a:prstDash val="solid"/>
            <a:tailEnd type="triangle"/>
          </a:ln>
        </p:spPr>
      </p:sp>
      <p:sp>
        <p:nvSpPr>
          <p:cNvPr id="23" name="Text 21"/>
          <p:cNvSpPr/>
          <p:nvPr/>
        </p:nvSpPr>
        <p:spPr>
          <a:xfrm>
            <a:off x="6732270" y="4480560"/>
            <a:ext cx="1097280" cy="731520"/>
          </a:xfrm>
          <a:prstGeom prst="roundRect">
            <a:avLst>
              <a:gd name="adj" fmla="val 10000"/>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Segoe UI" pitchFamily="34" charset="0"/>
                <a:ea typeface="Segoe UI" pitchFamily="34" charset="-122"/>
                <a:cs typeface="Segoe UI" pitchFamily="34" charset="-120"/>
              </a:rPr>
              <a:t>Server ký JWT</a:t>
            </a:r>
            <a:endParaRPr lang="en-US" sz="1000" dirty="0"/>
          </a:p>
        </p:txBody>
      </p:sp>
      <p:sp>
        <p:nvSpPr>
          <p:cNvPr id="24" name="Shape 22"/>
          <p:cNvSpPr/>
          <p:nvPr/>
        </p:nvSpPr>
        <p:spPr>
          <a:xfrm>
            <a:off x="7829550" y="4846320"/>
            <a:ext cx="194310" cy="0"/>
          </a:xfrm>
          <a:prstGeom prst="line">
            <a:avLst/>
          </a:prstGeom>
          <a:noFill/>
          <a:ln w="19050">
            <a:solidFill>
              <a:srgbClr val="B5A5FF"/>
            </a:solidFill>
            <a:prstDash val="solid"/>
            <a:tailEnd type="triangle"/>
          </a:ln>
        </p:spPr>
      </p:sp>
      <p:sp>
        <p:nvSpPr>
          <p:cNvPr id="25" name="Text 23"/>
          <p:cNvSpPr/>
          <p:nvPr/>
        </p:nvSpPr>
        <p:spPr>
          <a:xfrm>
            <a:off x="8023860" y="4480560"/>
            <a:ext cx="1097280" cy="731520"/>
          </a:xfrm>
          <a:prstGeom prst="roundRect">
            <a:avLst>
              <a:gd name="adj" fmla="val 10000"/>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Segoe UI" pitchFamily="34" charset="0"/>
                <a:ea typeface="Segoe UI" pitchFamily="34" charset="-122"/>
                <a:cs typeface="Segoe UI" pitchFamily="34" charset="-120"/>
              </a:rPr>
              <a:t>Client tự lưu</a:t>
            </a:r>
            <a:endParaRPr lang="en-US" sz="1000" dirty="0"/>
          </a:p>
        </p:txBody>
      </p:sp>
      <p:sp>
        <p:nvSpPr>
          <p:cNvPr id="26" name="Shape 24"/>
          <p:cNvSpPr/>
          <p:nvPr/>
        </p:nvSpPr>
        <p:spPr>
          <a:xfrm>
            <a:off x="9121140" y="4846320"/>
            <a:ext cx="194310" cy="0"/>
          </a:xfrm>
          <a:prstGeom prst="line">
            <a:avLst/>
          </a:prstGeom>
          <a:noFill/>
          <a:ln w="19050">
            <a:solidFill>
              <a:srgbClr val="B5A5FF"/>
            </a:solidFill>
            <a:prstDash val="solid"/>
            <a:tailEnd type="triangle"/>
          </a:ln>
        </p:spPr>
      </p:sp>
      <p:sp>
        <p:nvSpPr>
          <p:cNvPr id="27" name="Text 25"/>
          <p:cNvSpPr/>
          <p:nvPr/>
        </p:nvSpPr>
        <p:spPr>
          <a:xfrm>
            <a:off x="9315450" y="4480560"/>
            <a:ext cx="1097280" cy="731520"/>
          </a:xfrm>
          <a:prstGeom prst="roundRect">
            <a:avLst>
              <a:gd name="adj" fmla="val 10000"/>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Segoe UI" pitchFamily="34" charset="0"/>
                <a:ea typeface="Segoe UI" pitchFamily="34" charset="-122"/>
                <a:cs typeface="Segoe UI" pitchFamily="34" charset="-120"/>
              </a:rPr>
              <a:t>Gửi header</a:t>
            </a:r>
            <a:endParaRPr lang="en-US" sz="1000" dirty="0"/>
          </a:p>
          <a:p>
            <a:pPr algn="ctr" indent="0" marL="0">
              <a:buNone/>
            </a:pPr>
            <a:r>
              <a:rPr lang="en-US" sz="1000" dirty="0">
                <a:solidFill>
                  <a:srgbClr val="E8ECF5"/>
                </a:solidFill>
                <a:latin typeface="Segoe UI" pitchFamily="34" charset="0"/>
                <a:ea typeface="Segoe UI" pitchFamily="34" charset="-122"/>
                <a:cs typeface="Segoe UI" pitchFamily="34" charset="-120"/>
              </a:rPr>
              <a:t>Bearer token</a:t>
            </a:r>
            <a:endParaRPr lang="en-US" sz="1000" dirty="0"/>
          </a:p>
        </p:txBody>
      </p:sp>
      <p:sp>
        <p:nvSpPr>
          <p:cNvPr id="28" name="Shape 26"/>
          <p:cNvSpPr/>
          <p:nvPr/>
        </p:nvSpPr>
        <p:spPr>
          <a:xfrm>
            <a:off x="10412730" y="4846320"/>
            <a:ext cx="194310" cy="0"/>
          </a:xfrm>
          <a:prstGeom prst="line">
            <a:avLst/>
          </a:prstGeom>
          <a:noFill/>
          <a:ln w="19050">
            <a:solidFill>
              <a:srgbClr val="B5A5FF"/>
            </a:solidFill>
            <a:prstDash val="solid"/>
            <a:tailEnd type="triangle"/>
          </a:ln>
        </p:spPr>
      </p:sp>
      <p:sp>
        <p:nvSpPr>
          <p:cNvPr id="29" name="Text 27"/>
          <p:cNvSpPr/>
          <p:nvPr/>
        </p:nvSpPr>
        <p:spPr>
          <a:xfrm>
            <a:off x="10607040" y="4480560"/>
            <a:ext cx="1097280" cy="731520"/>
          </a:xfrm>
          <a:prstGeom prst="roundRect">
            <a:avLst>
              <a:gd name="adj" fmla="val 10000"/>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000" b="1" dirty="0">
                <a:solidFill>
                  <a:srgbClr val="E8ECF5"/>
                </a:solidFill>
                <a:latin typeface="Segoe UI" pitchFamily="34" charset="0"/>
                <a:ea typeface="Segoe UI" pitchFamily="34" charset="-122"/>
                <a:cs typeface="Segoe UI" pitchFamily="34" charset="-120"/>
              </a:rPr>
              <a:t>API verify</a:t>
            </a:r>
            <a:endParaRPr lang="en-US" sz="1000" dirty="0"/>
          </a:p>
          <a:p>
            <a:pPr algn="ctr" indent="0" marL="0">
              <a:buNone/>
            </a:pPr>
            <a:r>
              <a:rPr lang="en-US" sz="1000" b="1" dirty="0">
                <a:solidFill>
                  <a:srgbClr val="E8ECF5"/>
                </a:solidFill>
                <a:latin typeface="Segoe UI" pitchFamily="34" charset="0"/>
                <a:ea typeface="Segoe UI" pitchFamily="34" charset="-122"/>
                <a:cs typeface="Segoe UI" pitchFamily="34" charset="-120"/>
              </a:rPr>
              <a:t>mỗi request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JWT  ·  SLIDE 13/27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JWT claims cần validate</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B5A5FF"/>
                </a:solidFill>
                <a:latin typeface="Consolas" pitchFamily="34" charset="0"/>
                <a:ea typeface="Consolas" pitchFamily="34" charset="-122"/>
                <a:cs typeface="Consolas" pitchFamily="34" charset="-120"/>
              </a:rPr>
              <a:t>sub</a:t>
            </a:r>
            <a:r>
              <a:rPr lang="en-US" sz="1600" dirty="0">
                <a:solidFill>
                  <a:srgbClr val="E8ECF5"/>
                </a:solidFill>
                <a:latin typeface="Segoe UI" pitchFamily="34" charset="0"/>
                <a:ea typeface="Segoe UI" pitchFamily="34" charset="-122"/>
                <a:cs typeface="Segoe UI" pitchFamily="34" charset="-120"/>
              </a:rPr>
              <a:t> — Subject: token nói về ai.</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B5A5FF"/>
                </a:solidFill>
                <a:latin typeface="Consolas" pitchFamily="34" charset="0"/>
                <a:ea typeface="Consolas" pitchFamily="34" charset="-122"/>
                <a:cs typeface="Consolas" pitchFamily="34" charset="-120"/>
              </a:rPr>
              <a:t>iss</a:t>
            </a:r>
            <a:r>
              <a:rPr lang="en-US" sz="1600" dirty="0">
                <a:solidFill>
                  <a:srgbClr val="E8ECF5"/>
                </a:solidFill>
                <a:latin typeface="Segoe UI" pitchFamily="34" charset="0"/>
                <a:ea typeface="Segoe UI" pitchFamily="34" charset="-122"/>
                <a:cs typeface="Segoe UI" pitchFamily="34" charset="-120"/>
              </a:rPr>
              <a:t> — Issuer: ai phát hành.</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B5A5FF"/>
                </a:solidFill>
                <a:latin typeface="Consolas" pitchFamily="34" charset="0"/>
                <a:ea typeface="Consolas" pitchFamily="34" charset="-122"/>
                <a:cs typeface="Consolas" pitchFamily="34" charset="-120"/>
              </a:rPr>
              <a:t>aud</a:t>
            </a:r>
            <a:r>
              <a:rPr lang="en-US" sz="1600" dirty="0">
                <a:solidFill>
                  <a:srgbClr val="E8ECF5"/>
                </a:solidFill>
                <a:latin typeface="Segoe UI" pitchFamily="34" charset="0"/>
                <a:ea typeface="Segoe UI" pitchFamily="34" charset="-122"/>
                <a:cs typeface="Segoe UI" pitchFamily="34" charset="-120"/>
              </a:rPr>
              <a:t> — Audience: token dành cho API nào.</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B5A5FF"/>
                </a:solidFill>
                <a:latin typeface="Consolas" pitchFamily="34" charset="0"/>
                <a:ea typeface="Consolas" pitchFamily="34" charset="-122"/>
                <a:cs typeface="Consolas" pitchFamily="34" charset="-120"/>
              </a:rPr>
              <a:t>exp</a:t>
            </a:r>
            <a:r>
              <a:rPr lang="en-US" sz="1600" dirty="0">
                <a:solidFill>
                  <a:srgbClr val="E8ECF5"/>
                </a:solidFill>
                <a:latin typeface="Segoe UI" pitchFamily="34" charset="0"/>
                <a:ea typeface="Segoe UI" pitchFamily="34" charset="-122"/>
                <a:cs typeface="Segoe UI" pitchFamily="34" charset="-120"/>
              </a:rPr>
              <a:t> — Expiration.</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B5A5FF"/>
                </a:solidFill>
                <a:latin typeface="Consolas" pitchFamily="34" charset="0"/>
                <a:ea typeface="Consolas" pitchFamily="34" charset="-122"/>
                <a:cs typeface="Consolas" pitchFamily="34" charset="-120"/>
              </a:rPr>
              <a:t>nbf</a:t>
            </a:r>
            <a:r>
              <a:rPr lang="en-US" sz="1600" dirty="0">
                <a:solidFill>
                  <a:srgbClr val="E8ECF5"/>
                </a:solidFill>
                <a:latin typeface="Segoe UI" pitchFamily="34" charset="0"/>
                <a:ea typeface="Segoe UI" pitchFamily="34" charset="-122"/>
                <a:cs typeface="Segoe UI" pitchFamily="34" charset="-120"/>
              </a:rPr>
              <a:t>, </a:t>
            </a:r>
            <a:r>
              <a:rPr lang="en-US" sz="1600" dirty="0">
                <a:solidFill>
                  <a:srgbClr val="B5A5FF"/>
                </a:solidFill>
                <a:latin typeface="Consolas" pitchFamily="34" charset="0"/>
                <a:ea typeface="Consolas" pitchFamily="34" charset="-122"/>
                <a:cs typeface="Consolas" pitchFamily="34" charset="-120"/>
              </a:rPr>
              <a:t>iat</a:t>
            </a:r>
            <a:r>
              <a:rPr lang="en-US" sz="1600" dirty="0">
                <a:solidFill>
                  <a:srgbClr val="E8ECF5"/>
                </a:solidFill>
                <a:latin typeface="Segoe UI" pitchFamily="34" charset="0"/>
                <a:ea typeface="Segoe UI" pitchFamily="34" charset="-122"/>
                <a:cs typeface="Segoe UI" pitchFamily="34" charset="-120"/>
              </a:rPr>
              <a:t>, </a:t>
            </a:r>
            <a:r>
              <a:rPr lang="en-US" sz="1600" dirty="0">
                <a:solidFill>
                  <a:srgbClr val="B5A5FF"/>
                </a:solidFill>
                <a:latin typeface="Consolas" pitchFamily="34" charset="0"/>
                <a:ea typeface="Consolas" pitchFamily="34" charset="-122"/>
                <a:cs typeface="Consolas" pitchFamily="34" charset="-120"/>
              </a:rPr>
              <a:t>jti</a:t>
            </a:r>
            <a:r>
              <a:rPr lang="en-US" sz="1600" dirty="0">
                <a:solidFill>
                  <a:srgbClr val="E8ECF5"/>
                </a:solidFill>
                <a:latin typeface="Segoe UI" pitchFamily="34" charset="0"/>
                <a:ea typeface="Segoe UI" pitchFamily="34" charset="-122"/>
                <a:cs typeface="Segoe UI" pitchFamily="34" charset="-120"/>
              </a:rPr>
              <a:t> — tuỳ use case.</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40680" y="1463040"/>
          <a:ext cx="6263640" cy="914400"/>
        </p:xfrm>
        <a:graphic>
          <a:graphicData uri="http://schemas.openxmlformats.org/drawingml/2006/table">
            <a:tbl>
              <a:tblPr/>
              <a:tblGrid>
                <a:gridCol w="1691640"/>
                <a:gridCol w="4572000"/>
              </a:tblGrid>
              <a:tr h="475488">
                <a:tc>
                  <a:txBody>
                    <a:bodyPr/>
                    <a:lstStyle/>
                    <a:p>
                      <a:pPr indent="0" marL="0">
                        <a:buNone/>
                      </a:pPr>
                      <a:r>
                        <a:rPr lang="en-US" sz="1200" b="1" dirty="0">
                          <a:solidFill>
                            <a:srgbClr val="B5A5FF"/>
                          </a:solidFill>
                          <a:latin typeface="Segoe UI" pitchFamily="34" charset="0"/>
                          <a:ea typeface="Segoe UI" pitchFamily="34" charset="-122"/>
                          <a:cs typeface="Segoe UI" pitchFamily="34" charset="-120"/>
                        </a:rPr>
                        <a:t>Claim</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200" b="1" dirty="0">
                          <a:solidFill>
                            <a:srgbClr val="B5A5FF"/>
                          </a:solidFill>
                          <a:latin typeface="Segoe UI" pitchFamily="34" charset="0"/>
                          <a:ea typeface="Segoe UI" pitchFamily="34" charset="-122"/>
                          <a:cs typeface="Segoe UI" pitchFamily="34" charset="-120"/>
                        </a:rPr>
                        <a:t>Server kiểm tra</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r>
              <a:tr h="475488">
                <a:tc>
                  <a:txBody>
                    <a:bodyPr/>
                    <a:lstStyle/>
                    <a:p>
                      <a:pPr indent="0" marL="0">
                        <a:buNone/>
                      </a:pPr>
                      <a:r>
                        <a:rPr lang="en-US" sz="1200" b="1" dirty="0">
                          <a:solidFill>
                            <a:srgbClr val="6EE7B7"/>
                          </a:solidFill>
                          <a:latin typeface="Consolas" pitchFamily="34" charset="0"/>
                          <a:ea typeface="Consolas" pitchFamily="34" charset="-122"/>
                          <a:cs typeface="Consolas" pitchFamily="34" charset="-120"/>
                        </a:rPr>
                        <a:t>sub</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User tồn tại, còn hoạt động</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75488">
                <a:tc>
                  <a:txBody>
                    <a:bodyPr/>
                    <a:lstStyle/>
                    <a:p>
                      <a:pPr indent="0" marL="0">
                        <a:buNone/>
                      </a:pPr>
                      <a:r>
                        <a:rPr lang="en-US" sz="1200" b="1" dirty="0">
                          <a:solidFill>
                            <a:srgbClr val="6EE7B7"/>
                          </a:solidFill>
                          <a:latin typeface="Consolas" pitchFamily="34" charset="0"/>
                          <a:ea typeface="Consolas" pitchFamily="34" charset="-122"/>
                          <a:cs typeface="Consolas" pitchFamily="34" charset="-120"/>
                        </a:rPr>
                        <a:t>iss</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Đúng issuer mong đợi</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75488">
                <a:tc>
                  <a:txBody>
                    <a:bodyPr/>
                    <a:lstStyle/>
                    <a:p>
                      <a:pPr indent="0" marL="0">
                        <a:buNone/>
                      </a:pPr>
                      <a:r>
                        <a:rPr lang="en-US" sz="1200" b="1" dirty="0">
                          <a:solidFill>
                            <a:srgbClr val="6EE7B7"/>
                          </a:solidFill>
                          <a:latin typeface="Consolas" pitchFamily="34" charset="0"/>
                          <a:ea typeface="Consolas" pitchFamily="34" charset="-122"/>
                          <a:cs typeface="Consolas" pitchFamily="34" charset="-120"/>
                        </a:rPr>
                        <a:t>aud</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Token dành cho chính API này</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75488">
                <a:tc>
                  <a:txBody>
                    <a:bodyPr/>
                    <a:lstStyle/>
                    <a:p>
                      <a:pPr indent="0" marL="0">
                        <a:buNone/>
                      </a:pPr>
                      <a:r>
                        <a:rPr lang="en-US" sz="1200" b="1" dirty="0">
                          <a:solidFill>
                            <a:srgbClr val="6EE7B7"/>
                          </a:solidFill>
                          <a:latin typeface="Consolas" pitchFamily="34" charset="0"/>
                          <a:ea typeface="Consolas" pitchFamily="34" charset="-122"/>
                          <a:cs typeface="Consolas" pitchFamily="34" charset="-120"/>
                        </a:rPr>
                        <a:t>exp</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Chưa hết hạn (bắt buộc)</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75488">
                <a:tc>
                  <a:txBody>
                    <a:bodyPr/>
                    <a:lstStyle/>
                    <a:p>
                      <a:pPr indent="0" marL="0">
                        <a:buNone/>
                      </a:pPr>
                      <a:r>
                        <a:rPr lang="en-US" sz="1200" b="1" dirty="0">
                          <a:solidFill>
                            <a:srgbClr val="6EE7B7"/>
                          </a:solidFill>
                          <a:latin typeface="Consolas" pitchFamily="34" charset="0"/>
                          <a:ea typeface="Consolas" pitchFamily="34" charset="-122"/>
                          <a:cs typeface="Consolas" pitchFamily="34" charset="-120"/>
                        </a:rPr>
                        <a:t>nbf</a:t>
                      </a:r>
                      <a:r>
                        <a:rPr lang="en-US" sz="1200" b="1" dirty="0">
                          <a:solidFill>
                            <a:srgbClr val="E8ECF5"/>
                          </a:solidFill>
                          <a:latin typeface="Segoe UI" pitchFamily="34" charset="0"/>
                          <a:ea typeface="Segoe UI" pitchFamily="34" charset="-122"/>
                          <a:cs typeface="Segoe UI" pitchFamily="34" charset="-120"/>
                        </a:rPr>
                        <a:t> / </a:t>
                      </a:r>
                      <a:r>
                        <a:rPr lang="en-US" sz="1200" b="1" dirty="0">
                          <a:solidFill>
                            <a:srgbClr val="6EE7B7"/>
                          </a:solidFill>
                          <a:latin typeface="Consolas" pitchFamily="34" charset="0"/>
                          <a:ea typeface="Consolas" pitchFamily="34" charset="-122"/>
                          <a:cs typeface="Consolas" pitchFamily="34" charset="-120"/>
                        </a:rPr>
                        <a:t>iat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Đã có hiệu lực, phát hành hợp lý</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75488">
                <a:tc>
                  <a:txBody>
                    <a:bodyPr/>
                    <a:lstStyle/>
                    <a:p>
                      <a:pPr indent="0" marL="0">
                        <a:buNone/>
                      </a:pPr>
                      <a:r>
                        <a:rPr lang="en-US" sz="1200" b="1" dirty="0">
                          <a:solidFill>
                            <a:srgbClr val="6EE7B7"/>
                          </a:solidFill>
                          <a:latin typeface="Consolas" pitchFamily="34" charset="0"/>
                          <a:ea typeface="Consolas" pitchFamily="34" charset="-122"/>
                          <a:cs typeface="Consolas" pitchFamily="34" charset="-120"/>
                        </a:rPr>
                        <a:t>jti</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ID để thu hồi / chống replay</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75488">
                <a:tc>
                  <a:txBody>
                    <a:bodyPr/>
                    <a:lstStyle/>
                    <a:p>
                      <a:pPr indent="0" marL="0">
                        <a:buNone/>
                      </a:pPr>
                      <a:r>
                        <a:rPr lang="en-US" sz="1200" b="1" dirty="0">
                          <a:solidFill>
                            <a:srgbClr val="6EE7B7"/>
                          </a:solidFill>
                          <a:latin typeface="Consolas" pitchFamily="34" charset="0"/>
                          <a:ea typeface="Consolas" pitchFamily="34" charset="-122"/>
                          <a:cs typeface="Consolas" pitchFamily="34" charset="-120"/>
                        </a:rPr>
                        <a:t>alg</a:t>
                      </a:r>
                      <a:r>
                        <a:rPr lang="en-US" sz="1200" b="1" dirty="0">
                          <a:solidFill>
                            <a:srgbClr val="E8ECF5"/>
                          </a:solidFill>
                          <a:latin typeface="Segoe UI" pitchFamily="34" charset="0"/>
                          <a:ea typeface="Segoe UI" pitchFamily="34" charset="-122"/>
                          <a:cs typeface="Segoe UI" pitchFamily="34" charset="-120"/>
                        </a:rPr>
                        <a:t> (header)</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Nằm trong allowlist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JWT  ·  SLIDE 14/27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Đừng tin payload chỉ vì đọc được</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Sửa payload không làm token trở nên hợp lệ.</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Verify signature và claims.</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Allowlist thuật toán.</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Không chấp nhận </a:t>
            </a:r>
            <a:r>
              <a:rPr lang="en-US" sz="1800" dirty="0">
                <a:solidFill>
                  <a:srgbClr val="B5A5FF"/>
                </a:solidFill>
                <a:latin typeface="Consolas" pitchFamily="34" charset="0"/>
                <a:ea typeface="Consolas" pitchFamily="34" charset="-122"/>
                <a:cs typeface="Consolas" pitchFamily="34" charset="-120"/>
              </a:rPr>
              <a:t>alg: none</a:t>
            </a:r>
            <a:r>
              <a:rPr lang="en-US" sz="1800" dirty="0">
                <a:solidFill>
                  <a:srgbClr val="E8ECF5"/>
                </a:solidFill>
                <a:latin typeface="Segoe UI" pitchFamily="34" charset="0"/>
                <a:ea typeface="Segoe UI" pitchFamily="34" charset="-122"/>
                <a:cs typeface="Segoe UI" pitchFamily="34" charset="-120"/>
              </a:rPr>
              <a:t> cho token cần chữ ký.</a:t>
            </a:r>
            <a:endParaRPr lang="en-US" sz="1800" dirty="0"/>
          </a:p>
        </p:txBody>
      </p:sp>
      <p:sp>
        <p:nvSpPr>
          <p:cNvPr id="7" name="Text 5"/>
          <p:cNvSpPr/>
          <p:nvPr/>
        </p:nvSpPr>
        <p:spPr>
          <a:xfrm>
            <a:off x="5440680" y="146304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SỬA PAYLOAD</a:t>
            </a:r>
            <a:endParaRPr lang="en-US" sz="1050" dirty="0"/>
          </a:p>
        </p:txBody>
      </p:sp>
      <p:sp>
        <p:nvSpPr>
          <p:cNvPr id="8" name="Text 6"/>
          <p:cNvSpPr/>
          <p:nvPr/>
        </p:nvSpPr>
        <p:spPr>
          <a:xfrm>
            <a:off x="5440680" y="178308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Consolas" pitchFamily="34" charset="0"/>
                <a:ea typeface="Consolas" pitchFamily="34" charset="-122"/>
                <a:cs typeface="Consolas" pitchFamily="34" charset="-120"/>
              </a:rPr>
              <a:t>role: "member"</a:t>
            </a:r>
            <a:endParaRPr lang="en-US" sz="1000" dirty="0"/>
          </a:p>
          <a:p>
            <a:pPr algn="ctr" indent="0" marL="0">
              <a:buNone/>
            </a:pPr>
            <a:r>
              <a:rPr lang="en-US" sz="1000" dirty="0">
                <a:solidFill>
                  <a:srgbClr val="E8ECF5"/>
                </a:solidFill>
                <a:latin typeface="Consolas" pitchFamily="34" charset="0"/>
                <a:ea typeface="Consolas" pitchFamily="34" charset="-122"/>
                <a:cs typeface="Consolas" pitchFamily="34" charset="-120"/>
              </a:rPr>
              <a:t>→ "admin"</a:t>
            </a:r>
            <a:endParaRPr lang="en-US" sz="1000" dirty="0"/>
          </a:p>
        </p:txBody>
      </p:sp>
      <p:sp>
        <p:nvSpPr>
          <p:cNvPr id="9" name="Shape 7"/>
          <p:cNvSpPr/>
          <p:nvPr/>
        </p:nvSpPr>
        <p:spPr>
          <a:xfrm>
            <a:off x="7040880" y="2112264"/>
            <a:ext cx="274320" cy="0"/>
          </a:xfrm>
          <a:prstGeom prst="line">
            <a:avLst/>
          </a:prstGeom>
          <a:noFill/>
          <a:ln w="19050">
            <a:solidFill>
              <a:srgbClr val="F5A65B"/>
            </a:solidFill>
            <a:prstDash val="solid"/>
            <a:tailEnd type="triangle"/>
          </a:ln>
        </p:spPr>
      </p:sp>
      <p:sp>
        <p:nvSpPr>
          <p:cNvPr id="10" name="Text 8"/>
          <p:cNvSpPr/>
          <p:nvPr/>
        </p:nvSpPr>
        <p:spPr>
          <a:xfrm>
            <a:off x="7315200" y="178308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Segoe UI" pitchFamily="34" charset="0"/>
                <a:ea typeface="Segoe UI" pitchFamily="34" charset="-122"/>
                <a:cs typeface="Segoe UI" pitchFamily="34" charset="-120"/>
              </a:rPr>
              <a:t>chữ ký cũ giữ nguyên</a:t>
            </a:r>
            <a:endParaRPr lang="en-US" sz="1000" dirty="0"/>
          </a:p>
        </p:txBody>
      </p:sp>
      <p:sp>
        <p:nvSpPr>
          <p:cNvPr id="11" name="Shape 9"/>
          <p:cNvSpPr/>
          <p:nvPr/>
        </p:nvSpPr>
        <p:spPr>
          <a:xfrm>
            <a:off x="8915400" y="2112264"/>
            <a:ext cx="274320" cy="0"/>
          </a:xfrm>
          <a:prstGeom prst="line">
            <a:avLst/>
          </a:prstGeom>
          <a:noFill/>
          <a:ln w="19050">
            <a:solidFill>
              <a:srgbClr val="F5A65B"/>
            </a:solidFill>
            <a:prstDash val="solid"/>
            <a:tailEnd type="triangle"/>
          </a:ln>
        </p:spPr>
      </p:sp>
      <p:sp>
        <p:nvSpPr>
          <p:cNvPr id="12" name="Text 10"/>
          <p:cNvSpPr/>
          <p:nvPr/>
        </p:nvSpPr>
        <p:spPr>
          <a:xfrm>
            <a:off x="9189720" y="178308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Segoe UI" pitchFamily="34" charset="0"/>
                <a:ea typeface="Segoe UI" pitchFamily="34" charset="-122"/>
                <a:cs typeface="Segoe UI" pitchFamily="34" charset="-120"/>
              </a:rPr>
              <a:t>HMAC(header.payload′)</a:t>
            </a:r>
            <a:endParaRPr lang="en-US" sz="1000" dirty="0"/>
          </a:p>
          <a:p>
            <a:pPr algn="ctr" indent="0" marL="0">
              <a:buNone/>
            </a:pPr>
            <a:r>
              <a:rPr lang="en-US" sz="1000" dirty="0">
                <a:solidFill>
                  <a:srgbClr val="E8ECF5"/>
                </a:solidFill>
                <a:latin typeface="Segoe UI" pitchFamily="34" charset="0"/>
                <a:ea typeface="Segoe UI" pitchFamily="34" charset="-122"/>
                <a:cs typeface="Segoe UI" pitchFamily="34" charset="-120"/>
              </a:rPr>
              <a:t>≠ signature</a:t>
            </a:r>
            <a:endParaRPr lang="en-US" sz="1000" dirty="0"/>
          </a:p>
        </p:txBody>
      </p:sp>
      <p:sp>
        <p:nvSpPr>
          <p:cNvPr id="13" name="Shape 11"/>
          <p:cNvSpPr/>
          <p:nvPr/>
        </p:nvSpPr>
        <p:spPr>
          <a:xfrm>
            <a:off x="10789920" y="2112264"/>
            <a:ext cx="274320" cy="0"/>
          </a:xfrm>
          <a:prstGeom prst="line">
            <a:avLst/>
          </a:prstGeom>
          <a:noFill/>
          <a:ln w="19050">
            <a:solidFill>
              <a:srgbClr val="F5A65B"/>
            </a:solidFill>
            <a:prstDash val="solid"/>
            <a:tailEnd type="triangle"/>
          </a:ln>
        </p:spPr>
      </p:sp>
      <p:sp>
        <p:nvSpPr>
          <p:cNvPr id="14" name="Text 12"/>
          <p:cNvSpPr/>
          <p:nvPr/>
        </p:nvSpPr>
        <p:spPr>
          <a:xfrm>
            <a:off x="11064240" y="1783080"/>
            <a:ext cx="640080" cy="658368"/>
          </a:xfrm>
          <a:prstGeom prst="roundRect">
            <a:avLst>
              <a:gd name="adj" fmla="val 11429"/>
            </a:avLst>
          </a:prstGeom>
          <a:solidFill>
            <a:srgbClr val="4A3420"/>
          </a:solidFill>
          <a:ln w="12700">
            <a:solidFill>
              <a:srgbClr val="F5A65B"/>
            </a:solidFill>
            <a:prstDash val="solid"/>
          </a:ln>
        </p:spPr>
        <p:txBody>
          <a:bodyPr wrap="square" lIns="76200" tIns="76200" rIns="76200" bIns="76200" rtlCol="0" anchor="ctr"/>
          <a:lstStyle/>
          <a:p>
            <a:pPr algn="ctr" indent="0" marL="0">
              <a:buNone/>
            </a:pPr>
            <a:r>
              <a:rPr lang="en-US" sz="1600" b="1" dirty="0">
                <a:solidFill>
                  <a:srgbClr val="F5A65B"/>
                </a:solidFill>
                <a:latin typeface="Segoe UI" pitchFamily="34" charset="0"/>
                <a:ea typeface="Segoe UI" pitchFamily="34" charset="-122"/>
                <a:cs typeface="Segoe UI" pitchFamily="34" charset="-120"/>
              </a:rPr>
              <a:t>401</a:t>
            </a:r>
            <a:endParaRPr lang="en-US" sz="1600" dirty="0"/>
          </a:p>
        </p:txBody>
      </p:sp>
      <p:sp>
        <p:nvSpPr>
          <p:cNvPr id="15" name="Text 13"/>
          <p:cNvSpPr/>
          <p:nvPr/>
        </p:nvSpPr>
        <p:spPr>
          <a:xfrm>
            <a:off x="5440680" y="278892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ALG: NONE</a:t>
            </a:r>
            <a:endParaRPr lang="en-US" sz="1050" dirty="0"/>
          </a:p>
        </p:txBody>
      </p:sp>
      <p:sp>
        <p:nvSpPr>
          <p:cNvPr id="16" name="Text 14"/>
          <p:cNvSpPr/>
          <p:nvPr/>
        </p:nvSpPr>
        <p:spPr>
          <a:xfrm>
            <a:off x="5440680" y="310896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Consolas" pitchFamily="34" charset="0"/>
                <a:ea typeface="Consolas" pitchFamily="34" charset="-122"/>
                <a:cs typeface="Consolas" pitchFamily="34" charset="-120"/>
              </a:rPr>
              <a:t>"alg": "none"</a:t>
            </a:r>
            <a:endParaRPr lang="en-US" sz="1000" dirty="0"/>
          </a:p>
          <a:p>
            <a:pPr algn="ctr" indent="0" marL="0">
              <a:buNone/>
            </a:pPr>
            <a:r>
              <a:rPr lang="en-US" sz="1000" dirty="0">
                <a:solidFill>
                  <a:srgbClr val="E8ECF5"/>
                </a:solidFill>
                <a:latin typeface="Consolas" pitchFamily="34" charset="0"/>
                <a:ea typeface="Consolas" pitchFamily="34" charset="-122"/>
                <a:cs typeface="Consolas" pitchFamily="34" charset="-120"/>
              </a:rPr>
              <a:t>bỏ signature</a:t>
            </a:r>
            <a:endParaRPr lang="en-US" sz="1000" dirty="0"/>
          </a:p>
        </p:txBody>
      </p:sp>
      <p:sp>
        <p:nvSpPr>
          <p:cNvPr id="17" name="Shape 15"/>
          <p:cNvSpPr/>
          <p:nvPr/>
        </p:nvSpPr>
        <p:spPr>
          <a:xfrm>
            <a:off x="7040880" y="3438144"/>
            <a:ext cx="274320" cy="0"/>
          </a:xfrm>
          <a:prstGeom prst="line">
            <a:avLst/>
          </a:prstGeom>
          <a:noFill/>
          <a:ln w="19050">
            <a:solidFill>
              <a:srgbClr val="F5A65B"/>
            </a:solidFill>
            <a:prstDash val="solid"/>
            <a:tailEnd type="triangle"/>
          </a:ln>
        </p:spPr>
      </p:sp>
      <p:sp>
        <p:nvSpPr>
          <p:cNvPr id="18" name="Text 16"/>
          <p:cNvSpPr/>
          <p:nvPr/>
        </p:nvSpPr>
        <p:spPr>
          <a:xfrm>
            <a:off x="7315200" y="310896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Segoe UI" pitchFamily="34" charset="0"/>
                <a:ea typeface="Segoe UI" pitchFamily="34" charset="-122"/>
                <a:cs typeface="Segoe UI" pitchFamily="34" charset="-120"/>
              </a:rPr>
              <a:t>alg không nằm</a:t>
            </a:r>
            <a:endParaRPr lang="en-US" sz="1000" dirty="0"/>
          </a:p>
          <a:p>
            <a:pPr algn="ctr" indent="0" marL="0">
              <a:buNone/>
            </a:pPr>
            <a:r>
              <a:rPr lang="en-US" sz="1000" dirty="0">
                <a:solidFill>
                  <a:srgbClr val="E8ECF5"/>
                </a:solidFill>
                <a:latin typeface="Segoe UI" pitchFamily="34" charset="0"/>
                <a:ea typeface="Segoe UI" pitchFamily="34" charset="-122"/>
                <a:cs typeface="Segoe UI" pitchFamily="34" charset="-120"/>
              </a:rPr>
              <a:t>trong allowlist</a:t>
            </a:r>
            <a:endParaRPr lang="en-US" sz="1000" dirty="0"/>
          </a:p>
        </p:txBody>
      </p:sp>
      <p:sp>
        <p:nvSpPr>
          <p:cNvPr id="19" name="Shape 17"/>
          <p:cNvSpPr/>
          <p:nvPr/>
        </p:nvSpPr>
        <p:spPr>
          <a:xfrm>
            <a:off x="8915400" y="3438144"/>
            <a:ext cx="274320" cy="0"/>
          </a:xfrm>
          <a:prstGeom prst="line">
            <a:avLst/>
          </a:prstGeom>
          <a:noFill/>
          <a:ln w="19050">
            <a:solidFill>
              <a:srgbClr val="F5A65B"/>
            </a:solidFill>
            <a:prstDash val="solid"/>
            <a:tailEnd type="triangle"/>
          </a:ln>
        </p:spPr>
      </p:sp>
      <p:sp>
        <p:nvSpPr>
          <p:cNvPr id="20" name="Text 18"/>
          <p:cNvSpPr/>
          <p:nvPr/>
        </p:nvSpPr>
        <p:spPr>
          <a:xfrm>
            <a:off x="9189720" y="310896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Segoe UI" pitchFamily="34" charset="0"/>
                <a:ea typeface="Segoe UI" pitchFamily="34" charset="-122"/>
                <a:cs typeface="Segoe UI" pitchFamily="34" charset="-120"/>
              </a:rPr>
              <a:t>jwt.verify từ chối</a:t>
            </a:r>
            <a:endParaRPr lang="en-US" sz="1000" dirty="0"/>
          </a:p>
        </p:txBody>
      </p:sp>
      <p:sp>
        <p:nvSpPr>
          <p:cNvPr id="21" name="Shape 19"/>
          <p:cNvSpPr/>
          <p:nvPr/>
        </p:nvSpPr>
        <p:spPr>
          <a:xfrm>
            <a:off x="10789920" y="3438144"/>
            <a:ext cx="274320" cy="0"/>
          </a:xfrm>
          <a:prstGeom prst="line">
            <a:avLst/>
          </a:prstGeom>
          <a:noFill/>
          <a:ln w="19050">
            <a:solidFill>
              <a:srgbClr val="F5A65B"/>
            </a:solidFill>
            <a:prstDash val="solid"/>
            <a:tailEnd type="triangle"/>
          </a:ln>
        </p:spPr>
      </p:sp>
      <p:sp>
        <p:nvSpPr>
          <p:cNvPr id="22" name="Text 20"/>
          <p:cNvSpPr/>
          <p:nvPr/>
        </p:nvSpPr>
        <p:spPr>
          <a:xfrm>
            <a:off x="11064240" y="3108960"/>
            <a:ext cx="640080" cy="658368"/>
          </a:xfrm>
          <a:prstGeom prst="roundRect">
            <a:avLst>
              <a:gd name="adj" fmla="val 11429"/>
            </a:avLst>
          </a:prstGeom>
          <a:solidFill>
            <a:srgbClr val="4A3420"/>
          </a:solidFill>
          <a:ln w="12700">
            <a:solidFill>
              <a:srgbClr val="F5A65B"/>
            </a:solidFill>
            <a:prstDash val="solid"/>
          </a:ln>
        </p:spPr>
        <p:txBody>
          <a:bodyPr wrap="square" lIns="76200" tIns="76200" rIns="76200" bIns="76200" rtlCol="0" anchor="ctr"/>
          <a:lstStyle/>
          <a:p>
            <a:pPr algn="ctr" indent="0" marL="0">
              <a:buNone/>
            </a:pPr>
            <a:r>
              <a:rPr lang="en-US" sz="1600" b="1" dirty="0">
                <a:solidFill>
                  <a:srgbClr val="F5A65B"/>
                </a:solidFill>
                <a:latin typeface="Segoe UI" pitchFamily="34" charset="0"/>
                <a:ea typeface="Segoe UI" pitchFamily="34" charset="-122"/>
                <a:cs typeface="Segoe UI" pitchFamily="34" charset="-120"/>
              </a:rPr>
              <a:t>401</a:t>
            </a:r>
            <a:endParaRPr lang="en-US" sz="1600" dirty="0"/>
          </a:p>
        </p:txBody>
      </p:sp>
      <p:sp>
        <p:nvSpPr>
          <p:cNvPr id="23" name="Text 21"/>
          <p:cNvSpPr/>
          <p:nvPr/>
        </p:nvSpPr>
        <p:spPr>
          <a:xfrm>
            <a:off x="5440680" y="411480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TOKEN MEMBER HỢP LỆ → /api/admin</a:t>
            </a:r>
            <a:endParaRPr lang="en-US" sz="1050" dirty="0"/>
          </a:p>
        </p:txBody>
      </p:sp>
      <p:sp>
        <p:nvSpPr>
          <p:cNvPr id="24" name="Text 22"/>
          <p:cNvSpPr/>
          <p:nvPr/>
        </p:nvSpPr>
        <p:spPr>
          <a:xfrm>
            <a:off x="5440680" y="443484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Consolas" pitchFamily="34" charset="0"/>
                <a:ea typeface="Consolas" pitchFamily="34" charset="-122"/>
                <a:cs typeface="Consolas" pitchFamily="34" charset="-120"/>
              </a:rPr>
              <a:t>chữ ký đúng</a:t>
            </a:r>
            <a:endParaRPr lang="en-US" sz="1000" dirty="0"/>
          </a:p>
          <a:p>
            <a:pPr algn="ctr" indent="0" marL="0">
              <a:buNone/>
            </a:pPr>
            <a:r>
              <a:rPr lang="en-US" sz="1000" dirty="0">
                <a:solidFill>
                  <a:srgbClr val="E8ECF5"/>
                </a:solidFill>
                <a:latin typeface="Consolas" pitchFamily="34" charset="0"/>
                <a:ea typeface="Consolas" pitchFamily="34" charset="-122"/>
                <a:cs typeface="Consolas" pitchFamily="34" charset="-120"/>
              </a:rPr>
              <a:t>iss / aud / exp ok</a:t>
            </a:r>
            <a:endParaRPr lang="en-US" sz="1000" dirty="0"/>
          </a:p>
        </p:txBody>
      </p:sp>
      <p:sp>
        <p:nvSpPr>
          <p:cNvPr id="25" name="Shape 23"/>
          <p:cNvSpPr/>
          <p:nvPr/>
        </p:nvSpPr>
        <p:spPr>
          <a:xfrm>
            <a:off x="7040880" y="4764024"/>
            <a:ext cx="274320" cy="0"/>
          </a:xfrm>
          <a:prstGeom prst="line">
            <a:avLst/>
          </a:prstGeom>
          <a:noFill/>
          <a:ln w="19050">
            <a:solidFill>
              <a:srgbClr val="F28B9A"/>
            </a:solidFill>
            <a:prstDash val="solid"/>
            <a:tailEnd type="triangle"/>
          </a:ln>
        </p:spPr>
      </p:sp>
      <p:sp>
        <p:nvSpPr>
          <p:cNvPr id="26" name="Text 24"/>
          <p:cNvSpPr/>
          <p:nvPr/>
        </p:nvSpPr>
        <p:spPr>
          <a:xfrm>
            <a:off x="7315200" y="443484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Segoe UI" pitchFamily="34" charset="0"/>
                <a:ea typeface="Segoe UI" pitchFamily="34" charset="-122"/>
                <a:cs typeface="Segoe UI" pitchFamily="34" charset="-120"/>
              </a:rPr>
              <a:t>principal</a:t>
            </a:r>
            <a:endParaRPr lang="en-US" sz="1000" dirty="0"/>
          </a:p>
          <a:p>
            <a:pPr algn="ctr" indent="0" marL="0">
              <a:buNone/>
            </a:pPr>
            <a:r>
              <a:rPr lang="en-US" sz="1000" dirty="0">
                <a:solidFill>
                  <a:srgbClr val="E8ECF5"/>
                </a:solidFill>
                <a:latin typeface="Segoe UI" pitchFamily="34" charset="0"/>
                <a:ea typeface="Segoe UI" pitchFamily="34" charset="-122"/>
                <a:cs typeface="Segoe UI" pitchFamily="34" charset="-120"/>
              </a:rPr>
              <a:t>role = member</a:t>
            </a:r>
            <a:endParaRPr lang="en-US" sz="1000" dirty="0"/>
          </a:p>
        </p:txBody>
      </p:sp>
      <p:sp>
        <p:nvSpPr>
          <p:cNvPr id="27" name="Shape 25"/>
          <p:cNvSpPr/>
          <p:nvPr/>
        </p:nvSpPr>
        <p:spPr>
          <a:xfrm>
            <a:off x="8915400" y="4764024"/>
            <a:ext cx="274320" cy="0"/>
          </a:xfrm>
          <a:prstGeom prst="line">
            <a:avLst/>
          </a:prstGeom>
          <a:noFill/>
          <a:ln w="19050">
            <a:solidFill>
              <a:srgbClr val="F28B9A"/>
            </a:solidFill>
            <a:prstDash val="solid"/>
            <a:tailEnd type="triangle"/>
          </a:ln>
        </p:spPr>
      </p:sp>
      <p:sp>
        <p:nvSpPr>
          <p:cNvPr id="28" name="Text 26"/>
          <p:cNvSpPr/>
          <p:nvPr/>
        </p:nvSpPr>
        <p:spPr>
          <a:xfrm>
            <a:off x="9189720" y="443484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000" dirty="0">
                <a:solidFill>
                  <a:srgbClr val="E8ECF5"/>
                </a:solidFill>
                <a:latin typeface="Segoe UI" pitchFamily="34" charset="0"/>
                <a:ea typeface="Segoe UI" pitchFamily="34" charset="-122"/>
                <a:cs typeface="Segoe UI" pitchFamily="34" charset="-120"/>
              </a:rPr>
              <a:t>policy: chỉ admin</a:t>
            </a:r>
            <a:endParaRPr lang="en-US" sz="1000" dirty="0"/>
          </a:p>
        </p:txBody>
      </p:sp>
      <p:sp>
        <p:nvSpPr>
          <p:cNvPr id="29" name="Shape 27"/>
          <p:cNvSpPr/>
          <p:nvPr/>
        </p:nvSpPr>
        <p:spPr>
          <a:xfrm>
            <a:off x="10789920" y="4764024"/>
            <a:ext cx="274320" cy="0"/>
          </a:xfrm>
          <a:prstGeom prst="line">
            <a:avLst/>
          </a:prstGeom>
          <a:noFill/>
          <a:ln w="19050">
            <a:solidFill>
              <a:srgbClr val="F28B9A"/>
            </a:solidFill>
            <a:prstDash val="solid"/>
            <a:tailEnd type="triangle"/>
          </a:ln>
        </p:spPr>
      </p:sp>
      <p:sp>
        <p:nvSpPr>
          <p:cNvPr id="30" name="Text 28"/>
          <p:cNvSpPr/>
          <p:nvPr/>
        </p:nvSpPr>
        <p:spPr>
          <a:xfrm>
            <a:off x="11064240" y="4434840"/>
            <a:ext cx="640080" cy="658368"/>
          </a:xfrm>
          <a:prstGeom prst="roundRect">
            <a:avLst>
              <a:gd name="adj" fmla="val 11429"/>
            </a:avLst>
          </a:prstGeom>
          <a:solidFill>
            <a:srgbClr val="4D2530"/>
          </a:solidFill>
          <a:ln w="12700">
            <a:solidFill>
              <a:srgbClr val="F28B9A"/>
            </a:solidFill>
            <a:prstDash val="solid"/>
          </a:ln>
        </p:spPr>
        <p:txBody>
          <a:bodyPr wrap="square" lIns="76200" tIns="76200" rIns="76200" bIns="76200" rtlCol="0" anchor="ctr"/>
          <a:lstStyle/>
          <a:p>
            <a:pPr algn="ctr" indent="0" marL="0">
              <a:buNone/>
            </a:pPr>
            <a:r>
              <a:rPr lang="en-US" sz="1600" b="1" dirty="0">
                <a:solidFill>
                  <a:srgbClr val="F28B9A"/>
                </a:solidFill>
                <a:latin typeface="Segoe UI" pitchFamily="34" charset="0"/>
                <a:ea typeface="Segoe UI" pitchFamily="34" charset="-122"/>
                <a:cs typeface="Segoe UI" pitchFamily="34" charset="-120"/>
              </a:rPr>
              <a:t>403</a:t>
            </a:r>
            <a:endParaRPr lang="en-US" sz="1600" dirty="0"/>
          </a:p>
        </p:txBody>
      </p:sp>
      <p:sp>
        <p:nvSpPr>
          <p:cNvPr id="31" name="Text 29"/>
          <p:cNvSpPr/>
          <p:nvPr/>
        </p:nvSpPr>
        <p:spPr>
          <a:xfrm>
            <a:off x="548640" y="5760720"/>
            <a:ext cx="3566160" cy="566928"/>
          </a:xfrm>
          <a:prstGeom prst="roundRect">
            <a:avLst>
              <a:gd name="adj" fmla="val 12903"/>
            </a:avLst>
          </a:prstGeom>
          <a:solidFill>
            <a:srgbClr val="B5A5FF"/>
          </a:solidFill>
          <a:ln w="12700">
            <a:solidFill>
              <a:srgbClr val="B5A5FF"/>
            </a:solidFill>
          </a:ln>
        </p:spPr>
        <p:txBody>
          <a:bodyPr wrap="square" rtlCol="0" anchor="ctr"/>
          <a:lstStyle/>
          <a:p>
            <a:pPr algn="ctr" indent="0" marL="0">
              <a:buNone/>
            </a:pPr>
            <a:r>
              <a:rPr lang="en-US" sz="1500" b="1" u="sng" dirty="0">
                <a:solidFill>
                  <a:srgbClr val="111329"/>
                </a:solidFill>
                <a:latin typeface="Segoe UI" pitchFamily="34" charset="0"/>
                <a:ea typeface="Segoe UI" pitchFamily="34" charset="-122"/>
                <a:cs typeface="Segoe UI" pitchFamily="34" charset="-120"/>
                <a:hlinkClick r:id="rId1" invalidUrl="" action="" tgtFrame="" tooltip="http://localhost:5173/demo/jwt" history="1" highlightClick="0" endSnd="0">
                  <a:extLst>
                    <a:ext uri="{A12FA001-AC4F-418D-AE19-62706E023703}">
                      <ahyp:hlinkClr xmlns:ahyp="http://schemas.microsoft.com/office/drawing/2018/hyperlinkcolor" val="tx"/>
                    </a:ext>
                  </a:extLst>
                </a:hlinkClick>
              </a:rPr>
              <a:t>Mở JWT Demo ↗</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JWT  ·  SLIDE 15/27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Access token và refresh token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Access token: gọi API, thời hạn ngắn.</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Refresh token: chỉ dùng để xin token mới.</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Rotation và revocation.</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Token cũ quay lại → xử lý theo policy (thu hồi cả family).</a:t>
            </a:r>
            <a:endParaRPr lang="en-US" sz="1800" dirty="0"/>
          </a:p>
        </p:txBody>
      </p:sp>
      <p:sp>
        <p:nvSpPr>
          <p:cNvPr id="7" name="Text 5"/>
          <p:cNvSpPr/>
          <p:nvPr/>
        </p:nvSpPr>
        <p:spPr>
          <a:xfrm>
            <a:off x="5440680" y="1463040"/>
            <a:ext cx="3040380" cy="868680"/>
          </a:xfrm>
          <a:prstGeom prst="roundRect">
            <a:avLst>
              <a:gd name="adj" fmla="val 842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200" b="1" dirty="0">
                <a:solidFill>
                  <a:srgbClr val="B5A5FF"/>
                </a:solidFill>
                <a:latin typeface="Segoe UI" pitchFamily="34" charset="0"/>
                <a:ea typeface="Segoe UI" pitchFamily="34" charset="-122"/>
                <a:cs typeface="Segoe UI" pitchFamily="34" charset="-120"/>
              </a:rPr>
              <a:t>Access token · JWT</a:t>
            </a:r>
            <a:endParaRPr lang="en-US" sz="1200" dirty="0"/>
          </a:p>
          <a:p>
            <a:pPr algn="ctr" indent="0" marL="0">
              <a:buNone/>
            </a:pPr>
            <a:r>
              <a:rPr lang="en-US" sz="1050" dirty="0">
                <a:solidFill>
                  <a:srgbClr val="E8ECF5"/>
                </a:solidFill>
                <a:latin typeface="Segoe UI" pitchFamily="34" charset="0"/>
                <a:ea typeface="Segoe UI" pitchFamily="34" charset="-122"/>
                <a:cs typeface="Segoe UI" pitchFamily="34" charset="-120"/>
              </a:rPr>
              <a:t>ngắn hạn · gửi tới API</a:t>
            </a:r>
            <a:endParaRPr lang="en-US" sz="1200" dirty="0"/>
          </a:p>
          <a:p>
            <a:pPr algn="ctr" indent="0" marL="0">
              <a:buNone/>
            </a:pPr>
            <a:r>
              <a:rPr lang="en-US" sz="1050" dirty="0">
                <a:solidFill>
                  <a:srgbClr val="E8ECF5"/>
                </a:solidFill>
                <a:latin typeface="Segoe UI" pitchFamily="34" charset="0"/>
                <a:ea typeface="Segoe UI" pitchFamily="34" charset="-122"/>
                <a:cs typeface="Segoe UI" pitchFamily="34" charset="-120"/>
              </a:rPr>
              <a:t>Authorization: Bearer</a:t>
            </a:r>
            <a:endParaRPr lang="en-US" sz="1200" dirty="0"/>
          </a:p>
        </p:txBody>
      </p:sp>
      <p:sp>
        <p:nvSpPr>
          <p:cNvPr id="8" name="Text 6"/>
          <p:cNvSpPr/>
          <p:nvPr/>
        </p:nvSpPr>
        <p:spPr>
          <a:xfrm>
            <a:off x="8663940" y="1463040"/>
            <a:ext cx="3040380" cy="868680"/>
          </a:xfrm>
          <a:prstGeom prst="roundRect">
            <a:avLst>
              <a:gd name="adj" fmla="val 8421"/>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200" b="1" dirty="0">
                <a:solidFill>
                  <a:srgbClr val="6EE7B7"/>
                </a:solidFill>
                <a:latin typeface="Segoe UI" pitchFamily="34" charset="0"/>
                <a:ea typeface="Segoe UI" pitchFamily="34" charset="-122"/>
                <a:cs typeface="Segoe UI" pitchFamily="34" charset="-120"/>
              </a:rPr>
              <a:t>Refresh token · opaque</a:t>
            </a:r>
            <a:endParaRPr lang="en-US" sz="1200" dirty="0"/>
          </a:p>
          <a:p>
            <a:pPr algn="ctr" indent="0" marL="0">
              <a:buNone/>
            </a:pPr>
            <a:r>
              <a:rPr lang="en-US" sz="1050" dirty="0">
                <a:solidFill>
                  <a:srgbClr val="E8ECF5"/>
                </a:solidFill>
                <a:latin typeface="Segoe UI" pitchFamily="34" charset="0"/>
                <a:ea typeface="Segoe UI" pitchFamily="34" charset="-122"/>
                <a:cs typeface="Segoe UI" pitchFamily="34" charset="-120"/>
              </a:rPr>
              <a:t>chỉ gửi tới /tokens/refresh</a:t>
            </a:r>
            <a:endParaRPr lang="en-US" sz="1200" dirty="0"/>
          </a:p>
          <a:p>
            <a:pPr algn="ctr" indent="0" marL="0">
              <a:buNone/>
            </a:pPr>
            <a:r>
              <a:rPr lang="en-US" sz="1050" dirty="0">
                <a:solidFill>
                  <a:srgbClr val="E8ECF5"/>
                </a:solidFill>
                <a:latin typeface="Segoe UI" pitchFamily="34" charset="0"/>
                <a:ea typeface="Segoe UI" pitchFamily="34" charset="-122"/>
                <a:cs typeface="Segoe UI" pitchFamily="34" charset="-120"/>
              </a:rPr>
              <a:t>server lưu SHA-256, không lưu bản gốc</a:t>
            </a:r>
            <a:endParaRPr lang="en-US" sz="1200" dirty="0"/>
          </a:p>
        </p:txBody>
      </p:sp>
      <p:sp>
        <p:nvSpPr>
          <p:cNvPr id="9" name="Text 7"/>
          <p:cNvSpPr/>
          <p:nvPr/>
        </p:nvSpPr>
        <p:spPr>
          <a:xfrm>
            <a:off x="5440680" y="260604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ROTATION — MỖI LẦN REFRESH CẤP TOKEN MỚI</a:t>
            </a:r>
            <a:endParaRPr lang="en-US" sz="1050" dirty="0"/>
          </a:p>
        </p:txBody>
      </p:sp>
      <p:sp>
        <p:nvSpPr>
          <p:cNvPr id="10" name="Text 8"/>
          <p:cNvSpPr/>
          <p:nvPr/>
        </p:nvSpPr>
        <p:spPr>
          <a:xfrm>
            <a:off x="5440680" y="2971800"/>
            <a:ext cx="1554480" cy="685800"/>
          </a:xfrm>
          <a:prstGeom prst="roundRect">
            <a:avLst>
              <a:gd name="adj" fmla="val 10667"/>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dirty="0">
                <a:solidFill>
                  <a:srgbClr val="8F9BB3"/>
                </a:solidFill>
                <a:latin typeface="Consolas" pitchFamily="34" charset="0"/>
                <a:ea typeface="Consolas" pitchFamily="34" charset="-122"/>
                <a:cs typeface="Consolas" pitchFamily="34" charset="-120"/>
              </a:rPr>
              <a:t>RT1</a:t>
            </a:r>
            <a:endParaRPr lang="en-US" sz="1100" dirty="0"/>
          </a:p>
          <a:p>
            <a:pPr algn="ctr" indent="0" marL="0">
              <a:buNone/>
            </a:pPr>
            <a:r>
              <a:rPr lang="en-US" sz="1100" dirty="0">
                <a:solidFill>
                  <a:srgbClr val="8F9BB3"/>
                </a:solidFill>
                <a:latin typeface="Consolas" pitchFamily="34" charset="0"/>
                <a:ea typeface="Consolas" pitchFamily="34" charset="-122"/>
                <a:cs typeface="Consolas" pitchFamily="34" charset="-120"/>
              </a:rPr>
              <a:t>rotated</a:t>
            </a:r>
            <a:endParaRPr lang="en-US" sz="1100" dirty="0"/>
          </a:p>
        </p:txBody>
      </p:sp>
      <p:sp>
        <p:nvSpPr>
          <p:cNvPr id="11" name="Shape 9"/>
          <p:cNvSpPr/>
          <p:nvPr/>
        </p:nvSpPr>
        <p:spPr>
          <a:xfrm>
            <a:off x="6995160" y="3310128"/>
            <a:ext cx="800100" cy="0"/>
          </a:xfrm>
          <a:prstGeom prst="line">
            <a:avLst/>
          </a:prstGeom>
          <a:noFill/>
          <a:ln w="19050">
            <a:solidFill>
              <a:srgbClr val="6EE7B7"/>
            </a:solidFill>
            <a:prstDash val="solid"/>
            <a:tailEnd type="triangle"/>
          </a:ln>
        </p:spPr>
      </p:sp>
      <p:sp>
        <p:nvSpPr>
          <p:cNvPr id="12" name="Text 10"/>
          <p:cNvSpPr/>
          <p:nvPr/>
        </p:nvSpPr>
        <p:spPr>
          <a:xfrm>
            <a:off x="6995160" y="2990088"/>
            <a:ext cx="800100" cy="274320"/>
          </a:xfrm>
          <a:prstGeom prst="rect">
            <a:avLst/>
          </a:prstGeom>
          <a:noFill/>
          <a:ln/>
        </p:spPr>
        <p:txBody>
          <a:bodyPr wrap="square" lIns="25400" tIns="25400" rIns="25400" bIns="25400" rtlCol="0" anchor="ctr"/>
          <a:lstStyle/>
          <a:p>
            <a:pPr algn="ctr" indent="0" marL="0">
              <a:buNone/>
            </a:pPr>
            <a:r>
              <a:rPr lang="en-US" sz="950" dirty="0">
                <a:solidFill>
                  <a:srgbClr val="8F9BB3"/>
                </a:solidFill>
                <a:latin typeface="Segoe UI" pitchFamily="34" charset="0"/>
                <a:ea typeface="Segoe UI" pitchFamily="34" charset="-122"/>
                <a:cs typeface="Segoe UI" pitchFamily="34" charset="-120"/>
              </a:rPr>
              <a:t>refresh</a:t>
            </a:r>
            <a:endParaRPr lang="en-US" sz="950" dirty="0"/>
          </a:p>
        </p:txBody>
      </p:sp>
      <p:sp>
        <p:nvSpPr>
          <p:cNvPr id="13" name="Text 11"/>
          <p:cNvSpPr/>
          <p:nvPr/>
        </p:nvSpPr>
        <p:spPr>
          <a:xfrm>
            <a:off x="7795260" y="2971800"/>
            <a:ext cx="1554480" cy="685800"/>
          </a:xfrm>
          <a:prstGeom prst="roundRect">
            <a:avLst>
              <a:gd name="adj" fmla="val 10667"/>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dirty="0">
                <a:solidFill>
                  <a:srgbClr val="8F9BB3"/>
                </a:solidFill>
                <a:latin typeface="Consolas" pitchFamily="34" charset="0"/>
                <a:ea typeface="Consolas" pitchFamily="34" charset="-122"/>
                <a:cs typeface="Consolas" pitchFamily="34" charset="-120"/>
              </a:rPr>
              <a:t>RT2</a:t>
            </a:r>
            <a:endParaRPr lang="en-US" sz="1100" dirty="0"/>
          </a:p>
          <a:p>
            <a:pPr algn="ctr" indent="0" marL="0">
              <a:buNone/>
            </a:pPr>
            <a:r>
              <a:rPr lang="en-US" sz="1100" dirty="0">
                <a:solidFill>
                  <a:srgbClr val="8F9BB3"/>
                </a:solidFill>
                <a:latin typeface="Consolas" pitchFamily="34" charset="0"/>
                <a:ea typeface="Consolas" pitchFamily="34" charset="-122"/>
                <a:cs typeface="Consolas" pitchFamily="34" charset="-120"/>
              </a:rPr>
              <a:t>rotated</a:t>
            </a:r>
            <a:endParaRPr lang="en-US" sz="1100" dirty="0"/>
          </a:p>
        </p:txBody>
      </p:sp>
      <p:sp>
        <p:nvSpPr>
          <p:cNvPr id="14" name="Shape 12"/>
          <p:cNvSpPr/>
          <p:nvPr/>
        </p:nvSpPr>
        <p:spPr>
          <a:xfrm>
            <a:off x="9349740" y="3310128"/>
            <a:ext cx="800100" cy="0"/>
          </a:xfrm>
          <a:prstGeom prst="line">
            <a:avLst/>
          </a:prstGeom>
          <a:noFill/>
          <a:ln w="19050">
            <a:solidFill>
              <a:srgbClr val="6EE7B7"/>
            </a:solidFill>
            <a:prstDash val="solid"/>
            <a:tailEnd type="triangle"/>
          </a:ln>
        </p:spPr>
      </p:sp>
      <p:sp>
        <p:nvSpPr>
          <p:cNvPr id="15" name="Text 13"/>
          <p:cNvSpPr/>
          <p:nvPr/>
        </p:nvSpPr>
        <p:spPr>
          <a:xfrm>
            <a:off x="9349740" y="2990088"/>
            <a:ext cx="800100" cy="274320"/>
          </a:xfrm>
          <a:prstGeom prst="rect">
            <a:avLst/>
          </a:prstGeom>
          <a:noFill/>
          <a:ln/>
        </p:spPr>
        <p:txBody>
          <a:bodyPr wrap="square" lIns="25400" tIns="25400" rIns="25400" bIns="25400" rtlCol="0" anchor="ctr"/>
          <a:lstStyle/>
          <a:p>
            <a:pPr algn="ctr" indent="0" marL="0">
              <a:buNone/>
            </a:pPr>
            <a:r>
              <a:rPr lang="en-US" sz="950" dirty="0">
                <a:solidFill>
                  <a:srgbClr val="8F9BB3"/>
                </a:solidFill>
                <a:latin typeface="Segoe UI" pitchFamily="34" charset="0"/>
                <a:ea typeface="Segoe UI" pitchFamily="34" charset="-122"/>
                <a:cs typeface="Segoe UI" pitchFamily="34" charset="-120"/>
              </a:rPr>
              <a:t>refresh</a:t>
            </a:r>
            <a:endParaRPr lang="en-US" sz="950" dirty="0"/>
          </a:p>
        </p:txBody>
      </p:sp>
      <p:sp>
        <p:nvSpPr>
          <p:cNvPr id="16" name="Text 14"/>
          <p:cNvSpPr/>
          <p:nvPr/>
        </p:nvSpPr>
        <p:spPr>
          <a:xfrm>
            <a:off x="10149840" y="2971800"/>
            <a:ext cx="1554480" cy="685800"/>
          </a:xfrm>
          <a:prstGeom prst="roundRect">
            <a:avLst>
              <a:gd name="adj" fmla="val 10667"/>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100" dirty="0">
                <a:solidFill>
                  <a:srgbClr val="6EE7B7"/>
                </a:solidFill>
                <a:latin typeface="Consolas" pitchFamily="34" charset="0"/>
                <a:ea typeface="Consolas" pitchFamily="34" charset="-122"/>
                <a:cs typeface="Consolas" pitchFamily="34" charset="-120"/>
              </a:rPr>
              <a:t>RT3</a:t>
            </a:r>
            <a:endParaRPr lang="en-US" sz="1100" dirty="0"/>
          </a:p>
          <a:p>
            <a:pPr algn="ctr" indent="0" marL="0">
              <a:buNone/>
            </a:pPr>
            <a:r>
              <a:rPr lang="en-US" sz="1100" dirty="0">
                <a:solidFill>
                  <a:srgbClr val="6EE7B7"/>
                </a:solidFill>
                <a:latin typeface="Consolas" pitchFamily="34" charset="0"/>
                <a:ea typeface="Consolas" pitchFamily="34" charset="-122"/>
                <a:cs typeface="Consolas" pitchFamily="34" charset="-120"/>
              </a:rPr>
              <a:t>active</a:t>
            </a:r>
            <a:endParaRPr lang="en-US" sz="1100" dirty="0"/>
          </a:p>
        </p:txBody>
      </p:sp>
      <p:sp>
        <p:nvSpPr>
          <p:cNvPr id="17" name="Text 15"/>
          <p:cNvSpPr/>
          <p:nvPr/>
        </p:nvSpPr>
        <p:spPr>
          <a:xfrm>
            <a:off x="5440680" y="397764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REUSE DETECTION</a:t>
            </a:r>
            <a:endParaRPr lang="en-US" sz="1050" dirty="0"/>
          </a:p>
        </p:txBody>
      </p:sp>
      <p:sp>
        <p:nvSpPr>
          <p:cNvPr id="18" name="Text 16"/>
          <p:cNvSpPr/>
          <p:nvPr/>
        </p:nvSpPr>
        <p:spPr>
          <a:xfrm>
            <a:off x="5440680" y="4343400"/>
            <a:ext cx="1920240" cy="777240"/>
          </a:xfrm>
          <a:prstGeom prst="roundRect">
            <a:avLst>
              <a:gd name="adj" fmla="val 9412"/>
            </a:avLst>
          </a:prstGeom>
          <a:solidFill>
            <a:srgbClr val="182238"/>
          </a:solidFill>
          <a:ln w="12700">
            <a:solidFill>
              <a:srgbClr val="F28B9A"/>
            </a:solidFill>
            <a:prstDash val="solid"/>
          </a:ln>
        </p:spPr>
        <p:txBody>
          <a:bodyPr wrap="square" lIns="76200" tIns="76200" rIns="76200" bIns="76200" rtlCol="0" anchor="ctr"/>
          <a:lstStyle/>
          <a:p>
            <a:pPr algn="ctr" indent="0" marL="0">
              <a:buNone/>
            </a:pPr>
            <a:r>
              <a:rPr lang="en-US" sz="1100" dirty="0">
                <a:solidFill>
                  <a:srgbClr val="E8ECF5"/>
                </a:solidFill>
                <a:latin typeface="Segoe UI" pitchFamily="34" charset="0"/>
                <a:ea typeface="Segoe UI" pitchFamily="34" charset="-122"/>
                <a:cs typeface="Segoe UI" pitchFamily="34" charset="-120"/>
              </a:rPr>
              <a:t>Ai đó dùng lại RT1</a:t>
            </a:r>
            <a:endParaRPr lang="en-US" sz="1100" dirty="0"/>
          </a:p>
          <a:p>
            <a:pPr algn="ctr" indent="0" marL="0">
              <a:buNone/>
            </a:pPr>
            <a:r>
              <a:rPr lang="en-US" sz="1100" dirty="0">
                <a:solidFill>
                  <a:srgbClr val="E8ECF5"/>
                </a:solidFill>
                <a:latin typeface="Segoe UI" pitchFamily="34" charset="0"/>
                <a:ea typeface="Segoe UI" pitchFamily="34" charset="-122"/>
                <a:cs typeface="Segoe UI" pitchFamily="34" charset="-120"/>
              </a:rPr>
              <a:t>(đã rotate)</a:t>
            </a:r>
            <a:endParaRPr lang="en-US" sz="1100" dirty="0"/>
          </a:p>
        </p:txBody>
      </p:sp>
      <p:sp>
        <p:nvSpPr>
          <p:cNvPr id="19" name="Shape 17"/>
          <p:cNvSpPr/>
          <p:nvPr/>
        </p:nvSpPr>
        <p:spPr>
          <a:xfrm>
            <a:off x="7360920" y="4727448"/>
            <a:ext cx="548640" cy="0"/>
          </a:xfrm>
          <a:prstGeom prst="line">
            <a:avLst/>
          </a:prstGeom>
          <a:noFill/>
          <a:ln w="19050">
            <a:solidFill>
              <a:srgbClr val="F28B9A"/>
            </a:solidFill>
            <a:prstDash val="solid"/>
            <a:tailEnd type="triangle"/>
          </a:ln>
        </p:spPr>
      </p:sp>
      <p:sp>
        <p:nvSpPr>
          <p:cNvPr id="20" name="Text 18"/>
          <p:cNvSpPr/>
          <p:nvPr/>
        </p:nvSpPr>
        <p:spPr>
          <a:xfrm>
            <a:off x="7909560" y="4343400"/>
            <a:ext cx="2377440" cy="777240"/>
          </a:xfrm>
          <a:prstGeom prst="roundRect">
            <a:avLst>
              <a:gd name="adj" fmla="val 9412"/>
            </a:avLst>
          </a:prstGeom>
          <a:solidFill>
            <a:srgbClr val="4D2530"/>
          </a:solidFill>
          <a:ln w="12700">
            <a:solidFill>
              <a:srgbClr val="F28B9A"/>
            </a:solidFill>
            <a:prstDash val="solid"/>
          </a:ln>
        </p:spPr>
        <p:txBody>
          <a:bodyPr wrap="square" lIns="76200" tIns="76200" rIns="76200" bIns="76200" rtlCol="0" anchor="ctr"/>
          <a:lstStyle/>
          <a:p>
            <a:pPr algn="ctr" indent="0" marL="0">
              <a:buNone/>
            </a:pPr>
            <a:r>
              <a:rPr lang="en-US" sz="1150" b="1" dirty="0">
                <a:solidFill>
                  <a:srgbClr val="F28B9A"/>
                </a:solidFill>
                <a:latin typeface="Segoe UI" pitchFamily="34" charset="0"/>
                <a:ea typeface="Segoe UI" pitchFamily="34" charset="-122"/>
                <a:cs typeface="Segoe UI" pitchFamily="34" charset="-120"/>
              </a:rPr>
              <a:t>401 + thu hồi cả family</a:t>
            </a:r>
            <a:endParaRPr lang="en-US" sz="1150" dirty="0"/>
          </a:p>
          <a:p>
            <a:pPr algn="ctr" indent="0" marL="0">
              <a:buNone/>
            </a:pPr>
            <a:r>
              <a:rPr lang="en-US" sz="1150" b="1" dirty="0">
                <a:solidFill>
                  <a:srgbClr val="F28B9A"/>
                </a:solidFill>
                <a:latin typeface="Segoe UI" pitchFamily="34" charset="0"/>
                <a:ea typeface="Segoe UI" pitchFamily="34" charset="-122"/>
                <a:cs typeface="Segoe UI" pitchFamily="34" charset="-120"/>
              </a:rPr>
              <a:t>(RT1, RT2, RT3)</a:t>
            </a:r>
            <a:endParaRPr lang="en-US" sz="1150" dirty="0"/>
          </a:p>
        </p:txBody>
      </p:sp>
      <p:sp>
        <p:nvSpPr>
          <p:cNvPr id="21" name="Text 19"/>
          <p:cNvSpPr/>
          <p:nvPr/>
        </p:nvSpPr>
        <p:spPr>
          <a:xfrm>
            <a:off x="10378440" y="4297680"/>
            <a:ext cx="1325880" cy="86868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Segoe UI" pitchFamily="34" charset="0"/>
                <a:ea typeface="Segoe UI" pitchFamily="34" charset="-122"/>
                <a:cs typeface="Segoe UI" pitchFamily="34" charset="-120"/>
              </a:rPr>
              <a:t>Không biết bên nào là attacker → huỷ hết, buộc login lại.</a:t>
            </a:r>
            <a:endParaRPr lang="en-US" sz="1000" dirty="0"/>
          </a:p>
        </p:txBody>
      </p:sp>
      <p:sp>
        <p:nvSpPr>
          <p:cNvPr id="22" name="Text 20"/>
          <p:cNvSpPr/>
          <p:nvPr/>
        </p:nvSpPr>
        <p:spPr>
          <a:xfrm>
            <a:off x="548640" y="5760720"/>
            <a:ext cx="3566160" cy="566928"/>
          </a:xfrm>
          <a:prstGeom prst="roundRect">
            <a:avLst>
              <a:gd name="adj" fmla="val 12903"/>
            </a:avLst>
          </a:prstGeom>
          <a:solidFill>
            <a:srgbClr val="B5A5FF"/>
          </a:solidFill>
          <a:ln w="12700">
            <a:solidFill>
              <a:srgbClr val="B5A5FF"/>
            </a:solidFill>
          </a:ln>
        </p:spPr>
        <p:txBody>
          <a:bodyPr wrap="square" rtlCol="0" anchor="ctr"/>
          <a:lstStyle/>
          <a:p>
            <a:pPr algn="ctr" indent="0" marL="0">
              <a:buNone/>
            </a:pPr>
            <a:r>
              <a:rPr lang="en-US" sz="1500" b="1" u="sng" dirty="0">
                <a:solidFill>
                  <a:srgbClr val="111329"/>
                </a:solidFill>
                <a:latin typeface="Segoe UI" pitchFamily="34" charset="0"/>
                <a:ea typeface="Segoe UI" pitchFamily="34" charset="-122"/>
                <a:cs typeface="Segoe UI" pitchFamily="34" charset="-120"/>
                <a:hlinkClick r:id="rId1" invalidUrl="" action="" tgtFrame="" tooltip="http://localhost:5173/demo/tokens" history="1" highlightClick="0" endSnd="0">
                  <a:extLst>
                    <a:ext uri="{A12FA001-AC4F-418D-AE19-62706E023703}">
                      <ahyp:hlinkClr xmlns:ahyp="http://schemas.microsoft.com/office/drawing/2018/hyperlinkcolor" val="tx"/>
                    </a:ext>
                  </a:extLst>
                </a:hlinkClick>
              </a:rPr>
              <a:t>Mở Token Lifecycle Demo ↗</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KIẾN TRÚC  ·  SLIDE 16/27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Session hay JWT?</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Session: server kiểm soát lifecycle.</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JWT: thuận tiện cho một số kiến trúc phân tán.</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Revoke, scale và token storage có trade-off.</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Không có lựa chọn tốt nhất cho mọi hệ thống.</a:t>
            </a:r>
            <a:endParaRPr lang="en-US" sz="1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40680" y="1463040"/>
          <a:ext cx="6263640" cy="914400"/>
        </p:xfrm>
        <a:graphic>
          <a:graphicData uri="http://schemas.openxmlformats.org/drawingml/2006/table">
            <a:tbl>
              <a:tblPr/>
              <a:tblGrid>
                <a:gridCol w="1463040"/>
                <a:gridCol w="2468880"/>
                <a:gridCol w="2423160"/>
              </a:tblGrid>
              <a:tr h="512064">
                <a:tc>
                  <a:txBody>
                    <a:bodyPr/>
                    <a:lstStyle/>
                    <a:p>
                      <a:pPr indent="0" marL="0">
                        <a:buNone/>
                      </a:pPr>
                      <a:r>
                        <a:rPr lang="en-US" sz="1150" b="1" dirty="0">
                          <a:solidFill>
                            <a:srgbClr val="B5A5FF"/>
                          </a:solidFill>
                          <a:latin typeface="Segoe UI" pitchFamily="34" charset="0"/>
                          <a:ea typeface="Segoe UI" pitchFamily="34" charset="-122"/>
                          <a:cs typeface="Segoe UI" pitchFamily="34" charset="-120"/>
                        </a:rPr>
                        <a:t>Tiêu chí</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150" b="1" dirty="0">
                          <a:solidFill>
                            <a:srgbClr val="B5A5FF"/>
                          </a:solidFill>
                          <a:latin typeface="Segoe UI" pitchFamily="34" charset="0"/>
                          <a:ea typeface="Segoe UI" pitchFamily="34" charset="-122"/>
                          <a:cs typeface="Segoe UI" pitchFamily="34" charset="-120"/>
                        </a:rPr>
                        <a:t>Session (stateful)</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150" b="1" dirty="0">
                          <a:solidFill>
                            <a:srgbClr val="B5A5FF"/>
                          </a:solidFill>
                          <a:latin typeface="Segoe UI" pitchFamily="34" charset="0"/>
                          <a:ea typeface="Segoe UI" pitchFamily="34" charset="-122"/>
                          <a:cs typeface="Segoe UI" pitchFamily="34" charset="-120"/>
                        </a:rPr>
                        <a:t>JWT (stateless)</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r>
              <a:tr h="512064">
                <a:tc>
                  <a:txBody>
                    <a:bodyPr/>
                    <a:lstStyle/>
                    <a:p>
                      <a:pPr indent="0" marL="0">
                        <a:buNone/>
                      </a:pPr>
                      <a:r>
                        <a:rPr lang="en-US" sz="1150" b="1" dirty="0">
                          <a:solidFill>
                            <a:srgbClr val="E8ECF5"/>
                          </a:solidFill>
                          <a:latin typeface="Segoe UI" pitchFamily="34" charset="0"/>
                          <a:ea typeface="Segoe UI" pitchFamily="34" charset="-122"/>
                          <a:cs typeface="Segoe UI" pitchFamily="34" charset="-120"/>
                        </a:rPr>
                        <a:t>Trạng thái</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Ở server (session store)</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Nằm trong token</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512064">
                <a:tc>
                  <a:txBody>
                    <a:bodyPr/>
                    <a:lstStyle/>
                    <a:p>
                      <a:pPr indent="0" marL="0">
                        <a:buNone/>
                      </a:pPr>
                      <a:r>
                        <a:rPr lang="en-US" sz="1150" b="1" dirty="0">
                          <a:solidFill>
                            <a:srgbClr val="E8ECF5"/>
                          </a:solidFill>
                          <a:latin typeface="Segoe UI" pitchFamily="34" charset="0"/>
                          <a:ea typeface="Segoe UI" pitchFamily="34" charset="-122"/>
                          <a:cs typeface="Segoe UI" pitchFamily="34" charset="-120"/>
                        </a:rPr>
                        <a:t>Revoke</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Xoá session — có hiệu lực ngay</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Chờ exp, hoặc denylist / rotation</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512064">
                <a:tc>
                  <a:txBody>
                    <a:bodyPr/>
                    <a:lstStyle/>
                    <a:p>
                      <a:pPr indent="0" marL="0">
                        <a:buNone/>
                      </a:pPr>
                      <a:r>
                        <a:rPr lang="en-US" sz="1150" b="1" dirty="0">
                          <a:solidFill>
                            <a:srgbClr val="E8ECF5"/>
                          </a:solidFill>
                          <a:latin typeface="Segoe UI" pitchFamily="34" charset="0"/>
                          <a:ea typeface="Segoe UI" pitchFamily="34" charset="-122"/>
                          <a:cs typeface="Segoe UI" pitchFamily="34" charset="-120"/>
                        </a:rPr>
                        <a:t>Scale ngang</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Cần store dùng chung</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Verify ở bất kỳ đâu có key</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512064">
                <a:tc>
                  <a:txBody>
                    <a:bodyPr/>
                    <a:lstStyle/>
                    <a:p>
                      <a:pPr indent="0" marL="0">
                        <a:buNone/>
                      </a:pPr>
                      <a:r>
                        <a:rPr lang="en-US" sz="1150" b="1" dirty="0">
                          <a:solidFill>
                            <a:srgbClr val="E8ECF5"/>
                          </a:solidFill>
                          <a:latin typeface="Segoe UI" pitchFamily="34" charset="0"/>
                          <a:ea typeface="Segoe UI" pitchFamily="34" charset="-122"/>
                          <a:cs typeface="Segoe UI" pitchFamily="34" charset="-120"/>
                        </a:rPr>
                        <a:t>Rủi ro browser</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Cookie tự gửi → CSRF</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Lưu trong JS → lộ khi XSS</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512064">
                <a:tc>
                  <a:txBody>
                    <a:bodyPr/>
                    <a:lstStyle/>
                    <a:p>
                      <a:pPr indent="0" marL="0">
                        <a:buNone/>
                      </a:pPr>
                      <a:r>
                        <a:rPr lang="en-US" sz="1150" b="1" dirty="0">
                          <a:solidFill>
                            <a:srgbClr val="E8ECF5"/>
                          </a:solidFill>
                          <a:latin typeface="Segoe UI" pitchFamily="34" charset="0"/>
                          <a:ea typeface="Segoe UI" pitchFamily="34" charset="-122"/>
                          <a:cs typeface="Segoe UI" pitchFamily="34" charset="-120"/>
                        </a:rPr>
                        <a:t>Kích thước</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ID nhỏ</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Lớn hơn, gửi kèm mỗi request</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512064">
                <a:tc>
                  <a:txBody>
                    <a:bodyPr/>
                    <a:lstStyle/>
                    <a:p>
                      <a:pPr indent="0" marL="0">
                        <a:buNone/>
                      </a:pPr>
                      <a:r>
                        <a:rPr lang="en-US" sz="1150" b="1" dirty="0">
                          <a:solidFill>
                            <a:srgbClr val="E8ECF5"/>
                          </a:solidFill>
                          <a:latin typeface="Segoe UI" pitchFamily="34" charset="0"/>
                          <a:ea typeface="Segoe UI" pitchFamily="34" charset="-122"/>
                          <a:cs typeface="Segoe UI" pitchFamily="34" charset="-120"/>
                        </a:rPr>
                        <a:t>Phù hợp</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Web app cùng site</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150" dirty="0">
                          <a:solidFill>
                            <a:srgbClr val="8F9BB3"/>
                          </a:solidFill>
                          <a:latin typeface="Segoe UI" pitchFamily="34" charset="0"/>
                          <a:ea typeface="Segoe UI" pitchFamily="34" charset="-122"/>
                          <a:cs typeface="Segoe UI" pitchFamily="34" charset="-120"/>
                        </a:rPr>
                        <a:t>Nhiều API, mobile, phân tán</a:t>
                      </a:r>
                      <a:endParaRPr lang="en-US" sz="115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OAUTH / OIDC / SAML  ·  SLIDE 17/27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OAuth 2.0 không đồng nghĩa Login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OAuth 2.0 = ủy quyền: cho app A gọi dữ liệu của bạn ở app B.</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Ví dụ: DevHub đọc Google Calendar — không đưa mật khẩu Google.</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Kết quả: access token để gọi API — không trả lời “ai vừa login”.</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Muốn login chuẩn → OIDC (xây trên OAuth, slide sau).</a:t>
            </a:r>
            <a:endParaRPr lang="en-US" sz="1800" dirty="0"/>
          </a:p>
        </p:txBody>
      </p:sp>
      <p:sp>
        <p:nvSpPr>
          <p:cNvPr id="7" name="Text 5"/>
          <p:cNvSpPr/>
          <p:nvPr/>
        </p:nvSpPr>
        <p:spPr>
          <a:xfrm>
            <a:off x="5440680" y="1463040"/>
            <a:ext cx="6263640" cy="274320"/>
          </a:xfrm>
          <a:prstGeom prst="rect">
            <a:avLst/>
          </a:prstGeom>
          <a:noFill/>
          <a:ln/>
        </p:spPr>
        <p:txBody>
          <a:bodyPr wrap="square" lIns="25400" tIns="25400" rIns="25400" bIns="25400" rtlCol="0" anchor="ctr"/>
          <a:lstStyle/>
          <a:p>
            <a:pPr algn="l" indent="0" marL="0">
              <a:buNone/>
            </a:pPr>
            <a:r>
              <a:rPr lang="en-US" sz="1100" b="1" dirty="0">
                <a:solidFill>
                  <a:srgbClr val="8F9BB3"/>
                </a:solidFill>
                <a:latin typeface="Segoe UI" pitchFamily="34" charset="0"/>
                <a:ea typeface="Segoe UI" pitchFamily="34" charset="-122"/>
                <a:cs typeface="Segoe UI" pitchFamily="34" charset="-120"/>
              </a:rPr>
              <a:t>OAuth 2.0 = ủy quyền gọi API, không phải “màn hình login”</a:t>
            </a:r>
            <a:endParaRPr lang="en-US" sz="1100" dirty="0"/>
          </a:p>
        </p:txBody>
      </p:sp>
      <p:sp>
        <p:nvSpPr>
          <p:cNvPr id="8" name="Text 6"/>
          <p:cNvSpPr/>
          <p:nvPr/>
        </p:nvSpPr>
        <p:spPr>
          <a:xfrm>
            <a:off x="5495544" y="1783080"/>
            <a:ext cx="145618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Resource Owner</a:t>
            </a:r>
            <a:endParaRPr lang="en-US" sz="1100" dirty="0"/>
          </a:p>
          <a:p>
            <a:pPr algn="ctr" indent="0" marL="0">
              <a:buNone/>
            </a:pPr>
            <a:r>
              <a:rPr lang="en-US" sz="1100" b="1" dirty="0">
                <a:solidFill>
                  <a:srgbClr val="E8ECF5"/>
                </a:solidFill>
                <a:latin typeface="Segoe UI" pitchFamily="34" charset="0"/>
                <a:ea typeface="Segoe UI" pitchFamily="34" charset="-122"/>
                <a:cs typeface="Segoe UI" pitchFamily="34" charset="-120"/>
              </a:rPr>
              <a:t>(user)</a:t>
            </a:r>
            <a:endParaRPr lang="en-US" sz="1100" dirty="0"/>
          </a:p>
        </p:txBody>
      </p:sp>
      <p:sp>
        <p:nvSpPr>
          <p:cNvPr id="9" name="Shape 7"/>
          <p:cNvSpPr/>
          <p:nvPr/>
        </p:nvSpPr>
        <p:spPr>
          <a:xfrm>
            <a:off x="6223635" y="2203704"/>
            <a:ext cx="0" cy="3374136"/>
          </a:xfrm>
          <a:prstGeom prst="line">
            <a:avLst/>
          </a:prstGeom>
          <a:noFill/>
          <a:ln w="12700">
            <a:solidFill>
              <a:srgbClr val="2A3651"/>
            </a:solidFill>
            <a:prstDash val="dash"/>
          </a:ln>
        </p:spPr>
      </p:sp>
      <p:sp>
        <p:nvSpPr>
          <p:cNvPr id="10" name="Text 8"/>
          <p:cNvSpPr/>
          <p:nvPr/>
        </p:nvSpPr>
        <p:spPr>
          <a:xfrm>
            <a:off x="7061454" y="1783080"/>
            <a:ext cx="145618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Client</a:t>
            </a:r>
            <a:endParaRPr lang="en-US" sz="1100" dirty="0"/>
          </a:p>
          <a:p>
            <a:pPr algn="ctr" indent="0" marL="0">
              <a:buNone/>
            </a:pPr>
            <a:r>
              <a:rPr lang="en-US" sz="1100" b="1" dirty="0">
                <a:solidFill>
                  <a:srgbClr val="E8ECF5"/>
                </a:solidFill>
                <a:latin typeface="Segoe UI" pitchFamily="34" charset="0"/>
                <a:ea typeface="Segoe UI" pitchFamily="34" charset="-122"/>
                <a:cs typeface="Segoe UI" pitchFamily="34" charset="-120"/>
              </a:rPr>
              <a:t>(DevHub)</a:t>
            </a:r>
            <a:endParaRPr lang="en-US" sz="1100" dirty="0"/>
          </a:p>
        </p:txBody>
      </p:sp>
      <p:sp>
        <p:nvSpPr>
          <p:cNvPr id="11" name="Shape 9"/>
          <p:cNvSpPr/>
          <p:nvPr/>
        </p:nvSpPr>
        <p:spPr>
          <a:xfrm>
            <a:off x="7789545" y="2203704"/>
            <a:ext cx="0" cy="3374136"/>
          </a:xfrm>
          <a:prstGeom prst="line">
            <a:avLst/>
          </a:prstGeom>
          <a:noFill/>
          <a:ln w="12700">
            <a:solidFill>
              <a:srgbClr val="2A3651"/>
            </a:solidFill>
            <a:prstDash val="dash"/>
          </a:ln>
        </p:spPr>
      </p:sp>
      <p:sp>
        <p:nvSpPr>
          <p:cNvPr id="12" name="Text 10"/>
          <p:cNvSpPr/>
          <p:nvPr/>
        </p:nvSpPr>
        <p:spPr>
          <a:xfrm>
            <a:off x="8627364" y="1783080"/>
            <a:ext cx="145618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Authorization</a:t>
            </a:r>
            <a:endParaRPr lang="en-US" sz="1100" dirty="0"/>
          </a:p>
          <a:p>
            <a:pPr algn="ctr" indent="0" marL="0">
              <a:buNone/>
            </a:pPr>
            <a:r>
              <a:rPr lang="en-US" sz="1100" b="1" dirty="0">
                <a:solidFill>
                  <a:srgbClr val="E8ECF5"/>
                </a:solidFill>
                <a:latin typeface="Segoe UI" pitchFamily="34" charset="0"/>
                <a:ea typeface="Segoe UI" pitchFamily="34" charset="-122"/>
                <a:cs typeface="Segoe UI" pitchFamily="34" charset="-120"/>
              </a:rPr>
              <a:t>Server</a:t>
            </a:r>
            <a:endParaRPr lang="en-US" sz="1100" dirty="0"/>
          </a:p>
        </p:txBody>
      </p:sp>
      <p:sp>
        <p:nvSpPr>
          <p:cNvPr id="13" name="Shape 11"/>
          <p:cNvSpPr/>
          <p:nvPr/>
        </p:nvSpPr>
        <p:spPr>
          <a:xfrm>
            <a:off x="9355455" y="2203704"/>
            <a:ext cx="0" cy="3374136"/>
          </a:xfrm>
          <a:prstGeom prst="line">
            <a:avLst/>
          </a:prstGeom>
          <a:noFill/>
          <a:ln w="12700">
            <a:solidFill>
              <a:srgbClr val="2A3651"/>
            </a:solidFill>
            <a:prstDash val="dash"/>
          </a:ln>
        </p:spPr>
      </p:sp>
      <p:sp>
        <p:nvSpPr>
          <p:cNvPr id="14" name="Text 12"/>
          <p:cNvSpPr/>
          <p:nvPr/>
        </p:nvSpPr>
        <p:spPr>
          <a:xfrm>
            <a:off x="10193274" y="1783080"/>
            <a:ext cx="145618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Resource</a:t>
            </a:r>
            <a:endParaRPr lang="en-US" sz="1100" dirty="0"/>
          </a:p>
          <a:p>
            <a:pPr algn="ctr" indent="0" marL="0">
              <a:buNone/>
            </a:pPr>
            <a:r>
              <a:rPr lang="en-US" sz="1100" b="1" dirty="0">
                <a:solidFill>
                  <a:srgbClr val="E8ECF5"/>
                </a:solidFill>
                <a:latin typeface="Segoe UI" pitchFamily="34" charset="0"/>
                <a:ea typeface="Segoe UI" pitchFamily="34" charset="-122"/>
                <a:cs typeface="Segoe UI" pitchFamily="34" charset="-120"/>
              </a:rPr>
              <a:t>Server (API)</a:t>
            </a:r>
            <a:endParaRPr lang="en-US" sz="1100" dirty="0"/>
          </a:p>
        </p:txBody>
      </p:sp>
      <p:sp>
        <p:nvSpPr>
          <p:cNvPr id="15" name="Shape 13"/>
          <p:cNvSpPr/>
          <p:nvPr/>
        </p:nvSpPr>
        <p:spPr>
          <a:xfrm>
            <a:off x="10921365" y="2203704"/>
            <a:ext cx="0" cy="3374136"/>
          </a:xfrm>
          <a:prstGeom prst="line">
            <a:avLst/>
          </a:prstGeom>
          <a:noFill/>
          <a:ln w="12700">
            <a:solidFill>
              <a:srgbClr val="2A3651"/>
            </a:solidFill>
            <a:prstDash val="dash"/>
          </a:ln>
        </p:spPr>
      </p:sp>
      <p:sp>
        <p:nvSpPr>
          <p:cNvPr id="16" name="Shape 14"/>
          <p:cNvSpPr/>
          <p:nvPr/>
        </p:nvSpPr>
        <p:spPr>
          <a:xfrm flipH="1">
            <a:off x="6223635" y="2650754"/>
            <a:ext cx="1565910" cy="0"/>
          </a:xfrm>
          <a:prstGeom prst="line">
            <a:avLst/>
          </a:prstGeom>
          <a:noFill/>
          <a:ln w="19050">
            <a:solidFill>
              <a:srgbClr val="B5A5FF"/>
            </a:solidFill>
            <a:prstDash val="solid"/>
            <a:tailEnd type="triangle"/>
          </a:ln>
        </p:spPr>
      </p:sp>
      <p:sp>
        <p:nvSpPr>
          <p:cNvPr id="17" name="Text 15"/>
          <p:cNvSpPr/>
          <p:nvPr/>
        </p:nvSpPr>
        <p:spPr>
          <a:xfrm>
            <a:off x="6269355" y="2367290"/>
            <a:ext cx="1474470" cy="256032"/>
          </a:xfrm>
          <a:prstGeom prst="rect">
            <a:avLst/>
          </a:prstGeom>
          <a:noFill/>
          <a:ln/>
        </p:spPr>
        <p:txBody>
          <a:bodyPr wrap="square" lIns="25400" tIns="25400" rIns="25400" bIns="25400" rtlCol="0" anchor="b"/>
          <a:lstStyle/>
          <a:p>
            <a:pPr algn="ctr" indent="0" marL="0">
              <a:buNone/>
            </a:pPr>
            <a:r>
              <a:rPr lang="en-US" sz="1000" dirty="0">
                <a:solidFill>
                  <a:srgbClr val="E8ECF5"/>
                </a:solidFill>
                <a:latin typeface="Segoe UI" pitchFamily="34" charset="0"/>
                <a:ea typeface="Segoe UI" pitchFamily="34" charset="-122"/>
                <a:cs typeface="Segoe UI" pitchFamily="34" charset="-120"/>
              </a:rPr>
              <a:t>1. xin ủy quyền</a:t>
            </a:r>
            <a:endParaRPr lang="en-US" sz="1000" dirty="0"/>
          </a:p>
        </p:txBody>
      </p:sp>
      <p:sp>
        <p:nvSpPr>
          <p:cNvPr id="18" name="Shape 16"/>
          <p:cNvSpPr/>
          <p:nvPr/>
        </p:nvSpPr>
        <p:spPr>
          <a:xfrm>
            <a:off x="6223635" y="3194822"/>
            <a:ext cx="1565910" cy="0"/>
          </a:xfrm>
          <a:prstGeom prst="line">
            <a:avLst/>
          </a:prstGeom>
          <a:noFill/>
          <a:ln w="19050">
            <a:solidFill>
              <a:srgbClr val="6EE7B7"/>
            </a:solidFill>
            <a:prstDash val="dash"/>
            <a:tailEnd type="triangle"/>
          </a:ln>
        </p:spPr>
      </p:sp>
      <p:sp>
        <p:nvSpPr>
          <p:cNvPr id="19" name="Text 17"/>
          <p:cNvSpPr/>
          <p:nvPr/>
        </p:nvSpPr>
        <p:spPr>
          <a:xfrm>
            <a:off x="6269355" y="2911358"/>
            <a:ext cx="1474470" cy="256032"/>
          </a:xfrm>
          <a:prstGeom prst="rect">
            <a:avLst/>
          </a:prstGeom>
          <a:noFill/>
          <a:ln/>
        </p:spPr>
        <p:txBody>
          <a:bodyPr wrap="square" lIns="25400" tIns="25400" rIns="25400" bIns="25400" rtlCol="0" anchor="b"/>
          <a:lstStyle/>
          <a:p>
            <a:pPr algn="ctr" indent="0" marL="0">
              <a:buNone/>
            </a:pPr>
            <a:r>
              <a:rPr lang="en-US" sz="1000" dirty="0">
                <a:solidFill>
                  <a:srgbClr val="E8ECF5"/>
                </a:solidFill>
                <a:latin typeface="Segoe UI" pitchFamily="34" charset="0"/>
                <a:ea typeface="Segoe UI" pitchFamily="34" charset="-122"/>
                <a:cs typeface="Segoe UI" pitchFamily="34" charset="-120"/>
              </a:rPr>
              <a:t>2. authorization grant</a:t>
            </a:r>
            <a:endParaRPr lang="en-US" sz="1000" dirty="0"/>
          </a:p>
        </p:txBody>
      </p:sp>
      <p:sp>
        <p:nvSpPr>
          <p:cNvPr id="20" name="Shape 18"/>
          <p:cNvSpPr/>
          <p:nvPr/>
        </p:nvSpPr>
        <p:spPr>
          <a:xfrm>
            <a:off x="7789545" y="3738890"/>
            <a:ext cx="1565910" cy="0"/>
          </a:xfrm>
          <a:prstGeom prst="line">
            <a:avLst/>
          </a:prstGeom>
          <a:noFill/>
          <a:ln w="19050">
            <a:solidFill>
              <a:srgbClr val="B5A5FF"/>
            </a:solidFill>
            <a:prstDash val="solid"/>
            <a:tailEnd type="triangle"/>
          </a:ln>
        </p:spPr>
      </p:sp>
      <p:sp>
        <p:nvSpPr>
          <p:cNvPr id="21" name="Text 19"/>
          <p:cNvSpPr/>
          <p:nvPr/>
        </p:nvSpPr>
        <p:spPr>
          <a:xfrm>
            <a:off x="7835265" y="3455426"/>
            <a:ext cx="1474470" cy="256032"/>
          </a:xfrm>
          <a:prstGeom prst="rect">
            <a:avLst/>
          </a:prstGeom>
          <a:noFill/>
          <a:ln/>
        </p:spPr>
        <p:txBody>
          <a:bodyPr wrap="square" lIns="25400" tIns="25400" rIns="25400" bIns="25400" rtlCol="0" anchor="b"/>
          <a:lstStyle/>
          <a:p>
            <a:pPr algn="ctr" indent="0" marL="0">
              <a:buNone/>
            </a:pPr>
            <a:r>
              <a:rPr lang="en-US" sz="1000" dirty="0">
                <a:solidFill>
                  <a:srgbClr val="E8ECF5"/>
                </a:solidFill>
                <a:latin typeface="Segoe UI" pitchFamily="34" charset="0"/>
                <a:ea typeface="Segoe UI" pitchFamily="34" charset="-122"/>
                <a:cs typeface="Segoe UI" pitchFamily="34" charset="-120"/>
              </a:rPr>
              <a:t>3. grant + client credentials</a:t>
            </a:r>
            <a:endParaRPr lang="en-US" sz="1000" dirty="0"/>
          </a:p>
        </p:txBody>
      </p:sp>
      <p:sp>
        <p:nvSpPr>
          <p:cNvPr id="22" name="Shape 20"/>
          <p:cNvSpPr/>
          <p:nvPr/>
        </p:nvSpPr>
        <p:spPr>
          <a:xfrm flipH="1">
            <a:off x="7789545" y="4282958"/>
            <a:ext cx="1565910" cy="0"/>
          </a:xfrm>
          <a:prstGeom prst="line">
            <a:avLst/>
          </a:prstGeom>
          <a:noFill/>
          <a:ln w="19050">
            <a:solidFill>
              <a:srgbClr val="6EE7B7"/>
            </a:solidFill>
            <a:prstDash val="dash"/>
            <a:tailEnd type="triangle"/>
          </a:ln>
        </p:spPr>
      </p:sp>
      <p:sp>
        <p:nvSpPr>
          <p:cNvPr id="23" name="Text 21"/>
          <p:cNvSpPr/>
          <p:nvPr/>
        </p:nvSpPr>
        <p:spPr>
          <a:xfrm>
            <a:off x="7835265" y="3999494"/>
            <a:ext cx="1474470" cy="256032"/>
          </a:xfrm>
          <a:prstGeom prst="rect">
            <a:avLst/>
          </a:prstGeom>
          <a:noFill/>
          <a:ln/>
        </p:spPr>
        <p:txBody>
          <a:bodyPr wrap="square" lIns="25400" tIns="25400" rIns="25400" bIns="25400" rtlCol="0" anchor="b"/>
          <a:lstStyle/>
          <a:p>
            <a:pPr algn="ctr" indent="0" marL="0">
              <a:buNone/>
            </a:pPr>
            <a:r>
              <a:rPr lang="en-US" sz="1000" dirty="0">
                <a:solidFill>
                  <a:srgbClr val="E8ECF5"/>
                </a:solidFill>
                <a:latin typeface="Segoe UI" pitchFamily="34" charset="0"/>
                <a:ea typeface="Segoe UI" pitchFamily="34" charset="-122"/>
                <a:cs typeface="Segoe UI" pitchFamily="34" charset="-120"/>
              </a:rPr>
              <a:t>4. access token</a:t>
            </a:r>
            <a:endParaRPr lang="en-US" sz="1000" dirty="0"/>
          </a:p>
        </p:txBody>
      </p:sp>
      <p:sp>
        <p:nvSpPr>
          <p:cNvPr id="24" name="Shape 22"/>
          <p:cNvSpPr/>
          <p:nvPr/>
        </p:nvSpPr>
        <p:spPr>
          <a:xfrm>
            <a:off x="7789545" y="4827026"/>
            <a:ext cx="3131820" cy="0"/>
          </a:xfrm>
          <a:prstGeom prst="line">
            <a:avLst/>
          </a:prstGeom>
          <a:noFill/>
          <a:ln w="19050">
            <a:solidFill>
              <a:srgbClr val="B5A5FF"/>
            </a:solidFill>
            <a:prstDash val="solid"/>
            <a:tailEnd type="triangle"/>
          </a:ln>
        </p:spPr>
      </p:sp>
      <p:sp>
        <p:nvSpPr>
          <p:cNvPr id="25" name="Text 23"/>
          <p:cNvSpPr/>
          <p:nvPr/>
        </p:nvSpPr>
        <p:spPr>
          <a:xfrm>
            <a:off x="7835265" y="4543562"/>
            <a:ext cx="3040380" cy="256032"/>
          </a:xfrm>
          <a:prstGeom prst="rect">
            <a:avLst/>
          </a:prstGeom>
          <a:noFill/>
          <a:ln/>
        </p:spPr>
        <p:txBody>
          <a:bodyPr wrap="square" lIns="25400" tIns="25400" rIns="25400" bIns="25400" rtlCol="0" anchor="b"/>
          <a:lstStyle/>
          <a:p>
            <a:pPr algn="ctr" indent="0" marL="0">
              <a:buNone/>
            </a:pPr>
            <a:r>
              <a:rPr lang="en-US" sz="1000" dirty="0">
                <a:solidFill>
                  <a:srgbClr val="E8ECF5"/>
                </a:solidFill>
                <a:latin typeface="Segoe UI" pitchFamily="34" charset="0"/>
                <a:ea typeface="Segoe UI" pitchFamily="34" charset="-122"/>
                <a:cs typeface="Segoe UI" pitchFamily="34" charset="-120"/>
              </a:rPr>
              <a:t>5. gọi API bằng access token</a:t>
            </a:r>
            <a:endParaRPr lang="en-US" sz="1000" dirty="0"/>
          </a:p>
        </p:txBody>
      </p:sp>
      <p:sp>
        <p:nvSpPr>
          <p:cNvPr id="26" name="Shape 24"/>
          <p:cNvSpPr/>
          <p:nvPr/>
        </p:nvSpPr>
        <p:spPr>
          <a:xfrm flipH="1">
            <a:off x="7789545" y="5371094"/>
            <a:ext cx="3131820" cy="0"/>
          </a:xfrm>
          <a:prstGeom prst="line">
            <a:avLst/>
          </a:prstGeom>
          <a:noFill/>
          <a:ln w="19050">
            <a:solidFill>
              <a:srgbClr val="6EE7B7"/>
            </a:solidFill>
            <a:prstDash val="dash"/>
            <a:tailEnd type="triangle"/>
          </a:ln>
        </p:spPr>
      </p:sp>
      <p:sp>
        <p:nvSpPr>
          <p:cNvPr id="27" name="Text 25"/>
          <p:cNvSpPr/>
          <p:nvPr/>
        </p:nvSpPr>
        <p:spPr>
          <a:xfrm>
            <a:off x="7835265" y="5087630"/>
            <a:ext cx="3040380" cy="256032"/>
          </a:xfrm>
          <a:prstGeom prst="rect">
            <a:avLst/>
          </a:prstGeom>
          <a:noFill/>
          <a:ln/>
        </p:spPr>
        <p:txBody>
          <a:bodyPr wrap="square" lIns="25400" tIns="25400" rIns="25400" bIns="25400" rtlCol="0" anchor="b"/>
          <a:lstStyle/>
          <a:p>
            <a:pPr algn="ctr" indent="0" marL="0">
              <a:buNone/>
            </a:pPr>
            <a:r>
              <a:rPr lang="en-US" sz="1000" dirty="0">
                <a:solidFill>
                  <a:srgbClr val="E8ECF5"/>
                </a:solidFill>
                <a:latin typeface="Segoe UI" pitchFamily="34" charset="0"/>
                <a:ea typeface="Segoe UI" pitchFamily="34" charset="-122"/>
                <a:cs typeface="Segoe UI" pitchFamily="34" charset="-120"/>
              </a:rPr>
              <a:t>6. dữ liệu được phép</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OAUTH / OIDC / SAML  ·  SLIDE 18/27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ID token ≠ Access token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OIDC = OpenID Connect: lớp danh tính trên OAuth 2.0.</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ID token: chứng minh AI đã login — dành cho client.</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Access token: chứng minh được GỌI API nào — dành cho API.</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Đừng gửi ID token tới API như Bearer token.</a:t>
            </a:r>
            <a:endParaRPr lang="en-US" sz="1800" dirty="0"/>
          </a:p>
        </p:txBody>
      </p:sp>
      <p:sp>
        <p:nvSpPr>
          <p:cNvPr id="7" name="Text 5"/>
          <p:cNvSpPr/>
          <p:nvPr/>
        </p:nvSpPr>
        <p:spPr>
          <a:xfrm>
            <a:off x="5440680" y="2377440"/>
            <a:ext cx="1371600" cy="1097280"/>
          </a:xfrm>
          <a:prstGeom prst="roundRect">
            <a:avLst>
              <a:gd name="adj" fmla="val 6667"/>
            </a:avLst>
          </a:prstGeom>
          <a:solidFill>
            <a:srgbClr val="182238"/>
          </a:solidFill>
          <a:ln w="12700">
            <a:solidFill>
              <a:srgbClr val="F5A65B"/>
            </a:solidFill>
            <a:prstDash val="solid"/>
          </a:ln>
        </p:spPr>
        <p:txBody>
          <a:bodyPr wrap="square" lIns="76200" tIns="76200" rIns="76200" bIns="76200"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Identity Provider</a:t>
            </a:r>
            <a:endParaRPr lang="en-US" sz="1200" dirty="0"/>
          </a:p>
        </p:txBody>
      </p:sp>
      <p:sp>
        <p:nvSpPr>
          <p:cNvPr id="8" name="Text 6"/>
          <p:cNvSpPr/>
          <p:nvPr/>
        </p:nvSpPr>
        <p:spPr>
          <a:xfrm>
            <a:off x="7886700" y="2377440"/>
            <a:ext cx="1371600" cy="1097280"/>
          </a:xfrm>
          <a:prstGeom prst="roundRect">
            <a:avLst>
              <a:gd name="adj" fmla="val 6667"/>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Client</a:t>
            </a:r>
            <a:endParaRPr lang="en-US" sz="1200" dirty="0"/>
          </a:p>
          <a:p>
            <a:pPr algn="ctr" indent="0" marL="0">
              <a:buNone/>
            </a:pPr>
            <a:r>
              <a:rPr lang="en-US" sz="1200" b="1" dirty="0">
                <a:solidFill>
                  <a:srgbClr val="E8ECF5"/>
                </a:solidFill>
                <a:latin typeface="Segoe UI" pitchFamily="34" charset="0"/>
                <a:ea typeface="Segoe UI" pitchFamily="34" charset="-122"/>
                <a:cs typeface="Segoe UI" pitchFamily="34" charset="-120"/>
              </a:rPr>
              <a:t>(DevHub)</a:t>
            </a:r>
            <a:endParaRPr lang="en-US" sz="1200" dirty="0"/>
          </a:p>
        </p:txBody>
      </p:sp>
      <p:sp>
        <p:nvSpPr>
          <p:cNvPr id="9" name="Text 7"/>
          <p:cNvSpPr/>
          <p:nvPr/>
        </p:nvSpPr>
        <p:spPr>
          <a:xfrm>
            <a:off x="10332720" y="2377440"/>
            <a:ext cx="1371600" cy="1097280"/>
          </a:xfrm>
          <a:prstGeom prst="roundRect">
            <a:avLst>
              <a:gd name="adj" fmla="val 6667"/>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200" b="1" dirty="0">
                <a:solidFill>
                  <a:srgbClr val="E8ECF5"/>
                </a:solidFill>
                <a:latin typeface="Segoe UI" pitchFamily="34" charset="0"/>
                <a:ea typeface="Segoe UI" pitchFamily="34" charset="-122"/>
                <a:cs typeface="Segoe UI" pitchFamily="34" charset="-120"/>
              </a:rPr>
              <a:t>Resource API</a:t>
            </a:r>
            <a:endParaRPr lang="en-US" sz="1200" dirty="0"/>
          </a:p>
        </p:txBody>
      </p:sp>
      <p:sp>
        <p:nvSpPr>
          <p:cNvPr id="10" name="Shape 8"/>
          <p:cNvSpPr/>
          <p:nvPr/>
        </p:nvSpPr>
        <p:spPr>
          <a:xfrm>
            <a:off x="6812280" y="2651760"/>
            <a:ext cx="1074420" cy="0"/>
          </a:xfrm>
          <a:prstGeom prst="line">
            <a:avLst/>
          </a:prstGeom>
          <a:noFill/>
          <a:ln w="19050">
            <a:solidFill>
              <a:srgbClr val="B5A5FF"/>
            </a:solidFill>
            <a:prstDash val="solid"/>
            <a:tailEnd type="triangle"/>
          </a:ln>
        </p:spPr>
      </p:sp>
      <p:sp>
        <p:nvSpPr>
          <p:cNvPr id="11" name="Shape 9"/>
          <p:cNvSpPr/>
          <p:nvPr/>
        </p:nvSpPr>
        <p:spPr>
          <a:xfrm>
            <a:off x="6812280" y="3200400"/>
            <a:ext cx="1074420" cy="0"/>
          </a:xfrm>
          <a:prstGeom prst="line">
            <a:avLst/>
          </a:prstGeom>
          <a:noFill/>
          <a:ln w="19050">
            <a:solidFill>
              <a:srgbClr val="6EE7B7"/>
            </a:solidFill>
            <a:prstDash val="solid"/>
            <a:tailEnd type="triangle"/>
          </a:ln>
        </p:spPr>
      </p:sp>
      <p:sp>
        <p:nvSpPr>
          <p:cNvPr id="12" name="Text 10"/>
          <p:cNvSpPr/>
          <p:nvPr/>
        </p:nvSpPr>
        <p:spPr>
          <a:xfrm>
            <a:off x="6812280" y="2359152"/>
            <a:ext cx="1074420" cy="274320"/>
          </a:xfrm>
          <a:prstGeom prst="rect">
            <a:avLst/>
          </a:prstGeom>
          <a:noFill/>
          <a:ln/>
        </p:spPr>
        <p:txBody>
          <a:bodyPr wrap="square" lIns="25400" tIns="25400" rIns="25400" bIns="25400" rtlCol="0" anchor="ctr"/>
          <a:lstStyle/>
          <a:p>
            <a:pPr algn="ctr" indent="0" marL="0">
              <a:buNone/>
            </a:pPr>
            <a:r>
              <a:rPr lang="en-US" sz="1000" b="1" dirty="0">
                <a:solidFill>
                  <a:srgbClr val="B5A5FF"/>
                </a:solidFill>
                <a:latin typeface="Segoe UI" pitchFamily="34" charset="0"/>
                <a:ea typeface="Segoe UI" pitchFamily="34" charset="-122"/>
                <a:cs typeface="Segoe UI" pitchFamily="34" charset="-120"/>
              </a:rPr>
              <a:t>ID token</a:t>
            </a:r>
            <a:endParaRPr lang="en-US" sz="1000" dirty="0"/>
          </a:p>
        </p:txBody>
      </p:sp>
      <p:sp>
        <p:nvSpPr>
          <p:cNvPr id="13" name="Text 11"/>
          <p:cNvSpPr/>
          <p:nvPr/>
        </p:nvSpPr>
        <p:spPr>
          <a:xfrm>
            <a:off x="6812280" y="2907792"/>
            <a:ext cx="1074420" cy="274320"/>
          </a:xfrm>
          <a:prstGeom prst="rect">
            <a:avLst/>
          </a:prstGeom>
          <a:noFill/>
          <a:ln/>
        </p:spPr>
        <p:txBody>
          <a:bodyPr wrap="square" lIns="25400" tIns="25400" rIns="25400" bIns="25400" rtlCol="0" anchor="ctr"/>
          <a:lstStyle/>
          <a:p>
            <a:pPr algn="ctr" indent="0" marL="0">
              <a:buNone/>
            </a:pPr>
            <a:r>
              <a:rPr lang="en-US" sz="1000" b="1" dirty="0">
                <a:solidFill>
                  <a:srgbClr val="6EE7B7"/>
                </a:solidFill>
                <a:latin typeface="Segoe UI" pitchFamily="34" charset="0"/>
                <a:ea typeface="Segoe UI" pitchFamily="34" charset="-122"/>
                <a:cs typeface="Segoe UI" pitchFamily="34" charset="-120"/>
              </a:rPr>
              <a:t>access token</a:t>
            </a:r>
            <a:endParaRPr lang="en-US" sz="1000" dirty="0"/>
          </a:p>
        </p:txBody>
      </p:sp>
      <p:sp>
        <p:nvSpPr>
          <p:cNvPr id="14" name="Shape 12"/>
          <p:cNvSpPr/>
          <p:nvPr/>
        </p:nvSpPr>
        <p:spPr>
          <a:xfrm>
            <a:off x="9258300" y="2651760"/>
            <a:ext cx="1074420" cy="0"/>
          </a:xfrm>
          <a:prstGeom prst="line">
            <a:avLst/>
          </a:prstGeom>
          <a:noFill/>
          <a:ln w="19050">
            <a:solidFill>
              <a:srgbClr val="6EE7B7"/>
            </a:solidFill>
            <a:prstDash val="solid"/>
            <a:tailEnd type="triangle"/>
          </a:ln>
        </p:spPr>
      </p:sp>
      <p:sp>
        <p:nvSpPr>
          <p:cNvPr id="15" name="Text 13"/>
          <p:cNvSpPr/>
          <p:nvPr/>
        </p:nvSpPr>
        <p:spPr>
          <a:xfrm>
            <a:off x="9258300" y="2359152"/>
            <a:ext cx="1074420" cy="274320"/>
          </a:xfrm>
          <a:prstGeom prst="rect">
            <a:avLst/>
          </a:prstGeom>
          <a:noFill/>
          <a:ln/>
        </p:spPr>
        <p:txBody>
          <a:bodyPr wrap="square" lIns="25400" tIns="25400" rIns="25400" bIns="25400" rtlCol="0" anchor="ctr"/>
          <a:lstStyle/>
          <a:p>
            <a:pPr algn="ctr" indent="0" marL="0">
              <a:buNone/>
            </a:pPr>
            <a:r>
              <a:rPr lang="en-US" sz="1000" dirty="0">
                <a:solidFill>
                  <a:srgbClr val="6EE7B7"/>
                </a:solidFill>
                <a:latin typeface="Segoe UI" pitchFamily="34" charset="0"/>
                <a:ea typeface="Segoe UI" pitchFamily="34" charset="-122"/>
                <a:cs typeface="Segoe UI" pitchFamily="34" charset="-120"/>
              </a:rPr>
              <a:t>access token ✓</a:t>
            </a:r>
            <a:endParaRPr lang="en-US" sz="1000" dirty="0"/>
          </a:p>
        </p:txBody>
      </p:sp>
      <p:sp>
        <p:nvSpPr>
          <p:cNvPr id="16" name="Shape 14"/>
          <p:cNvSpPr/>
          <p:nvPr/>
        </p:nvSpPr>
        <p:spPr>
          <a:xfrm>
            <a:off x="9258300" y="3200400"/>
            <a:ext cx="1074420" cy="0"/>
          </a:xfrm>
          <a:prstGeom prst="line">
            <a:avLst/>
          </a:prstGeom>
          <a:noFill/>
          <a:ln w="19050">
            <a:solidFill>
              <a:srgbClr val="F28B9A"/>
            </a:solidFill>
            <a:prstDash val="dash"/>
            <a:tailEnd type="triangle"/>
          </a:ln>
        </p:spPr>
      </p:sp>
      <p:sp>
        <p:nvSpPr>
          <p:cNvPr id="17" name="Text 15"/>
          <p:cNvSpPr/>
          <p:nvPr/>
        </p:nvSpPr>
        <p:spPr>
          <a:xfrm>
            <a:off x="9258300" y="2907792"/>
            <a:ext cx="1074420" cy="274320"/>
          </a:xfrm>
          <a:prstGeom prst="rect">
            <a:avLst/>
          </a:prstGeom>
          <a:noFill/>
          <a:ln/>
        </p:spPr>
        <p:txBody>
          <a:bodyPr wrap="square" lIns="25400" tIns="25400" rIns="25400" bIns="25400" rtlCol="0" anchor="ctr"/>
          <a:lstStyle/>
          <a:p>
            <a:pPr algn="ctr" indent="0" marL="0">
              <a:buNone/>
            </a:pPr>
            <a:r>
              <a:rPr lang="en-US" sz="1000" dirty="0">
                <a:solidFill>
                  <a:srgbClr val="F28B9A"/>
                </a:solidFill>
                <a:latin typeface="Segoe UI" pitchFamily="34" charset="0"/>
                <a:ea typeface="Segoe UI" pitchFamily="34" charset="-122"/>
                <a:cs typeface="Segoe UI" pitchFamily="34" charset="-120"/>
              </a:rPr>
              <a:t>ID token ✗</a:t>
            </a:r>
            <a:endParaRPr lang="en-US" sz="1000" dirty="0"/>
          </a:p>
        </p:txBody>
      </p:sp>
      <p:sp>
        <p:nvSpPr>
          <p:cNvPr id="18" name="Text 16"/>
          <p:cNvSpPr/>
          <p:nvPr/>
        </p:nvSpPr>
        <p:spPr>
          <a:xfrm>
            <a:off x="5440680" y="4206240"/>
            <a:ext cx="3063240" cy="1325880"/>
          </a:xfrm>
          <a:prstGeom prst="roundRect">
            <a:avLst>
              <a:gd name="adj" fmla="val 5517"/>
            </a:avLst>
          </a:prstGeom>
          <a:solidFill>
            <a:srgbClr val="182238"/>
          </a:solidFill>
          <a:ln w="12700">
            <a:solidFill>
              <a:srgbClr val="B5A5FF"/>
            </a:solidFill>
            <a:prstDash val="solid"/>
          </a:ln>
        </p:spPr>
        <p:txBody>
          <a:bodyPr wrap="square" lIns="76200" tIns="76200" rIns="76200" bIns="76200" rtlCol="0" anchor="ctr"/>
          <a:lstStyle/>
          <a:p>
            <a:pPr algn="l" indent="0" marL="0">
              <a:buNone/>
            </a:pPr>
            <a:r>
              <a:rPr lang="en-US" sz="1200" b="1" dirty="0">
                <a:solidFill>
                  <a:srgbClr val="B5A5FF"/>
                </a:solidFill>
                <a:latin typeface="Segoe UI" pitchFamily="34" charset="0"/>
                <a:ea typeface="Segoe UI" pitchFamily="34" charset="-122"/>
                <a:cs typeface="Segoe UI" pitchFamily="34" charset="-120"/>
              </a:rPr>
              <a:t>ID token — cho client</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aud = client_id</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nonce, sub, auth_time</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 biết AI đã login</a:t>
            </a:r>
            <a:endParaRPr lang="en-US" sz="1200" dirty="0"/>
          </a:p>
        </p:txBody>
      </p:sp>
      <p:sp>
        <p:nvSpPr>
          <p:cNvPr id="19" name="Text 17"/>
          <p:cNvSpPr/>
          <p:nvPr/>
        </p:nvSpPr>
        <p:spPr>
          <a:xfrm>
            <a:off x="8732520" y="4206240"/>
            <a:ext cx="3063240" cy="1325880"/>
          </a:xfrm>
          <a:prstGeom prst="roundRect">
            <a:avLst>
              <a:gd name="adj" fmla="val 5517"/>
            </a:avLst>
          </a:prstGeom>
          <a:solidFill>
            <a:srgbClr val="182238"/>
          </a:solidFill>
          <a:ln w="12700">
            <a:solidFill>
              <a:srgbClr val="6EE7B7"/>
            </a:solidFill>
            <a:prstDash val="solid"/>
          </a:ln>
        </p:spPr>
        <p:txBody>
          <a:bodyPr wrap="square" lIns="76200" tIns="76200" rIns="76200" bIns="76200" rtlCol="0" anchor="ctr"/>
          <a:lstStyle/>
          <a:p>
            <a:pPr algn="l" indent="0" marL="0">
              <a:buNone/>
            </a:pPr>
            <a:r>
              <a:rPr lang="en-US" sz="1200" b="1" dirty="0">
                <a:solidFill>
                  <a:srgbClr val="6EE7B7"/>
                </a:solidFill>
                <a:latin typeface="Segoe UI" pitchFamily="34" charset="0"/>
                <a:ea typeface="Segoe UI" pitchFamily="34" charset="-122"/>
                <a:cs typeface="Segoe UI" pitchFamily="34" charset="-120"/>
              </a:rPr>
              <a:t>Access token — cho API</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aud = API</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scope</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 được GỌI API nào</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OAUTH / OIDC / SAML  ·  SLIDE 19/27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Authorization Code Flow + PKCE</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state</a:t>
            </a:r>
            <a:r>
              <a:rPr lang="en-US" sz="1800" dirty="0">
                <a:solidFill>
                  <a:srgbClr val="E8ECF5"/>
                </a:solidFill>
                <a:latin typeface="Segoe UI" pitchFamily="34" charset="0"/>
                <a:ea typeface="Segoe UI" pitchFamily="34" charset="-122"/>
                <a:cs typeface="Segoe UI" pitchFamily="34" charset="-120"/>
              </a:rPr>
              <a:t> — chống CSRF callback: “đây có đúng lần login tôi vừa bấm?”</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nonce</a:t>
            </a:r>
            <a:r>
              <a:rPr lang="en-US" sz="1800" dirty="0">
                <a:solidFill>
                  <a:srgbClr val="E8ECF5"/>
                </a:solidFill>
                <a:latin typeface="Segoe UI" pitchFamily="34" charset="0"/>
                <a:ea typeface="Segoe UI" pitchFamily="34" charset="-122"/>
                <a:cs typeface="Segoe UI" pitchFamily="34" charset="-120"/>
              </a:rPr>
              <a:t> — gắn ID token với lần login này, chống replay token.</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code_verifier</a:t>
            </a:r>
            <a:r>
              <a:rPr lang="en-US" sz="1800" dirty="0">
                <a:solidFill>
                  <a:srgbClr val="E8ECF5"/>
                </a:solidFill>
                <a:latin typeface="Segoe UI" pitchFamily="34" charset="0"/>
                <a:ea typeface="Segoe UI" pitchFamily="34" charset="-122"/>
                <a:cs typeface="Segoe UI" pitchFamily="34" charset="-120"/>
              </a:rPr>
              <a:t> / </a:t>
            </a:r>
            <a:r>
              <a:rPr lang="en-US" sz="1800" dirty="0">
                <a:solidFill>
                  <a:srgbClr val="B5A5FF"/>
                </a:solidFill>
                <a:latin typeface="Consolas" pitchFamily="34" charset="0"/>
                <a:ea typeface="Consolas" pitchFamily="34" charset="-122"/>
                <a:cs typeface="Consolas" pitchFamily="34" charset="-120"/>
              </a:rPr>
              <a:t>code_challenge</a:t>
            </a:r>
            <a:r>
              <a:rPr lang="en-US" sz="1800" dirty="0">
                <a:solidFill>
                  <a:srgbClr val="E8ECF5"/>
                </a:solidFill>
                <a:latin typeface="Segoe UI" pitchFamily="34" charset="0"/>
                <a:ea typeface="Segoe UI" pitchFamily="34" charset="-122"/>
                <a:cs typeface="Segoe UI" pitchFamily="34" charset="-120"/>
              </a:rPr>
              <a:t> (PKCE) — code bị đánh cắp cũng đổi token không được.</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redirect_uri</a:t>
            </a:r>
            <a:r>
              <a:rPr lang="en-US" sz="1800" dirty="0">
                <a:solidFill>
                  <a:srgbClr val="E8ECF5"/>
                </a:solidFill>
                <a:latin typeface="Segoe UI" pitchFamily="34" charset="0"/>
                <a:ea typeface="Segoe UI" pitchFamily="34" charset="-122"/>
                <a:cs typeface="Segoe UI" pitchFamily="34" charset="-120"/>
              </a:rPr>
              <a:t> — chỉ nhận callback đúng URL đã đăng ký với IdP.</a:t>
            </a:r>
            <a:endParaRPr lang="en-US" sz="1800" dirty="0"/>
          </a:p>
        </p:txBody>
      </p:sp>
      <p:sp>
        <p:nvSpPr>
          <p:cNvPr id="7" name="Text 5"/>
          <p:cNvSpPr/>
          <p:nvPr/>
        </p:nvSpPr>
        <p:spPr>
          <a:xfrm>
            <a:off x="5495544" y="1463040"/>
            <a:ext cx="19781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Browser</a:t>
            </a:r>
            <a:endParaRPr lang="en-US" sz="1100" dirty="0"/>
          </a:p>
        </p:txBody>
      </p:sp>
      <p:sp>
        <p:nvSpPr>
          <p:cNvPr id="8" name="Shape 6"/>
          <p:cNvSpPr/>
          <p:nvPr/>
        </p:nvSpPr>
        <p:spPr>
          <a:xfrm>
            <a:off x="6484620" y="1883664"/>
            <a:ext cx="0" cy="1911096"/>
          </a:xfrm>
          <a:prstGeom prst="line">
            <a:avLst/>
          </a:prstGeom>
          <a:noFill/>
          <a:ln w="12700">
            <a:solidFill>
              <a:srgbClr val="2A3651"/>
            </a:solidFill>
            <a:prstDash val="dash"/>
          </a:ln>
        </p:spPr>
      </p:sp>
      <p:sp>
        <p:nvSpPr>
          <p:cNvPr id="9" name="Text 7"/>
          <p:cNvSpPr/>
          <p:nvPr/>
        </p:nvSpPr>
        <p:spPr>
          <a:xfrm>
            <a:off x="7583424" y="1463040"/>
            <a:ext cx="19781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DevHub</a:t>
            </a:r>
            <a:endParaRPr lang="en-US" sz="1100" dirty="0"/>
          </a:p>
        </p:txBody>
      </p:sp>
      <p:sp>
        <p:nvSpPr>
          <p:cNvPr id="10" name="Shape 8"/>
          <p:cNvSpPr/>
          <p:nvPr/>
        </p:nvSpPr>
        <p:spPr>
          <a:xfrm>
            <a:off x="8572500" y="1883664"/>
            <a:ext cx="0" cy="1911096"/>
          </a:xfrm>
          <a:prstGeom prst="line">
            <a:avLst/>
          </a:prstGeom>
          <a:noFill/>
          <a:ln w="12700">
            <a:solidFill>
              <a:srgbClr val="2A3651"/>
            </a:solidFill>
            <a:prstDash val="dash"/>
          </a:ln>
        </p:spPr>
      </p:sp>
      <p:sp>
        <p:nvSpPr>
          <p:cNvPr id="11" name="Text 9"/>
          <p:cNvSpPr/>
          <p:nvPr/>
        </p:nvSpPr>
        <p:spPr>
          <a:xfrm>
            <a:off x="9671304" y="1463040"/>
            <a:ext cx="19781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IdP</a:t>
            </a:r>
            <a:endParaRPr lang="en-US" sz="1100" dirty="0"/>
          </a:p>
        </p:txBody>
      </p:sp>
      <p:sp>
        <p:nvSpPr>
          <p:cNvPr id="12" name="Shape 10"/>
          <p:cNvSpPr/>
          <p:nvPr/>
        </p:nvSpPr>
        <p:spPr>
          <a:xfrm>
            <a:off x="10660380" y="1883664"/>
            <a:ext cx="0" cy="1911096"/>
          </a:xfrm>
          <a:prstGeom prst="line">
            <a:avLst/>
          </a:prstGeom>
          <a:noFill/>
          <a:ln w="12700">
            <a:solidFill>
              <a:srgbClr val="2A3651"/>
            </a:solidFill>
            <a:prstDash val="dash"/>
          </a:ln>
        </p:spPr>
      </p:sp>
      <p:sp>
        <p:nvSpPr>
          <p:cNvPr id="13" name="Text 11"/>
          <p:cNvSpPr/>
          <p:nvPr/>
        </p:nvSpPr>
        <p:spPr>
          <a:xfrm>
            <a:off x="7045833" y="2061314"/>
            <a:ext cx="3053334" cy="310896"/>
          </a:xfrm>
          <a:prstGeom prst="roundRect">
            <a:avLst>
              <a:gd name="adj" fmla="val 23529"/>
            </a:avLst>
          </a:prstGeom>
          <a:solidFill>
            <a:srgbClr val="131B2E"/>
          </a:solidFill>
          <a:ln w="12700">
            <a:solidFill>
              <a:srgbClr val="B5A5FF"/>
            </a:solidFill>
            <a:prstDash val="dash"/>
          </a:ln>
        </p:spPr>
        <p:txBody>
          <a:bodyPr wrap="square" lIns="38100" tIns="38100" rIns="38100" bIns="38100" rtlCol="0" anchor="ctr"/>
          <a:lstStyle/>
          <a:p>
            <a:pPr algn="ctr" indent="0" marL="0">
              <a:buNone/>
            </a:pPr>
            <a:r>
              <a:rPr lang="en-US" sz="850" dirty="0">
                <a:solidFill>
                  <a:srgbClr val="E8ECF5"/>
                </a:solidFill>
                <a:latin typeface="Segoe UI" pitchFamily="34" charset="0"/>
                <a:ea typeface="Segoe UI" pitchFamily="34" charset="-122"/>
                <a:cs typeface="Segoe UI" pitchFamily="34" charset="-120"/>
              </a:rPr>
              <a:t>1. sinh verifier · challenge · state · nonce</a:t>
            </a:r>
            <a:endParaRPr lang="en-US" sz="850" dirty="0"/>
          </a:p>
        </p:txBody>
      </p:sp>
      <p:sp>
        <p:nvSpPr>
          <p:cNvPr id="14" name="Shape 12"/>
          <p:cNvSpPr/>
          <p:nvPr/>
        </p:nvSpPr>
        <p:spPr>
          <a:xfrm>
            <a:off x="6484620" y="2577035"/>
            <a:ext cx="4175760" cy="0"/>
          </a:xfrm>
          <a:prstGeom prst="line">
            <a:avLst/>
          </a:prstGeom>
          <a:noFill/>
          <a:ln w="19050">
            <a:solidFill>
              <a:srgbClr val="B5A5FF"/>
            </a:solidFill>
            <a:prstDash val="solid"/>
            <a:tailEnd type="triangle"/>
          </a:ln>
        </p:spPr>
      </p:sp>
      <p:sp>
        <p:nvSpPr>
          <p:cNvPr id="15" name="Text 13"/>
          <p:cNvSpPr/>
          <p:nvPr/>
        </p:nvSpPr>
        <p:spPr>
          <a:xfrm>
            <a:off x="6530340" y="2293571"/>
            <a:ext cx="4084320" cy="256032"/>
          </a:xfrm>
          <a:prstGeom prst="rect">
            <a:avLst/>
          </a:prstGeom>
          <a:noFill/>
          <a:ln/>
        </p:spPr>
        <p:txBody>
          <a:bodyPr wrap="square" lIns="25400" tIns="25400" rIns="25400" bIns="25400" rtlCol="0" anchor="b"/>
          <a:lstStyle/>
          <a:p>
            <a:pPr algn="ctr" indent="0" marL="0">
              <a:buNone/>
            </a:pPr>
            <a:r>
              <a:rPr lang="en-US" sz="950" dirty="0">
                <a:solidFill>
                  <a:srgbClr val="E8ECF5"/>
                </a:solidFill>
                <a:latin typeface="Segoe UI" pitchFamily="34" charset="0"/>
                <a:ea typeface="Segoe UI" pitchFamily="34" charset="-122"/>
                <a:cs typeface="Segoe UI" pitchFamily="34" charset="-120"/>
              </a:rPr>
              <a:t>2. /authorize?challenge&amp;state&amp;nonce</a:t>
            </a:r>
            <a:endParaRPr lang="en-US" sz="950" dirty="0"/>
          </a:p>
        </p:txBody>
      </p:sp>
      <p:sp>
        <p:nvSpPr>
          <p:cNvPr id="16" name="Shape 14"/>
          <p:cNvSpPr/>
          <p:nvPr/>
        </p:nvSpPr>
        <p:spPr>
          <a:xfrm flipH="1">
            <a:off x="6484620" y="2937309"/>
            <a:ext cx="4175760" cy="0"/>
          </a:xfrm>
          <a:prstGeom prst="line">
            <a:avLst/>
          </a:prstGeom>
          <a:noFill/>
          <a:ln w="19050">
            <a:solidFill>
              <a:srgbClr val="6EE7B7"/>
            </a:solidFill>
            <a:prstDash val="dash"/>
            <a:tailEnd type="triangle"/>
          </a:ln>
        </p:spPr>
      </p:sp>
      <p:sp>
        <p:nvSpPr>
          <p:cNvPr id="17" name="Text 15"/>
          <p:cNvSpPr/>
          <p:nvPr/>
        </p:nvSpPr>
        <p:spPr>
          <a:xfrm>
            <a:off x="6530340" y="2653845"/>
            <a:ext cx="4084320" cy="256032"/>
          </a:xfrm>
          <a:prstGeom prst="rect">
            <a:avLst/>
          </a:prstGeom>
          <a:noFill/>
          <a:ln/>
        </p:spPr>
        <p:txBody>
          <a:bodyPr wrap="square" lIns="25400" tIns="25400" rIns="25400" bIns="25400" rtlCol="0" anchor="b"/>
          <a:lstStyle/>
          <a:p>
            <a:pPr algn="ctr" indent="0" marL="0">
              <a:buNone/>
            </a:pPr>
            <a:r>
              <a:rPr lang="en-US" sz="950" dirty="0">
                <a:solidFill>
                  <a:srgbClr val="E8ECF5"/>
                </a:solidFill>
                <a:latin typeface="Segoe UI" pitchFamily="34" charset="0"/>
                <a:ea typeface="Segoe UI" pitchFamily="34" charset="-122"/>
                <a:cs typeface="Segoe UI" pitchFamily="34" charset="-120"/>
              </a:rPr>
              <a:t>3. callback?code&amp;state</a:t>
            </a:r>
            <a:endParaRPr lang="en-US" sz="950" dirty="0"/>
          </a:p>
        </p:txBody>
      </p:sp>
      <p:sp>
        <p:nvSpPr>
          <p:cNvPr id="18" name="Shape 16"/>
          <p:cNvSpPr/>
          <p:nvPr/>
        </p:nvSpPr>
        <p:spPr>
          <a:xfrm>
            <a:off x="8572500" y="3297582"/>
            <a:ext cx="2087880" cy="0"/>
          </a:xfrm>
          <a:prstGeom prst="line">
            <a:avLst/>
          </a:prstGeom>
          <a:noFill/>
          <a:ln w="19050">
            <a:solidFill>
              <a:srgbClr val="B5A5FF"/>
            </a:solidFill>
            <a:prstDash val="solid"/>
            <a:tailEnd type="triangle"/>
          </a:ln>
        </p:spPr>
      </p:sp>
      <p:sp>
        <p:nvSpPr>
          <p:cNvPr id="19" name="Text 17"/>
          <p:cNvSpPr/>
          <p:nvPr/>
        </p:nvSpPr>
        <p:spPr>
          <a:xfrm>
            <a:off x="8618220" y="3014118"/>
            <a:ext cx="1996440" cy="256032"/>
          </a:xfrm>
          <a:prstGeom prst="rect">
            <a:avLst/>
          </a:prstGeom>
          <a:noFill/>
          <a:ln/>
        </p:spPr>
        <p:txBody>
          <a:bodyPr wrap="square" lIns="25400" tIns="25400" rIns="25400" bIns="25400" rtlCol="0" anchor="b"/>
          <a:lstStyle/>
          <a:p>
            <a:pPr algn="ctr" indent="0" marL="0">
              <a:buNone/>
            </a:pPr>
            <a:r>
              <a:rPr lang="en-US" sz="950" dirty="0">
                <a:solidFill>
                  <a:srgbClr val="E8ECF5"/>
                </a:solidFill>
                <a:latin typeface="Segoe UI" pitchFamily="34" charset="0"/>
                <a:ea typeface="Segoe UI" pitchFamily="34" charset="-122"/>
                <a:cs typeface="Segoe UI" pitchFamily="34" charset="-120"/>
              </a:rPr>
              <a:t>4. /token: code + verifier</a:t>
            </a:r>
            <a:endParaRPr lang="en-US" sz="950" dirty="0"/>
          </a:p>
        </p:txBody>
      </p:sp>
      <p:sp>
        <p:nvSpPr>
          <p:cNvPr id="20" name="Shape 18"/>
          <p:cNvSpPr/>
          <p:nvPr/>
        </p:nvSpPr>
        <p:spPr>
          <a:xfrm flipH="1">
            <a:off x="8572500" y="3657856"/>
            <a:ext cx="2087880" cy="0"/>
          </a:xfrm>
          <a:prstGeom prst="line">
            <a:avLst/>
          </a:prstGeom>
          <a:noFill/>
          <a:ln w="19050">
            <a:solidFill>
              <a:srgbClr val="6EE7B7"/>
            </a:solidFill>
            <a:prstDash val="dash"/>
            <a:tailEnd type="triangle"/>
          </a:ln>
        </p:spPr>
      </p:sp>
      <p:sp>
        <p:nvSpPr>
          <p:cNvPr id="21" name="Text 19"/>
          <p:cNvSpPr/>
          <p:nvPr/>
        </p:nvSpPr>
        <p:spPr>
          <a:xfrm>
            <a:off x="8618220" y="3374392"/>
            <a:ext cx="1996440" cy="256032"/>
          </a:xfrm>
          <a:prstGeom prst="rect">
            <a:avLst/>
          </a:prstGeom>
          <a:noFill/>
          <a:ln/>
        </p:spPr>
        <p:txBody>
          <a:bodyPr wrap="square" lIns="25400" tIns="25400" rIns="25400" bIns="25400" rtlCol="0" anchor="b"/>
          <a:lstStyle/>
          <a:p>
            <a:pPr algn="ctr" indent="0" marL="0">
              <a:buNone/>
            </a:pPr>
            <a:r>
              <a:rPr lang="en-US" sz="950" dirty="0">
                <a:solidFill>
                  <a:srgbClr val="E8ECF5"/>
                </a:solidFill>
                <a:latin typeface="Segoe UI" pitchFamily="34" charset="0"/>
                <a:ea typeface="Segoe UI" pitchFamily="34" charset="-122"/>
                <a:cs typeface="Segoe UI" pitchFamily="34" charset="-120"/>
              </a:rPr>
              <a:t>5. ID token + access token</a:t>
            </a:r>
            <a:endParaRPr lang="en-US" sz="950" dirty="0"/>
          </a:p>
        </p:txBody>
      </p:sp>
      <p:sp>
        <p:nvSpPr>
          <p:cNvPr id="22" name="Text 20"/>
          <p:cNvSpPr/>
          <p:nvPr/>
        </p:nvSpPr>
        <p:spPr>
          <a:xfrm>
            <a:off x="5440680" y="3886200"/>
            <a:ext cx="6263640" cy="228600"/>
          </a:xfrm>
          <a:prstGeom prst="rect">
            <a:avLst/>
          </a:prstGeom>
          <a:noFill/>
          <a:ln/>
        </p:spPr>
        <p:txBody>
          <a:bodyPr wrap="square" lIns="25400" tIns="25400" rIns="25400" bIns="25400" rtlCol="0" anchor="ctr"/>
          <a:lstStyle/>
          <a:p>
            <a:pPr algn="l" indent="0" marL="0">
              <a:buNone/>
            </a:pPr>
            <a:r>
              <a:rPr lang="en-US" sz="1000" b="1" dirty="0">
                <a:solidFill>
                  <a:srgbClr val="8F9BB3"/>
                </a:solidFill>
                <a:latin typeface="Segoe UI" pitchFamily="34" charset="0"/>
                <a:ea typeface="Segoe UI" pitchFamily="34" charset="-122"/>
                <a:cs typeface="Segoe UI" pitchFamily="34" charset="-120"/>
              </a:rPr>
              <a:t>TỪNG PARAM DÙNG ĐỂ LÀM GÌ</a:t>
            </a:r>
            <a:endParaRPr lang="en-US" sz="1000" dirty="0"/>
          </a:p>
        </p:txBody>
      </p:sp>
      <p:sp>
        <p:nvSpPr>
          <p:cNvPr id="23" name="Text 21"/>
          <p:cNvSpPr/>
          <p:nvPr/>
        </p:nvSpPr>
        <p:spPr>
          <a:xfrm>
            <a:off x="5440680" y="4160520"/>
            <a:ext cx="1497330" cy="1280160"/>
          </a:xfrm>
          <a:prstGeom prst="roundRect">
            <a:avLst>
              <a:gd name="adj" fmla="val 5714"/>
            </a:avLst>
          </a:prstGeom>
          <a:solidFill>
            <a:srgbClr val="182238"/>
          </a:solidFill>
          <a:ln w="12700">
            <a:solidFill>
              <a:srgbClr val="B5A5FF"/>
            </a:solidFill>
            <a:prstDash val="solid"/>
          </a:ln>
        </p:spPr>
        <p:txBody>
          <a:bodyPr wrap="square" lIns="76200" tIns="76200" rIns="76200" bIns="76200" rtlCol="0" anchor="ctr"/>
          <a:lstStyle/>
          <a:p>
            <a:pPr algn="l" indent="0" marL="0">
              <a:buNone/>
            </a:pPr>
            <a:r>
              <a:rPr lang="en-US" sz="1200" b="1" dirty="0">
                <a:solidFill>
                  <a:srgbClr val="B5A5FF"/>
                </a:solidFill>
                <a:latin typeface="Segoe UI" pitchFamily="34" charset="0"/>
                <a:ea typeface="Segoe UI" pitchFamily="34" charset="-122"/>
                <a:cs typeface="Segoe UI" pitchFamily="34" charset="-120"/>
              </a:rPr>
              <a:t>state</a:t>
            </a:r>
            <a:endParaRPr lang="en-US" sz="1200" dirty="0"/>
          </a:p>
          <a:p>
            <a:pPr algn="l" indent="0" marL="0">
              <a:buNone/>
            </a:pPr>
            <a:r>
              <a:rPr lang="en-US" sz="1000" dirty="0">
                <a:solidFill>
                  <a:srgbClr val="E8ECF5"/>
                </a:solidFill>
                <a:latin typeface="Segoe UI" pitchFamily="34" charset="0"/>
                <a:ea typeface="Segoe UI" pitchFamily="34" charset="-122"/>
                <a:cs typeface="Segoe UI" pitchFamily="34" charset="-120"/>
              </a:rPr>
              <a:t>Khớp callback với lần bấm login này.</a:t>
            </a:r>
            <a:endParaRPr lang="en-US" sz="1200" dirty="0"/>
          </a:p>
          <a:p>
            <a:pPr algn="l" indent="0" marL="0">
              <a:buNone/>
            </a:pPr>
            <a:r>
              <a:rPr lang="en-US" sz="1000" dirty="0">
                <a:solidFill>
                  <a:srgbClr val="E8ECF5"/>
                </a:solidFill>
                <a:latin typeface="Segoe UI" pitchFamily="34" charset="0"/>
                <a:ea typeface="Segoe UI" pitchFamily="34" charset="-122"/>
                <a:cs typeface="Segoe UI" pitchFamily="34" charset="-120"/>
              </a:rPr>
              <a:t>Chống CSRF trên redirect.</a:t>
            </a:r>
            <a:endParaRPr lang="en-US" sz="1200" dirty="0"/>
          </a:p>
        </p:txBody>
      </p:sp>
      <p:sp>
        <p:nvSpPr>
          <p:cNvPr id="24" name="Text 22"/>
          <p:cNvSpPr/>
          <p:nvPr/>
        </p:nvSpPr>
        <p:spPr>
          <a:xfrm>
            <a:off x="7029450" y="4160520"/>
            <a:ext cx="1497330" cy="1280160"/>
          </a:xfrm>
          <a:prstGeom prst="roundRect">
            <a:avLst>
              <a:gd name="adj" fmla="val 5714"/>
            </a:avLst>
          </a:prstGeom>
          <a:solidFill>
            <a:srgbClr val="182238"/>
          </a:solidFill>
          <a:ln w="12700">
            <a:solidFill>
              <a:srgbClr val="7DB3FF"/>
            </a:solidFill>
            <a:prstDash val="solid"/>
          </a:ln>
        </p:spPr>
        <p:txBody>
          <a:bodyPr wrap="square" lIns="76200" tIns="76200" rIns="76200" bIns="76200" rtlCol="0" anchor="ctr"/>
          <a:lstStyle/>
          <a:p>
            <a:pPr algn="l" indent="0" marL="0">
              <a:buNone/>
            </a:pPr>
            <a:r>
              <a:rPr lang="en-US" sz="1200" b="1" dirty="0">
                <a:solidFill>
                  <a:srgbClr val="7DB3FF"/>
                </a:solidFill>
                <a:latin typeface="Segoe UI" pitchFamily="34" charset="0"/>
                <a:ea typeface="Segoe UI" pitchFamily="34" charset="-122"/>
                <a:cs typeface="Segoe UI" pitchFamily="34" charset="-120"/>
              </a:rPr>
              <a:t>nonce</a:t>
            </a:r>
            <a:endParaRPr lang="en-US" sz="1200" dirty="0"/>
          </a:p>
          <a:p>
            <a:pPr algn="l" indent="0" marL="0">
              <a:buNone/>
            </a:pPr>
            <a:r>
              <a:rPr lang="en-US" sz="1000" dirty="0">
                <a:solidFill>
                  <a:srgbClr val="E8ECF5"/>
                </a:solidFill>
                <a:latin typeface="Segoe UI" pitchFamily="34" charset="0"/>
                <a:ea typeface="Segoe UI" pitchFamily="34" charset="-122"/>
                <a:cs typeface="Segoe UI" pitchFamily="34" charset="-120"/>
              </a:rPr>
              <a:t>Phải có trong ID token.</a:t>
            </a:r>
            <a:endParaRPr lang="en-US" sz="1200" dirty="0"/>
          </a:p>
          <a:p>
            <a:pPr algn="l" indent="0" marL="0">
              <a:buNone/>
            </a:pPr>
            <a:r>
              <a:rPr lang="en-US" sz="1000" dirty="0">
                <a:solidFill>
                  <a:srgbClr val="E8ECF5"/>
                </a:solidFill>
                <a:latin typeface="Segoe UI" pitchFamily="34" charset="0"/>
                <a:ea typeface="Segoe UI" pitchFamily="34" charset="-122"/>
                <a:cs typeface="Segoe UI" pitchFamily="34" charset="-120"/>
              </a:rPr>
              <a:t>Chống replay ID token.</a:t>
            </a:r>
            <a:endParaRPr lang="en-US" sz="1200" dirty="0"/>
          </a:p>
        </p:txBody>
      </p:sp>
      <p:sp>
        <p:nvSpPr>
          <p:cNvPr id="25" name="Text 23"/>
          <p:cNvSpPr/>
          <p:nvPr/>
        </p:nvSpPr>
        <p:spPr>
          <a:xfrm>
            <a:off x="8618220" y="4160520"/>
            <a:ext cx="1497330" cy="1280160"/>
          </a:xfrm>
          <a:prstGeom prst="roundRect">
            <a:avLst>
              <a:gd name="adj" fmla="val 5714"/>
            </a:avLst>
          </a:prstGeom>
          <a:solidFill>
            <a:srgbClr val="182238"/>
          </a:solidFill>
          <a:ln w="12700">
            <a:solidFill>
              <a:srgbClr val="6EE7B7"/>
            </a:solidFill>
            <a:prstDash val="solid"/>
          </a:ln>
        </p:spPr>
        <p:txBody>
          <a:bodyPr wrap="square" lIns="76200" tIns="76200" rIns="76200" bIns="76200" rtlCol="0" anchor="ctr"/>
          <a:lstStyle/>
          <a:p>
            <a:pPr algn="l" indent="0" marL="0">
              <a:buNone/>
            </a:pPr>
            <a:r>
              <a:rPr lang="en-US" sz="1200" b="1" dirty="0">
                <a:solidFill>
                  <a:srgbClr val="6EE7B7"/>
                </a:solidFill>
                <a:latin typeface="Segoe UI" pitchFamily="34" charset="0"/>
                <a:ea typeface="Segoe UI" pitchFamily="34" charset="-122"/>
                <a:cs typeface="Segoe UI" pitchFamily="34" charset="-120"/>
              </a:rPr>
              <a:t>PKCE</a:t>
            </a:r>
            <a:endParaRPr lang="en-US" sz="1200" dirty="0"/>
          </a:p>
          <a:p>
            <a:pPr algn="l" indent="0" marL="0">
              <a:buNone/>
            </a:pPr>
            <a:r>
              <a:rPr lang="en-US" sz="1000" dirty="0">
                <a:solidFill>
                  <a:srgbClr val="E8ECF5"/>
                </a:solidFill>
                <a:latin typeface="Segoe UI" pitchFamily="34" charset="0"/>
                <a:ea typeface="Segoe UI" pitchFamily="34" charset="-122"/>
                <a:cs typeface="Segoe UI" pitchFamily="34" charset="-120"/>
              </a:rPr>
              <a:t>challenge lên URL; verifier giữ bí mật.</a:t>
            </a:r>
            <a:endParaRPr lang="en-US" sz="1200" dirty="0"/>
          </a:p>
          <a:p>
            <a:pPr algn="l" indent="0" marL="0">
              <a:buNone/>
            </a:pPr>
            <a:r>
              <a:rPr lang="en-US" sz="1000" dirty="0">
                <a:solidFill>
                  <a:srgbClr val="E8ECF5"/>
                </a:solidFill>
                <a:latin typeface="Segoe UI" pitchFamily="34" charset="0"/>
                <a:ea typeface="Segoe UI" pitchFamily="34" charset="-122"/>
                <a:cs typeface="Segoe UI" pitchFamily="34" charset="-120"/>
              </a:rPr>
              <a:t>Code bị cắp cũng đổi token không được.</a:t>
            </a:r>
            <a:endParaRPr lang="en-US" sz="1200" dirty="0"/>
          </a:p>
        </p:txBody>
      </p:sp>
      <p:sp>
        <p:nvSpPr>
          <p:cNvPr id="26" name="Text 24"/>
          <p:cNvSpPr/>
          <p:nvPr/>
        </p:nvSpPr>
        <p:spPr>
          <a:xfrm>
            <a:off x="10206990" y="4160520"/>
            <a:ext cx="1497330" cy="1280160"/>
          </a:xfrm>
          <a:prstGeom prst="roundRect">
            <a:avLst>
              <a:gd name="adj" fmla="val 5714"/>
            </a:avLst>
          </a:prstGeom>
          <a:solidFill>
            <a:srgbClr val="182238"/>
          </a:solidFill>
          <a:ln w="12700">
            <a:solidFill>
              <a:srgbClr val="F5A65B"/>
            </a:solidFill>
            <a:prstDash val="solid"/>
          </a:ln>
        </p:spPr>
        <p:txBody>
          <a:bodyPr wrap="square" lIns="76200" tIns="76200" rIns="76200" bIns="76200" rtlCol="0" anchor="ctr"/>
          <a:lstStyle/>
          <a:p>
            <a:pPr algn="l" indent="0" marL="0">
              <a:buNone/>
            </a:pPr>
            <a:r>
              <a:rPr lang="en-US" sz="1200" b="1" dirty="0">
                <a:solidFill>
                  <a:srgbClr val="F5A65B"/>
                </a:solidFill>
                <a:latin typeface="Segoe UI" pitchFamily="34" charset="0"/>
                <a:ea typeface="Segoe UI" pitchFamily="34" charset="-122"/>
                <a:cs typeface="Segoe UI" pitchFamily="34" charset="-120"/>
              </a:rPr>
              <a:t>redirect_uri</a:t>
            </a:r>
            <a:endParaRPr lang="en-US" sz="1200" dirty="0"/>
          </a:p>
          <a:p>
            <a:pPr algn="l" indent="0" marL="0">
              <a:buNone/>
            </a:pPr>
            <a:r>
              <a:rPr lang="en-US" sz="1000" dirty="0">
                <a:solidFill>
                  <a:srgbClr val="E8ECF5"/>
                </a:solidFill>
                <a:latin typeface="Segoe UI" pitchFamily="34" charset="0"/>
                <a:ea typeface="Segoe UI" pitchFamily="34" charset="-122"/>
                <a:cs typeface="Segoe UI" pitchFamily="34" charset="-120"/>
              </a:rPr>
              <a:t>Chỉ nhận callback đúng URL</a:t>
            </a:r>
            <a:endParaRPr lang="en-US" sz="1200" dirty="0"/>
          </a:p>
          <a:p>
            <a:pPr algn="l" indent="0" marL="0">
              <a:buNone/>
            </a:pPr>
            <a:r>
              <a:rPr lang="en-US" sz="1000" dirty="0">
                <a:solidFill>
                  <a:srgbClr val="E8ECF5"/>
                </a:solidFill>
                <a:latin typeface="Segoe UI" pitchFamily="34" charset="0"/>
                <a:ea typeface="Segoe UI" pitchFamily="34" charset="-122"/>
                <a:cs typeface="Segoe UI" pitchFamily="34" charset="-120"/>
              </a:rPr>
              <a:t>đã đăng ký với IdP.</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OAUTH / OIDC / SAML  ·  SLIDE 20/27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OIDC Demo — Login qua Identity Provider</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IdP = nơi user đăng nhập (Google, Okta…). DevHub không giữ mật khẩu đó.</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Callback mang code + state về DevHub.</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DevHub kiểm tra đủ rồi mới tin lần login.</a:t>
            </a:r>
            <a:endParaRPr lang="en-US" sz="1800" dirty="0"/>
          </a:p>
          <a:p>
            <a:pPr algn="l" marL="279400" indent="-279400">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E8ECF5"/>
                </a:solidFill>
                <a:latin typeface="Segoe UI" pitchFamily="34" charset="0"/>
                <a:ea typeface="Segoe UI" pitchFamily="34" charset="-122"/>
                <a:cs typeface="Segoe UI" pitchFamily="34" charset="-120"/>
              </a:rPr>
              <a:t>DevHub tạo session riêng — không dùng token IdP để gọi API nội bộ.</a:t>
            </a:r>
            <a:endParaRPr lang="en-US" sz="1800" dirty="0"/>
          </a:p>
        </p:txBody>
      </p:sp>
      <p:sp>
        <p:nvSpPr>
          <p:cNvPr id="7" name="Text 5"/>
          <p:cNvSpPr/>
          <p:nvPr/>
        </p:nvSpPr>
        <p:spPr>
          <a:xfrm>
            <a:off x="5440680" y="1463040"/>
            <a:ext cx="1371600" cy="914400"/>
          </a:xfrm>
          <a:prstGeom prst="roundRect">
            <a:avLst>
              <a:gd name="adj" fmla="val 8000"/>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1200" b="1" dirty="0">
                <a:solidFill>
                  <a:srgbClr val="B5A5FF"/>
                </a:solidFill>
                <a:latin typeface="Segoe UI" pitchFamily="34" charset="0"/>
                <a:ea typeface="Segoe UI" pitchFamily="34" charset="-122"/>
                <a:cs typeface="Segoe UI" pitchFamily="34" charset="-120"/>
              </a:rPr>
              <a:t>DevHub</a:t>
            </a:r>
            <a:endParaRPr lang="en-US" sz="1200" dirty="0"/>
          </a:p>
          <a:p>
            <a:pPr algn="ctr" indent="0" marL="0">
              <a:buNone/>
            </a:pPr>
            <a:r>
              <a:rPr lang="en-US" sz="1000" dirty="0">
                <a:solidFill>
                  <a:srgbClr val="E8ECF5"/>
                </a:solidFill>
                <a:latin typeface="Segoe UI" pitchFamily="34" charset="0"/>
                <a:ea typeface="Segoe UI" pitchFamily="34" charset="-122"/>
                <a:cs typeface="Segoe UI" pitchFamily="34" charset="-120"/>
              </a:rPr>
              <a:t>sinh state, nonce, PKCE</a:t>
            </a:r>
            <a:endParaRPr lang="en-US" sz="1200" dirty="0"/>
          </a:p>
        </p:txBody>
      </p:sp>
      <p:sp>
        <p:nvSpPr>
          <p:cNvPr id="8" name="Shape 6"/>
          <p:cNvSpPr/>
          <p:nvPr/>
        </p:nvSpPr>
        <p:spPr>
          <a:xfrm>
            <a:off x="6812280" y="1920240"/>
            <a:ext cx="259080" cy="0"/>
          </a:xfrm>
          <a:prstGeom prst="line">
            <a:avLst/>
          </a:prstGeom>
          <a:noFill/>
          <a:ln w="19050">
            <a:solidFill>
              <a:srgbClr val="B5A5FF"/>
            </a:solidFill>
            <a:prstDash val="solid"/>
            <a:tailEnd type="triangle"/>
          </a:ln>
        </p:spPr>
      </p:sp>
      <p:sp>
        <p:nvSpPr>
          <p:cNvPr id="9" name="Text 7"/>
          <p:cNvSpPr/>
          <p:nvPr/>
        </p:nvSpPr>
        <p:spPr>
          <a:xfrm>
            <a:off x="7071360" y="1463040"/>
            <a:ext cx="1371600" cy="914400"/>
          </a:xfrm>
          <a:prstGeom prst="roundRect">
            <a:avLst>
              <a:gd name="adj" fmla="val 8000"/>
            </a:avLst>
          </a:prstGeom>
          <a:solidFill>
            <a:srgbClr val="182238"/>
          </a:solidFill>
          <a:ln w="12700">
            <a:solidFill>
              <a:srgbClr val="7DB3FF"/>
            </a:solidFill>
            <a:prstDash val="solid"/>
          </a:ln>
        </p:spPr>
        <p:txBody>
          <a:bodyPr wrap="square" lIns="76200" tIns="76200" rIns="76200" bIns="76200" rtlCol="0" anchor="ctr"/>
          <a:lstStyle/>
          <a:p>
            <a:pPr algn="ctr" indent="0" marL="0">
              <a:buNone/>
            </a:pPr>
            <a:r>
              <a:rPr lang="en-US" sz="1200" b="1" dirty="0">
                <a:solidFill>
                  <a:srgbClr val="7DB3FF"/>
                </a:solidFill>
                <a:latin typeface="Segoe UI" pitchFamily="34" charset="0"/>
                <a:ea typeface="Segoe UI" pitchFamily="34" charset="-122"/>
                <a:cs typeface="Segoe UI" pitchFamily="34" charset="-120"/>
              </a:rPr>
              <a:t>Identity Provider</a:t>
            </a:r>
            <a:endParaRPr lang="en-US" sz="1200" dirty="0"/>
          </a:p>
          <a:p>
            <a:pPr algn="ctr" indent="0" marL="0">
              <a:buNone/>
            </a:pPr>
            <a:r>
              <a:rPr lang="en-US" sz="1000" dirty="0">
                <a:solidFill>
                  <a:srgbClr val="E8ECF5"/>
                </a:solidFill>
                <a:latin typeface="Segoe UI" pitchFamily="34" charset="0"/>
                <a:ea typeface="Segoe UI" pitchFamily="34" charset="-122"/>
                <a:cs typeface="Segoe UI" pitchFamily="34" charset="-120"/>
              </a:rPr>
              <a:t>user đăng nhập</a:t>
            </a:r>
            <a:endParaRPr lang="en-US" sz="1200" dirty="0"/>
          </a:p>
        </p:txBody>
      </p:sp>
      <p:sp>
        <p:nvSpPr>
          <p:cNvPr id="10" name="Shape 8"/>
          <p:cNvSpPr/>
          <p:nvPr/>
        </p:nvSpPr>
        <p:spPr>
          <a:xfrm>
            <a:off x="8442960" y="1920240"/>
            <a:ext cx="259080" cy="0"/>
          </a:xfrm>
          <a:prstGeom prst="line">
            <a:avLst/>
          </a:prstGeom>
          <a:noFill/>
          <a:ln w="19050">
            <a:solidFill>
              <a:srgbClr val="7DB3FF"/>
            </a:solidFill>
            <a:prstDash val="solid"/>
            <a:tailEnd type="triangle"/>
          </a:ln>
        </p:spPr>
      </p:sp>
      <p:sp>
        <p:nvSpPr>
          <p:cNvPr id="11" name="Text 9"/>
          <p:cNvSpPr/>
          <p:nvPr/>
        </p:nvSpPr>
        <p:spPr>
          <a:xfrm>
            <a:off x="8702040" y="1463040"/>
            <a:ext cx="1371600" cy="914400"/>
          </a:xfrm>
          <a:prstGeom prst="roundRect">
            <a:avLst>
              <a:gd name="adj" fmla="val 8000"/>
            </a:avLst>
          </a:prstGeom>
          <a:solidFill>
            <a:srgbClr val="182238"/>
          </a:solidFill>
          <a:ln w="12700">
            <a:solidFill>
              <a:srgbClr val="7DB3FF"/>
            </a:solidFill>
            <a:prstDash val="solid"/>
          </a:ln>
        </p:spPr>
        <p:txBody>
          <a:bodyPr wrap="square" lIns="76200" tIns="76200" rIns="76200" bIns="76200" rtlCol="0" anchor="ctr"/>
          <a:lstStyle/>
          <a:p>
            <a:pPr algn="ctr" indent="0" marL="0">
              <a:buNone/>
            </a:pPr>
            <a:r>
              <a:rPr lang="en-US" sz="1200" b="1" dirty="0">
                <a:solidFill>
                  <a:srgbClr val="7DB3FF"/>
                </a:solidFill>
                <a:latin typeface="Segoe UI" pitchFamily="34" charset="0"/>
                <a:ea typeface="Segoe UI" pitchFamily="34" charset="-122"/>
                <a:cs typeface="Segoe UI" pitchFamily="34" charset="-120"/>
              </a:rPr>
              <a:t>Callback</a:t>
            </a:r>
            <a:endParaRPr lang="en-US" sz="1200" dirty="0"/>
          </a:p>
          <a:p>
            <a:pPr algn="ctr" indent="0" marL="0">
              <a:buNone/>
            </a:pPr>
            <a:r>
              <a:rPr lang="en-US" sz="1000" dirty="0">
                <a:solidFill>
                  <a:srgbClr val="E8ECF5"/>
                </a:solidFill>
                <a:latin typeface="Segoe UI" pitchFamily="34" charset="0"/>
                <a:ea typeface="Segoe UI" pitchFamily="34" charset="-122"/>
                <a:cs typeface="Segoe UI" pitchFamily="34" charset="-120"/>
              </a:rPr>
              <a:t>code + state</a:t>
            </a:r>
            <a:endParaRPr lang="en-US" sz="1200" dirty="0"/>
          </a:p>
        </p:txBody>
      </p:sp>
      <p:sp>
        <p:nvSpPr>
          <p:cNvPr id="12" name="Shape 10"/>
          <p:cNvSpPr/>
          <p:nvPr/>
        </p:nvSpPr>
        <p:spPr>
          <a:xfrm>
            <a:off x="10073640" y="1920240"/>
            <a:ext cx="259080" cy="0"/>
          </a:xfrm>
          <a:prstGeom prst="line">
            <a:avLst/>
          </a:prstGeom>
          <a:noFill/>
          <a:ln w="19050">
            <a:solidFill>
              <a:srgbClr val="7DB3FF"/>
            </a:solidFill>
            <a:prstDash val="solid"/>
            <a:tailEnd type="triangle"/>
          </a:ln>
        </p:spPr>
      </p:sp>
      <p:sp>
        <p:nvSpPr>
          <p:cNvPr id="13" name="Text 11"/>
          <p:cNvSpPr/>
          <p:nvPr/>
        </p:nvSpPr>
        <p:spPr>
          <a:xfrm>
            <a:off x="10332720" y="1463040"/>
            <a:ext cx="1371600" cy="914400"/>
          </a:xfrm>
          <a:prstGeom prst="roundRect">
            <a:avLst>
              <a:gd name="adj" fmla="val 8000"/>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200" b="1" dirty="0">
                <a:solidFill>
                  <a:srgbClr val="6EE7B7"/>
                </a:solidFill>
                <a:latin typeface="Segoe UI" pitchFamily="34" charset="0"/>
                <a:ea typeface="Segoe UI" pitchFamily="34" charset="-122"/>
                <a:cs typeface="Segoe UI" pitchFamily="34" charset="-120"/>
              </a:rPr>
              <a:t>DevHub</a:t>
            </a:r>
            <a:endParaRPr lang="en-US" sz="1200" dirty="0"/>
          </a:p>
          <a:p>
            <a:pPr algn="ctr" indent="0" marL="0">
              <a:buNone/>
            </a:pPr>
            <a:r>
              <a:rPr lang="en-US" sz="1000" dirty="0">
                <a:solidFill>
                  <a:srgbClr val="E8ECF5"/>
                </a:solidFill>
                <a:latin typeface="Segoe UI" pitchFamily="34" charset="0"/>
                <a:ea typeface="Segoe UI" pitchFamily="34" charset="-122"/>
                <a:cs typeface="Segoe UI" pitchFamily="34" charset="-120"/>
              </a:rPr>
              <a:t>kiểm tra, tạo session</a:t>
            </a:r>
            <a:endParaRPr lang="en-US" sz="1200" dirty="0"/>
          </a:p>
        </p:txBody>
      </p:sp>
      <p:sp>
        <p:nvSpPr>
          <p:cNvPr id="14" name="Text 12"/>
          <p:cNvSpPr/>
          <p:nvPr/>
        </p:nvSpPr>
        <p:spPr>
          <a:xfrm>
            <a:off x="5440680" y="2697480"/>
            <a:ext cx="6263640" cy="320040"/>
          </a:xfrm>
          <a:prstGeom prst="rect">
            <a:avLst/>
          </a:prstGeom>
          <a:noFill/>
          <a:ln/>
        </p:spPr>
        <p:txBody>
          <a:bodyPr wrap="square" lIns="25400" tIns="25400" rIns="25400" bIns="25400" rtlCol="0" anchor="ctr"/>
          <a:lstStyle/>
          <a:p>
            <a:pPr algn="l" indent="0" marL="0">
              <a:buNone/>
            </a:pPr>
            <a:r>
              <a:rPr lang="en-US" sz="1100" b="1" dirty="0">
                <a:solidFill>
                  <a:srgbClr val="8F9BB3"/>
                </a:solidFill>
                <a:latin typeface="Segoe UI" pitchFamily="34" charset="0"/>
                <a:ea typeface="Segoe UI" pitchFamily="34" charset="-122"/>
                <a:cs typeface="Segoe UI" pitchFamily="34" charset="-120"/>
              </a:rPr>
              <a:t>DevHub chỉ tin lần login khi đạt đủ:</a:t>
            </a:r>
            <a:endParaRPr lang="en-US" sz="1100" dirty="0"/>
          </a:p>
        </p:txBody>
      </p:sp>
      <p:sp>
        <p:nvSpPr>
          <p:cNvPr id="15" name="Text 13"/>
          <p:cNvSpPr/>
          <p:nvPr/>
        </p:nvSpPr>
        <p:spPr>
          <a:xfrm>
            <a:off x="5440680" y="3063240"/>
            <a:ext cx="816429"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050" b="1" dirty="0">
                <a:solidFill>
                  <a:srgbClr val="6EE7B7"/>
                </a:solidFill>
                <a:latin typeface="Segoe UI" pitchFamily="34" charset="0"/>
                <a:ea typeface="Segoe UI" pitchFamily="34" charset="-122"/>
                <a:cs typeface="Segoe UI" pitchFamily="34" charset="-120"/>
              </a:rPr>
              <a:t>✓ state</a:t>
            </a:r>
            <a:endParaRPr lang="en-US" sz="1200" dirty="0"/>
          </a:p>
        </p:txBody>
      </p:sp>
      <p:sp>
        <p:nvSpPr>
          <p:cNvPr id="16" name="Text 14"/>
          <p:cNvSpPr/>
          <p:nvPr/>
        </p:nvSpPr>
        <p:spPr>
          <a:xfrm>
            <a:off x="6348549" y="3063240"/>
            <a:ext cx="816429"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050" b="1" dirty="0">
                <a:solidFill>
                  <a:srgbClr val="6EE7B7"/>
                </a:solidFill>
                <a:latin typeface="Segoe UI" pitchFamily="34" charset="0"/>
                <a:ea typeface="Segoe UI" pitchFamily="34" charset="-122"/>
                <a:cs typeface="Segoe UI" pitchFamily="34" charset="-120"/>
              </a:rPr>
              <a:t>✓ PKCE</a:t>
            </a:r>
            <a:endParaRPr lang="en-US" sz="1200" dirty="0"/>
          </a:p>
        </p:txBody>
      </p:sp>
      <p:sp>
        <p:nvSpPr>
          <p:cNvPr id="17" name="Text 15"/>
          <p:cNvSpPr/>
          <p:nvPr/>
        </p:nvSpPr>
        <p:spPr>
          <a:xfrm>
            <a:off x="7256417" y="3063240"/>
            <a:ext cx="816429"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050" b="1" dirty="0">
                <a:solidFill>
                  <a:srgbClr val="6EE7B7"/>
                </a:solidFill>
                <a:latin typeface="Segoe UI" pitchFamily="34" charset="0"/>
                <a:ea typeface="Segoe UI" pitchFamily="34" charset="-122"/>
                <a:cs typeface="Segoe UI" pitchFamily="34" charset="-120"/>
              </a:rPr>
              <a:t>✓ chữ ký</a:t>
            </a:r>
            <a:endParaRPr lang="en-US" sz="1200" dirty="0"/>
          </a:p>
        </p:txBody>
      </p:sp>
      <p:sp>
        <p:nvSpPr>
          <p:cNvPr id="18" name="Text 16"/>
          <p:cNvSpPr/>
          <p:nvPr/>
        </p:nvSpPr>
        <p:spPr>
          <a:xfrm>
            <a:off x="8164286" y="3063240"/>
            <a:ext cx="816429"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050" b="1" dirty="0">
                <a:solidFill>
                  <a:srgbClr val="6EE7B7"/>
                </a:solidFill>
                <a:latin typeface="Segoe UI" pitchFamily="34" charset="0"/>
                <a:ea typeface="Segoe UI" pitchFamily="34" charset="-122"/>
                <a:cs typeface="Segoe UI" pitchFamily="34" charset="-120"/>
              </a:rPr>
              <a:t>✓ iss</a:t>
            </a:r>
            <a:endParaRPr lang="en-US" sz="1200" dirty="0"/>
          </a:p>
        </p:txBody>
      </p:sp>
      <p:sp>
        <p:nvSpPr>
          <p:cNvPr id="19" name="Text 17"/>
          <p:cNvSpPr/>
          <p:nvPr/>
        </p:nvSpPr>
        <p:spPr>
          <a:xfrm>
            <a:off x="9072154" y="3063240"/>
            <a:ext cx="816429"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050" b="1" dirty="0">
                <a:solidFill>
                  <a:srgbClr val="6EE7B7"/>
                </a:solidFill>
                <a:latin typeface="Segoe UI" pitchFamily="34" charset="0"/>
                <a:ea typeface="Segoe UI" pitchFamily="34" charset="-122"/>
                <a:cs typeface="Segoe UI" pitchFamily="34" charset="-120"/>
              </a:rPr>
              <a:t>✓ aud</a:t>
            </a:r>
            <a:endParaRPr lang="en-US" sz="1200" dirty="0"/>
          </a:p>
        </p:txBody>
      </p:sp>
      <p:sp>
        <p:nvSpPr>
          <p:cNvPr id="20" name="Text 18"/>
          <p:cNvSpPr/>
          <p:nvPr/>
        </p:nvSpPr>
        <p:spPr>
          <a:xfrm>
            <a:off x="9980023" y="3063240"/>
            <a:ext cx="816429"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050" b="1" dirty="0">
                <a:solidFill>
                  <a:srgbClr val="6EE7B7"/>
                </a:solidFill>
                <a:latin typeface="Segoe UI" pitchFamily="34" charset="0"/>
                <a:ea typeface="Segoe UI" pitchFamily="34" charset="-122"/>
                <a:cs typeface="Segoe UI" pitchFamily="34" charset="-120"/>
              </a:rPr>
              <a:t>✓ exp</a:t>
            </a:r>
            <a:endParaRPr lang="en-US" sz="1200" dirty="0"/>
          </a:p>
        </p:txBody>
      </p:sp>
      <p:sp>
        <p:nvSpPr>
          <p:cNvPr id="21" name="Text 19"/>
          <p:cNvSpPr/>
          <p:nvPr/>
        </p:nvSpPr>
        <p:spPr>
          <a:xfrm>
            <a:off x="10887891" y="3063240"/>
            <a:ext cx="816429"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050" b="1" dirty="0">
                <a:solidFill>
                  <a:srgbClr val="6EE7B7"/>
                </a:solidFill>
                <a:latin typeface="Segoe UI" pitchFamily="34" charset="0"/>
                <a:ea typeface="Segoe UI" pitchFamily="34" charset="-122"/>
                <a:cs typeface="Segoe UI" pitchFamily="34" charset="-120"/>
              </a:rPr>
              <a:t>✓ nonce</a:t>
            </a:r>
            <a:endParaRPr lang="en-US" sz="1200" dirty="0"/>
          </a:p>
        </p:txBody>
      </p:sp>
      <p:sp>
        <p:nvSpPr>
          <p:cNvPr id="22" name="Text 20"/>
          <p:cNvSpPr/>
          <p:nvPr/>
        </p:nvSpPr>
        <p:spPr>
          <a:xfrm>
            <a:off x="5440680" y="3931920"/>
            <a:ext cx="3040380" cy="1005840"/>
          </a:xfrm>
          <a:prstGeom prst="roundRect">
            <a:avLst>
              <a:gd name="adj" fmla="val 7273"/>
            </a:avLst>
          </a:prstGeom>
          <a:solidFill>
            <a:srgbClr val="182238"/>
          </a:solidFill>
          <a:ln w="12700">
            <a:solidFill>
              <a:srgbClr val="6EE7B7"/>
            </a:solidFill>
            <a:prstDash val="solid"/>
          </a:ln>
        </p:spPr>
        <p:txBody>
          <a:bodyPr wrap="square" lIns="76200" tIns="76200" rIns="76200" bIns="76200" rtlCol="0" anchor="ctr"/>
          <a:lstStyle/>
          <a:p>
            <a:pPr algn="l" indent="0" marL="0">
              <a:buNone/>
            </a:pPr>
            <a:r>
              <a:rPr lang="en-US" sz="1200" b="1" dirty="0">
                <a:solidFill>
                  <a:srgbClr val="6EE7B7"/>
                </a:solidFill>
                <a:latin typeface="Segoe UI" pitchFamily="34" charset="0"/>
                <a:ea typeface="Segoe UI" pitchFamily="34" charset="-122"/>
                <a:cs typeface="Segoe UI" pitchFamily="34" charset="-120"/>
              </a:rPr>
              <a:t>Logout khỏi DevHub</a:t>
            </a:r>
            <a:endParaRPr lang="en-US" sz="1200" dirty="0"/>
          </a:p>
          <a:p>
            <a:pPr algn="l" indent="0" marL="0">
              <a:buNone/>
            </a:pPr>
            <a:r>
              <a:rPr lang="en-US" sz="1050" dirty="0">
                <a:solidFill>
                  <a:srgbClr val="E8ECF5"/>
                </a:solidFill>
                <a:latin typeface="Segoe UI" pitchFamily="34" charset="0"/>
                <a:ea typeface="Segoe UI" pitchFamily="34" charset="-122"/>
                <a:cs typeface="Segoe UI" pitchFamily="34" charset="-120"/>
              </a:rPr>
              <a:t>Session của DevHub bị huỷ → API trả 401.</a:t>
            </a:r>
            <a:endParaRPr lang="en-US" sz="1200" dirty="0"/>
          </a:p>
        </p:txBody>
      </p:sp>
      <p:sp>
        <p:nvSpPr>
          <p:cNvPr id="23" name="Text 21"/>
          <p:cNvSpPr/>
          <p:nvPr/>
        </p:nvSpPr>
        <p:spPr>
          <a:xfrm>
            <a:off x="8663940" y="3931920"/>
            <a:ext cx="3040380" cy="1005840"/>
          </a:xfrm>
          <a:prstGeom prst="roundRect">
            <a:avLst>
              <a:gd name="adj" fmla="val 7273"/>
            </a:avLst>
          </a:prstGeom>
          <a:solidFill>
            <a:srgbClr val="182238"/>
          </a:solidFill>
          <a:ln w="12700">
            <a:solidFill>
              <a:srgbClr val="F5A65B"/>
            </a:solidFill>
            <a:prstDash val="solid"/>
          </a:ln>
        </p:spPr>
        <p:txBody>
          <a:bodyPr wrap="square" lIns="76200" tIns="76200" rIns="76200" bIns="76200" rtlCol="0" anchor="ctr"/>
          <a:lstStyle/>
          <a:p>
            <a:pPr algn="l" indent="0" marL="0">
              <a:buNone/>
            </a:pPr>
            <a:r>
              <a:rPr lang="en-US" sz="1200" b="1" dirty="0">
                <a:solidFill>
                  <a:srgbClr val="F5A65B"/>
                </a:solidFill>
                <a:latin typeface="Segoe UI" pitchFamily="34" charset="0"/>
                <a:ea typeface="Segoe UI" pitchFamily="34" charset="-122"/>
                <a:cs typeface="Segoe UI" pitchFamily="34" charset="-120"/>
              </a:rPr>
              <a:t>Session ở IdP vẫn còn</a:t>
            </a:r>
            <a:endParaRPr lang="en-US" sz="1200" dirty="0"/>
          </a:p>
          <a:p>
            <a:pPr algn="l" indent="0" marL="0">
              <a:buNone/>
            </a:pPr>
            <a:r>
              <a:rPr lang="en-US" sz="1050" dirty="0">
                <a:solidFill>
                  <a:srgbClr val="E8ECF5"/>
                </a:solidFill>
                <a:latin typeface="Segoe UI" pitchFamily="34" charset="0"/>
                <a:ea typeface="Segoe UI" pitchFamily="34" charset="-122"/>
                <a:cs typeface="Segoe UI" pitchFamily="34" charset="-120"/>
              </a:rPr>
              <a:t>Lần login sau có thể không hỏi lại mật khẩu. Cần logout cả ở IdP.</a:t>
            </a:r>
            <a:endParaRPr lang="en-US" sz="1200" dirty="0"/>
          </a:p>
        </p:txBody>
      </p:sp>
      <p:sp>
        <p:nvSpPr>
          <p:cNvPr id="24" name="Text 22"/>
          <p:cNvSpPr/>
          <p:nvPr/>
        </p:nvSpPr>
        <p:spPr>
          <a:xfrm>
            <a:off x="548640" y="5760720"/>
            <a:ext cx="3566160" cy="566928"/>
          </a:xfrm>
          <a:prstGeom prst="roundRect">
            <a:avLst>
              <a:gd name="adj" fmla="val 12903"/>
            </a:avLst>
          </a:prstGeom>
          <a:solidFill>
            <a:srgbClr val="B5A5FF"/>
          </a:solidFill>
          <a:ln w="12700">
            <a:solidFill>
              <a:srgbClr val="B5A5FF"/>
            </a:solidFill>
          </a:ln>
        </p:spPr>
        <p:txBody>
          <a:bodyPr wrap="square" rtlCol="0" anchor="ctr"/>
          <a:lstStyle/>
          <a:p>
            <a:pPr algn="ctr" indent="0" marL="0">
              <a:buNone/>
            </a:pPr>
            <a:r>
              <a:rPr lang="en-US" sz="1500" b="1" u="sng" dirty="0">
                <a:solidFill>
                  <a:srgbClr val="111329"/>
                </a:solidFill>
                <a:latin typeface="Segoe UI" pitchFamily="34" charset="0"/>
                <a:ea typeface="Segoe UI" pitchFamily="34" charset="-122"/>
                <a:cs typeface="Segoe UI" pitchFamily="34" charset="-120"/>
                <a:hlinkClick r:id="rId1" invalidUrl="" action="" tgtFrame="" tooltip="http://localhost:5173/demo/oidc" history="1" highlightClick="0" endSnd="0">
                  <a:extLst>
                    <a:ext uri="{A12FA001-AC4F-418D-AE19-62706E023703}">
                      <ahyp:hlinkClr xmlns:ahyp="http://schemas.microsoft.com/office/drawing/2018/hyperlinkcolor" val="tx"/>
                    </a:ext>
                  </a:extLst>
                </a:hlinkClick>
              </a:rPr>
              <a:t>Mở OIDC Demo ↗</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OAUTH / OIDC / SAML  ·  SLIDE 21/27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SAML — Assertion XML vs ID token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Assertion = “giấy IdP xác nhận: user X đã login, dành cho app Y”.</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Cùng việc với ID token của OIDC — khác “bao bì”: XML đã ký vs JWT.</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SAML: browser POST XML về ACS. OIDC: đổi code lấy JWT.</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Sau khi tin chứng từ → app tạo session riêng (giống nhau).</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IdP đã cấu hình SAML → dùng SAML; app mới → ưu tiên OIDC.</a:t>
            </a:r>
            <a:endParaRPr lang="en-US" sz="1600" dirty="0"/>
          </a:p>
        </p:txBody>
      </p:sp>
      <p:sp>
        <p:nvSpPr>
          <p:cNvPr id="7" name="Text 5"/>
          <p:cNvSpPr/>
          <p:nvPr/>
        </p:nvSpPr>
        <p:spPr>
          <a:xfrm>
            <a:off x="5440680" y="1463040"/>
            <a:ext cx="6263640" cy="868680"/>
          </a:xfrm>
          <a:prstGeom prst="roundRect">
            <a:avLst>
              <a:gd name="adj" fmla="val 8421"/>
            </a:avLst>
          </a:prstGeom>
          <a:solidFill>
            <a:srgbClr val="182238"/>
          </a:solidFill>
          <a:ln w="12700">
            <a:solidFill>
              <a:srgbClr val="6EE7B7"/>
            </a:solidFill>
            <a:prstDash val="solid"/>
          </a:ln>
        </p:spPr>
        <p:txBody>
          <a:bodyPr wrap="square" lIns="76200" tIns="76200" rIns="76200" bIns="76200" rtlCol="0" anchor="ctr"/>
          <a:lstStyle/>
          <a:p>
            <a:pPr algn="l" indent="0" marL="0">
              <a:buNone/>
            </a:pPr>
            <a:r>
              <a:rPr lang="en-US" sz="1200" b="1" dirty="0">
                <a:solidFill>
                  <a:srgbClr val="6EE7B7"/>
                </a:solidFill>
                <a:latin typeface="Segoe UI" pitchFamily="34" charset="0"/>
                <a:ea typeface="Segoe UI" pitchFamily="34" charset="-122"/>
                <a:cs typeface="Segoe UI" pitchFamily="34" charset="-120"/>
              </a:rPr>
              <a:t>Assertion = giấy IdP xác nhận</a:t>
            </a:r>
            <a:endParaRPr lang="en-US" sz="1200" dirty="0"/>
          </a:p>
          <a:p>
            <a:pPr algn="l" indent="0" marL="0">
              <a:buNone/>
            </a:pPr>
            <a:r>
              <a:rPr lang="en-US" sz="1100" dirty="0">
                <a:solidFill>
                  <a:srgbClr val="E8ECF5"/>
                </a:solidFill>
                <a:latin typeface="Segoe UI" pitchFamily="34" charset="0"/>
                <a:ea typeface="Segoe UI" pitchFamily="34" charset="-122"/>
                <a:cs typeface="Segoe UI" pitchFamily="34" charset="-120"/>
              </a:rPr>
              <a:t>“User X đã login · dành cho app Y · còn hạn tới …”</a:t>
            </a:r>
            <a:endParaRPr lang="en-US" sz="1200" dirty="0"/>
          </a:p>
          <a:p>
            <a:pPr algn="l" indent="0" marL="0">
              <a:buNone/>
            </a:pPr>
            <a:r>
              <a:rPr lang="en-US" sz="1100" dirty="0">
                <a:solidFill>
                  <a:srgbClr val="E8ECF5"/>
                </a:solidFill>
                <a:latin typeface="Segoe UI" pitchFamily="34" charset="0"/>
                <a:ea typeface="Segoe UI" pitchFamily="34" charset="-122"/>
                <a:cs typeface="Segoe UI" pitchFamily="34" charset="-120"/>
              </a:rPr>
              <a:t>Cùng việc với ID token — khác bao bì (XML vs JWT).</a:t>
            </a:r>
            <a:endParaRPr lang="en-US" sz="1200" dirty="0"/>
          </a:p>
        </p:txBody>
      </p:sp>
      <p:sp>
        <p:nvSpPr>
          <p:cNvPr id="8" name="Text 6"/>
          <p:cNvSpPr/>
          <p:nvPr/>
        </p:nvSpPr>
        <p:spPr>
          <a:xfrm>
            <a:off x="5440680" y="2468880"/>
            <a:ext cx="3063240" cy="1417320"/>
          </a:xfrm>
          <a:prstGeom prst="roundRect">
            <a:avLst>
              <a:gd name="adj" fmla="val 5161"/>
            </a:avLst>
          </a:prstGeom>
          <a:solidFill>
            <a:srgbClr val="182238"/>
          </a:solidFill>
          <a:ln w="12700">
            <a:solidFill>
              <a:srgbClr val="F5A65B"/>
            </a:solidFill>
            <a:prstDash val="solid"/>
          </a:ln>
        </p:spPr>
        <p:txBody>
          <a:bodyPr wrap="square" lIns="76200" tIns="76200" rIns="76200" bIns="76200" rtlCol="0" anchor="ctr"/>
          <a:lstStyle/>
          <a:p>
            <a:pPr algn="l" indent="0" marL="0">
              <a:buNone/>
            </a:pPr>
            <a:r>
              <a:rPr lang="en-US" sz="1200" b="1" dirty="0">
                <a:solidFill>
                  <a:srgbClr val="F5A65B"/>
                </a:solidFill>
                <a:latin typeface="Segoe UI" pitchFamily="34" charset="0"/>
                <a:ea typeface="Segoe UI" pitchFamily="34" charset="-122"/>
                <a:cs typeface="Segoe UI" pitchFamily="34" charset="-120"/>
              </a:rPr>
              <a:t>SAML Assertion</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Định dạng: XML + chữ ký</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Mang: Subject, Audience, exp</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Về app: POST tới ACS</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Ai đọc: SP (DevHub)</a:t>
            </a:r>
            <a:endParaRPr lang="en-US" sz="1200" dirty="0"/>
          </a:p>
        </p:txBody>
      </p:sp>
      <p:sp>
        <p:nvSpPr>
          <p:cNvPr id="9" name="Text 7"/>
          <p:cNvSpPr/>
          <p:nvPr/>
        </p:nvSpPr>
        <p:spPr>
          <a:xfrm>
            <a:off x="8641080" y="2468880"/>
            <a:ext cx="3063240" cy="1417320"/>
          </a:xfrm>
          <a:prstGeom prst="roundRect">
            <a:avLst>
              <a:gd name="adj" fmla="val 5161"/>
            </a:avLst>
          </a:prstGeom>
          <a:solidFill>
            <a:srgbClr val="182238"/>
          </a:solidFill>
          <a:ln w="12700">
            <a:solidFill>
              <a:srgbClr val="B5A5FF"/>
            </a:solidFill>
            <a:prstDash val="solid"/>
          </a:ln>
        </p:spPr>
        <p:txBody>
          <a:bodyPr wrap="square" lIns="76200" tIns="76200" rIns="76200" bIns="76200" rtlCol="0" anchor="ctr"/>
          <a:lstStyle/>
          <a:p>
            <a:pPr algn="l" indent="0" marL="0">
              <a:buNone/>
            </a:pPr>
            <a:r>
              <a:rPr lang="en-US" sz="1200" b="1" dirty="0">
                <a:solidFill>
                  <a:srgbClr val="B5A5FF"/>
                </a:solidFill>
                <a:latin typeface="Segoe UI" pitchFamily="34" charset="0"/>
                <a:ea typeface="Segoe UI" pitchFamily="34" charset="-122"/>
                <a:cs typeface="Segoe UI" pitchFamily="34" charset="-120"/>
              </a:rPr>
              <a:t>OIDC ID token</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Định dạng: JWT (JSON)</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Mang: sub, aud, exp, nonce</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Về app: code → /token</a:t>
            </a:r>
            <a:endParaRPr lang="en-US" sz="1200" dirty="0"/>
          </a:p>
          <a:p>
            <a:pPr algn="l" indent="0" marL="0">
              <a:buNone/>
            </a:pPr>
            <a:r>
              <a:rPr lang="en-US" sz="1050" dirty="0">
                <a:solidFill>
                  <a:srgbClr val="E8ECF5"/>
                </a:solidFill>
                <a:latin typeface="Consolas" pitchFamily="34" charset="0"/>
                <a:ea typeface="Consolas" pitchFamily="34" charset="-122"/>
                <a:cs typeface="Consolas" pitchFamily="34" charset="-120"/>
              </a:rPr>
              <a:t>Ai đọc: OIDC client</a:t>
            </a:r>
            <a:endParaRPr lang="en-US" sz="1200" dirty="0"/>
          </a:p>
        </p:txBody>
      </p:sp>
      <p:sp>
        <p:nvSpPr>
          <p:cNvPr id="10" name="Text 8"/>
          <p:cNvSpPr/>
          <p:nvPr/>
        </p:nvSpPr>
        <p:spPr>
          <a:xfrm>
            <a:off x="5440680" y="4023360"/>
            <a:ext cx="6263640" cy="256032"/>
          </a:xfrm>
          <a:prstGeom prst="rect">
            <a:avLst/>
          </a:prstGeom>
          <a:noFill/>
          <a:ln/>
        </p:spPr>
        <p:txBody>
          <a:bodyPr wrap="square" lIns="25400" tIns="25400" rIns="25400" bIns="25400" rtlCol="0" anchor="ctr"/>
          <a:lstStyle/>
          <a:p>
            <a:pPr algn="l" indent="0" marL="0">
              <a:buNone/>
            </a:pPr>
            <a:r>
              <a:rPr lang="en-US" sz="1000" b="1" dirty="0">
                <a:solidFill>
                  <a:srgbClr val="8F9BB3"/>
                </a:solidFill>
                <a:latin typeface="Segoe UI" pitchFamily="34" charset="0"/>
                <a:ea typeface="Segoe UI" pitchFamily="34" charset="-122"/>
                <a:cs typeface="Segoe UI" pitchFamily="34" charset="-120"/>
              </a:rPr>
              <a:t>SAU KHI TIN CHỨNG TỪ → CẢ HAI ĐỀU TẠO SESSION RIÊNG CỦA APP</a:t>
            </a:r>
            <a:endParaRPr lang="en-US" sz="1000" dirty="0"/>
          </a:p>
        </p:txBody>
      </p:sp>
      <p:sp>
        <p:nvSpPr>
          <p:cNvPr id="11" name="Text 9"/>
          <p:cNvSpPr/>
          <p:nvPr/>
        </p:nvSpPr>
        <p:spPr>
          <a:xfrm>
            <a:off x="5495544" y="4297680"/>
            <a:ext cx="19781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Browser</a:t>
            </a:r>
            <a:endParaRPr lang="en-US" sz="1100" dirty="0"/>
          </a:p>
        </p:txBody>
      </p:sp>
      <p:sp>
        <p:nvSpPr>
          <p:cNvPr id="12" name="Shape 10"/>
          <p:cNvSpPr/>
          <p:nvPr/>
        </p:nvSpPr>
        <p:spPr>
          <a:xfrm>
            <a:off x="6484620" y="4718304"/>
            <a:ext cx="0" cy="813816"/>
          </a:xfrm>
          <a:prstGeom prst="line">
            <a:avLst/>
          </a:prstGeom>
          <a:noFill/>
          <a:ln w="12700">
            <a:solidFill>
              <a:srgbClr val="2A3651"/>
            </a:solidFill>
            <a:prstDash val="dash"/>
          </a:ln>
        </p:spPr>
      </p:sp>
      <p:sp>
        <p:nvSpPr>
          <p:cNvPr id="13" name="Text 11"/>
          <p:cNvSpPr/>
          <p:nvPr/>
        </p:nvSpPr>
        <p:spPr>
          <a:xfrm>
            <a:off x="7583424" y="4297680"/>
            <a:ext cx="19781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SP</a:t>
            </a:r>
            <a:endParaRPr lang="en-US" sz="1100" dirty="0"/>
          </a:p>
        </p:txBody>
      </p:sp>
      <p:sp>
        <p:nvSpPr>
          <p:cNvPr id="14" name="Shape 12"/>
          <p:cNvSpPr/>
          <p:nvPr/>
        </p:nvSpPr>
        <p:spPr>
          <a:xfrm>
            <a:off x="8572500" y="4718304"/>
            <a:ext cx="0" cy="813816"/>
          </a:xfrm>
          <a:prstGeom prst="line">
            <a:avLst/>
          </a:prstGeom>
          <a:noFill/>
          <a:ln w="12700">
            <a:solidFill>
              <a:srgbClr val="2A3651"/>
            </a:solidFill>
            <a:prstDash val="dash"/>
          </a:ln>
        </p:spPr>
      </p:sp>
      <p:sp>
        <p:nvSpPr>
          <p:cNvPr id="15" name="Text 13"/>
          <p:cNvSpPr/>
          <p:nvPr/>
        </p:nvSpPr>
        <p:spPr>
          <a:xfrm>
            <a:off x="9671304" y="4297680"/>
            <a:ext cx="19781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00" b="1" dirty="0">
                <a:solidFill>
                  <a:srgbClr val="E8ECF5"/>
                </a:solidFill>
                <a:latin typeface="Segoe UI" pitchFamily="34" charset="0"/>
                <a:ea typeface="Segoe UI" pitchFamily="34" charset="-122"/>
                <a:cs typeface="Segoe UI" pitchFamily="34" charset="-120"/>
              </a:rPr>
              <a:t>IdP</a:t>
            </a:r>
            <a:endParaRPr lang="en-US" sz="1100" dirty="0"/>
          </a:p>
        </p:txBody>
      </p:sp>
      <p:sp>
        <p:nvSpPr>
          <p:cNvPr id="16" name="Shape 14"/>
          <p:cNvSpPr/>
          <p:nvPr/>
        </p:nvSpPr>
        <p:spPr>
          <a:xfrm>
            <a:off x="10660380" y="4718304"/>
            <a:ext cx="0" cy="813816"/>
          </a:xfrm>
          <a:prstGeom prst="line">
            <a:avLst/>
          </a:prstGeom>
          <a:noFill/>
          <a:ln w="12700">
            <a:solidFill>
              <a:srgbClr val="2A3651"/>
            </a:solidFill>
            <a:prstDash val="dash"/>
          </a:ln>
        </p:spPr>
      </p:sp>
      <p:sp>
        <p:nvSpPr>
          <p:cNvPr id="17" name="Shape 15"/>
          <p:cNvSpPr/>
          <p:nvPr/>
        </p:nvSpPr>
        <p:spPr>
          <a:xfrm>
            <a:off x="8572500" y="4973544"/>
            <a:ext cx="2087880" cy="0"/>
          </a:xfrm>
          <a:prstGeom prst="line">
            <a:avLst/>
          </a:prstGeom>
          <a:noFill/>
          <a:ln w="19050">
            <a:solidFill>
              <a:srgbClr val="B5A5FF"/>
            </a:solidFill>
            <a:prstDash val="solid"/>
            <a:tailEnd type="triangle"/>
          </a:ln>
        </p:spPr>
      </p:sp>
      <p:sp>
        <p:nvSpPr>
          <p:cNvPr id="18" name="Text 16"/>
          <p:cNvSpPr/>
          <p:nvPr/>
        </p:nvSpPr>
        <p:spPr>
          <a:xfrm>
            <a:off x="8618220" y="4690080"/>
            <a:ext cx="1996440" cy="256032"/>
          </a:xfrm>
          <a:prstGeom prst="rect">
            <a:avLst/>
          </a:prstGeom>
          <a:noFill/>
          <a:ln/>
        </p:spPr>
        <p:txBody>
          <a:bodyPr wrap="square" lIns="25400" tIns="25400" rIns="25400" bIns="25400" rtlCol="0" anchor="b"/>
          <a:lstStyle/>
          <a:p>
            <a:pPr algn="ctr" indent="0" marL="0">
              <a:buNone/>
            </a:pPr>
            <a:r>
              <a:rPr lang="en-US" sz="950" dirty="0">
                <a:solidFill>
                  <a:srgbClr val="E8ECF5"/>
                </a:solidFill>
                <a:latin typeface="Segoe UI" pitchFamily="34" charset="0"/>
                <a:ea typeface="Segoe UI" pitchFamily="34" charset="-122"/>
                <a:cs typeface="Segoe UI" pitchFamily="34" charset="-120"/>
              </a:rPr>
              <a:t>1. AuthnRequest</a:t>
            </a:r>
            <a:endParaRPr lang="en-US" sz="950" dirty="0"/>
          </a:p>
        </p:txBody>
      </p:sp>
      <p:sp>
        <p:nvSpPr>
          <p:cNvPr id="19" name="Shape 17"/>
          <p:cNvSpPr/>
          <p:nvPr/>
        </p:nvSpPr>
        <p:spPr>
          <a:xfrm flipH="1">
            <a:off x="6484620" y="5208240"/>
            <a:ext cx="4175760" cy="0"/>
          </a:xfrm>
          <a:prstGeom prst="line">
            <a:avLst/>
          </a:prstGeom>
          <a:noFill/>
          <a:ln w="19050">
            <a:solidFill>
              <a:srgbClr val="6EE7B7"/>
            </a:solidFill>
            <a:prstDash val="dash"/>
            <a:tailEnd type="triangle"/>
          </a:ln>
        </p:spPr>
      </p:sp>
      <p:sp>
        <p:nvSpPr>
          <p:cNvPr id="20" name="Text 18"/>
          <p:cNvSpPr/>
          <p:nvPr/>
        </p:nvSpPr>
        <p:spPr>
          <a:xfrm>
            <a:off x="6530340" y="4924776"/>
            <a:ext cx="4084320" cy="256032"/>
          </a:xfrm>
          <a:prstGeom prst="rect">
            <a:avLst/>
          </a:prstGeom>
          <a:noFill/>
          <a:ln/>
        </p:spPr>
        <p:txBody>
          <a:bodyPr wrap="square" lIns="25400" tIns="25400" rIns="25400" bIns="25400" rtlCol="0" anchor="b"/>
          <a:lstStyle/>
          <a:p>
            <a:pPr algn="ctr" indent="0" marL="0">
              <a:buNone/>
            </a:pPr>
            <a:r>
              <a:rPr lang="en-US" sz="950" dirty="0">
                <a:solidFill>
                  <a:srgbClr val="E8ECF5"/>
                </a:solidFill>
                <a:latin typeface="Segoe UI" pitchFamily="34" charset="0"/>
                <a:ea typeface="Segoe UI" pitchFamily="34" charset="-122"/>
                <a:cs typeface="Segoe UI" pitchFamily="34" charset="-120"/>
              </a:rPr>
              <a:t>2. Assertion (XML)</a:t>
            </a:r>
            <a:endParaRPr lang="en-US" sz="950" dirty="0"/>
          </a:p>
        </p:txBody>
      </p:sp>
      <p:sp>
        <p:nvSpPr>
          <p:cNvPr id="21" name="Shape 19"/>
          <p:cNvSpPr/>
          <p:nvPr/>
        </p:nvSpPr>
        <p:spPr>
          <a:xfrm>
            <a:off x="6484620" y="5442936"/>
            <a:ext cx="2087880" cy="0"/>
          </a:xfrm>
          <a:prstGeom prst="line">
            <a:avLst/>
          </a:prstGeom>
          <a:noFill/>
          <a:ln w="19050">
            <a:solidFill>
              <a:srgbClr val="B5A5FF"/>
            </a:solidFill>
            <a:prstDash val="solid"/>
            <a:tailEnd type="triangle"/>
          </a:ln>
        </p:spPr>
      </p:sp>
      <p:sp>
        <p:nvSpPr>
          <p:cNvPr id="22" name="Text 20"/>
          <p:cNvSpPr/>
          <p:nvPr/>
        </p:nvSpPr>
        <p:spPr>
          <a:xfrm>
            <a:off x="6530340" y="5159472"/>
            <a:ext cx="1996440" cy="256032"/>
          </a:xfrm>
          <a:prstGeom prst="rect">
            <a:avLst/>
          </a:prstGeom>
          <a:noFill/>
          <a:ln/>
        </p:spPr>
        <p:txBody>
          <a:bodyPr wrap="square" lIns="25400" tIns="25400" rIns="25400" bIns="25400" rtlCol="0" anchor="b"/>
          <a:lstStyle/>
          <a:p>
            <a:pPr algn="ctr" indent="0" marL="0">
              <a:buNone/>
            </a:pPr>
            <a:r>
              <a:rPr lang="en-US" sz="950" dirty="0">
                <a:solidFill>
                  <a:srgbClr val="E8ECF5"/>
                </a:solidFill>
                <a:latin typeface="Segoe UI" pitchFamily="34" charset="0"/>
                <a:ea typeface="Segoe UI" pitchFamily="34" charset="-122"/>
                <a:cs typeface="Segoe UI" pitchFamily="34" charset="-120"/>
              </a:rPr>
              <a:t>3. POST ACS → verify → session</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KIẾN TRÚC  ·  SLIDE 22/27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Chọn kiến trúc theo threat model</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Client là browser, mobile hay service-to-service?</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Có cần revoke tức thời không?</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Có dùng SSO/IdP không?</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Ai quản lý key, session store và token lifecycle?</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XSS/CSRF được xử lý ra sao?</a:t>
            </a:r>
            <a:endParaRPr lang="en-US" sz="1600" dirty="0"/>
          </a:p>
        </p:txBody>
      </p:sp>
      <p:sp>
        <p:nvSpPr>
          <p:cNvPr id="7" name="Text 5"/>
          <p:cNvSpPr/>
          <p:nvPr/>
        </p:nvSpPr>
        <p:spPr>
          <a:xfrm>
            <a:off x="5440680" y="146304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ĐIỂM KHỞI ĐẦU THƯỜNG GẶP — KHÔNG PHẢI ĐÁP ÁN</a:t>
            </a:r>
            <a:endParaRPr lang="en-US" sz="1050" dirty="0"/>
          </a:p>
        </p:txBody>
      </p:sp>
      <p:sp>
        <p:nvSpPr>
          <p:cNvPr id="8" name="Text 6"/>
          <p:cNvSpPr/>
          <p:nvPr/>
        </p:nvSpPr>
        <p:spPr>
          <a:xfrm>
            <a:off x="5440680" y="1874520"/>
            <a:ext cx="2743200" cy="685800"/>
          </a:xfrm>
          <a:prstGeom prst="roundRect">
            <a:avLst>
              <a:gd name="adj" fmla="val 10667"/>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50" dirty="0">
                <a:solidFill>
                  <a:srgbClr val="E8ECF5"/>
                </a:solidFill>
                <a:latin typeface="Segoe UI" pitchFamily="34" charset="0"/>
                <a:ea typeface="Segoe UI" pitchFamily="34" charset="-122"/>
                <a:cs typeface="Segoe UI" pitchFamily="34" charset="-120"/>
              </a:rPr>
              <a:t>Browser, cùng site, cần logout ngay</a:t>
            </a:r>
            <a:endParaRPr lang="en-US" sz="1150" dirty="0"/>
          </a:p>
        </p:txBody>
      </p:sp>
      <p:sp>
        <p:nvSpPr>
          <p:cNvPr id="9" name="Shape 7"/>
          <p:cNvSpPr/>
          <p:nvPr/>
        </p:nvSpPr>
        <p:spPr>
          <a:xfrm>
            <a:off x="8183880" y="2212848"/>
            <a:ext cx="548640" cy="0"/>
          </a:xfrm>
          <a:prstGeom prst="line">
            <a:avLst/>
          </a:prstGeom>
          <a:noFill/>
          <a:ln w="19050">
            <a:solidFill>
              <a:srgbClr val="6EE7B7"/>
            </a:solidFill>
            <a:prstDash val="solid"/>
            <a:tailEnd type="triangle"/>
          </a:ln>
        </p:spPr>
      </p:sp>
      <p:sp>
        <p:nvSpPr>
          <p:cNvPr id="10" name="Text 8"/>
          <p:cNvSpPr/>
          <p:nvPr/>
        </p:nvSpPr>
        <p:spPr>
          <a:xfrm>
            <a:off x="8732520" y="1874520"/>
            <a:ext cx="2971800" cy="685800"/>
          </a:xfrm>
          <a:prstGeom prst="roundRect">
            <a:avLst>
              <a:gd name="adj" fmla="val 10667"/>
            </a:avLst>
          </a:prstGeom>
          <a:solidFill>
            <a:srgbClr val="182238"/>
          </a:solidFill>
          <a:ln w="12700">
            <a:solidFill>
              <a:srgbClr val="6EE7B7"/>
            </a:solidFill>
            <a:prstDash val="solid"/>
          </a:ln>
        </p:spPr>
        <p:txBody>
          <a:bodyPr wrap="square" lIns="76200" tIns="76200" rIns="76200" bIns="76200" rtlCol="0" anchor="ctr"/>
          <a:lstStyle/>
          <a:p>
            <a:pPr algn="ctr" indent="0" marL="0">
              <a:buNone/>
            </a:pPr>
            <a:r>
              <a:rPr lang="en-US" sz="1150" b="1" dirty="0">
                <a:solidFill>
                  <a:srgbClr val="6EE7B7"/>
                </a:solidFill>
                <a:latin typeface="Segoe UI" pitchFamily="34" charset="0"/>
                <a:ea typeface="Segoe UI" pitchFamily="34" charset="-122"/>
                <a:cs typeface="Segoe UI" pitchFamily="34" charset="-120"/>
              </a:rPr>
              <a:t>Session server-side + cookie flags</a:t>
            </a:r>
            <a:endParaRPr lang="en-US" sz="1150" dirty="0"/>
          </a:p>
        </p:txBody>
      </p:sp>
      <p:sp>
        <p:nvSpPr>
          <p:cNvPr id="11" name="Text 9"/>
          <p:cNvSpPr/>
          <p:nvPr/>
        </p:nvSpPr>
        <p:spPr>
          <a:xfrm>
            <a:off x="5440680" y="2788920"/>
            <a:ext cx="2743200" cy="685800"/>
          </a:xfrm>
          <a:prstGeom prst="roundRect">
            <a:avLst>
              <a:gd name="adj" fmla="val 10667"/>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50" dirty="0">
                <a:solidFill>
                  <a:srgbClr val="E8ECF5"/>
                </a:solidFill>
                <a:latin typeface="Segoe UI" pitchFamily="34" charset="0"/>
                <a:ea typeface="Segoe UI" pitchFamily="34" charset="-122"/>
                <a:cs typeface="Segoe UI" pitchFamily="34" charset="-120"/>
              </a:rPr>
              <a:t>SPA + nhiều API, mobile</a:t>
            </a:r>
            <a:endParaRPr lang="en-US" sz="1150" dirty="0"/>
          </a:p>
        </p:txBody>
      </p:sp>
      <p:sp>
        <p:nvSpPr>
          <p:cNvPr id="12" name="Shape 10"/>
          <p:cNvSpPr/>
          <p:nvPr/>
        </p:nvSpPr>
        <p:spPr>
          <a:xfrm>
            <a:off x="8183880" y="3127248"/>
            <a:ext cx="548640" cy="0"/>
          </a:xfrm>
          <a:prstGeom prst="line">
            <a:avLst/>
          </a:prstGeom>
          <a:noFill/>
          <a:ln w="19050">
            <a:solidFill>
              <a:srgbClr val="B5A5FF"/>
            </a:solidFill>
            <a:prstDash val="solid"/>
            <a:tailEnd type="triangle"/>
          </a:ln>
        </p:spPr>
      </p:sp>
      <p:sp>
        <p:nvSpPr>
          <p:cNvPr id="13" name="Text 11"/>
          <p:cNvSpPr/>
          <p:nvPr/>
        </p:nvSpPr>
        <p:spPr>
          <a:xfrm>
            <a:off x="8732520" y="2788920"/>
            <a:ext cx="2971800" cy="685800"/>
          </a:xfrm>
          <a:prstGeom prst="roundRect">
            <a:avLst>
              <a:gd name="adj" fmla="val 10667"/>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1150" b="1" dirty="0">
                <a:solidFill>
                  <a:srgbClr val="B5A5FF"/>
                </a:solidFill>
                <a:latin typeface="Segoe UI" pitchFamily="34" charset="0"/>
                <a:ea typeface="Segoe UI" pitchFamily="34" charset="-122"/>
                <a:cs typeface="Segoe UI" pitchFamily="34" charset="-120"/>
              </a:rPr>
              <a:t>Access token ngắn + refresh rotation</a:t>
            </a:r>
            <a:endParaRPr lang="en-US" sz="1150" dirty="0"/>
          </a:p>
        </p:txBody>
      </p:sp>
      <p:sp>
        <p:nvSpPr>
          <p:cNvPr id="14" name="Text 12"/>
          <p:cNvSpPr/>
          <p:nvPr/>
        </p:nvSpPr>
        <p:spPr>
          <a:xfrm>
            <a:off x="5440680" y="3703320"/>
            <a:ext cx="2743200" cy="685800"/>
          </a:xfrm>
          <a:prstGeom prst="roundRect">
            <a:avLst>
              <a:gd name="adj" fmla="val 10667"/>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50" dirty="0">
                <a:solidFill>
                  <a:srgbClr val="E8ECF5"/>
                </a:solidFill>
                <a:latin typeface="Segoe UI" pitchFamily="34" charset="0"/>
                <a:ea typeface="Segoe UI" pitchFamily="34" charset="-122"/>
                <a:cs typeface="Segoe UI" pitchFamily="34" charset="-120"/>
              </a:rPr>
              <a:t>Service-to-service</a:t>
            </a:r>
            <a:endParaRPr lang="en-US" sz="1150" dirty="0"/>
          </a:p>
        </p:txBody>
      </p:sp>
      <p:sp>
        <p:nvSpPr>
          <p:cNvPr id="15" name="Shape 13"/>
          <p:cNvSpPr/>
          <p:nvPr/>
        </p:nvSpPr>
        <p:spPr>
          <a:xfrm>
            <a:off x="8183880" y="4041648"/>
            <a:ext cx="548640" cy="0"/>
          </a:xfrm>
          <a:prstGeom prst="line">
            <a:avLst/>
          </a:prstGeom>
          <a:noFill/>
          <a:ln w="19050">
            <a:solidFill>
              <a:srgbClr val="7DB3FF"/>
            </a:solidFill>
            <a:prstDash val="solid"/>
            <a:tailEnd type="triangle"/>
          </a:ln>
        </p:spPr>
      </p:sp>
      <p:sp>
        <p:nvSpPr>
          <p:cNvPr id="16" name="Text 14"/>
          <p:cNvSpPr/>
          <p:nvPr/>
        </p:nvSpPr>
        <p:spPr>
          <a:xfrm>
            <a:off x="8732520" y="3703320"/>
            <a:ext cx="2971800" cy="685800"/>
          </a:xfrm>
          <a:prstGeom prst="roundRect">
            <a:avLst>
              <a:gd name="adj" fmla="val 10667"/>
            </a:avLst>
          </a:prstGeom>
          <a:solidFill>
            <a:srgbClr val="182238"/>
          </a:solidFill>
          <a:ln w="12700">
            <a:solidFill>
              <a:srgbClr val="7DB3FF"/>
            </a:solidFill>
            <a:prstDash val="solid"/>
          </a:ln>
        </p:spPr>
        <p:txBody>
          <a:bodyPr wrap="square" lIns="76200" tIns="76200" rIns="76200" bIns="76200" rtlCol="0" anchor="ctr"/>
          <a:lstStyle/>
          <a:p>
            <a:pPr algn="ctr" indent="0" marL="0">
              <a:buNone/>
            </a:pPr>
            <a:r>
              <a:rPr lang="en-US" sz="1150" b="1" dirty="0">
                <a:solidFill>
                  <a:srgbClr val="7DB3FF"/>
                </a:solidFill>
                <a:latin typeface="Segoe UI" pitchFamily="34" charset="0"/>
                <a:ea typeface="Segoe UI" pitchFamily="34" charset="-122"/>
                <a:cs typeface="Segoe UI" pitchFamily="34" charset="-120"/>
              </a:rPr>
              <a:t>Client credentials, token có aud hẹp</a:t>
            </a:r>
            <a:endParaRPr lang="en-US" sz="1150" dirty="0"/>
          </a:p>
        </p:txBody>
      </p:sp>
      <p:sp>
        <p:nvSpPr>
          <p:cNvPr id="17" name="Text 15"/>
          <p:cNvSpPr/>
          <p:nvPr/>
        </p:nvSpPr>
        <p:spPr>
          <a:xfrm>
            <a:off x="5440680" y="4617720"/>
            <a:ext cx="2743200" cy="685800"/>
          </a:xfrm>
          <a:prstGeom prst="roundRect">
            <a:avLst>
              <a:gd name="adj" fmla="val 10667"/>
            </a:avLst>
          </a:prstGeom>
          <a:solidFill>
            <a:srgbClr val="182238"/>
          </a:solidFill>
          <a:ln w="12700">
            <a:solidFill>
              <a:srgbClr val="2A3651"/>
            </a:solidFill>
            <a:prstDash val="solid"/>
          </a:ln>
        </p:spPr>
        <p:txBody>
          <a:bodyPr wrap="square" lIns="76200" tIns="76200" rIns="76200" bIns="76200" rtlCol="0" anchor="ctr"/>
          <a:lstStyle/>
          <a:p>
            <a:pPr algn="ctr" indent="0" marL="0">
              <a:buNone/>
            </a:pPr>
            <a:r>
              <a:rPr lang="en-US" sz="1150" dirty="0">
                <a:solidFill>
                  <a:srgbClr val="E8ECF5"/>
                </a:solidFill>
                <a:latin typeface="Segoe UI" pitchFamily="34" charset="0"/>
                <a:ea typeface="Segoe UI" pitchFamily="34" charset="-122"/>
                <a:cs typeface="Segoe UI" pitchFamily="34" charset="-120"/>
              </a:rPr>
              <a:t>Doanh nghiệp đã có IdP</a:t>
            </a:r>
            <a:endParaRPr lang="en-US" sz="1150" dirty="0"/>
          </a:p>
        </p:txBody>
      </p:sp>
      <p:sp>
        <p:nvSpPr>
          <p:cNvPr id="18" name="Shape 16"/>
          <p:cNvSpPr/>
          <p:nvPr/>
        </p:nvSpPr>
        <p:spPr>
          <a:xfrm>
            <a:off x="8183880" y="4956048"/>
            <a:ext cx="548640" cy="0"/>
          </a:xfrm>
          <a:prstGeom prst="line">
            <a:avLst/>
          </a:prstGeom>
          <a:noFill/>
          <a:ln w="19050">
            <a:solidFill>
              <a:srgbClr val="F5A65B"/>
            </a:solidFill>
            <a:prstDash val="solid"/>
            <a:tailEnd type="triangle"/>
          </a:ln>
        </p:spPr>
      </p:sp>
      <p:sp>
        <p:nvSpPr>
          <p:cNvPr id="19" name="Text 17"/>
          <p:cNvSpPr/>
          <p:nvPr/>
        </p:nvSpPr>
        <p:spPr>
          <a:xfrm>
            <a:off x="8732520" y="4617720"/>
            <a:ext cx="2971800" cy="685800"/>
          </a:xfrm>
          <a:prstGeom prst="roundRect">
            <a:avLst>
              <a:gd name="adj" fmla="val 10667"/>
            </a:avLst>
          </a:prstGeom>
          <a:solidFill>
            <a:srgbClr val="182238"/>
          </a:solidFill>
          <a:ln w="12700">
            <a:solidFill>
              <a:srgbClr val="F5A65B"/>
            </a:solidFill>
            <a:prstDash val="solid"/>
          </a:ln>
        </p:spPr>
        <p:txBody>
          <a:bodyPr wrap="square" lIns="76200" tIns="76200" rIns="76200" bIns="76200" rtlCol="0" anchor="ctr"/>
          <a:lstStyle/>
          <a:p>
            <a:pPr algn="ctr" indent="0" marL="0">
              <a:buNone/>
            </a:pPr>
            <a:r>
              <a:rPr lang="en-US" sz="1150" b="1" dirty="0">
                <a:solidFill>
                  <a:srgbClr val="F5A65B"/>
                </a:solidFill>
                <a:latin typeface="Segoe UI" pitchFamily="34" charset="0"/>
                <a:ea typeface="Segoe UI" pitchFamily="34" charset="-122"/>
                <a:cs typeface="Segoe UI" pitchFamily="34" charset="-120"/>
              </a:rPr>
              <a:t>OIDC / SAML, rồi session cho app</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KIẾN TRÚC  ·  SLIDE 23/27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Case study DevHub</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Web app nội bộ.</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NestJS API.</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Role </a:t>
            </a:r>
            <a:r>
              <a:rPr lang="en-US" sz="1600" dirty="0">
                <a:solidFill>
                  <a:srgbClr val="B5A5FF"/>
                </a:solidFill>
                <a:latin typeface="Consolas" pitchFamily="34" charset="0"/>
                <a:ea typeface="Consolas" pitchFamily="34" charset="-122"/>
                <a:cs typeface="Consolas" pitchFamily="34" charset="-120"/>
              </a:rPr>
              <a:t>member</a:t>
            </a:r>
            <a:r>
              <a:rPr lang="en-US" sz="1600" dirty="0">
                <a:solidFill>
                  <a:srgbClr val="E8ECF5"/>
                </a:solidFill>
                <a:latin typeface="Segoe UI" pitchFamily="34" charset="0"/>
                <a:ea typeface="Segoe UI" pitchFamily="34" charset="-122"/>
                <a:cs typeface="Segoe UI" pitchFamily="34" charset="-120"/>
              </a:rPr>
              <a:t> và </a:t>
            </a:r>
            <a:r>
              <a:rPr lang="en-US" sz="1600" dirty="0">
                <a:solidFill>
                  <a:srgbClr val="B5A5FF"/>
                </a:solidFill>
                <a:latin typeface="Consolas" pitchFamily="34" charset="0"/>
                <a:ea typeface="Consolas" pitchFamily="34" charset="-122"/>
                <a:cs typeface="Consolas" pitchFamily="34" charset="-120"/>
              </a:rPr>
              <a:t>admin</a:t>
            </a:r>
            <a:r>
              <a:rPr lang="en-US" sz="1600" dirty="0">
                <a:solidFill>
                  <a:srgbClr val="E8ECF5"/>
                </a:solidFill>
                <a:latin typeface="Segoe UI" pitchFamily="34" charset="0"/>
                <a:ea typeface="Segoe UI" pitchFamily="34" charset="-122"/>
                <a:cs typeface="Segoe UI" pitchFamily="34" charset="-120"/>
              </a:rPr>
              <a:t>.</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Logout phải có hiệu lực.</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Cần audit và vận hành rõ ràng.</a:t>
            </a:r>
            <a:endParaRPr lang="en-US" sz="1600" dirty="0"/>
          </a:p>
        </p:txBody>
      </p:sp>
      <p:sp>
        <p:nvSpPr>
          <p:cNvPr id="7" name="Text 5"/>
          <p:cNvSpPr/>
          <p:nvPr/>
        </p:nvSpPr>
        <p:spPr>
          <a:xfrm>
            <a:off x="5440680" y="146304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ĐIỀN CÙNG KHÁN GIẢ — click tiếp để hiện đáp án</a:t>
            </a:r>
            <a:endParaRPr lang="en-US" sz="10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40680" y="1874520"/>
          <a:ext cx="6263640" cy="914400"/>
        </p:xfrm>
        <a:graphic>
          <a:graphicData uri="http://schemas.openxmlformats.org/drawingml/2006/table">
            <a:tbl>
              <a:tblPr/>
              <a:tblGrid>
                <a:gridCol w="2148840"/>
                <a:gridCol w="1371600"/>
                <a:gridCol w="1417320"/>
                <a:gridCol w="1417320"/>
              </a:tblGrid>
              <a:tr h="566928">
                <a:tc>
                  <a:txBody>
                    <a:bodyPr/>
                    <a:lstStyle/>
                    <a:p>
                      <a:pPr indent="0" marL="0">
                        <a:buNone/>
                      </a:pPr>
                      <a:r>
                        <a:rPr lang="en-US" sz="1200" b="1" dirty="0">
                          <a:solidFill>
                            <a:srgbClr val="B5A5FF"/>
                          </a:solidFill>
                          <a:latin typeface="Segoe UI" pitchFamily="34" charset="0"/>
                          <a:ea typeface="Segoe UI" pitchFamily="34" charset="-122"/>
                          <a:cs typeface="Segoe UI" pitchFamily="34" charset="-120"/>
                        </a:rPr>
                        <a:t>Yêu cầu DevHub</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200" b="1" dirty="0">
                          <a:solidFill>
                            <a:srgbClr val="B5A5FF"/>
                          </a:solidFill>
                          <a:latin typeface="Segoe UI" pitchFamily="34" charset="0"/>
                          <a:ea typeface="Segoe UI" pitchFamily="34" charset="-122"/>
                          <a:cs typeface="Segoe UI" pitchFamily="34" charset="-120"/>
                        </a:rPr>
                        <a:t>Session</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200" b="1" dirty="0">
                          <a:solidFill>
                            <a:srgbClr val="B5A5FF"/>
                          </a:solidFill>
                          <a:latin typeface="Segoe UI" pitchFamily="34" charset="0"/>
                          <a:ea typeface="Segoe UI" pitchFamily="34" charset="-122"/>
                          <a:cs typeface="Segoe UI" pitchFamily="34" charset="-120"/>
                        </a:rPr>
                        <a:t>JWT + refresh</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200" b="1" dirty="0">
                          <a:solidFill>
                            <a:srgbClr val="B5A5FF"/>
                          </a:solidFill>
                          <a:latin typeface="Segoe UI" pitchFamily="34" charset="0"/>
                          <a:ea typeface="Segoe UI" pitchFamily="34" charset="-122"/>
                          <a:cs typeface="Segoe UI" pitchFamily="34" charset="-120"/>
                        </a:rPr>
                        <a:t>OIDC + session</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r>
              <a:tr h="566928">
                <a:tc>
                  <a:txBody>
                    <a:bodyPr/>
                    <a:lstStyle/>
                    <a:p>
                      <a:pPr indent="0" marL="0">
                        <a:buNone/>
                      </a:pPr>
                      <a:r>
                        <a:rPr lang="en-US" sz="1200" b="1" dirty="0">
                          <a:solidFill>
                            <a:srgbClr val="E8ECF5"/>
                          </a:solidFill>
                          <a:latin typeface="Segoe UI" pitchFamily="34" charset="0"/>
                          <a:ea typeface="Segoe UI" pitchFamily="34" charset="-122"/>
                          <a:cs typeface="Segoe UI" pitchFamily="34" charset="-120"/>
                        </a:rPr>
                        <a:t>Logout có hiệu lực</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566928">
                <a:tc>
                  <a:txBody>
                    <a:bodyPr/>
                    <a:lstStyle/>
                    <a:p>
                      <a:pPr indent="0" marL="0">
                        <a:buNone/>
                      </a:pPr>
                      <a:r>
                        <a:rPr lang="en-US" sz="1200" b="1" dirty="0">
                          <a:solidFill>
                            <a:srgbClr val="E8ECF5"/>
                          </a:solidFill>
                          <a:latin typeface="Segoe UI" pitchFamily="34" charset="0"/>
                          <a:ea typeface="Segoe UI" pitchFamily="34" charset="-122"/>
                          <a:cs typeface="Segoe UI" pitchFamily="34" charset="-120"/>
                        </a:rPr>
                        <a:t>Role member / admin</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566928">
                <a:tc>
                  <a:txBody>
                    <a:bodyPr/>
                    <a:lstStyle/>
                    <a:p>
                      <a:pPr indent="0" marL="0">
                        <a:buNone/>
                      </a:pPr>
                      <a:r>
                        <a:rPr lang="en-US" sz="1200" b="1" dirty="0">
                          <a:solidFill>
                            <a:srgbClr val="E8ECF5"/>
                          </a:solidFill>
                          <a:latin typeface="Segoe UI" pitchFamily="34" charset="0"/>
                          <a:ea typeface="Segoe UI" pitchFamily="34" charset="-122"/>
                          <a:cs typeface="Segoe UI" pitchFamily="34" charset="-120"/>
                        </a:rPr>
                        <a:t>Audit rõ ràng</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566928">
                <a:tc>
                  <a:txBody>
                    <a:bodyPr/>
                    <a:lstStyle/>
                    <a:p>
                      <a:pPr indent="0" marL="0">
                        <a:buNone/>
                      </a:pPr>
                      <a:r>
                        <a:rPr lang="en-US" sz="1200" b="1" dirty="0">
                          <a:solidFill>
                            <a:srgbClr val="E8ECF5"/>
                          </a:solidFill>
                          <a:latin typeface="Segoe UI" pitchFamily="34" charset="0"/>
                          <a:ea typeface="Segoe UI" pitchFamily="34" charset="-122"/>
                          <a:cs typeface="Segoe UI" pitchFamily="34" charset="-120"/>
                        </a:rPr>
                        <a:t>Vận hành đơn giản</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566928">
                <a:tc>
                  <a:txBody>
                    <a:bodyPr/>
                    <a:lstStyle/>
                    <a:p>
                      <a:pPr indent="0" marL="0">
                        <a:buNone/>
                      </a:pPr>
                      <a:r>
                        <a:rPr lang="en-US" sz="1200" b="1" dirty="0">
                          <a:solidFill>
                            <a:srgbClr val="E8ECF5"/>
                          </a:solidFill>
                          <a:latin typeface="Segoe UI" pitchFamily="34" charset="0"/>
                          <a:ea typeface="Segoe UI" pitchFamily="34" charset="-122"/>
                          <a:cs typeface="Segoe UI" pitchFamily="34" charset="-120"/>
                        </a:rPr>
                        <a:t>Web app nội bộ, NestJS</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KIẾN TRÚC  ·  SLIDE 24/27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Case study — gợi ý đáp án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Logout ngay → Session hoặc OIDC + session.</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JWT + refresh: revoke phức tạp hơn.</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Web app nội bộ NestJS → Session thường đủ.</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Có IdP công ty → OIDC login, rồi session DevHub.</a:t>
            </a:r>
            <a:endParaRPr lang="en-US" sz="1600" dirty="0"/>
          </a:p>
          <a:p>
            <a:pPr algn="l" marL="279400" indent="-279400">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t>
            </a:r>
            <a:r>
              <a:rPr lang="en-US" sz="1600" dirty="0">
                <a:solidFill>
                  <a:srgbClr val="E8ECF5"/>
                </a:solidFill>
                <a:latin typeface="Segoe UI" pitchFamily="34" charset="0"/>
                <a:ea typeface="Segoe UI" pitchFamily="34" charset="-122"/>
                <a:cs typeface="Segoe UI" pitchFamily="34" charset="-120"/>
              </a:rPr>
              <a:t>Không có đáp án tuyệt đối — phụ thuộc threat model.</a:t>
            </a:r>
            <a:endParaRPr lang="en-US" sz="1600" dirty="0"/>
          </a:p>
        </p:txBody>
      </p:sp>
      <p:sp>
        <p:nvSpPr>
          <p:cNvPr id="7" name="Text 5"/>
          <p:cNvSpPr/>
          <p:nvPr/>
        </p:nvSpPr>
        <p:spPr>
          <a:xfrm>
            <a:off x="5440680" y="1463040"/>
            <a:ext cx="6263640" cy="274320"/>
          </a:xfrm>
          <a:prstGeom prst="rect">
            <a:avLst/>
          </a:prstGeom>
          <a:noFill/>
          <a:ln/>
        </p:spPr>
        <p:txBody>
          <a:bodyPr wrap="square" lIns="25400" tIns="25400" rIns="25400" bIns="25400" rtlCol="0" anchor="ctr"/>
          <a:lstStyle/>
          <a:p>
            <a:pPr algn="l" indent="0" marL="0">
              <a:buNone/>
            </a:pPr>
            <a:r>
              <a:rPr lang="en-US" sz="1050" b="1" dirty="0">
                <a:solidFill>
                  <a:srgbClr val="8F9BB3"/>
                </a:solidFill>
                <a:latin typeface="Segoe UI" pitchFamily="34" charset="0"/>
                <a:ea typeface="Segoe UI" pitchFamily="34" charset="-122"/>
                <a:cs typeface="Segoe UI" pitchFamily="34" charset="-120"/>
              </a:rPr>
              <a:t>GỢI Ý ĐÁP ÁN — không phải đáp án duy nhất</a:t>
            </a:r>
            <a:endParaRPr lang="en-US" sz="10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40680" y="1828800"/>
          <a:ext cx="6263640" cy="914400"/>
        </p:xfrm>
        <a:graphic>
          <a:graphicData uri="http://schemas.openxmlformats.org/drawingml/2006/table">
            <a:tbl>
              <a:tblPr/>
              <a:tblGrid>
                <a:gridCol w="2148840"/>
                <a:gridCol w="1371600"/>
                <a:gridCol w="1417320"/>
                <a:gridCol w="1417320"/>
              </a:tblGrid>
              <a:tr h="475488">
                <a:tc>
                  <a:txBody>
                    <a:bodyPr/>
                    <a:lstStyle/>
                    <a:p>
                      <a:pPr indent="0" marL="0">
                        <a:buNone/>
                      </a:pPr>
                      <a:r>
                        <a:rPr lang="en-US" sz="1200" b="1" dirty="0">
                          <a:solidFill>
                            <a:srgbClr val="B5A5FF"/>
                          </a:solidFill>
                          <a:latin typeface="Segoe UI" pitchFamily="34" charset="0"/>
                          <a:ea typeface="Segoe UI" pitchFamily="34" charset="-122"/>
                          <a:cs typeface="Segoe UI" pitchFamily="34" charset="-120"/>
                        </a:rPr>
                        <a:t>Yêu cầu DevHub</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200" b="1" dirty="0">
                          <a:solidFill>
                            <a:srgbClr val="B5A5FF"/>
                          </a:solidFill>
                          <a:latin typeface="Segoe UI" pitchFamily="34" charset="0"/>
                          <a:ea typeface="Segoe UI" pitchFamily="34" charset="-122"/>
                          <a:cs typeface="Segoe UI" pitchFamily="34" charset="-120"/>
                        </a:rPr>
                        <a:t>Session</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200" b="1" dirty="0">
                          <a:solidFill>
                            <a:srgbClr val="B5A5FF"/>
                          </a:solidFill>
                          <a:latin typeface="Segoe UI" pitchFamily="34" charset="0"/>
                          <a:ea typeface="Segoe UI" pitchFamily="34" charset="-122"/>
                          <a:cs typeface="Segoe UI" pitchFamily="34" charset="-120"/>
                        </a:rPr>
                        <a:t>JWT + refresh</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indent="0" marL="0">
                        <a:buNone/>
                      </a:pPr>
                      <a:r>
                        <a:rPr lang="en-US" sz="1200" b="1" dirty="0">
                          <a:solidFill>
                            <a:srgbClr val="B5A5FF"/>
                          </a:solidFill>
                          <a:latin typeface="Segoe UI" pitchFamily="34" charset="0"/>
                          <a:ea typeface="Segoe UI" pitchFamily="34" charset="-122"/>
                          <a:cs typeface="Segoe UI" pitchFamily="34" charset="-120"/>
                        </a:rPr>
                        <a:t>OIDC + session</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r>
              <a:tr h="475488">
                <a:tc>
                  <a:txBody>
                    <a:bodyPr/>
                    <a:lstStyle/>
                    <a:p>
                      <a:pPr indent="0" marL="0">
                        <a:buNone/>
                      </a:pPr>
                      <a:r>
                        <a:rPr lang="en-US" sz="1200" b="1" dirty="0">
                          <a:solidFill>
                            <a:srgbClr val="E8ECF5"/>
                          </a:solidFill>
                          <a:latin typeface="Segoe UI" pitchFamily="34" charset="0"/>
                          <a:ea typeface="Segoe UI" pitchFamily="34" charset="-122"/>
                          <a:cs typeface="Segoe UI" pitchFamily="34" charset="-120"/>
                        </a:rPr>
                        <a:t>Logout có hiệu lực</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 ngay</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 revoke / đợi exp</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 session app</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75488">
                <a:tc>
                  <a:txBody>
                    <a:bodyPr/>
                    <a:lstStyle/>
                    <a:p>
                      <a:pPr indent="0" marL="0">
                        <a:buNone/>
                      </a:pPr>
                      <a:r>
                        <a:rPr lang="en-US" sz="1200" b="1" dirty="0">
                          <a:solidFill>
                            <a:srgbClr val="E8ECF5"/>
                          </a:solidFill>
                          <a:latin typeface="Segoe UI" pitchFamily="34" charset="0"/>
                          <a:ea typeface="Segoe UI" pitchFamily="34" charset="-122"/>
                          <a:cs typeface="Segoe UI" pitchFamily="34" charset="-120"/>
                        </a:rPr>
                        <a:t>Role member / admin</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75488">
                <a:tc>
                  <a:txBody>
                    <a:bodyPr/>
                    <a:lstStyle/>
                    <a:p>
                      <a:pPr indent="0" marL="0">
                        <a:buNone/>
                      </a:pPr>
                      <a:r>
                        <a:rPr lang="en-US" sz="1200" b="1" dirty="0">
                          <a:solidFill>
                            <a:srgbClr val="E8ECF5"/>
                          </a:solidFill>
                          <a:latin typeface="Segoe UI" pitchFamily="34" charset="0"/>
                          <a:ea typeface="Segoe UI" pitchFamily="34" charset="-122"/>
                          <a:cs typeface="Segoe UI" pitchFamily="34" charset="-120"/>
                        </a:rPr>
                        <a:t>Audit rõ ràng</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75488">
                <a:tc>
                  <a:txBody>
                    <a:bodyPr/>
                    <a:lstStyle/>
                    <a:p>
                      <a:pPr indent="0" marL="0">
                        <a:buNone/>
                      </a:pPr>
                      <a:r>
                        <a:rPr lang="en-US" sz="1200" b="1" dirty="0">
                          <a:solidFill>
                            <a:srgbClr val="E8ECF5"/>
                          </a:solidFill>
                          <a:latin typeface="Segoe UI" pitchFamily="34" charset="0"/>
                          <a:ea typeface="Segoe UI" pitchFamily="34" charset="-122"/>
                          <a:cs typeface="Segoe UI" pitchFamily="34" charset="-120"/>
                        </a:rPr>
                        <a:t>Vận hành đơn giản</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 phức tạp hơn</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 cần IdP</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r h="475488">
                <a:tc>
                  <a:txBody>
                    <a:bodyPr/>
                    <a:lstStyle/>
                    <a:p>
                      <a:pPr indent="0" marL="0">
                        <a:buNone/>
                      </a:pPr>
                      <a:r>
                        <a:rPr lang="en-US" sz="1200" b="1" dirty="0">
                          <a:solidFill>
                            <a:srgbClr val="E8ECF5"/>
                          </a:solidFill>
                          <a:latin typeface="Segoe UI" pitchFamily="34" charset="0"/>
                          <a:ea typeface="Segoe UI" pitchFamily="34" charset="-122"/>
                          <a:cs typeface="Segoe UI" pitchFamily="34" charset="-120"/>
                        </a:rPr>
                        <a:t>Web app nội bộ, NestJS</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 hợp</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indent="0" marL="0">
                        <a:buNone/>
                      </a:pPr>
                      <a:r>
                        <a:rPr lang="en-US" sz="1200" dirty="0">
                          <a:solidFill>
                            <a:srgbClr val="8F9BB3"/>
                          </a:solidFill>
                          <a:latin typeface="Segoe UI" pitchFamily="34" charset="0"/>
                          <a:ea typeface="Segoe UI" pitchFamily="34" charset="-122"/>
                          <a:cs typeface="Segoe UI" pitchFamily="34" charset="-120"/>
                        </a:rPr>
                        <a:t>✓ nếu có IdP</a:t>
                      </a:r>
                      <a:endParaRPr lang="en-US" sz="12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r>
            </a:tbl>
          </a:graphicData>
        </a:graphic>
      </p:graphicFrame>
      <p:sp>
        <p:nvSpPr>
          <p:cNvPr id="9" name="Text 6"/>
          <p:cNvSpPr/>
          <p:nvPr/>
        </p:nvSpPr>
        <p:spPr>
          <a:xfrm>
            <a:off x="5440680" y="4526280"/>
            <a:ext cx="6263640" cy="960120"/>
          </a:xfrm>
          <a:prstGeom prst="roundRect">
            <a:avLst>
              <a:gd name="adj" fmla="val 7619"/>
            </a:avLst>
          </a:prstGeom>
          <a:solidFill>
            <a:srgbClr val="182238"/>
          </a:solidFill>
          <a:ln w="12700">
            <a:solidFill>
              <a:srgbClr val="6EE7B7"/>
            </a:solidFill>
            <a:prstDash val="solid"/>
          </a:ln>
        </p:spPr>
        <p:txBody>
          <a:bodyPr wrap="square" lIns="76200" tIns="76200" rIns="76200" bIns="76200" rtlCol="0" anchor="ctr"/>
          <a:lstStyle/>
          <a:p>
            <a:pPr algn="l" indent="0" marL="0">
              <a:buNone/>
            </a:pPr>
            <a:r>
              <a:rPr lang="en-US" sz="1200" b="1" dirty="0">
                <a:solidFill>
                  <a:srgbClr val="6EE7B7"/>
                </a:solidFill>
                <a:latin typeface="Segoe UI" pitchFamily="34" charset="0"/>
                <a:ea typeface="Segoe UI" pitchFamily="34" charset="-122"/>
                <a:cs typeface="Segoe UI" pitchFamily="34" charset="-120"/>
              </a:rPr>
              <a:t>Hướng thảo luận</a:t>
            </a:r>
            <a:endParaRPr lang="en-US" sz="1200" dirty="0"/>
          </a:p>
          <a:p>
            <a:pPr algn="l" indent="0" marL="0">
              <a:buNone/>
            </a:pPr>
            <a:r>
              <a:rPr lang="en-US" sz="1100" dirty="0">
                <a:solidFill>
                  <a:srgbClr val="E8ECF5"/>
                </a:solidFill>
                <a:latin typeface="Segoe UI" pitchFamily="34" charset="0"/>
                <a:ea typeface="Segoe UI" pitchFamily="34" charset="-122"/>
                <a:cs typeface="Segoe UI" pitchFamily="34" charset="-120"/>
              </a:rPr>
              <a:t>DevHub nội bộ + logout phải có hiệu lực → Session (hoặc OIDC + session của DevHub). JWT + refresh hợp hơn khi nhiều API / mobile.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TỔNG KẾT  ·  SLIDE 25/27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Authentication Review Checklist</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Shape 4"/>
          <p:cNvSpPr/>
          <p:nvPr/>
        </p:nvSpPr>
        <p:spPr>
          <a:xfrm>
            <a:off x="502920" y="1371600"/>
            <a:ext cx="3611880" cy="2011680"/>
          </a:xfrm>
          <a:prstGeom prst="roundRect">
            <a:avLst>
              <a:gd name="adj" fmla="val 3636"/>
            </a:avLst>
          </a:prstGeom>
          <a:solidFill>
            <a:srgbClr val="131B2E"/>
          </a:solidFill>
          <a:ln w="12700">
            <a:solidFill>
              <a:srgbClr val="2A3651"/>
            </a:solidFill>
            <a:prstDash val="solid"/>
          </a:ln>
        </p:spPr>
      </p:sp>
      <p:sp>
        <p:nvSpPr>
          <p:cNvPr id="7" name="Text 5"/>
          <p:cNvSpPr/>
          <p:nvPr/>
        </p:nvSpPr>
        <p:spPr>
          <a:xfrm>
            <a:off x="685800" y="1572768"/>
            <a:ext cx="384048" cy="384048"/>
          </a:xfrm>
          <a:prstGeom prst="roundRect">
            <a:avLst>
              <a:gd name="adj" fmla="val 19048"/>
            </a:avLst>
          </a:prstGeom>
          <a:solidFill>
            <a:srgbClr val="1E4D40"/>
          </a:solidFill>
          <a:ln w="12700">
            <a:solidFill>
              <a:srgbClr val="6EE7B7"/>
            </a:solidFill>
            <a:prstDash val="solid"/>
          </a:ln>
        </p:spPr>
        <p:txBody>
          <a:bodyPr wrap="square" lIns="76200" tIns="76200" rIns="76200" bIns="76200" rtlCol="0" anchor="ctr"/>
          <a:lstStyle/>
          <a:p>
            <a:pPr algn="ctr" indent="0" marL="0">
              <a:buNone/>
            </a:pPr>
            <a:r>
              <a:rPr lang="en-US" sz="1300" b="1" dirty="0">
                <a:solidFill>
                  <a:srgbClr val="6EE7B7"/>
                </a:solidFill>
                <a:latin typeface="Segoe UI" pitchFamily="34" charset="0"/>
                <a:ea typeface="Segoe UI" pitchFamily="34" charset="-122"/>
                <a:cs typeface="Segoe UI" pitchFamily="34" charset="-120"/>
              </a:rPr>
              <a:t>✓</a:t>
            </a:r>
            <a:endParaRPr lang="en-US" sz="1300" dirty="0"/>
          </a:p>
        </p:txBody>
      </p:sp>
      <p:sp>
        <p:nvSpPr>
          <p:cNvPr id="8" name="Text 6"/>
          <p:cNvSpPr/>
          <p:nvPr/>
        </p:nvSpPr>
        <p:spPr>
          <a:xfrm>
            <a:off x="1188720" y="1572768"/>
            <a:ext cx="2743200" cy="384048"/>
          </a:xfrm>
          <a:prstGeom prst="rect">
            <a:avLst/>
          </a:prstGeom>
          <a:noFill/>
          <a:ln/>
        </p:spPr>
        <p:txBody>
          <a:bodyPr wrap="square" lIns="25400" tIns="25400" rIns="25400" bIns="25400" rtlCol="0" anchor="ctr"/>
          <a:lstStyle/>
          <a:p>
            <a:pPr algn="l" indent="0" marL="0">
              <a:buNone/>
            </a:pPr>
            <a:r>
              <a:rPr lang="en-US" sz="1400" b="1" dirty="0">
                <a:solidFill>
                  <a:srgbClr val="E8ECF5"/>
                </a:solidFill>
                <a:latin typeface="Segoe UI" pitchFamily="34" charset="0"/>
                <a:ea typeface="Segoe UI" pitchFamily="34" charset="-122"/>
                <a:cs typeface="Segoe UI" pitchFamily="34" charset="-120"/>
              </a:rPr>
              <a:t>Password</a:t>
            </a:r>
            <a:endParaRPr lang="en-US" sz="1400" dirty="0"/>
          </a:p>
        </p:txBody>
      </p:sp>
      <p:sp>
        <p:nvSpPr>
          <p:cNvPr id="9" name="Text 7"/>
          <p:cNvSpPr/>
          <p:nvPr/>
        </p:nvSpPr>
        <p:spPr>
          <a:xfrm>
            <a:off x="685800" y="2103120"/>
            <a:ext cx="3246120" cy="1097280"/>
          </a:xfrm>
          <a:prstGeom prst="rect">
            <a:avLst/>
          </a:prstGeom>
          <a:noFill/>
          <a:ln/>
        </p:spPr>
        <p:txBody>
          <a:bodyPr wrap="square" lIns="25400" tIns="25400" rIns="25400" bIns="25400" rtlCol="0" anchor="t"/>
          <a:lstStyle/>
          <a:p>
            <a:pPr algn="l" indent="0" marL="0">
              <a:buNone/>
            </a:pPr>
            <a:r>
              <a:rPr lang="en-US" sz="1200" dirty="0">
                <a:solidFill>
                  <a:srgbClr val="8F9BB3"/>
                </a:solidFill>
                <a:latin typeface="Segoe UI" pitchFamily="34" charset="0"/>
                <a:ea typeface="Segoe UI" pitchFamily="34" charset="-122"/>
                <a:cs typeface="Segoe UI" pitchFamily="34" charset="-120"/>
              </a:rPr>
              <a:t>Hash chuyên dụng (bcrypt / Argon2id), cost hợp lý, rate limiting.</a:t>
            </a:r>
            <a:endParaRPr lang="en-US" sz="1200" dirty="0"/>
          </a:p>
        </p:txBody>
      </p:sp>
      <p:sp>
        <p:nvSpPr>
          <p:cNvPr id="10" name="Shape 8"/>
          <p:cNvSpPr/>
          <p:nvPr/>
        </p:nvSpPr>
        <p:spPr>
          <a:xfrm>
            <a:off x="4297680" y="1371600"/>
            <a:ext cx="3611880" cy="2011680"/>
          </a:xfrm>
          <a:prstGeom prst="roundRect">
            <a:avLst>
              <a:gd name="adj" fmla="val 3636"/>
            </a:avLst>
          </a:prstGeom>
          <a:solidFill>
            <a:srgbClr val="131B2E"/>
          </a:solidFill>
          <a:ln w="12700">
            <a:solidFill>
              <a:srgbClr val="2A3651"/>
            </a:solidFill>
            <a:prstDash val="solid"/>
          </a:ln>
        </p:spPr>
      </p:sp>
      <p:sp>
        <p:nvSpPr>
          <p:cNvPr id="11" name="Text 9"/>
          <p:cNvSpPr/>
          <p:nvPr/>
        </p:nvSpPr>
        <p:spPr>
          <a:xfrm>
            <a:off x="4480560" y="1572768"/>
            <a:ext cx="384048" cy="384048"/>
          </a:xfrm>
          <a:prstGeom prst="roundRect">
            <a:avLst>
              <a:gd name="adj" fmla="val 19048"/>
            </a:avLst>
          </a:prstGeom>
          <a:solidFill>
            <a:srgbClr val="1E4D40"/>
          </a:solidFill>
          <a:ln w="12700">
            <a:solidFill>
              <a:srgbClr val="6EE7B7"/>
            </a:solidFill>
            <a:prstDash val="solid"/>
          </a:ln>
        </p:spPr>
        <p:txBody>
          <a:bodyPr wrap="square" lIns="76200" tIns="76200" rIns="76200" bIns="76200" rtlCol="0" anchor="ctr"/>
          <a:lstStyle/>
          <a:p>
            <a:pPr algn="ctr" indent="0" marL="0">
              <a:buNone/>
            </a:pPr>
            <a:r>
              <a:rPr lang="en-US" sz="1300" b="1" dirty="0">
                <a:solidFill>
                  <a:srgbClr val="6EE7B7"/>
                </a:solidFill>
                <a:latin typeface="Segoe UI" pitchFamily="34" charset="0"/>
                <a:ea typeface="Segoe UI" pitchFamily="34" charset="-122"/>
                <a:cs typeface="Segoe UI" pitchFamily="34" charset="-120"/>
              </a:rPr>
              <a:t>✓</a:t>
            </a:r>
            <a:endParaRPr lang="en-US" sz="1300" dirty="0"/>
          </a:p>
        </p:txBody>
      </p:sp>
      <p:sp>
        <p:nvSpPr>
          <p:cNvPr id="12" name="Text 10"/>
          <p:cNvSpPr/>
          <p:nvPr/>
        </p:nvSpPr>
        <p:spPr>
          <a:xfrm>
            <a:off x="4983480" y="1572768"/>
            <a:ext cx="2743200" cy="384048"/>
          </a:xfrm>
          <a:prstGeom prst="rect">
            <a:avLst/>
          </a:prstGeom>
          <a:noFill/>
          <a:ln/>
        </p:spPr>
        <p:txBody>
          <a:bodyPr wrap="square" lIns="25400" tIns="25400" rIns="25400" bIns="25400" rtlCol="0" anchor="ctr"/>
          <a:lstStyle/>
          <a:p>
            <a:pPr algn="l" indent="0" marL="0">
              <a:buNone/>
            </a:pPr>
            <a:r>
              <a:rPr lang="en-US" sz="1400" b="1" dirty="0">
                <a:solidFill>
                  <a:srgbClr val="E8ECF5"/>
                </a:solidFill>
                <a:latin typeface="Segoe UI" pitchFamily="34" charset="0"/>
                <a:ea typeface="Segoe UI" pitchFamily="34" charset="-122"/>
                <a:cs typeface="Segoe UI" pitchFamily="34" charset="-120"/>
              </a:rPr>
              <a:t>Session &amp; cookie</a:t>
            </a:r>
            <a:endParaRPr lang="en-US" sz="1400" dirty="0"/>
          </a:p>
        </p:txBody>
      </p:sp>
      <p:sp>
        <p:nvSpPr>
          <p:cNvPr id="13" name="Text 11"/>
          <p:cNvSpPr/>
          <p:nvPr/>
        </p:nvSpPr>
        <p:spPr>
          <a:xfrm>
            <a:off x="4480560" y="2103120"/>
            <a:ext cx="3246120" cy="1097280"/>
          </a:xfrm>
          <a:prstGeom prst="rect">
            <a:avLst/>
          </a:prstGeom>
          <a:noFill/>
          <a:ln/>
        </p:spPr>
        <p:txBody>
          <a:bodyPr wrap="square" lIns="25400" tIns="25400" rIns="25400" bIns="25400" rtlCol="0" anchor="t"/>
          <a:lstStyle/>
          <a:p>
            <a:pPr algn="l" indent="0" marL="0">
              <a:buNone/>
            </a:pPr>
            <a:r>
              <a:rPr lang="en-US" sz="1200" dirty="0">
                <a:solidFill>
                  <a:srgbClr val="8F9BB3"/>
                </a:solidFill>
                <a:latin typeface="Segoe UI" pitchFamily="34" charset="0"/>
                <a:ea typeface="Segoe UI" pitchFamily="34" charset="-122"/>
                <a:cs typeface="Segoe UI" pitchFamily="34" charset="-120"/>
              </a:rPr>
              <a:t>Regenerate khi login, destroy khi logout, flags theo môi trường.</a:t>
            </a:r>
            <a:endParaRPr lang="en-US" sz="1200" dirty="0"/>
          </a:p>
        </p:txBody>
      </p:sp>
      <p:sp>
        <p:nvSpPr>
          <p:cNvPr id="14" name="Shape 12"/>
          <p:cNvSpPr/>
          <p:nvPr/>
        </p:nvSpPr>
        <p:spPr>
          <a:xfrm>
            <a:off x="8092440" y="1371600"/>
            <a:ext cx="3611880" cy="2011680"/>
          </a:xfrm>
          <a:prstGeom prst="roundRect">
            <a:avLst>
              <a:gd name="adj" fmla="val 3636"/>
            </a:avLst>
          </a:prstGeom>
          <a:solidFill>
            <a:srgbClr val="131B2E"/>
          </a:solidFill>
          <a:ln w="12700">
            <a:solidFill>
              <a:srgbClr val="2A3651"/>
            </a:solidFill>
            <a:prstDash val="solid"/>
          </a:ln>
        </p:spPr>
      </p:sp>
      <p:sp>
        <p:nvSpPr>
          <p:cNvPr id="15" name="Text 13"/>
          <p:cNvSpPr/>
          <p:nvPr/>
        </p:nvSpPr>
        <p:spPr>
          <a:xfrm>
            <a:off x="8275320" y="1572768"/>
            <a:ext cx="384048" cy="384048"/>
          </a:xfrm>
          <a:prstGeom prst="roundRect">
            <a:avLst>
              <a:gd name="adj" fmla="val 19048"/>
            </a:avLst>
          </a:prstGeom>
          <a:solidFill>
            <a:srgbClr val="1E4D40"/>
          </a:solidFill>
          <a:ln w="12700">
            <a:solidFill>
              <a:srgbClr val="6EE7B7"/>
            </a:solidFill>
            <a:prstDash val="solid"/>
          </a:ln>
        </p:spPr>
        <p:txBody>
          <a:bodyPr wrap="square" lIns="76200" tIns="76200" rIns="76200" bIns="76200" rtlCol="0" anchor="ctr"/>
          <a:lstStyle/>
          <a:p>
            <a:pPr algn="ctr" indent="0" marL="0">
              <a:buNone/>
            </a:pPr>
            <a:r>
              <a:rPr lang="en-US" sz="1300" b="1" dirty="0">
                <a:solidFill>
                  <a:srgbClr val="6EE7B7"/>
                </a:solidFill>
                <a:latin typeface="Segoe UI" pitchFamily="34" charset="0"/>
                <a:ea typeface="Segoe UI" pitchFamily="34" charset="-122"/>
                <a:cs typeface="Segoe UI" pitchFamily="34" charset="-120"/>
              </a:rPr>
              <a:t>✓</a:t>
            </a:r>
            <a:endParaRPr lang="en-US" sz="1300" dirty="0"/>
          </a:p>
        </p:txBody>
      </p:sp>
      <p:sp>
        <p:nvSpPr>
          <p:cNvPr id="16" name="Text 14"/>
          <p:cNvSpPr/>
          <p:nvPr/>
        </p:nvSpPr>
        <p:spPr>
          <a:xfrm>
            <a:off x="8778240" y="1572768"/>
            <a:ext cx="2743200" cy="384048"/>
          </a:xfrm>
          <a:prstGeom prst="rect">
            <a:avLst/>
          </a:prstGeom>
          <a:noFill/>
          <a:ln/>
        </p:spPr>
        <p:txBody>
          <a:bodyPr wrap="square" lIns="25400" tIns="25400" rIns="25400" bIns="25400" rtlCol="0" anchor="ctr"/>
          <a:lstStyle/>
          <a:p>
            <a:pPr algn="l" indent="0" marL="0">
              <a:buNone/>
            </a:pPr>
            <a:r>
              <a:rPr lang="en-US" sz="1400" b="1" dirty="0">
                <a:solidFill>
                  <a:srgbClr val="E8ECF5"/>
                </a:solidFill>
                <a:latin typeface="Segoe UI" pitchFamily="34" charset="0"/>
                <a:ea typeface="Segoe UI" pitchFamily="34" charset="-122"/>
                <a:cs typeface="Segoe UI" pitchFamily="34" charset="-120"/>
              </a:rPr>
              <a:t>JWT</a:t>
            </a:r>
            <a:endParaRPr lang="en-US" sz="1400" dirty="0"/>
          </a:p>
        </p:txBody>
      </p:sp>
      <p:sp>
        <p:nvSpPr>
          <p:cNvPr id="17" name="Text 15"/>
          <p:cNvSpPr/>
          <p:nvPr/>
        </p:nvSpPr>
        <p:spPr>
          <a:xfrm>
            <a:off x="8275320" y="2103120"/>
            <a:ext cx="3246120" cy="1097280"/>
          </a:xfrm>
          <a:prstGeom prst="rect">
            <a:avLst/>
          </a:prstGeom>
          <a:noFill/>
          <a:ln/>
        </p:spPr>
        <p:txBody>
          <a:bodyPr wrap="square" lIns="25400" tIns="25400" rIns="25400" bIns="25400" rtlCol="0" anchor="t"/>
          <a:lstStyle/>
          <a:p>
            <a:pPr algn="l" indent="0" marL="0">
              <a:buNone/>
            </a:pPr>
            <a:r>
              <a:rPr lang="en-US" sz="1200" dirty="0">
                <a:solidFill>
                  <a:srgbClr val="8F9BB3"/>
                </a:solidFill>
                <a:latin typeface="Segoe UI" pitchFamily="34" charset="0"/>
                <a:ea typeface="Segoe UI" pitchFamily="34" charset="-122"/>
                <a:cs typeface="Segoe UI" pitchFamily="34" charset="-120"/>
              </a:rPr>
              <a:t>Verify chữ ký, allowlist thuật toán, iss / aud / exp.</a:t>
            </a:r>
            <a:endParaRPr lang="en-US" sz="1200" dirty="0"/>
          </a:p>
        </p:txBody>
      </p:sp>
      <p:sp>
        <p:nvSpPr>
          <p:cNvPr id="18" name="Shape 16"/>
          <p:cNvSpPr/>
          <p:nvPr/>
        </p:nvSpPr>
        <p:spPr>
          <a:xfrm>
            <a:off x="502920" y="3566160"/>
            <a:ext cx="3611880" cy="2011680"/>
          </a:xfrm>
          <a:prstGeom prst="roundRect">
            <a:avLst>
              <a:gd name="adj" fmla="val 3636"/>
            </a:avLst>
          </a:prstGeom>
          <a:solidFill>
            <a:srgbClr val="131B2E"/>
          </a:solidFill>
          <a:ln w="12700">
            <a:solidFill>
              <a:srgbClr val="2A3651"/>
            </a:solidFill>
            <a:prstDash val="solid"/>
          </a:ln>
        </p:spPr>
      </p:sp>
      <p:sp>
        <p:nvSpPr>
          <p:cNvPr id="19" name="Text 17"/>
          <p:cNvSpPr/>
          <p:nvPr/>
        </p:nvSpPr>
        <p:spPr>
          <a:xfrm>
            <a:off x="685800" y="3767328"/>
            <a:ext cx="384048" cy="384048"/>
          </a:xfrm>
          <a:prstGeom prst="roundRect">
            <a:avLst>
              <a:gd name="adj" fmla="val 19048"/>
            </a:avLst>
          </a:prstGeom>
          <a:solidFill>
            <a:srgbClr val="1E4D40"/>
          </a:solidFill>
          <a:ln w="12700">
            <a:solidFill>
              <a:srgbClr val="6EE7B7"/>
            </a:solidFill>
            <a:prstDash val="solid"/>
          </a:ln>
        </p:spPr>
        <p:txBody>
          <a:bodyPr wrap="square" lIns="76200" tIns="76200" rIns="76200" bIns="76200" rtlCol="0" anchor="ctr"/>
          <a:lstStyle/>
          <a:p>
            <a:pPr algn="ctr" indent="0" marL="0">
              <a:buNone/>
            </a:pPr>
            <a:r>
              <a:rPr lang="en-US" sz="1300" b="1" dirty="0">
                <a:solidFill>
                  <a:srgbClr val="6EE7B7"/>
                </a:solidFill>
                <a:latin typeface="Segoe UI" pitchFamily="34" charset="0"/>
                <a:ea typeface="Segoe UI" pitchFamily="34" charset="-122"/>
                <a:cs typeface="Segoe UI" pitchFamily="34" charset="-120"/>
              </a:rPr>
              <a:t>✓</a:t>
            </a:r>
            <a:endParaRPr lang="en-US" sz="1300" dirty="0"/>
          </a:p>
        </p:txBody>
      </p:sp>
      <p:sp>
        <p:nvSpPr>
          <p:cNvPr id="20" name="Text 18"/>
          <p:cNvSpPr/>
          <p:nvPr/>
        </p:nvSpPr>
        <p:spPr>
          <a:xfrm>
            <a:off x="1188720" y="3767328"/>
            <a:ext cx="2743200" cy="384048"/>
          </a:xfrm>
          <a:prstGeom prst="rect">
            <a:avLst/>
          </a:prstGeom>
          <a:noFill/>
          <a:ln/>
        </p:spPr>
        <p:txBody>
          <a:bodyPr wrap="square" lIns="25400" tIns="25400" rIns="25400" bIns="25400" rtlCol="0" anchor="ctr"/>
          <a:lstStyle/>
          <a:p>
            <a:pPr algn="l" indent="0" marL="0">
              <a:buNone/>
            </a:pPr>
            <a:r>
              <a:rPr lang="en-US" sz="1400" b="1" dirty="0">
                <a:solidFill>
                  <a:srgbClr val="E8ECF5"/>
                </a:solidFill>
                <a:latin typeface="Segoe UI" pitchFamily="34" charset="0"/>
                <a:ea typeface="Segoe UI" pitchFamily="34" charset="-122"/>
                <a:cs typeface="Segoe UI" pitchFamily="34" charset="-120"/>
              </a:rPr>
              <a:t>Access / refresh</a:t>
            </a:r>
            <a:endParaRPr lang="en-US" sz="1400" dirty="0"/>
          </a:p>
        </p:txBody>
      </p:sp>
      <p:sp>
        <p:nvSpPr>
          <p:cNvPr id="21" name="Text 19"/>
          <p:cNvSpPr/>
          <p:nvPr/>
        </p:nvSpPr>
        <p:spPr>
          <a:xfrm>
            <a:off x="685800" y="4297680"/>
            <a:ext cx="3246120" cy="1097280"/>
          </a:xfrm>
          <a:prstGeom prst="rect">
            <a:avLst/>
          </a:prstGeom>
          <a:noFill/>
          <a:ln/>
        </p:spPr>
        <p:txBody>
          <a:bodyPr wrap="square" lIns="25400" tIns="25400" rIns="25400" bIns="25400" rtlCol="0" anchor="t"/>
          <a:lstStyle/>
          <a:p>
            <a:pPr algn="l" indent="0" marL="0">
              <a:buNone/>
            </a:pPr>
            <a:r>
              <a:rPr lang="en-US" sz="1200" dirty="0">
                <a:solidFill>
                  <a:srgbClr val="8F9BB3"/>
                </a:solidFill>
                <a:latin typeface="Segoe UI" pitchFamily="34" charset="0"/>
                <a:ea typeface="Segoe UI" pitchFamily="34" charset="-122"/>
                <a:cs typeface="Segoe UI" pitchFamily="34" charset="-120"/>
              </a:rPr>
              <a:t>Access ngắn hạn, refresh rotation, phát hiện reuse, lưu hash.</a:t>
            </a:r>
            <a:endParaRPr lang="en-US" sz="1200" dirty="0"/>
          </a:p>
        </p:txBody>
      </p:sp>
      <p:sp>
        <p:nvSpPr>
          <p:cNvPr id="22" name="Shape 20"/>
          <p:cNvSpPr/>
          <p:nvPr/>
        </p:nvSpPr>
        <p:spPr>
          <a:xfrm>
            <a:off x="4297680" y="3566160"/>
            <a:ext cx="3611880" cy="2011680"/>
          </a:xfrm>
          <a:prstGeom prst="roundRect">
            <a:avLst>
              <a:gd name="adj" fmla="val 3636"/>
            </a:avLst>
          </a:prstGeom>
          <a:solidFill>
            <a:srgbClr val="131B2E"/>
          </a:solidFill>
          <a:ln w="12700">
            <a:solidFill>
              <a:srgbClr val="2A3651"/>
            </a:solidFill>
            <a:prstDash val="solid"/>
          </a:ln>
        </p:spPr>
      </p:sp>
      <p:sp>
        <p:nvSpPr>
          <p:cNvPr id="23" name="Text 21"/>
          <p:cNvSpPr/>
          <p:nvPr/>
        </p:nvSpPr>
        <p:spPr>
          <a:xfrm>
            <a:off x="4480560" y="3767328"/>
            <a:ext cx="384048" cy="384048"/>
          </a:xfrm>
          <a:prstGeom prst="roundRect">
            <a:avLst>
              <a:gd name="adj" fmla="val 19048"/>
            </a:avLst>
          </a:prstGeom>
          <a:solidFill>
            <a:srgbClr val="1E4D40"/>
          </a:solidFill>
          <a:ln w="12700">
            <a:solidFill>
              <a:srgbClr val="6EE7B7"/>
            </a:solidFill>
            <a:prstDash val="solid"/>
          </a:ln>
        </p:spPr>
        <p:txBody>
          <a:bodyPr wrap="square" lIns="76200" tIns="76200" rIns="76200" bIns="76200" rtlCol="0" anchor="ctr"/>
          <a:lstStyle/>
          <a:p>
            <a:pPr algn="ctr" indent="0" marL="0">
              <a:buNone/>
            </a:pPr>
            <a:r>
              <a:rPr lang="en-US" sz="1300" b="1" dirty="0">
                <a:solidFill>
                  <a:srgbClr val="6EE7B7"/>
                </a:solidFill>
                <a:latin typeface="Segoe UI" pitchFamily="34" charset="0"/>
                <a:ea typeface="Segoe UI" pitchFamily="34" charset="-122"/>
                <a:cs typeface="Segoe UI" pitchFamily="34" charset="-120"/>
              </a:rPr>
              <a:t>✓</a:t>
            </a:r>
            <a:endParaRPr lang="en-US" sz="1300" dirty="0"/>
          </a:p>
        </p:txBody>
      </p:sp>
      <p:sp>
        <p:nvSpPr>
          <p:cNvPr id="24" name="Text 22"/>
          <p:cNvSpPr/>
          <p:nvPr/>
        </p:nvSpPr>
        <p:spPr>
          <a:xfrm>
            <a:off x="4983480" y="3767328"/>
            <a:ext cx="2743200" cy="384048"/>
          </a:xfrm>
          <a:prstGeom prst="rect">
            <a:avLst/>
          </a:prstGeom>
          <a:noFill/>
          <a:ln/>
        </p:spPr>
        <p:txBody>
          <a:bodyPr wrap="square" lIns="25400" tIns="25400" rIns="25400" bIns="25400" rtlCol="0" anchor="ctr"/>
          <a:lstStyle/>
          <a:p>
            <a:pPr algn="l" indent="0" marL="0">
              <a:buNone/>
            </a:pPr>
            <a:r>
              <a:rPr lang="en-US" sz="1400" b="1" dirty="0">
                <a:solidFill>
                  <a:srgbClr val="E8ECF5"/>
                </a:solidFill>
                <a:latin typeface="Segoe UI" pitchFamily="34" charset="0"/>
                <a:ea typeface="Segoe UI" pitchFamily="34" charset="-122"/>
                <a:cs typeface="Segoe UI" pitchFamily="34" charset="-120"/>
              </a:rPr>
              <a:t>OIDC callback</a:t>
            </a:r>
            <a:endParaRPr lang="en-US" sz="1400" dirty="0"/>
          </a:p>
        </p:txBody>
      </p:sp>
      <p:sp>
        <p:nvSpPr>
          <p:cNvPr id="25" name="Text 23"/>
          <p:cNvSpPr/>
          <p:nvPr/>
        </p:nvSpPr>
        <p:spPr>
          <a:xfrm>
            <a:off x="4480560" y="4297680"/>
            <a:ext cx="3246120" cy="1097280"/>
          </a:xfrm>
          <a:prstGeom prst="rect">
            <a:avLst/>
          </a:prstGeom>
          <a:noFill/>
          <a:ln/>
        </p:spPr>
        <p:txBody>
          <a:bodyPr wrap="square" lIns="25400" tIns="25400" rIns="25400" bIns="25400" rtlCol="0" anchor="t"/>
          <a:lstStyle/>
          <a:p>
            <a:pPr algn="l" indent="0" marL="0">
              <a:buNone/>
            </a:pPr>
            <a:r>
              <a:rPr lang="en-US" sz="1200" dirty="0">
                <a:solidFill>
                  <a:srgbClr val="8F9BB3"/>
                </a:solidFill>
                <a:latin typeface="Segoe UI" pitchFamily="34" charset="0"/>
                <a:ea typeface="Segoe UI" pitchFamily="34" charset="-122"/>
                <a:cs typeface="Segoe UI" pitchFamily="34" charset="-120"/>
              </a:rPr>
              <a:t>state, nonce, PKCE, redirect URI chính xác.</a:t>
            </a:r>
            <a:endParaRPr lang="en-US" sz="1200" dirty="0"/>
          </a:p>
        </p:txBody>
      </p:sp>
      <p:sp>
        <p:nvSpPr>
          <p:cNvPr id="26" name="Shape 24"/>
          <p:cNvSpPr/>
          <p:nvPr/>
        </p:nvSpPr>
        <p:spPr>
          <a:xfrm>
            <a:off x="8092440" y="3566160"/>
            <a:ext cx="3611880" cy="2011680"/>
          </a:xfrm>
          <a:prstGeom prst="roundRect">
            <a:avLst>
              <a:gd name="adj" fmla="val 3636"/>
            </a:avLst>
          </a:prstGeom>
          <a:solidFill>
            <a:srgbClr val="131B2E"/>
          </a:solidFill>
          <a:ln w="12700">
            <a:solidFill>
              <a:srgbClr val="2A3651"/>
            </a:solidFill>
            <a:prstDash val="solid"/>
          </a:ln>
        </p:spPr>
      </p:sp>
      <p:sp>
        <p:nvSpPr>
          <p:cNvPr id="27" name="Text 25"/>
          <p:cNvSpPr/>
          <p:nvPr/>
        </p:nvSpPr>
        <p:spPr>
          <a:xfrm>
            <a:off x="8275320" y="3767328"/>
            <a:ext cx="384048" cy="384048"/>
          </a:xfrm>
          <a:prstGeom prst="roundRect">
            <a:avLst>
              <a:gd name="adj" fmla="val 19048"/>
            </a:avLst>
          </a:prstGeom>
          <a:solidFill>
            <a:srgbClr val="1E4D40"/>
          </a:solidFill>
          <a:ln w="12700">
            <a:solidFill>
              <a:srgbClr val="6EE7B7"/>
            </a:solidFill>
            <a:prstDash val="solid"/>
          </a:ln>
        </p:spPr>
        <p:txBody>
          <a:bodyPr wrap="square" lIns="76200" tIns="76200" rIns="76200" bIns="76200" rtlCol="0" anchor="ctr"/>
          <a:lstStyle/>
          <a:p>
            <a:pPr algn="ctr" indent="0" marL="0">
              <a:buNone/>
            </a:pPr>
            <a:r>
              <a:rPr lang="en-US" sz="1300" b="1" dirty="0">
                <a:solidFill>
                  <a:srgbClr val="6EE7B7"/>
                </a:solidFill>
                <a:latin typeface="Segoe UI" pitchFamily="34" charset="0"/>
                <a:ea typeface="Segoe UI" pitchFamily="34" charset="-122"/>
                <a:cs typeface="Segoe UI" pitchFamily="34" charset="-120"/>
              </a:rPr>
              <a:t>✓</a:t>
            </a:r>
            <a:endParaRPr lang="en-US" sz="1300" dirty="0"/>
          </a:p>
        </p:txBody>
      </p:sp>
      <p:sp>
        <p:nvSpPr>
          <p:cNvPr id="28" name="Text 26"/>
          <p:cNvSpPr/>
          <p:nvPr/>
        </p:nvSpPr>
        <p:spPr>
          <a:xfrm>
            <a:off x="8778240" y="3767328"/>
            <a:ext cx="2743200" cy="384048"/>
          </a:xfrm>
          <a:prstGeom prst="rect">
            <a:avLst/>
          </a:prstGeom>
          <a:noFill/>
          <a:ln/>
        </p:spPr>
        <p:txBody>
          <a:bodyPr wrap="square" lIns="25400" tIns="25400" rIns="25400" bIns="25400" rtlCol="0" anchor="ctr"/>
          <a:lstStyle/>
          <a:p>
            <a:pPr algn="l" indent="0" marL="0">
              <a:buNone/>
            </a:pPr>
            <a:r>
              <a:rPr lang="en-US" sz="1400" b="1" dirty="0">
                <a:solidFill>
                  <a:srgbClr val="E8ECF5"/>
                </a:solidFill>
                <a:latin typeface="Segoe UI" pitchFamily="34" charset="0"/>
                <a:ea typeface="Segoe UI" pitchFamily="34" charset="-122"/>
                <a:cs typeface="Segoe UI" pitchFamily="34" charset="-120"/>
              </a:rPr>
              <a:t>AuthZ · tests · logs</a:t>
            </a:r>
            <a:endParaRPr lang="en-US" sz="1400" dirty="0"/>
          </a:p>
        </p:txBody>
      </p:sp>
      <p:sp>
        <p:nvSpPr>
          <p:cNvPr id="29" name="Text 27"/>
          <p:cNvSpPr/>
          <p:nvPr/>
        </p:nvSpPr>
        <p:spPr>
          <a:xfrm>
            <a:off x="8275320" y="4297680"/>
            <a:ext cx="3246120" cy="1097280"/>
          </a:xfrm>
          <a:prstGeom prst="rect">
            <a:avLst/>
          </a:prstGeom>
          <a:noFill/>
          <a:ln/>
        </p:spPr>
        <p:txBody>
          <a:bodyPr wrap="square" lIns="25400" tIns="25400" rIns="25400" bIns="25400" rtlCol="0" anchor="t"/>
          <a:lstStyle/>
          <a:p>
            <a:pPr algn="l" indent="0" marL="0">
              <a:buNone/>
            </a:pPr>
            <a:r>
              <a:rPr lang="en-US" sz="1200" dirty="0">
                <a:solidFill>
                  <a:srgbClr val="8F9BB3"/>
                </a:solidFill>
                <a:latin typeface="Segoe UI" pitchFamily="34" charset="0"/>
                <a:ea typeface="Segoe UI" pitchFamily="34" charset="-122"/>
                <a:cs typeface="Segoe UI" pitchFamily="34" charset="-120"/>
              </a:rPr>
              <a:t>Kiểm quyền ở backend, test 401/403, log không chứa credential.</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TỔNG KẾT  ·  SLIDE 26/27</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algn="l" indent="0" marL="0">
              <a:buNone/>
            </a:pPr>
            <a:r>
              <a:rPr lang="en-US" sz="3000" b="1" dirty="0">
                <a:solidFill>
                  <a:srgbClr val="E8ECF5"/>
                </a:solidFill>
                <a:latin typeface="Segoe UI" pitchFamily="34" charset="0"/>
                <a:ea typeface="Segoe UI" pitchFamily="34" charset="-122"/>
                <a:cs typeface="Segoe UI" pitchFamily="34" charset="-120"/>
              </a:rPr>
              <a:t>Exit Ticket</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54480"/>
            <a:ext cx="777240" cy="1097280"/>
          </a:xfrm>
          <a:prstGeom prst="roundRect">
            <a:avLst>
              <a:gd name="adj" fmla="val 9412"/>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2600" b="1" dirty="0">
                <a:solidFill>
                  <a:srgbClr val="B5A5FF"/>
                </a:solidFill>
                <a:latin typeface="Segoe UI" pitchFamily="34" charset="0"/>
                <a:ea typeface="Segoe UI" pitchFamily="34" charset="-122"/>
                <a:cs typeface="Segoe UI" pitchFamily="34" charset="-120"/>
              </a:rPr>
              <a:t>1</a:t>
            </a:r>
            <a:endParaRPr lang="en-US" sz="2600" dirty="0"/>
          </a:p>
        </p:txBody>
      </p:sp>
      <p:sp>
        <p:nvSpPr>
          <p:cNvPr id="7" name="Shape 5"/>
          <p:cNvSpPr/>
          <p:nvPr/>
        </p:nvSpPr>
        <p:spPr>
          <a:xfrm>
            <a:off x="1508760" y="1554480"/>
            <a:ext cx="10104120" cy="1097280"/>
          </a:xfrm>
          <a:prstGeom prst="roundRect">
            <a:avLst>
              <a:gd name="adj" fmla="val 6667"/>
            </a:avLst>
          </a:prstGeom>
          <a:solidFill>
            <a:srgbClr val="131B2E"/>
          </a:solidFill>
          <a:ln w="12700">
            <a:solidFill>
              <a:srgbClr val="2A3651"/>
            </a:solidFill>
            <a:prstDash val="solid"/>
          </a:ln>
        </p:spPr>
      </p:sp>
      <p:sp>
        <p:nvSpPr>
          <p:cNvPr id="8" name="Text 6"/>
          <p:cNvSpPr/>
          <p:nvPr/>
        </p:nvSpPr>
        <p:spPr>
          <a:xfrm>
            <a:off x="1783080" y="1554480"/>
            <a:ext cx="9601200" cy="1097280"/>
          </a:xfrm>
          <a:prstGeom prst="rect">
            <a:avLst/>
          </a:prstGeom>
          <a:noFill/>
          <a:ln/>
        </p:spPr>
        <p:txBody>
          <a:bodyPr wrap="square" lIns="25400" tIns="25400" rIns="25400" bIns="25400" rtlCol="0" anchor="ctr"/>
          <a:lstStyle/>
          <a:p>
            <a:pPr algn="l" indent="0" marL="0">
              <a:buNone/>
            </a:pPr>
            <a:r>
              <a:rPr lang="en-US" sz="1800" b="1" dirty="0">
                <a:solidFill>
                  <a:srgbClr val="E8ECF5"/>
                </a:solidFill>
                <a:latin typeface="Segoe UI" pitchFamily="34" charset="0"/>
                <a:ea typeface="Segoe UI" pitchFamily="34" charset="-122"/>
                <a:cs typeface="Segoe UI" pitchFamily="34" charset="-120"/>
              </a:rPr>
              <a:t>Member đã login nhưng gọi API admin thì thường nhận status code nào?</a:t>
            </a:r>
            <a:endParaRPr lang="en-US" sz="1800" dirty="0"/>
          </a:p>
        </p:txBody>
      </p:sp>
      <p:sp>
        <p:nvSpPr>
          <p:cNvPr id="9" name="Text 7"/>
          <p:cNvSpPr/>
          <p:nvPr/>
        </p:nvSpPr>
        <p:spPr>
          <a:xfrm>
            <a:off x="548640" y="2880360"/>
            <a:ext cx="777240" cy="1097280"/>
          </a:xfrm>
          <a:prstGeom prst="roundRect">
            <a:avLst>
              <a:gd name="adj" fmla="val 9412"/>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2600" b="1" dirty="0">
                <a:solidFill>
                  <a:srgbClr val="B5A5FF"/>
                </a:solidFill>
                <a:latin typeface="Segoe UI" pitchFamily="34" charset="0"/>
                <a:ea typeface="Segoe UI" pitchFamily="34" charset="-122"/>
                <a:cs typeface="Segoe UI" pitchFamily="34" charset="-120"/>
              </a:rPr>
              <a:t>2</a:t>
            </a:r>
            <a:endParaRPr lang="en-US" sz="2600" dirty="0"/>
          </a:p>
        </p:txBody>
      </p:sp>
      <p:sp>
        <p:nvSpPr>
          <p:cNvPr id="10" name="Shape 8"/>
          <p:cNvSpPr/>
          <p:nvPr/>
        </p:nvSpPr>
        <p:spPr>
          <a:xfrm>
            <a:off x="1508760" y="2880360"/>
            <a:ext cx="10104120" cy="1097280"/>
          </a:xfrm>
          <a:prstGeom prst="roundRect">
            <a:avLst>
              <a:gd name="adj" fmla="val 6667"/>
            </a:avLst>
          </a:prstGeom>
          <a:solidFill>
            <a:srgbClr val="131B2E"/>
          </a:solidFill>
          <a:ln w="12700">
            <a:solidFill>
              <a:srgbClr val="2A3651"/>
            </a:solidFill>
            <a:prstDash val="solid"/>
          </a:ln>
        </p:spPr>
      </p:sp>
      <p:sp>
        <p:nvSpPr>
          <p:cNvPr id="11" name="Text 9"/>
          <p:cNvSpPr/>
          <p:nvPr/>
        </p:nvSpPr>
        <p:spPr>
          <a:xfrm>
            <a:off x="1783080" y="2880360"/>
            <a:ext cx="9601200" cy="1097280"/>
          </a:xfrm>
          <a:prstGeom prst="rect">
            <a:avLst/>
          </a:prstGeom>
          <a:noFill/>
          <a:ln/>
        </p:spPr>
        <p:txBody>
          <a:bodyPr wrap="square" lIns="25400" tIns="25400" rIns="25400" bIns="25400" rtlCol="0" anchor="ctr"/>
          <a:lstStyle/>
          <a:p>
            <a:pPr algn="l" indent="0" marL="0">
              <a:buNone/>
            </a:pPr>
            <a:r>
              <a:rPr lang="en-US" sz="1800" b="1" dirty="0">
                <a:solidFill>
                  <a:srgbClr val="E8ECF5"/>
                </a:solidFill>
                <a:latin typeface="Segoe UI" pitchFamily="34" charset="0"/>
                <a:ea typeface="Segoe UI" pitchFamily="34" charset="-122"/>
                <a:cs typeface="Segoe UI" pitchFamily="34" charset="-120"/>
              </a:rPr>
              <a:t>Decode JWT thành công có chứng minh token hợp lệ không?</a:t>
            </a:r>
            <a:endParaRPr lang="en-US" sz="1800" dirty="0"/>
          </a:p>
        </p:txBody>
      </p:sp>
      <p:sp>
        <p:nvSpPr>
          <p:cNvPr id="12" name="Text 10"/>
          <p:cNvSpPr/>
          <p:nvPr/>
        </p:nvSpPr>
        <p:spPr>
          <a:xfrm>
            <a:off x="548640" y="4206240"/>
            <a:ext cx="777240" cy="1097280"/>
          </a:xfrm>
          <a:prstGeom prst="roundRect">
            <a:avLst>
              <a:gd name="adj" fmla="val 9412"/>
            </a:avLst>
          </a:prstGeom>
          <a:solidFill>
            <a:srgbClr val="182238"/>
          </a:solidFill>
          <a:ln w="12700">
            <a:solidFill>
              <a:srgbClr val="B5A5FF"/>
            </a:solidFill>
            <a:prstDash val="solid"/>
          </a:ln>
        </p:spPr>
        <p:txBody>
          <a:bodyPr wrap="square" lIns="76200" tIns="76200" rIns="76200" bIns="76200" rtlCol="0" anchor="ctr"/>
          <a:lstStyle/>
          <a:p>
            <a:pPr algn="ctr" indent="0" marL="0">
              <a:buNone/>
            </a:pPr>
            <a:r>
              <a:rPr lang="en-US" sz="2600" b="1" dirty="0">
                <a:solidFill>
                  <a:srgbClr val="B5A5FF"/>
                </a:solidFill>
                <a:latin typeface="Segoe UI" pitchFamily="34" charset="0"/>
                <a:ea typeface="Segoe UI" pitchFamily="34" charset="-122"/>
                <a:cs typeface="Segoe UI" pitchFamily="34" charset="-120"/>
              </a:rPr>
              <a:t>3</a:t>
            </a:r>
            <a:endParaRPr lang="en-US" sz="2600" dirty="0"/>
          </a:p>
        </p:txBody>
      </p:sp>
      <p:sp>
        <p:nvSpPr>
          <p:cNvPr id="13" name="Shape 11"/>
          <p:cNvSpPr/>
          <p:nvPr/>
        </p:nvSpPr>
        <p:spPr>
          <a:xfrm>
            <a:off x="1508760" y="4206240"/>
            <a:ext cx="10104120" cy="1097280"/>
          </a:xfrm>
          <a:prstGeom prst="roundRect">
            <a:avLst>
              <a:gd name="adj" fmla="val 6667"/>
            </a:avLst>
          </a:prstGeom>
          <a:solidFill>
            <a:srgbClr val="131B2E"/>
          </a:solidFill>
          <a:ln w="12700">
            <a:solidFill>
              <a:srgbClr val="2A3651"/>
            </a:solidFill>
            <a:prstDash val="solid"/>
          </a:ln>
        </p:spPr>
      </p:sp>
      <p:sp>
        <p:nvSpPr>
          <p:cNvPr id="14" name="Text 12"/>
          <p:cNvSpPr/>
          <p:nvPr/>
        </p:nvSpPr>
        <p:spPr>
          <a:xfrm>
            <a:off x="1783080" y="4206240"/>
            <a:ext cx="9601200" cy="1097280"/>
          </a:xfrm>
          <a:prstGeom prst="rect">
            <a:avLst/>
          </a:prstGeom>
          <a:noFill/>
          <a:ln/>
        </p:spPr>
        <p:txBody>
          <a:bodyPr wrap="square" lIns="25400" tIns="25400" rIns="25400" bIns="25400" rtlCol="0" anchor="ctr"/>
          <a:lstStyle/>
          <a:p>
            <a:pPr algn="l" indent="0" marL="0">
              <a:buNone/>
            </a:pPr>
            <a:r>
              <a:rPr lang="en-US" sz="1800" b="1" dirty="0">
                <a:solidFill>
                  <a:srgbClr val="E8ECF5"/>
                </a:solidFill>
                <a:latin typeface="Segoe UI" pitchFamily="34" charset="0"/>
                <a:ea typeface="Segoe UI" pitchFamily="34" charset="-122"/>
                <a:cs typeface="Segoe UI" pitchFamily="34" charset="-120"/>
              </a:rPr>
              <a:t>Vì sao xoá cookie chưa chắc đã logout hoàn toàn?</a:t>
            </a:r>
            <a:endParaRPr lang="en-US" sz="1800" dirty="0"/>
          </a:p>
        </p:txBody>
      </p:sp>
      <p:sp>
        <p:nvSpPr>
          <p:cNvPr id="15" name="Text 13"/>
          <p:cNvSpPr/>
          <p:nvPr/>
        </p:nvSpPr>
        <p:spPr>
          <a:xfrm>
            <a:off x="548640" y="5669280"/>
            <a:ext cx="11064240" cy="274320"/>
          </a:xfrm>
          <a:prstGeom prst="rect">
            <a:avLst/>
          </a:prstGeom>
          <a:noFill/>
          <a:ln/>
        </p:spPr>
        <p:txBody>
          <a:bodyPr wrap="square" lIns="25400" tIns="25400" rIns="25400" bIns="25400" rtlCol="0" anchor="ctr"/>
          <a:lstStyle/>
          <a:p>
            <a:pPr algn="l" indent="0" marL="0">
              <a:buNone/>
            </a:pPr>
            <a:r>
              <a:rPr lang="en-US" sz="1200" i="1" dirty="0">
                <a:solidFill>
                  <a:srgbClr val="8F9BB3"/>
                </a:solidFill>
                <a:latin typeface="Segoe UI" pitchFamily="34" charset="0"/>
                <a:ea typeface="Segoe UI" pitchFamily="34" charset="-122"/>
                <a:cs typeface="Segoe UI" pitchFamily="34" charset="-120"/>
              </a:rPr>
              <a:t>Đáp án nằm trong speaker notes.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algn="l" indent="0" marL="0">
              <a:buNone/>
            </a:pPr>
            <a:r>
              <a:rPr lang="en-US" sz="1000" dirty="0">
                <a:solidFill>
                  <a:srgbClr val="8F9BB3"/>
                </a:solidFill>
                <a:latin typeface="Consolas" pitchFamily="34" charset="0"/>
                <a:ea typeface="Consolas" pitchFamily="34" charset="-122"/>
                <a:cs typeface="Consolas" pitchFamily="34" charset="-120"/>
              </a:rPr>
              <a:t>TỔNG KẾT  ·  SLIDE 27/27</a:t>
            </a:r>
            <a:endParaRPr lang="en-US" sz="1000" dirty="0"/>
          </a:p>
        </p:txBody>
      </p:sp>
      <p:sp>
        <p:nvSpPr>
          <p:cNvPr id="4" name="Text 2"/>
          <p:cNvSpPr/>
          <p:nvPr/>
        </p:nvSpPr>
        <p:spPr>
          <a:xfrm>
            <a:off x="548640" y="1005840"/>
            <a:ext cx="11094415" cy="914400"/>
          </a:xfrm>
          <a:prstGeom prst="rect">
            <a:avLst/>
          </a:prstGeom>
          <a:noFill/>
          <a:ln/>
        </p:spPr>
        <p:txBody>
          <a:bodyPr wrap="square" lIns="25400" tIns="25400" rIns="25400" bIns="25400" rtlCol="0" anchor="ctr"/>
          <a:lstStyle/>
          <a:p>
            <a:pPr algn="ctr" indent="0" marL="0">
              <a:buNone/>
            </a:pPr>
            <a:r>
              <a:rPr lang="en-US" sz="3400" b="1" dirty="0">
                <a:solidFill>
                  <a:srgbClr val="E8ECF5"/>
                </a:solidFill>
                <a:latin typeface="Segoe UI" pitchFamily="34" charset="0"/>
                <a:ea typeface="Segoe UI" pitchFamily="34" charset="-122"/>
                <a:cs typeface="Segoe UI" pitchFamily="34" charset="-120"/>
              </a:rPr>
              <a:t>Secure login is a </a:t>
            </a:r>
            <a:r>
              <a:rPr lang="en-US" sz="3400" b="1" dirty="0">
                <a:solidFill>
                  <a:srgbClr val="B5A5FF"/>
                </a:solidFill>
                <a:latin typeface="Segoe UI" pitchFamily="34" charset="0"/>
                <a:ea typeface="Segoe UI" pitchFamily="34" charset="-122"/>
                <a:cs typeface="Segoe UI" pitchFamily="34" charset="-120"/>
              </a:rPr>
              <a:t>lifecycle</a:t>
            </a:r>
            <a:r>
              <a:rPr lang="en-US" sz="3400" b="1" dirty="0">
                <a:solidFill>
                  <a:srgbClr val="E8ECF5"/>
                </a:solidFill>
                <a:latin typeface="Segoe UI" pitchFamily="34" charset="0"/>
                <a:ea typeface="Segoe UI" pitchFamily="34" charset="-122"/>
                <a:cs typeface="Segoe UI" pitchFamily="34" charset="-120"/>
              </a:rPr>
              <a:t>, not a button.</a:t>
            </a:r>
            <a:endParaRPr lang="en-US" sz="3400" dirty="0"/>
          </a:p>
        </p:txBody>
      </p:sp>
      <p:sp>
        <p:nvSpPr>
          <p:cNvPr id="5" name="Text 3"/>
          <p:cNvSpPr/>
          <p:nvPr/>
        </p:nvSpPr>
        <p:spPr>
          <a:xfrm>
            <a:off x="548640" y="2651760"/>
            <a:ext cx="1965960" cy="1325880"/>
          </a:xfrm>
          <a:prstGeom prst="roundRect">
            <a:avLst>
              <a:gd name="adj" fmla="val 5517"/>
            </a:avLst>
          </a:prstGeom>
          <a:solidFill>
            <a:srgbClr val="182238"/>
          </a:solidFill>
          <a:ln w="19050">
            <a:solidFill>
              <a:srgbClr val="B5A5FF"/>
            </a:solidFill>
            <a:prstDash val="solid"/>
          </a:ln>
        </p:spPr>
        <p:txBody>
          <a:bodyPr wrap="square" lIns="76200" tIns="76200" rIns="76200" bIns="76200" rtlCol="0" anchor="ctr"/>
          <a:lstStyle/>
          <a:p>
            <a:pPr algn="ctr" indent="0" marL="0">
              <a:buNone/>
            </a:pPr>
            <a:r>
              <a:rPr lang="en-US" sz="1800" b="1" dirty="0">
                <a:solidFill>
                  <a:srgbClr val="B5A5FF"/>
                </a:solidFill>
                <a:latin typeface="Segoe UI" pitchFamily="34" charset="0"/>
                <a:ea typeface="Segoe UI" pitchFamily="34" charset="-122"/>
                <a:cs typeface="Segoe UI" pitchFamily="34" charset="-120"/>
              </a:rPr>
              <a:t>Verify</a:t>
            </a:r>
            <a:endParaRPr lang="en-US" sz="1200" dirty="0"/>
          </a:p>
          <a:p>
            <a:pPr algn="ctr" indent="0" marL="0">
              <a:buNone/>
            </a:pPr>
            <a:r>
              <a:rPr lang="en-US" sz="1200" dirty="0">
                <a:solidFill>
                  <a:srgbClr val="E8ECF5"/>
                </a:solidFill>
                <a:latin typeface="Segoe UI" pitchFamily="34" charset="0"/>
                <a:ea typeface="Segoe UI" pitchFamily="34" charset="-122"/>
                <a:cs typeface="Segoe UI" pitchFamily="34" charset="-120"/>
              </a:rPr>
              <a:t>đúng</a:t>
            </a:r>
            <a:endParaRPr lang="en-US" sz="1200" dirty="0"/>
          </a:p>
        </p:txBody>
      </p:sp>
      <p:sp>
        <p:nvSpPr>
          <p:cNvPr id="6" name="Shape 4"/>
          <p:cNvSpPr/>
          <p:nvPr/>
        </p:nvSpPr>
        <p:spPr>
          <a:xfrm>
            <a:off x="2514600" y="3291840"/>
            <a:ext cx="316154" cy="0"/>
          </a:xfrm>
          <a:prstGeom prst="line">
            <a:avLst/>
          </a:prstGeom>
          <a:noFill/>
          <a:ln w="19050">
            <a:solidFill>
              <a:srgbClr val="B5A5FF"/>
            </a:solidFill>
            <a:prstDash val="solid"/>
            <a:tailEnd type="triangle"/>
          </a:ln>
        </p:spPr>
      </p:sp>
      <p:sp>
        <p:nvSpPr>
          <p:cNvPr id="7" name="Text 5"/>
          <p:cNvSpPr/>
          <p:nvPr/>
        </p:nvSpPr>
        <p:spPr>
          <a:xfrm>
            <a:off x="2830754" y="2651760"/>
            <a:ext cx="1965960" cy="1325880"/>
          </a:xfrm>
          <a:prstGeom prst="roundRect">
            <a:avLst>
              <a:gd name="adj" fmla="val 5517"/>
            </a:avLst>
          </a:prstGeom>
          <a:solidFill>
            <a:srgbClr val="182238"/>
          </a:solidFill>
          <a:ln w="19050">
            <a:solidFill>
              <a:srgbClr val="6EE7B7"/>
            </a:solidFill>
            <a:prstDash val="solid"/>
          </a:ln>
        </p:spPr>
        <p:txBody>
          <a:bodyPr wrap="square" lIns="76200" tIns="76200" rIns="76200" bIns="76200" rtlCol="0" anchor="ctr"/>
          <a:lstStyle/>
          <a:p>
            <a:pPr algn="ctr" indent="0" marL="0">
              <a:buNone/>
            </a:pPr>
            <a:r>
              <a:rPr lang="en-US" sz="1800" b="1" dirty="0">
                <a:solidFill>
                  <a:srgbClr val="6EE7B7"/>
                </a:solidFill>
                <a:latin typeface="Segoe UI" pitchFamily="34" charset="0"/>
                <a:ea typeface="Segoe UI" pitchFamily="34" charset="-122"/>
                <a:cs typeface="Segoe UI" pitchFamily="34" charset="-120"/>
              </a:rPr>
              <a:t>Store</a:t>
            </a:r>
            <a:endParaRPr lang="en-US" sz="1200" dirty="0"/>
          </a:p>
          <a:p>
            <a:pPr algn="ctr" indent="0" marL="0">
              <a:buNone/>
            </a:pPr>
            <a:r>
              <a:rPr lang="en-US" sz="1200" dirty="0">
                <a:solidFill>
                  <a:srgbClr val="E8ECF5"/>
                </a:solidFill>
                <a:latin typeface="Segoe UI" pitchFamily="34" charset="0"/>
                <a:ea typeface="Segoe UI" pitchFamily="34" charset="-122"/>
                <a:cs typeface="Segoe UI" pitchFamily="34" charset="-120"/>
              </a:rPr>
              <a:t>an toàn</a:t>
            </a:r>
            <a:endParaRPr lang="en-US" sz="1200" dirty="0"/>
          </a:p>
        </p:txBody>
      </p:sp>
      <p:sp>
        <p:nvSpPr>
          <p:cNvPr id="8" name="Shape 6"/>
          <p:cNvSpPr/>
          <p:nvPr/>
        </p:nvSpPr>
        <p:spPr>
          <a:xfrm>
            <a:off x="4796714" y="3291840"/>
            <a:ext cx="316154" cy="0"/>
          </a:xfrm>
          <a:prstGeom prst="line">
            <a:avLst/>
          </a:prstGeom>
          <a:noFill/>
          <a:ln w="19050">
            <a:solidFill>
              <a:srgbClr val="6EE7B7"/>
            </a:solidFill>
            <a:prstDash val="solid"/>
            <a:tailEnd type="triangle"/>
          </a:ln>
        </p:spPr>
      </p:sp>
      <p:sp>
        <p:nvSpPr>
          <p:cNvPr id="9" name="Text 7"/>
          <p:cNvSpPr/>
          <p:nvPr/>
        </p:nvSpPr>
        <p:spPr>
          <a:xfrm>
            <a:off x="5112868" y="2651760"/>
            <a:ext cx="1965960" cy="1325880"/>
          </a:xfrm>
          <a:prstGeom prst="roundRect">
            <a:avLst>
              <a:gd name="adj" fmla="val 5517"/>
            </a:avLst>
          </a:prstGeom>
          <a:solidFill>
            <a:srgbClr val="182238"/>
          </a:solidFill>
          <a:ln w="19050">
            <a:solidFill>
              <a:srgbClr val="7DB3FF"/>
            </a:solidFill>
            <a:prstDash val="solid"/>
          </a:ln>
        </p:spPr>
        <p:txBody>
          <a:bodyPr wrap="square" lIns="76200" tIns="76200" rIns="76200" bIns="76200" rtlCol="0" anchor="ctr"/>
          <a:lstStyle/>
          <a:p>
            <a:pPr algn="ctr" indent="0" marL="0">
              <a:buNone/>
            </a:pPr>
            <a:r>
              <a:rPr lang="en-US" sz="1800" b="1" dirty="0">
                <a:solidFill>
                  <a:srgbClr val="7DB3FF"/>
                </a:solidFill>
                <a:latin typeface="Segoe UI" pitchFamily="34" charset="0"/>
                <a:ea typeface="Segoe UI" pitchFamily="34" charset="-122"/>
                <a:cs typeface="Segoe UI" pitchFamily="34" charset="-120"/>
              </a:rPr>
              <a:t>Gửi</a:t>
            </a:r>
            <a:endParaRPr lang="en-US" sz="1200" dirty="0"/>
          </a:p>
          <a:p>
            <a:pPr algn="ctr" indent="0" marL="0">
              <a:buNone/>
            </a:pPr>
            <a:r>
              <a:rPr lang="en-US" sz="1200" dirty="0">
                <a:solidFill>
                  <a:srgbClr val="E8ECF5"/>
                </a:solidFill>
                <a:latin typeface="Segoe UI" pitchFamily="34" charset="0"/>
                <a:ea typeface="Segoe UI" pitchFamily="34" charset="-122"/>
                <a:cs typeface="Segoe UI" pitchFamily="34" charset="-120"/>
              </a:rPr>
              <a:t>đúng cách</a:t>
            </a:r>
            <a:endParaRPr lang="en-US" sz="1200" dirty="0"/>
          </a:p>
        </p:txBody>
      </p:sp>
      <p:sp>
        <p:nvSpPr>
          <p:cNvPr id="10" name="Shape 8"/>
          <p:cNvSpPr/>
          <p:nvPr/>
        </p:nvSpPr>
        <p:spPr>
          <a:xfrm>
            <a:off x="7078828" y="3291840"/>
            <a:ext cx="316154" cy="0"/>
          </a:xfrm>
          <a:prstGeom prst="line">
            <a:avLst/>
          </a:prstGeom>
          <a:noFill/>
          <a:ln w="19050">
            <a:solidFill>
              <a:srgbClr val="7DB3FF"/>
            </a:solidFill>
            <a:prstDash val="solid"/>
            <a:tailEnd type="triangle"/>
          </a:ln>
        </p:spPr>
      </p:sp>
      <p:sp>
        <p:nvSpPr>
          <p:cNvPr id="11" name="Text 9"/>
          <p:cNvSpPr/>
          <p:nvPr/>
        </p:nvSpPr>
        <p:spPr>
          <a:xfrm>
            <a:off x="7394981" y="2651760"/>
            <a:ext cx="1965960" cy="1325880"/>
          </a:xfrm>
          <a:prstGeom prst="roundRect">
            <a:avLst>
              <a:gd name="adj" fmla="val 5517"/>
            </a:avLst>
          </a:prstGeom>
          <a:solidFill>
            <a:srgbClr val="182238"/>
          </a:solidFill>
          <a:ln w="19050">
            <a:solidFill>
              <a:srgbClr val="F5A65B"/>
            </a:solidFill>
            <a:prstDash val="solid"/>
          </a:ln>
        </p:spPr>
        <p:txBody>
          <a:bodyPr wrap="square" lIns="76200" tIns="76200" rIns="76200" bIns="76200" rtlCol="0" anchor="ctr"/>
          <a:lstStyle/>
          <a:p>
            <a:pPr algn="ctr" indent="0" marL="0">
              <a:buNone/>
            </a:pPr>
            <a:r>
              <a:rPr lang="en-US" sz="1800" b="1" dirty="0">
                <a:solidFill>
                  <a:srgbClr val="F5A65B"/>
                </a:solidFill>
                <a:latin typeface="Segoe UI" pitchFamily="34" charset="0"/>
                <a:ea typeface="Segoe UI" pitchFamily="34" charset="-122"/>
                <a:cs typeface="Segoe UI" pitchFamily="34" charset="-120"/>
              </a:rPr>
              <a:t>Validate</a:t>
            </a:r>
            <a:endParaRPr lang="en-US" sz="1200" dirty="0"/>
          </a:p>
          <a:p>
            <a:pPr algn="ctr" indent="0" marL="0">
              <a:buNone/>
            </a:pPr>
            <a:r>
              <a:rPr lang="en-US" sz="1200" dirty="0">
                <a:solidFill>
                  <a:srgbClr val="E8ECF5"/>
                </a:solidFill>
                <a:latin typeface="Segoe UI" pitchFamily="34" charset="0"/>
                <a:ea typeface="Segoe UI" pitchFamily="34" charset="-122"/>
                <a:cs typeface="Segoe UI" pitchFamily="34" charset="-120"/>
              </a:rPr>
              <a:t>đủ</a:t>
            </a:r>
            <a:endParaRPr lang="en-US" sz="1200" dirty="0"/>
          </a:p>
        </p:txBody>
      </p:sp>
      <p:sp>
        <p:nvSpPr>
          <p:cNvPr id="12" name="Shape 10"/>
          <p:cNvSpPr/>
          <p:nvPr/>
        </p:nvSpPr>
        <p:spPr>
          <a:xfrm>
            <a:off x="9360941" y="3291840"/>
            <a:ext cx="316154" cy="0"/>
          </a:xfrm>
          <a:prstGeom prst="line">
            <a:avLst/>
          </a:prstGeom>
          <a:noFill/>
          <a:ln w="19050">
            <a:solidFill>
              <a:srgbClr val="F5A65B"/>
            </a:solidFill>
            <a:prstDash val="solid"/>
            <a:tailEnd type="triangle"/>
          </a:ln>
        </p:spPr>
      </p:sp>
      <p:sp>
        <p:nvSpPr>
          <p:cNvPr id="13" name="Text 11"/>
          <p:cNvSpPr/>
          <p:nvPr/>
        </p:nvSpPr>
        <p:spPr>
          <a:xfrm>
            <a:off x="9677095" y="2651760"/>
            <a:ext cx="1965960" cy="1325880"/>
          </a:xfrm>
          <a:prstGeom prst="roundRect">
            <a:avLst>
              <a:gd name="adj" fmla="val 5517"/>
            </a:avLst>
          </a:prstGeom>
          <a:solidFill>
            <a:srgbClr val="182238"/>
          </a:solidFill>
          <a:ln w="19050">
            <a:solidFill>
              <a:srgbClr val="F28B9A"/>
            </a:solidFill>
            <a:prstDash val="solid"/>
          </a:ln>
        </p:spPr>
        <p:txBody>
          <a:bodyPr wrap="square" lIns="76200" tIns="76200" rIns="76200" bIns="76200" rtlCol="0" anchor="ctr"/>
          <a:lstStyle/>
          <a:p>
            <a:pPr algn="ctr" indent="0" marL="0">
              <a:buNone/>
            </a:pPr>
            <a:r>
              <a:rPr lang="en-US" sz="1800" b="1" dirty="0">
                <a:solidFill>
                  <a:srgbClr val="F28B9A"/>
                </a:solidFill>
                <a:latin typeface="Segoe UI" pitchFamily="34" charset="0"/>
                <a:ea typeface="Segoe UI" pitchFamily="34" charset="-122"/>
                <a:cs typeface="Segoe UI" pitchFamily="34" charset="-120"/>
              </a:rPr>
              <a:t>Revoke</a:t>
            </a:r>
            <a:endParaRPr lang="en-US" sz="1200" dirty="0"/>
          </a:p>
          <a:p>
            <a:pPr algn="ctr" indent="0" marL="0">
              <a:buNone/>
            </a:pPr>
            <a:r>
              <a:rPr lang="en-US" sz="1200" dirty="0">
                <a:solidFill>
                  <a:srgbClr val="E8ECF5"/>
                </a:solidFill>
                <a:latin typeface="Segoe UI" pitchFamily="34" charset="0"/>
                <a:ea typeface="Segoe UI" pitchFamily="34" charset="-122"/>
                <a:cs typeface="Segoe UI" pitchFamily="34" charset="-120"/>
              </a:rPr>
              <a:t>có chủ đích</a:t>
            </a:r>
            <a:endParaRPr lang="en-US" sz="1200" dirty="0"/>
          </a:p>
        </p:txBody>
      </p:sp>
      <p:sp>
        <p:nvSpPr>
          <p:cNvPr id="14" name="Text 12"/>
          <p:cNvSpPr/>
          <p:nvPr/>
        </p:nvSpPr>
        <p:spPr>
          <a:xfrm>
            <a:off x="7985455" y="6473952"/>
            <a:ext cx="3657600" cy="256032"/>
          </a:xfrm>
          <a:prstGeom prst="rect">
            <a:avLst/>
          </a:prstGeom>
          <a:noFill/>
          <a:ln/>
        </p:spPr>
        <p:txBody>
          <a:bodyPr wrap="square" lIns="25400" tIns="25400" rIns="25400" bIns="25400" rtlCol="0" anchor="ctr"/>
          <a:lstStyle/>
          <a:p>
            <a:pPr algn="r" indent="0" marL="0">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DevHub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Break the Login — Authentication Core</dc:title>
  <dc:subject>Từ login đến credential lifecycle</dc:subject>
  <dc:creator>DevHub Fullstack Technical Sharing</dc:creator>
  <cp:lastModifiedBy>DevHub Fullstack Technical Sharing</cp:lastModifiedBy>
  <cp:revision>1</cp:revision>
  <dcterms:created xsi:type="dcterms:W3CDTF">2026-10-26T14:07:50Z</dcterms:created>
  <dcterms:modified xsi:type="dcterms:W3CDTF">2026-10-26T14:07:50Z</dcterms:modified>
</cp:coreProperties>
</file>